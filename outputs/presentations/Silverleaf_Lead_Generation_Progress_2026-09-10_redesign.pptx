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d8e5c467ef54994" /><Relationship Type="http://schemas.openxmlformats.org/officeDocument/2006/relationships/extended-properties" Target="/docProps/app.xml" Id="R8433a703b2cf495a" /><Relationship Type="http://schemas.openxmlformats.org/officeDocument/2006/relationships/officeDocument" Target="/ppt/presentation.xml" Id="Rd40ef8c8e9af4631" /></Relationships>
</file>

<file path=ppt/presentation.xml><?xml version="1.0" encoding="utf-8"?>
<p:presentation xmlns:p="http://schemas.openxmlformats.org/presentationml/2006/main">
  <p:sldMasterIdLst>
    <p:sldMasterId xmlns:r="http://schemas.openxmlformats.org/officeDocument/2006/relationships" id="2147483648" r:id="R05f2eafc1c3c436f"/>
  </p:sldMasterIdLst>
  <p:notesMasterIdLst>
    <p:notesMasterId xmlns:r="http://schemas.openxmlformats.org/officeDocument/2006/relationships" r:id="Re2246cf756d44e01"/>
  </p:notesMasterIdLst>
  <p:sldIdLst>
    <p:sldId xmlns:r="http://schemas.openxmlformats.org/officeDocument/2006/relationships" id="256" r:id="R7dc94d377c964f3a"/>
    <p:sldId xmlns:r="http://schemas.openxmlformats.org/officeDocument/2006/relationships" id="257" r:id="R58d1b86eac2d4dfd"/>
    <p:sldId xmlns:r="http://schemas.openxmlformats.org/officeDocument/2006/relationships" id="258" r:id="R940b2ee0d90b47fe"/>
    <p:sldId xmlns:r="http://schemas.openxmlformats.org/officeDocument/2006/relationships" id="259" r:id="R950ab38177ab4d68"/>
    <p:sldId xmlns:r="http://schemas.openxmlformats.org/officeDocument/2006/relationships" id="260" r:id="Rfe18eec56cd343f9"/>
    <p:sldId xmlns:r="http://schemas.openxmlformats.org/officeDocument/2006/relationships" id="261" r:id="R8fd672a4c13b4a0a"/>
    <p:sldId xmlns:r="http://schemas.openxmlformats.org/officeDocument/2006/relationships" id="262" r:id="R9fe35811e4104bfe"/>
    <p:sldId xmlns:r="http://schemas.openxmlformats.org/officeDocument/2006/relationships" id="263" r:id="R96ba05b6e6744455"/>
    <p:sldId xmlns:r="http://schemas.openxmlformats.org/officeDocument/2006/relationships" id="264" r:id="Rc3a6726df0084fd4"/>
    <p:sldId xmlns:r="http://schemas.openxmlformats.org/officeDocument/2006/relationships" id="265" r:id="R4d9fa075fadb43b9"/>
    <p:sldId xmlns:r="http://schemas.openxmlformats.org/officeDocument/2006/relationships" id="266" r:id="R5c9e3a6b5b264c33"/>
    <p:sldId xmlns:r="http://schemas.openxmlformats.org/officeDocument/2006/relationships" id="267" r:id="R43afb9fc72db4d4a"/>
    <p:sldId xmlns:r="http://schemas.openxmlformats.org/officeDocument/2006/relationships" id="268" r:id="Rc1035bde1b9c4d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83f8cbfc79a4d86" /><Relationship Type="http://schemas.openxmlformats.org/officeDocument/2006/relationships/slideMaster" Target="/ppt/slideMasters/slideMaster1.xml" Id="R05f2eafc1c3c436f" /><Relationship Type="http://schemas.openxmlformats.org/officeDocument/2006/relationships/notesMaster" Target="/ppt/notesMasters/notesMaster1.xml" Id="Re2246cf756d44e01" /><Relationship Type="http://schemas.openxmlformats.org/officeDocument/2006/relationships/presProps" Target="/ppt/presProps.xml" Id="Rfab06bc7f14646de" /><Relationship Type="http://schemas.openxmlformats.org/officeDocument/2006/relationships/viewProps" Target="/ppt/viewProps.xml" Id="R8dd52c38e44e4341" /><Relationship Type="http://schemas.openxmlformats.org/officeDocument/2006/relationships/tableStyles" Target="/ppt/tableStyles.xml" Id="Ra9d8f7c8a9324bff" /><Relationship Type="http://schemas.openxmlformats.org/officeDocument/2006/relationships/slide" Target="/ppt/slides/slide1.xml" Id="R7dc94d377c964f3a" /><Relationship Type="http://schemas.openxmlformats.org/officeDocument/2006/relationships/slide" Target="/ppt/slides/slide2.xml" Id="R58d1b86eac2d4dfd" /><Relationship Type="http://schemas.openxmlformats.org/officeDocument/2006/relationships/slide" Target="/ppt/slides/slide3.xml" Id="R940b2ee0d90b47fe" /><Relationship Type="http://schemas.openxmlformats.org/officeDocument/2006/relationships/slide" Target="/ppt/slides/slide4.xml" Id="R950ab38177ab4d68" /><Relationship Type="http://schemas.openxmlformats.org/officeDocument/2006/relationships/slide" Target="/ppt/slides/slide5.xml" Id="Rfe18eec56cd343f9" /><Relationship Type="http://schemas.openxmlformats.org/officeDocument/2006/relationships/slide" Target="/ppt/slides/slide6.xml" Id="R8fd672a4c13b4a0a" /><Relationship Type="http://schemas.openxmlformats.org/officeDocument/2006/relationships/slide" Target="/ppt/slides/slide7.xml" Id="R9fe35811e4104bfe" /><Relationship Type="http://schemas.openxmlformats.org/officeDocument/2006/relationships/slide" Target="/ppt/slides/slide8.xml" Id="R96ba05b6e6744455" /><Relationship Type="http://schemas.openxmlformats.org/officeDocument/2006/relationships/slide" Target="/ppt/slides/slide9.xml" Id="Rc3a6726df0084fd4" /><Relationship Type="http://schemas.openxmlformats.org/officeDocument/2006/relationships/slide" Target="/ppt/slides/slide10.xml" Id="R4d9fa075fadb43b9" /><Relationship Type="http://schemas.openxmlformats.org/officeDocument/2006/relationships/slide" Target="/ppt/slides/slide11.xml" Id="R5c9e3a6b5b264c33" /><Relationship Type="http://schemas.openxmlformats.org/officeDocument/2006/relationships/slide" Target="/ppt/slides/slide12.xml" Id="R43afb9fc72db4d4a" /><Relationship Type="http://schemas.openxmlformats.org/officeDocument/2006/relationships/slide" Target="/ppt/slides/slide13.xml" Id="Rc1035bde1b9c4d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8e489a839d45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ac38bb11af4d72" /><Relationship Type="http://schemas.openxmlformats.org/officeDocument/2006/relationships/notesMaster" Target="/ppt/notesMasters/notesMaster1.xml" Id="Ra58765a5f3cb40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b1bdf94e784303" /><Relationship Type="http://schemas.openxmlformats.org/officeDocument/2006/relationships/notesMaster" Target="/ppt/notesMasters/notesMaster1.xml" Id="Rd6ac2b1b3abe46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d5b7ec85334812" /><Relationship Type="http://schemas.openxmlformats.org/officeDocument/2006/relationships/notesMaster" Target="/ppt/notesMasters/notesMaster1.xml" Id="Rd6eba3221d3744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814a6e2e5047ec" /><Relationship Type="http://schemas.openxmlformats.org/officeDocument/2006/relationships/notesMaster" Target="/ppt/notesMasters/notesMaster1.xml" Id="Rfd1271ba2a604a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2eb1a488ad44ad" /><Relationship Type="http://schemas.openxmlformats.org/officeDocument/2006/relationships/notesMaster" Target="/ppt/notesMasters/notesMaster1.xml" Id="R17bed72eac974e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f7e753d75744b8" /><Relationship Type="http://schemas.openxmlformats.org/officeDocument/2006/relationships/notesMaster" Target="/ppt/notesMasters/notesMaster1.xml" Id="R75fef0370a2542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ccd7823d0d4764" /><Relationship Type="http://schemas.openxmlformats.org/officeDocument/2006/relationships/notesMaster" Target="/ppt/notesMasters/notesMaster1.xml" Id="Re0f635d8251648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72c9145d8a40dd" /><Relationship Type="http://schemas.openxmlformats.org/officeDocument/2006/relationships/notesMaster" Target="/ppt/notesMasters/notesMaster1.xml" Id="R8f32bcccd4e24f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13b7969e5ee4a37" /><Relationship Type="http://schemas.openxmlformats.org/officeDocument/2006/relationships/notesMaster" Target="/ppt/notesMasters/notesMaster1.xml" Id="R77e383b38f5749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e68d04d55943be" /><Relationship Type="http://schemas.openxmlformats.org/officeDocument/2006/relationships/notesMaster" Target="/ppt/notesMasters/notesMaster1.xml" Id="R140e9533ee5841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12eb6dd3be4dff" /><Relationship Type="http://schemas.openxmlformats.org/officeDocument/2006/relationships/notesMaster" Target="/ppt/notesMasters/notesMaster1.xml" Id="R611029e06ce3492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67af23b86a54a25" /><Relationship Type="http://schemas.openxmlformats.org/officeDocument/2006/relationships/notesMaster" Target="/ppt/notesMasters/notesMaster1.xml" Id="R5f2e1956c46d4bf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a3450e0ec42427f" /><Relationship Type="http://schemas.openxmlformats.org/officeDocument/2006/relationships/notesMaster" Target="/ppt/notesMasters/notesMaster1.xml" Id="Rf555a86aa87141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counts verified from the local Silverleaf Master Database on 10 September 2026. The database contains 955 organisation/place records, 353 published business-contact records across 172 organisations and 927 outreach plans. All sending remains disabled.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Track 1 uses public organisational and business information to propose staff-facing partnerships. Track 2 attracts voluntary parent sign-ups through content, advertising, landing pages and website forms. Parent processing must follow Silverleaf's approved privacy and consent process. Official references: https://www.pdpc.go.tz/media/media/THE_PERSONAL_DATA_PROTECTION_ACT.pdf and https://pdpc.go.tz/privacy-notice/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process preserves the evidence trail before enrichment or message generation. Distance is useful for assigning a campus and transport band, but the method note finds that most Arusha tour operators sit close to a campus. Size, reachable ownership and education affinity perform the qualifying work.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inclusion gate is reproducible: eligible organisation type, no more than 25 kilometres from the nearest of five candidate campuses, and a traceable public-source record. Distances are straight-line estimates from approximate neighbourhood-centroid campus coordinates and carry roughly plus or minus one to two kilometres of uncertainty; exact campus pins should be confirmed before route planning. Priority is assigned only after evidence enrichment. The current repository uses P1, P2, P3 and X—not P0/P1/P2—and does not define numeric cut-offs for those bands. P1 has 11 organisations, P2 20, P3 24 and X 7. The remaining 893 master organisations are unbanded. A/B/C/D is a separate desk-research score that orders research readiness; it must not be interpreted as target value.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inclusion gate is reproducible: eligible organisation type, no more than 25 kilometres from the nearest of five candidate campuses, and a traceable public-source record. Distances are straight-line estimates from approximate neighbourhood-centroid campus coordinates and carry roughly plus or minus one to two kilometres of uncertainty; exact campus pins should be confirmed before route planning. Priority is assigned only after evidence enrichment. The current repository uses P1, P2, P3 and X—not P0/P1/P2—and does not define numeric cut-offs for those bands. P1 has 11 organisations, P2 20, P3 24 and X 7. The remaining 893 master organisations are unbanded. A/B/C/D is a separate desk-research score that orders research readiness; it must not be interpreted as target value.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TATO counts come from three interim extracts containing 160, 160 and 156 data records. The methodology records 456 directory emails and 459 phones. The TCDC source reconciles to 115 canonical SACCO organisations. The OSM interim layer contains 241 employers within 25 km of a candidate campus. These source totals are not additive because the consolidated master includes overlaps, other enrichment and unresolved branch/place records.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shows organisation records contributed by the three acquisition sources: TATO 476 companies, TCDC 115 deduplicated SACCOs and OSM 241 employers within 25 km. These source totals can overlap and should not be summed to derive the 955-record master. The contact panel is a separate measure: 313 contacts are attached to TATO-linked organisations. Further research supplied 29 other contacts, 9 OSM-linked contacts and 2 TCDC-linked contacts, giving 353 published business-contact records across 172 organisations. The two TCDC routes require affiliation review before they are treated as direct SACCO owners.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message begins with a hook only when a current source supports it. The relevance, offer and ask should be specific to the recipient role. Approved Silverleaf positioning includes high-quality and affordable education, holistic learning, technology-enriched classes and a promising pathway to secondary education. Mutable claims such as fees, discounts, scholarships, capacity and transport availability require current approval.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strategic message is that outreach intensity should follow evidence. Of 927 plans, 651 (70%) have an organisation-level route but no confirmed recipient, so they begin with a routing request and one check-in. Another 61 (7%) have a named recipient or strong role-based email and can receive a three-touch proposal sequence over eight working days. The remaining 215 (23%) stay on hold until evidence or contactability improves. The recommended launch is a small reviewed pilot drawn from the 61 direct-recipient plans, followed by refinement before scaling. Resend is the delivery layer for approved templates, suppression events and outcome logging; it does not determine the strategy.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parent track starts with owned or paid content and routes parents to a relevant landing page. A website pop-up or embedded form should make the newsletter purpose clear. Approved sign-ups enter the parent audience with source, notice version and sign-up status. Scholarship, bursary and fee-discount language must describe notifications about approved opportunities, not promise that an offer exists.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sources: Tanzania Personal Data Protection Act, Cap. 44, https://www.pdpc.go.tz/media/media/THE_PERSONAL_DATA_PROTECTION_ACT.pdf. PDPC privacy principles, https://pdpc.go.tz/privacy-notice/. PDPC March 2026 compliance notice, https://www.pdpc.go.tz/media/media/PUBLIC_NOTICE_MARCH_2026.pdf. The Act provides a right to stop personal-data processing for direct marketing. PDPC materials emphasise lawful, fair and transparent processing, purpose limitation, data minimisation, security, controller and processor registration, DPO responsibility and restrictions on transborder transfers.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architecture: raw evidence is preserved under data/raw, normalised working files live under data/interim, the ignored local SQLite database remains canonical, and the XLSX workbook is the human review view. The create-list and update-list skills define how another agent can run a new list or refresh the master while preserving provenance and stable IDs. Resend receives only an approved audience export and sends delivery outcomes back into the operational workflow.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as at 10 September 2026: all sending remains disabled pending final review and implementation approval.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1688d4ee064f44"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cd2e922e854c38" /><Relationship Type="http://schemas.openxmlformats.org/officeDocument/2006/relationships/slideLayout" Target="/ppt/slideLayouts/slideLayout1.xml" Id="R50918ad14f994acd"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918ad14f994ac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4c742f825c84e62" /><Relationship Type="http://schemas.openxmlformats.org/officeDocument/2006/relationships/image" Target="/ppt/media/image.png" Id="Re0e8701093884714" /><Relationship Type="http://schemas.openxmlformats.org/officeDocument/2006/relationships/image" Target="/ppt/media/image2.png" Id="Ra009ae83a1d94ff6" /><Relationship Type="http://schemas.openxmlformats.org/officeDocument/2006/relationships/notesSlide" Target="/ppt/notesSlides/notesSlide1.xml" Id="Rb694538a230349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88f8ae5521b4521" /><Relationship Type="http://schemas.openxmlformats.org/officeDocument/2006/relationships/image" Target="/ppt/media/image3.png" Id="R15743c5a2b1a4134" /><Relationship Type="http://schemas.openxmlformats.org/officeDocument/2006/relationships/notesSlide" Target="/ppt/notesSlides/notesSlide2.xml" Id="R1db240c090fc48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4f76e2287a0456f" /><Relationship Type="http://schemas.openxmlformats.org/officeDocument/2006/relationships/image" Target="/ppt/media/image4.png" Id="R63734efe77b8468f" /><Relationship Type="http://schemas.openxmlformats.org/officeDocument/2006/relationships/image" Target="/ppt/media/image5.png" Id="Rab486c46e32e4ec7" /><Relationship Type="http://schemas.openxmlformats.org/officeDocument/2006/relationships/notesSlide" Target="/ppt/notesSlides/notesSlide3.xml" Id="R98bc0500275b4a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bed3931cba24587" /><Relationship Type="http://schemas.openxmlformats.org/officeDocument/2006/relationships/image" Target="/ppt/media/image6.png" Id="Rc9337a6ca01f4a6e" /><Relationship Type="http://schemas.openxmlformats.org/officeDocument/2006/relationships/notesSlide" Target="/ppt/notesSlides/notesSlide4.xml" Id="R7e4c1370c59240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2947d990f543e5" /><Relationship Type="http://schemas.openxmlformats.org/officeDocument/2006/relationships/image" Target="/ppt/media/image7.png" Id="R879adbea925e47c0" /><Relationship Type="http://schemas.openxmlformats.org/officeDocument/2006/relationships/notesSlide" Target="/ppt/notesSlides/notesSlide5.xml" Id="Rbf2c934dd50248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b9743b22804c0b" /><Relationship Type="http://schemas.openxmlformats.org/officeDocument/2006/relationships/image" Target="/ppt/media/image8.png" Id="R1dd3118f1c4a4fc8" /><Relationship Type="http://schemas.openxmlformats.org/officeDocument/2006/relationships/notesSlide" Target="/ppt/notesSlides/notesSlide6.xml" Id="R264c25eae74e49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909092223fa4483" /><Relationship Type="http://schemas.openxmlformats.org/officeDocument/2006/relationships/chart" Target="/ppt/slides/charts/chart1.xml" Id="R96c639344546428f" /><Relationship Type="http://schemas.openxmlformats.org/officeDocument/2006/relationships/image" Target="/ppt/media/image9.png" Id="R8cd5163502f148fb" /><Relationship Type="http://schemas.openxmlformats.org/officeDocument/2006/relationships/notesSlide" Target="/ppt/notesSlides/notesSlide7.xml" Id="R1ea29025e3aa4e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f8d67540d7e4d06" /><Relationship Type="http://schemas.openxmlformats.org/officeDocument/2006/relationships/image" Target="/ppt/media/image10.png" Id="Rfbdc0612ab3643de" /><Relationship Type="http://schemas.openxmlformats.org/officeDocument/2006/relationships/notesSlide" Target="/ppt/notesSlides/notesSlide8.xml" Id="R696a11e2a56044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bb9070b92cf400e" /><Relationship Type="http://schemas.openxmlformats.org/officeDocument/2006/relationships/image" Target="/ppt/media/image11.png" Id="R94a4da882ffb4a6e" /><Relationship Type="http://schemas.openxmlformats.org/officeDocument/2006/relationships/notesSlide" Target="/ppt/notesSlides/notesSlide9.xml" Id="Ree0fb70c910948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6f7de454f4f49c8" /><Relationship Type="http://schemas.openxmlformats.org/officeDocument/2006/relationships/image" Target="/ppt/media/image12.png" Id="R0213661322434128" /><Relationship Type="http://schemas.openxmlformats.org/officeDocument/2006/relationships/image" Target="/ppt/media/image13.png" Id="R4a6b9df35aac4bcc" /><Relationship Type="http://schemas.openxmlformats.org/officeDocument/2006/relationships/notesSlide" Target="/ppt/notesSlides/notesSlide10.xml" Id="R411b761d5da5476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c913a77db404202" /><Relationship Type="http://schemas.openxmlformats.org/officeDocument/2006/relationships/image" Target="/ppt/media/image14.png" Id="R522203a6e0fb41de" /><Relationship Type="http://schemas.openxmlformats.org/officeDocument/2006/relationships/notesSlide" Target="/ppt/notesSlides/notesSlide11.xml" Id="R028ab06f07754e6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173d4d8e12b4c06" /><Relationship Type="http://schemas.openxmlformats.org/officeDocument/2006/relationships/image" Target="/ppt/media/image15.png" Id="R02e3a35f219e4faa" /><Relationship Type="http://schemas.openxmlformats.org/officeDocument/2006/relationships/notesSlide" Target="/ppt/notesSlides/notesSlide12.xml" Id="R0935b27fc34842e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5d71d51d3854638" /><Relationship Type="http://schemas.openxmlformats.org/officeDocument/2006/relationships/image" Target="/ppt/media/image16.png" Id="R6d51282b65054ebe" /><Relationship Type="http://schemas.openxmlformats.org/officeDocument/2006/relationships/image" Target="/ppt/media/image17.png" Id="R95114d9425024ed2" /><Relationship Type="http://schemas.openxmlformats.org/officeDocument/2006/relationships/notesSlide" Target="/ppt/notesSlides/notesSlide13.xml" Id="Rd4cf8ad52b66424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roundedCorners val="1"/>
  <c:chart>
    <c:autoTitleDeleted val="1"/>
    <c:plotArea>
      <c:barChart>
        <c:barDir val="bar"/>
        <c:grouping val="clustered"/>
        <c:varyColors val="0"/>
        <c:ser>
          <c:idx val="0"/>
          <c:order val="0"/>
          <c:tx>
            <c:v>Organisation records</c:v>
          </c:tx>
          <c:spPr>
            <a:solidFill xmlns:a="http://schemas.openxmlformats.org/drawingml/2006/main">
              <a:srgbClr val="002368"/>
            </a:solidFill>
          </c:spPr>
          <c:dLbls>
            <c:numFmt formatCode="#,##0" sourceLinked="0"/>
            <c:txPr>
              <a:bodyPr xmlns:a="http://schemas.openxmlformats.org/drawingml/2006/main" anchorCtr="1"/>
              <a:lstStyle xmlns:a="http://schemas.openxmlformats.org/drawingml/2006/main"/>
              <a:p xmlns:a="http://schemas.openxmlformats.org/drawingml/2006/main">
                <a:pPr>
                  <a:defRPr sz="1100" b="1" i="0" u="none">
                    <a:solidFill>
                      <a:srgbClr val="002368"/>
                    </a:solidFill>
                    <a:latin typeface="Arial"/>
                    <a:ea typeface="Arial"/>
                    <a:cs typeface="Arial"/>
                  </a:defRPr>
                </a:pPr>
              </a:p>
            </c:txPr>
            <c:showLegendKey val="0"/>
            <c:showVal val="1"/>
            <c:showCatName val="0"/>
            <c:showSerName val="0"/>
            <c:showPercent val="0"/>
            <c:showBubbleSize val="0"/>
            <c:showLeaderLines val="0"/>
          </c:dLbls>
          <c:cat>
            <c:strRef>
              <c:f>'Chart Data'!$A$2:$A$4</c:f>
              <c:strCache>
                <c:ptCount val="3"/>
                <c:pt idx="0">
                  <c:v>OSM</c:v>
                </c:pt>
                <c:pt idx="1">
                  <c:v>TCDC</c:v>
                </c:pt>
                <c:pt idx="2">
                  <c:v>TATO</c:v>
                </c:pt>
              </c:strCache>
            </c:strRef>
          </c:cat>
          <c:val>
            <c:numRef>
              <c:f>'Chart Data'!$B$2:$B$4</c:f>
              <c:numCache>
                <c:formatCode>General</c:formatCode>
                <c:ptCount val="3"/>
                <c:pt idx="0">
                  <c:v>241</c:v>
                </c:pt>
                <c:pt idx="1">
                  <c:v>115</c:v>
                </c:pt>
                <c:pt idx="2">
                  <c:v>476</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100" b="1" i="0" u="none">
                  <a:solidFill>
                    <a:srgbClr val="002368"/>
                  </a:solidFill>
                  <a:latin typeface="Arial"/>
                  <a:ea typeface="Arial"/>
                  <a:cs typeface="Arial"/>
                </a:defRPr>
              </a:pPr>
            </a:p>
          </c:txPr>
          <c:showLegendKey val="0"/>
          <c:showVal val="1"/>
          <c:showCatName val="0"/>
          <c:showSerName val="0"/>
          <c:showPercent val="0"/>
          <c:showBubbleSize val="0"/>
          <c:showLeaderLines val="0"/>
        </c:dLbls>
        <c:gapWidth val="55"/>
        <c:overlap val="0"/>
        <c:axId val="2094734554"/>
        <c:axId val="2094734552"/>
      </c:barChart>
      <c:catAx>
        <c:axId val="2094734554"/>
        <c:scaling>
          <c:orientation val="minMax"/>
        </c:scaling>
        <c:delete val="0"/>
        <c:axPos val="l"/>
        <c:numFmt formatCode="General" sourceLinked="1"/>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1100" b="0" i="0" u="none">
                <a:solidFill>
                  <a:srgbClr val="002368"/>
                </a:solidFill>
                <a:latin typeface="Arial"/>
                <a:ea typeface="Arial"/>
                <a:cs typeface="Arial"/>
              </a:defRPr>
            </a:pPr>
          </a:p>
        </c:txPr>
        <c:crossAx val="2094734552"/>
        <c:crosses val="autoZero"/>
      </c:catAx>
      <c:valAx>
        <c:axId val="2094734552"/>
        <c:scaling>
          <c:orientation val="minMax"/>
          <c:max val="560"/>
          <c:min val="0"/>
        </c:scaling>
        <c:delete val="1"/>
        <c:axPos val="b"/>
        <c:numFmt formatCode="General" sourceLinked="0"/>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1200" b="0" i="0" u="none">
                <a:solidFill>
                  <a:srgbClr val="000000"/>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externalData r:id="rIdChartSnapshot1">
    <c:autoUpdate val="0"/>
  </c:externalData>
</c:chartSpace>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e0e8701093884714">
            <a:lum/>
          </a:blip>
          <a:srcRect l="0" t="0" r="0" b="0"/>
          <a:stretch>
            <a:fillRect l="0" t="0" r="0" b="0"/>
          </a:stretch>
        </a:blipFill>
      </p:bgPr>
    </p:bg>
    <p:spTree>
      <p:nvGrpSpPr>
        <p:cNvPr id="1" name=""/>
        <p:cNvGrpSpPr/>
        <p:nvPr/>
      </p:nvGrpSpPr>
      <p:grpSpPr>
        <a:xfrm xmlns:a="http://schemas.openxmlformats.org/drawingml/2006/main"/>
      </p:grpSpPr>
      <p:pic>
        <p:nvPicPr>
          <p:cNvPr id="14" name="Image 0"/>
          <p:cNvPicPr>
            <a:picLocks xmlns:a="http://schemas.openxmlformats.org/drawingml/2006/main" noChangeAspect="1"/>
          </p:cNvPicPr>
          <p:nvPr/>
        </p:nvPicPr>
        <p:blipFill>
          <a:blip xmlns:r="http://schemas.openxmlformats.org/officeDocument/2006/relationships" xmlns:a="http://schemas.openxmlformats.org/drawingml/2006/main" r:embed="Ra009ae83a1d94ff6"/>
          <a:stretch xmlns:a="http://schemas.openxmlformats.org/drawingml/2006/main">
            <a:fillRect l="0" t="0" r="0" b="0"/>
          </a:stretch>
        </p:blipFill>
        <p:spPr>
          <a:xfrm xmlns:a="http://schemas.openxmlformats.org/drawingml/2006/main">
            <a:off x="640080" y="566928"/>
            <a:ext cx="2286000" cy="544351"/>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5E825F25-0359-4952-956A-3A0FFDAFE13B}"/>
              </a:ext>
            </a:extLst>
          </p:cNvPr>
          <p:cNvSpPr>
            <a:spLocks xmlns:a="http://schemas.openxmlformats.org/drawingml/2006/main" noGrp="1"/>
          </p:cNvSpPr>
          <p:nvPr/>
        </p:nvSpPr>
        <p:spPr>
          <a:xfrm xmlns:a="http://schemas.openxmlformats.org/drawingml/2006/main">
            <a:off x="640080" y="2103120"/>
            <a:ext cx="594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80BFEC"/>
                </a:solidFill>
                <a:latin typeface="Georgia"/>
                <a:ea typeface="Georgia"/>
                <a:cs typeface="Georgia"/>
              </a:rPr>
              <a:t>Marketing &amp; Partnerships  ·  Progress report</a:t>
            </a:r>
            <a:endParaRPr sz="1200"/>
          </a:p>
        </p:txBody>
      </p:sp>
      <p:sp>
        <p:nvSpPr>
          <p:cNvPr id="4" name="Text 1">
            <a:extLst xmlns:a="http://schemas.openxmlformats.org/drawingml/2006/main">
              <a:ext uri="{FF2B5EF4-FFF2-40B4-BE49-F238E27FC236}">
                <a16:creationId xmlns:a16="http://schemas.microsoft.com/office/drawing/2014/main" id="{0804D83E-68C9-46C9-B751-3E7B921AD0C1}"/>
              </a:ext>
            </a:extLst>
          </p:cNvPr>
          <p:cNvSpPr>
            <a:spLocks xmlns:a="http://schemas.openxmlformats.org/drawingml/2006/main" noGrp="1"/>
          </p:cNvSpPr>
          <p:nvPr/>
        </p:nvSpPr>
        <p:spPr>
          <a:xfrm xmlns:a="http://schemas.openxmlformats.org/drawingml/2006/main">
            <a:off x="640080" y="2395728"/>
            <a:ext cx="6309360" cy="1691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5000"/>
              </a:lnSpc>
              <a:buNone/>
            </a:pPr>
            <a:r>
              <a:rPr sz="5200" b="1">
                <a:solidFill>
                  <a:srgbClr val="FFFFFF"/>
                </a:solidFill>
                <a:latin typeface="Arial"/>
                <a:ea typeface="Arial"/>
                <a:cs typeface="Arial"/>
              </a:rPr>
              <a:t>Lead Generation</a:t>
            </a:r>
            <a:endParaRPr sz="5200"/>
          </a:p>
          <a:p xmlns:a="http://schemas.openxmlformats.org/drawingml/2006/main">
            <a:pPr marL="0" indent="0">
              <a:lnSpc>
                <a:spcPct val="95000"/>
              </a:lnSpc>
              <a:buNone/>
            </a:pPr>
            <a:r>
              <a:rPr sz="5200" b="1">
                <a:solidFill>
                  <a:srgbClr val="FFFFFF"/>
                </a:solidFill>
                <a:latin typeface="Arial"/>
                <a:ea typeface="Arial"/>
                <a:cs typeface="Arial"/>
              </a:rPr>
              <a:t>Progress</a:t>
            </a:r>
            <a:endParaRPr sz="5200"/>
          </a:p>
        </p:txBody>
      </p:sp>
      <p:sp>
        <p:nvSpPr>
          <p:cNvPr id="5" name="Text 2">
            <a:extLst xmlns:a="http://schemas.openxmlformats.org/drawingml/2006/main">
              <a:ext uri="{FF2B5EF4-FFF2-40B4-BE49-F238E27FC236}">
                <a16:creationId xmlns:a16="http://schemas.microsoft.com/office/drawing/2014/main" id="{0A067289-B5ED-49B4-8193-2D13D996BA2E}"/>
              </a:ext>
            </a:extLst>
          </p:cNvPr>
          <p:cNvSpPr>
            <a:spLocks xmlns:a="http://schemas.openxmlformats.org/drawingml/2006/main" noGrp="1"/>
          </p:cNvSpPr>
          <p:nvPr/>
        </p:nvSpPr>
        <p:spPr>
          <a:xfrm xmlns:a="http://schemas.openxmlformats.org/drawingml/2006/main">
            <a:off x="640080" y="4160520"/>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a:solidFill>
                  <a:srgbClr val="80BFEC"/>
                </a:solidFill>
                <a:latin typeface="Georgia"/>
                <a:ea typeface="Georgia"/>
                <a:cs typeface="Georgia"/>
              </a:rPr>
              <a:t>Organisational partnerships and first-party parent acquisition</a:t>
            </a:r>
            <a:endParaRPr sz="1700"/>
          </a:p>
        </p:txBody>
      </p:sp>
      <p:sp>
        <p:nvSpPr>
          <p:cNvPr id="6" name="Text 3">
            <a:extLst xmlns:a="http://schemas.openxmlformats.org/drawingml/2006/main">
              <a:ext uri="{FF2B5EF4-FFF2-40B4-BE49-F238E27FC236}">
                <a16:creationId xmlns:a16="http://schemas.microsoft.com/office/drawing/2014/main" id="{145C7A9E-2E6B-4040-AB63-C4DAA8F130E7}"/>
              </a:ext>
            </a:extLst>
          </p:cNvPr>
          <p:cNvSpPr>
            <a:spLocks xmlns:a="http://schemas.openxmlformats.org/drawingml/2006/main" noGrp="1"/>
          </p:cNvSpPr>
          <p:nvPr/>
        </p:nvSpPr>
        <p:spPr>
          <a:xfrm xmlns:a="http://schemas.openxmlformats.org/drawingml/2006/main">
            <a:off x="640080" y="482803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8091B3"/>
                </a:solidFill>
                <a:latin typeface="Arial"/>
                <a:ea typeface="Arial"/>
                <a:cs typeface="Arial"/>
              </a:rPr>
              <a:t>Progress through 10 September 2026</a:t>
            </a:r>
            <a:endParaRPr sz="1100"/>
          </a:p>
        </p:txBody>
      </p:sp>
      <p:sp>
        <p:nvSpPr>
          <p:cNvPr id="7" name="Text 4">
            <a:extLst xmlns:a="http://schemas.openxmlformats.org/drawingml/2006/main">
              <a:ext uri="{FF2B5EF4-FFF2-40B4-BE49-F238E27FC236}">
                <a16:creationId xmlns:a16="http://schemas.microsoft.com/office/drawing/2014/main" id="{54D9CA7B-65E3-4117-BF0B-D08C0E9D3C5E}"/>
              </a:ext>
            </a:extLst>
          </p:cNvPr>
          <p:cNvSpPr>
            <a:spLocks xmlns:a="http://schemas.openxmlformats.org/drawingml/2006/main" noGrp="1"/>
          </p:cNvSpPr>
          <p:nvPr/>
        </p:nvSpPr>
        <p:spPr>
          <a:xfrm xmlns:a="http://schemas.openxmlformats.org/drawingml/2006/main">
            <a:off x="640080" y="5349240"/>
            <a:ext cx="1920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a:solidFill>
                  <a:srgbClr val="FFC952"/>
                </a:solidFill>
                <a:latin typeface="Georgia"/>
                <a:ea typeface="Georgia"/>
                <a:cs typeface="Georgia"/>
              </a:rPr>
              <a:t>955</a:t>
            </a:r>
            <a:endParaRPr sz="3400"/>
          </a:p>
        </p:txBody>
      </p:sp>
      <p:sp>
        <p:nvSpPr>
          <p:cNvPr id="8" name="Text 5">
            <a:extLst xmlns:a="http://schemas.openxmlformats.org/drawingml/2006/main">
              <a:ext uri="{FF2B5EF4-FFF2-40B4-BE49-F238E27FC236}">
                <a16:creationId xmlns:a16="http://schemas.microsoft.com/office/drawing/2014/main" id="{16E14342-9D0A-475A-9206-5B44C72DD7E6}"/>
              </a:ext>
            </a:extLst>
          </p:cNvPr>
          <p:cNvSpPr>
            <a:spLocks xmlns:a="http://schemas.openxmlformats.org/drawingml/2006/main" noGrp="1"/>
          </p:cNvSpPr>
          <p:nvPr/>
        </p:nvSpPr>
        <p:spPr>
          <a:xfrm xmlns:a="http://schemas.openxmlformats.org/drawingml/2006/main">
            <a:off x="640080" y="5897880"/>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a:solidFill>
                  <a:srgbClr val="FFFFFF"/>
                </a:solidFill>
                <a:latin typeface="Arial"/>
                <a:ea typeface="Arial"/>
                <a:cs typeface="Arial"/>
              </a:rPr>
              <a:t>organisation/place</a:t>
            </a:r>
            <a:endParaRPr sz="1000"/>
          </a:p>
          <a:p xmlns:a="http://schemas.openxmlformats.org/drawingml/2006/main">
            <a:pPr marL="0" indent="0">
              <a:lnSpc>
                <a:spcPct val="105000"/>
              </a:lnSpc>
              <a:buNone/>
            </a:pPr>
            <a:r>
              <a:rPr sz="1000">
                <a:solidFill>
                  <a:srgbClr val="FFFFFF"/>
                </a:solidFill>
                <a:latin typeface="Arial"/>
                <a:ea typeface="Arial"/>
                <a:cs typeface="Arial"/>
              </a:rPr>
              <a:t>records</a:t>
            </a:r>
            <a:endParaRPr sz="1000"/>
          </a:p>
        </p:txBody>
      </p:sp>
      <p:sp>
        <p:nvSpPr>
          <p:cNvPr id="9" name="Text 6">
            <a:extLst xmlns:a="http://schemas.openxmlformats.org/drawingml/2006/main">
              <a:ext uri="{FF2B5EF4-FFF2-40B4-BE49-F238E27FC236}">
                <a16:creationId xmlns:a16="http://schemas.microsoft.com/office/drawing/2014/main" id="{BCE9FF8D-C8EB-429B-A8F8-E421D524667E}"/>
              </a:ext>
            </a:extLst>
          </p:cNvPr>
          <p:cNvSpPr>
            <a:spLocks xmlns:a="http://schemas.openxmlformats.org/drawingml/2006/main" noGrp="1"/>
          </p:cNvSpPr>
          <p:nvPr/>
        </p:nvSpPr>
        <p:spPr>
          <a:xfrm xmlns:a="http://schemas.openxmlformats.org/drawingml/2006/main">
            <a:off x="2743200" y="5349240"/>
            <a:ext cx="1920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a:solidFill>
                  <a:srgbClr val="FFC952"/>
                </a:solidFill>
                <a:latin typeface="Georgia"/>
                <a:ea typeface="Georgia"/>
                <a:cs typeface="Georgia"/>
              </a:rPr>
              <a:t>353</a:t>
            </a:r>
            <a:endParaRPr sz="3400"/>
          </a:p>
        </p:txBody>
      </p:sp>
      <p:sp>
        <p:nvSpPr>
          <p:cNvPr id="10" name="Text 7">
            <a:extLst xmlns:a="http://schemas.openxmlformats.org/drawingml/2006/main">
              <a:ext uri="{FF2B5EF4-FFF2-40B4-BE49-F238E27FC236}">
                <a16:creationId xmlns:a16="http://schemas.microsoft.com/office/drawing/2014/main" id="{49DB1B6F-2B50-412C-B508-4903A7E6C1CB}"/>
              </a:ext>
            </a:extLst>
          </p:cNvPr>
          <p:cNvSpPr>
            <a:spLocks xmlns:a="http://schemas.openxmlformats.org/drawingml/2006/main" noGrp="1"/>
          </p:cNvSpPr>
          <p:nvPr/>
        </p:nvSpPr>
        <p:spPr>
          <a:xfrm xmlns:a="http://schemas.openxmlformats.org/drawingml/2006/main">
            <a:off x="2743200" y="5897880"/>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a:solidFill>
                  <a:srgbClr val="FFFFFF"/>
                </a:solidFill>
                <a:latin typeface="Arial"/>
                <a:ea typeface="Arial"/>
                <a:cs typeface="Arial"/>
              </a:rPr>
              <a:t>published business</a:t>
            </a:r>
            <a:endParaRPr sz="1000"/>
          </a:p>
          <a:p xmlns:a="http://schemas.openxmlformats.org/drawingml/2006/main">
            <a:pPr marL="0" indent="0">
              <a:lnSpc>
                <a:spcPct val="105000"/>
              </a:lnSpc>
              <a:buNone/>
            </a:pPr>
            <a:r>
              <a:rPr sz="1000">
                <a:solidFill>
                  <a:srgbClr val="FFFFFF"/>
                </a:solidFill>
                <a:latin typeface="Arial"/>
                <a:ea typeface="Arial"/>
                <a:cs typeface="Arial"/>
              </a:rPr>
              <a:t>contacts</a:t>
            </a:r>
            <a:endParaRPr sz="1000"/>
          </a:p>
        </p:txBody>
      </p:sp>
      <p:sp>
        <p:nvSpPr>
          <p:cNvPr id="11" name="Text 8">
            <a:extLst xmlns:a="http://schemas.openxmlformats.org/drawingml/2006/main">
              <a:ext uri="{FF2B5EF4-FFF2-40B4-BE49-F238E27FC236}">
                <a16:creationId xmlns:a16="http://schemas.microsoft.com/office/drawing/2014/main" id="{E625FCE3-FB65-43A9-ABEA-9CF664DB5A6B}"/>
              </a:ext>
            </a:extLst>
          </p:cNvPr>
          <p:cNvSpPr>
            <a:spLocks xmlns:a="http://schemas.openxmlformats.org/drawingml/2006/main" noGrp="1"/>
          </p:cNvSpPr>
          <p:nvPr/>
        </p:nvSpPr>
        <p:spPr>
          <a:xfrm xmlns:a="http://schemas.openxmlformats.org/drawingml/2006/main">
            <a:off x="4846320" y="5349240"/>
            <a:ext cx="1920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a:solidFill>
                  <a:srgbClr val="FFC952"/>
                </a:solidFill>
                <a:latin typeface="Georgia"/>
                <a:ea typeface="Georgia"/>
                <a:cs typeface="Georgia"/>
              </a:rPr>
              <a:t>927</a:t>
            </a:r>
            <a:endParaRPr sz="3400"/>
          </a:p>
        </p:txBody>
      </p:sp>
      <p:sp>
        <p:nvSpPr>
          <p:cNvPr id="12" name="Text 9">
            <a:extLst xmlns:a="http://schemas.openxmlformats.org/drawingml/2006/main">
              <a:ext uri="{FF2B5EF4-FFF2-40B4-BE49-F238E27FC236}">
                <a16:creationId xmlns:a16="http://schemas.microsoft.com/office/drawing/2014/main" id="{4204668F-30D7-4E79-BC7C-31AD9BC05643}"/>
              </a:ext>
            </a:extLst>
          </p:cNvPr>
          <p:cNvSpPr>
            <a:spLocks xmlns:a="http://schemas.openxmlformats.org/drawingml/2006/main" noGrp="1"/>
          </p:cNvSpPr>
          <p:nvPr/>
        </p:nvSpPr>
        <p:spPr>
          <a:xfrm xmlns:a="http://schemas.openxmlformats.org/drawingml/2006/main">
            <a:off x="4846320" y="5897880"/>
            <a:ext cx="1920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00">
                <a:solidFill>
                  <a:srgbClr val="FFFFFF"/>
                </a:solidFill>
                <a:latin typeface="Arial"/>
                <a:ea typeface="Arial"/>
                <a:cs typeface="Arial"/>
              </a:rPr>
              <a:t>personalised</a:t>
            </a:r>
            <a:endParaRPr sz="1000"/>
          </a:p>
          <a:p xmlns:a="http://schemas.openxmlformats.org/drawingml/2006/main">
            <a:pPr marL="0" indent="0">
              <a:lnSpc>
                <a:spcPct val="105000"/>
              </a:lnSpc>
              <a:buNone/>
            </a:pPr>
            <a:r>
              <a:rPr sz="1000">
                <a:solidFill>
                  <a:srgbClr val="FFFFFF"/>
                </a:solidFill>
                <a:latin typeface="Arial"/>
                <a:ea typeface="Arial"/>
                <a:cs typeface="Arial"/>
              </a:rPr>
              <a:t>outreach plans</a:t>
            </a:r>
            <a:endParaRPr sz="1000"/>
          </a:p>
        </p:txBody>
      </p:sp>
    </p:spTree>
    <p:extLst>
      <p:ext uri="{BB962C8B-B14F-4D97-AF65-F5344CB8AC3E}">
        <p14:creationId xmlns:p14="http://schemas.microsoft.com/office/powerpoint/2010/main" val="52141617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E41368D-4985-4C16-9AB0-49DFECF9EABF}"/>
              </a:ext>
            </a:extLst>
          </p:cNvPr>
          <p:cNvSpPr>
            <a:spLocks xmlns:a="http://schemas.openxmlformats.org/drawingml/2006/main" noGrp="1"/>
          </p:cNvSpPr>
          <p:nvPr/>
        </p:nvSpPr>
        <p:spPr>
          <a:xfrm xmlns:a="http://schemas.openxmlformats.org/drawingml/2006/main">
            <a:off x="548640" y="384048"/>
            <a:ext cx="8229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18283"/>
                </a:solidFill>
                <a:latin typeface="Arial"/>
                <a:ea typeface="Arial"/>
                <a:cs typeface="Arial"/>
              </a:rPr>
              <a:t>OPERATING MODEL</a:t>
            </a:r>
            <a:endParaRPr sz="900"/>
          </a:p>
        </p:txBody>
      </p:sp>
      <p:sp>
        <p:nvSpPr>
          <p:cNvPr id="3" name="Text 1">
            <a:extLst xmlns:a="http://schemas.openxmlformats.org/drawingml/2006/main">
              <a:ext uri="{FF2B5EF4-FFF2-40B4-BE49-F238E27FC236}">
                <a16:creationId xmlns:a16="http://schemas.microsoft.com/office/drawing/2014/main" id="{E11B3A2D-90C7-490A-8F2A-ED8E16AAB565}"/>
              </a:ext>
            </a:extLst>
          </p:cNvPr>
          <p:cNvSpPr>
            <a:spLocks xmlns:a="http://schemas.openxmlformats.org/drawingml/2006/main" noGrp="1"/>
          </p:cNvSpPr>
          <p:nvPr/>
        </p:nvSpPr>
        <p:spPr>
          <a:xfrm xmlns:a="http://schemas.openxmlformats.org/drawingml/2006/main">
            <a:off x="548640" y="603504"/>
            <a:ext cx="9601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02368"/>
                </a:solidFill>
                <a:latin typeface="Arial"/>
                <a:ea typeface="Arial"/>
                <a:cs typeface="Arial"/>
              </a:rPr>
              <a:t>Two lead-generation tracks</a:t>
            </a:r>
            <a:endParaRPr sz="2600"/>
          </a:p>
        </p:txBody>
      </p:sp>
      <p:sp>
        <p:nvSpPr>
          <p:cNvPr id="4" name="Shape 2">
            <a:extLst xmlns:a="http://schemas.openxmlformats.org/drawingml/2006/main">
              <a:ext uri="{FF2B5EF4-FFF2-40B4-BE49-F238E27FC236}">
                <a16:creationId xmlns:a16="http://schemas.microsoft.com/office/drawing/2014/main" id="{4A9567E1-9DCB-48CF-B3EB-C61F196684C2}"/>
              </a:ext>
            </a:extLst>
          </p:cNvPr>
          <p:cNvSpPr>
            <a:spLocks xmlns:a="http://schemas.openxmlformats.org/drawingml/2006/main" noGrp="1"/>
          </p:cNvSpPr>
          <p:nvPr/>
        </p:nvSpPr>
        <p:spPr>
          <a:xfrm xmlns:a="http://schemas.openxmlformats.org/drawingml/2006/main">
            <a:off x="548640" y="1417320"/>
            <a:ext cx="5440680" cy="4069080"/>
          </a:xfrm>
          <a:prstGeom xmlns:a="http://schemas.openxmlformats.org/drawingml/2006/main" prst="roundRect">
            <a:avLst>
              <a:gd name="adj" fmla="val 1573"/>
            </a:avLst>
          </a:prstGeom>
          <a:solidFill xmlns:a="http://schemas.openxmlformats.org/drawingml/2006/main">
            <a:srgbClr val="002368"/>
          </a:solidFill>
          <a:ln xmlns:a="http://schemas.openxmlformats.org/drawingml/2006/main" w="12700">
            <a:solidFill>
              <a:srgbClr val="002368"/>
            </a:solidFill>
            <a:prstDash val="solid"/>
          </a:ln>
        </p:spPr>
      </p:sp>
      <p:sp>
        <p:nvSpPr>
          <p:cNvPr id="5" name="Text 3">
            <a:extLst xmlns:a="http://schemas.openxmlformats.org/drawingml/2006/main">
              <a:ext uri="{FF2B5EF4-FFF2-40B4-BE49-F238E27FC236}">
                <a16:creationId xmlns:a16="http://schemas.microsoft.com/office/drawing/2014/main" id="{CEBD9BB7-8B19-4E4C-8965-746171A013D5}"/>
              </a:ext>
            </a:extLst>
          </p:cNvPr>
          <p:cNvSpPr>
            <a:spLocks xmlns:a="http://schemas.openxmlformats.org/drawingml/2006/main" noGrp="1"/>
          </p:cNvSpPr>
          <p:nvPr/>
        </p:nvSpPr>
        <p:spPr>
          <a:xfrm xmlns:a="http://schemas.openxmlformats.org/drawingml/2006/main">
            <a:off x="914400" y="1709928"/>
            <a:ext cx="914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a:solidFill>
                  <a:srgbClr val="FFC952"/>
                </a:solidFill>
                <a:latin typeface="Georgia"/>
                <a:ea typeface="Georgia"/>
                <a:cs typeface="Georgia"/>
              </a:rPr>
              <a:t>01</a:t>
            </a:r>
            <a:endParaRPr sz="3000"/>
          </a:p>
        </p:txBody>
      </p:sp>
      <p:sp>
        <p:nvSpPr>
          <p:cNvPr id="6" name="Text 4">
            <a:extLst xmlns:a="http://schemas.openxmlformats.org/drawingml/2006/main">
              <a:ext uri="{FF2B5EF4-FFF2-40B4-BE49-F238E27FC236}">
                <a16:creationId xmlns:a16="http://schemas.microsoft.com/office/drawing/2014/main" id="{0590D59F-E192-48F7-8EC0-0963834C00EF}"/>
              </a:ext>
            </a:extLst>
          </p:cNvPr>
          <p:cNvSpPr>
            <a:spLocks xmlns:a="http://schemas.openxmlformats.org/drawingml/2006/main" noGrp="1"/>
          </p:cNvSpPr>
          <p:nvPr/>
        </p:nvSpPr>
        <p:spPr>
          <a:xfrm xmlns:a="http://schemas.openxmlformats.org/drawingml/2006/main">
            <a:off x="1783080" y="1783080"/>
            <a:ext cx="3886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FFFFF"/>
                </a:solidFill>
                <a:latin typeface="Arial"/>
                <a:ea typeface="Arial"/>
                <a:cs typeface="Arial"/>
              </a:rPr>
              <a:t>Organisational partnerships</a:t>
            </a:r>
            <a:endParaRPr sz="1700"/>
          </a:p>
        </p:txBody>
      </p:sp>
      <p:sp>
        <p:nvSpPr>
          <p:cNvPr id="7" name="Shape 5">
            <a:extLst xmlns:a="http://schemas.openxmlformats.org/drawingml/2006/main">
              <a:ext uri="{FF2B5EF4-FFF2-40B4-BE49-F238E27FC236}">
                <a16:creationId xmlns:a16="http://schemas.microsoft.com/office/drawing/2014/main" id="{558261C8-7E0B-4EDA-BB8E-11413F57110B}"/>
              </a:ext>
            </a:extLst>
          </p:cNvPr>
          <p:cNvSpPr>
            <a:spLocks xmlns:a="http://schemas.openxmlformats.org/drawingml/2006/main" noGrp="1"/>
          </p:cNvSpPr>
          <p:nvPr/>
        </p:nvSpPr>
        <p:spPr>
          <a:xfrm xmlns:a="http://schemas.openxmlformats.org/drawingml/2006/main">
            <a:off x="914400" y="2441448"/>
            <a:ext cx="4709160" cy="0"/>
          </a:xfrm>
          <a:prstGeom xmlns:a="http://schemas.openxmlformats.org/drawingml/2006/main" prst="line">
            <a:avLst/>
          </a:prstGeom>
          <a:noFill xmlns:a="http://schemas.openxmlformats.org/drawingml/2006/main"/>
          <a:ln xmlns:a="http://schemas.openxmlformats.org/drawingml/2006/main" w="9525">
            <a:solidFill>
              <a:srgbClr val="8091B3"/>
            </a:solidFill>
            <a:prstDash val="solid"/>
          </a:ln>
        </p:spPr>
      </p:sp>
      <p:sp>
        <p:nvSpPr>
          <p:cNvPr id="8" name="Text 6">
            <a:extLst xmlns:a="http://schemas.openxmlformats.org/drawingml/2006/main">
              <a:ext uri="{FF2B5EF4-FFF2-40B4-BE49-F238E27FC236}">
                <a16:creationId xmlns:a16="http://schemas.microsoft.com/office/drawing/2014/main" id="{68EC3ED6-0CE3-4D44-B132-1D0D9F36D4CA}"/>
              </a:ext>
            </a:extLst>
          </p:cNvPr>
          <p:cNvSpPr>
            <a:spLocks xmlns:a="http://schemas.openxmlformats.org/drawingml/2006/main" noGrp="1"/>
          </p:cNvSpPr>
          <p:nvPr/>
        </p:nvSpPr>
        <p:spPr>
          <a:xfrm xmlns:a="http://schemas.openxmlformats.org/drawingml/2006/main">
            <a:off x="914400" y="2651760"/>
            <a:ext cx="347472" cy="305775"/>
          </a:xfrm>
          <a:prstGeom xmlns:a="http://schemas.openxmlformats.org/drawingml/2006/main" prst="hexagon">
            <a:avLst/>
          </a:prstGeom>
          <a:solidFill xmlns:a="http://schemas.openxmlformats.org/drawingml/2006/main">
            <a:srgbClr val="80BFEC"/>
          </a:solidFill>
          <a:ln xmlns:a="http://schemas.openxmlformats.org/drawingml/2006/main">
            <a:solidFill>
              <a:srgbClr val="80BFEC"/>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002368"/>
                </a:solidFill>
                <a:latin typeface="Arial"/>
                <a:ea typeface="Arial"/>
                <a:cs typeface="Arial"/>
              </a:rPr>
              <a:t>1</a:t>
            </a:r>
            <a:endParaRPr sz="1000"/>
          </a:p>
        </p:txBody>
      </p:sp>
      <p:sp>
        <p:nvSpPr>
          <p:cNvPr id="9" name="Text 7">
            <a:extLst xmlns:a="http://schemas.openxmlformats.org/drawingml/2006/main">
              <a:ext uri="{FF2B5EF4-FFF2-40B4-BE49-F238E27FC236}">
                <a16:creationId xmlns:a16="http://schemas.microsoft.com/office/drawing/2014/main" id="{D467B92B-B310-4F26-AB95-9535E0E67F48}"/>
              </a:ext>
            </a:extLst>
          </p:cNvPr>
          <p:cNvSpPr>
            <a:spLocks xmlns:a="http://schemas.openxmlformats.org/drawingml/2006/main" noGrp="1"/>
          </p:cNvSpPr>
          <p:nvPr/>
        </p:nvSpPr>
        <p:spPr>
          <a:xfrm xmlns:a="http://schemas.openxmlformats.org/drawingml/2006/main">
            <a:off x="1417320" y="2651760"/>
            <a:ext cx="18288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FFFF"/>
                </a:solidFill>
                <a:latin typeface="Arial"/>
                <a:ea typeface="Arial"/>
                <a:cs typeface="Arial"/>
              </a:rPr>
              <a:t>Public sources</a:t>
            </a:r>
            <a:endParaRPr sz="1200"/>
          </a:p>
        </p:txBody>
      </p:sp>
      <p:sp>
        <p:nvSpPr>
          <p:cNvPr id="10" name="Text 8">
            <a:extLst xmlns:a="http://schemas.openxmlformats.org/drawingml/2006/main">
              <a:ext uri="{FF2B5EF4-FFF2-40B4-BE49-F238E27FC236}">
                <a16:creationId xmlns:a16="http://schemas.microsoft.com/office/drawing/2014/main" id="{4F2763B7-1E90-4A02-883C-C024F07C6E8F}"/>
              </a:ext>
            </a:extLst>
          </p:cNvPr>
          <p:cNvSpPr>
            <a:spLocks xmlns:a="http://schemas.openxmlformats.org/drawingml/2006/main" noGrp="1"/>
          </p:cNvSpPr>
          <p:nvPr/>
        </p:nvSpPr>
        <p:spPr>
          <a:xfrm xmlns:a="http://schemas.openxmlformats.org/drawingml/2006/main">
            <a:off x="3246120" y="2633472"/>
            <a:ext cx="2423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D9ECF9"/>
                </a:solidFill>
                <a:latin typeface="Arial"/>
                <a:ea typeface="Arial"/>
                <a:cs typeface="Arial"/>
              </a:rPr>
              <a:t>TATO, TCDC, OSM and company websites</a:t>
            </a:r>
            <a:endParaRPr sz="1050"/>
          </a:p>
        </p:txBody>
      </p:sp>
      <p:sp>
        <p:nvSpPr>
          <p:cNvPr id="11" name="Text 9">
            <a:extLst xmlns:a="http://schemas.openxmlformats.org/drawingml/2006/main">
              <a:ext uri="{FF2B5EF4-FFF2-40B4-BE49-F238E27FC236}">
                <a16:creationId xmlns:a16="http://schemas.microsoft.com/office/drawing/2014/main" id="{B2879E62-CA40-4D45-ACB7-FA2825B4C40E}"/>
              </a:ext>
            </a:extLst>
          </p:cNvPr>
          <p:cNvSpPr>
            <a:spLocks xmlns:a="http://schemas.openxmlformats.org/drawingml/2006/main" noGrp="1"/>
          </p:cNvSpPr>
          <p:nvPr/>
        </p:nvSpPr>
        <p:spPr>
          <a:xfrm xmlns:a="http://schemas.openxmlformats.org/drawingml/2006/main">
            <a:off x="914400" y="3346704"/>
            <a:ext cx="347472" cy="305775"/>
          </a:xfrm>
          <a:prstGeom xmlns:a="http://schemas.openxmlformats.org/drawingml/2006/main" prst="hexagon">
            <a:avLst/>
          </a:prstGeom>
          <a:solidFill xmlns:a="http://schemas.openxmlformats.org/drawingml/2006/main">
            <a:srgbClr val="80BFEC"/>
          </a:solidFill>
          <a:ln xmlns:a="http://schemas.openxmlformats.org/drawingml/2006/main">
            <a:solidFill>
              <a:srgbClr val="80BFEC"/>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002368"/>
                </a:solidFill>
                <a:latin typeface="Arial"/>
                <a:ea typeface="Arial"/>
                <a:cs typeface="Arial"/>
              </a:rPr>
              <a:t>2</a:t>
            </a:r>
            <a:endParaRPr sz="1000"/>
          </a:p>
        </p:txBody>
      </p:sp>
      <p:sp>
        <p:nvSpPr>
          <p:cNvPr id="12" name="Text 10">
            <a:extLst xmlns:a="http://schemas.openxmlformats.org/drawingml/2006/main">
              <a:ext uri="{FF2B5EF4-FFF2-40B4-BE49-F238E27FC236}">
                <a16:creationId xmlns:a16="http://schemas.microsoft.com/office/drawing/2014/main" id="{B1D2C7EA-9D07-43AE-9658-E2BCF58BF8D1}"/>
              </a:ext>
            </a:extLst>
          </p:cNvPr>
          <p:cNvSpPr>
            <a:spLocks xmlns:a="http://schemas.openxmlformats.org/drawingml/2006/main" noGrp="1"/>
          </p:cNvSpPr>
          <p:nvPr/>
        </p:nvSpPr>
        <p:spPr>
          <a:xfrm xmlns:a="http://schemas.openxmlformats.org/drawingml/2006/main">
            <a:off x="1417320" y="3346704"/>
            <a:ext cx="18288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FFFF"/>
                </a:solidFill>
                <a:latin typeface="Arial"/>
                <a:ea typeface="Arial"/>
                <a:cs typeface="Arial"/>
              </a:rPr>
              <a:t>Business lead list</a:t>
            </a:r>
            <a:endParaRPr sz="1200"/>
          </a:p>
        </p:txBody>
      </p:sp>
      <p:sp>
        <p:nvSpPr>
          <p:cNvPr id="13" name="Text 11">
            <a:extLst xmlns:a="http://schemas.openxmlformats.org/drawingml/2006/main">
              <a:ext uri="{FF2B5EF4-FFF2-40B4-BE49-F238E27FC236}">
                <a16:creationId xmlns:a16="http://schemas.microsoft.com/office/drawing/2014/main" id="{595A097C-26D8-4FDE-BF51-21DAF7524271}"/>
              </a:ext>
            </a:extLst>
          </p:cNvPr>
          <p:cNvSpPr>
            <a:spLocks xmlns:a="http://schemas.openxmlformats.org/drawingml/2006/main" noGrp="1"/>
          </p:cNvSpPr>
          <p:nvPr/>
        </p:nvSpPr>
        <p:spPr>
          <a:xfrm xmlns:a="http://schemas.openxmlformats.org/drawingml/2006/main">
            <a:off x="3246120" y="3328416"/>
            <a:ext cx="2423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D9ECF9"/>
                </a:solidFill>
                <a:latin typeface="Arial"/>
                <a:ea typeface="Arial"/>
                <a:cs typeface="Arial"/>
              </a:rPr>
              <a:t>Organisation channels and published contacts</a:t>
            </a:r>
            <a:endParaRPr sz="1050"/>
          </a:p>
        </p:txBody>
      </p:sp>
      <p:sp>
        <p:nvSpPr>
          <p:cNvPr id="14" name="Text 12">
            <a:extLst xmlns:a="http://schemas.openxmlformats.org/drawingml/2006/main">
              <a:ext uri="{FF2B5EF4-FFF2-40B4-BE49-F238E27FC236}">
                <a16:creationId xmlns:a16="http://schemas.microsoft.com/office/drawing/2014/main" id="{397B8D76-454D-436E-8BF6-B0C578FB94A4}"/>
              </a:ext>
            </a:extLst>
          </p:cNvPr>
          <p:cNvSpPr>
            <a:spLocks xmlns:a="http://schemas.openxmlformats.org/drawingml/2006/main" noGrp="1"/>
          </p:cNvSpPr>
          <p:nvPr/>
        </p:nvSpPr>
        <p:spPr>
          <a:xfrm xmlns:a="http://schemas.openxmlformats.org/drawingml/2006/main">
            <a:off x="914400" y="4041648"/>
            <a:ext cx="347472" cy="305775"/>
          </a:xfrm>
          <a:prstGeom xmlns:a="http://schemas.openxmlformats.org/drawingml/2006/main" prst="hexagon">
            <a:avLst/>
          </a:prstGeom>
          <a:solidFill xmlns:a="http://schemas.openxmlformats.org/drawingml/2006/main">
            <a:srgbClr val="80BFEC"/>
          </a:solidFill>
          <a:ln xmlns:a="http://schemas.openxmlformats.org/drawingml/2006/main">
            <a:solidFill>
              <a:srgbClr val="80BFEC"/>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002368"/>
                </a:solidFill>
                <a:latin typeface="Arial"/>
                <a:ea typeface="Arial"/>
                <a:cs typeface="Arial"/>
              </a:rPr>
              <a:t>3</a:t>
            </a:r>
            <a:endParaRPr sz="1000"/>
          </a:p>
        </p:txBody>
      </p:sp>
      <p:sp>
        <p:nvSpPr>
          <p:cNvPr id="15" name="Text 13">
            <a:extLst xmlns:a="http://schemas.openxmlformats.org/drawingml/2006/main">
              <a:ext uri="{FF2B5EF4-FFF2-40B4-BE49-F238E27FC236}">
                <a16:creationId xmlns:a16="http://schemas.microsoft.com/office/drawing/2014/main" id="{632BF219-66DC-4BBB-9D15-B12FE37D3467}"/>
              </a:ext>
            </a:extLst>
          </p:cNvPr>
          <p:cNvSpPr>
            <a:spLocks xmlns:a="http://schemas.openxmlformats.org/drawingml/2006/main" noGrp="1"/>
          </p:cNvSpPr>
          <p:nvPr/>
        </p:nvSpPr>
        <p:spPr>
          <a:xfrm xmlns:a="http://schemas.openxmlformats.org/drawingml/2006/main">
            <a:off x="1417320" y="4041648"/>
            <a:ext cx="18288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FFFF"/>
                </a:solidFill>
                <a:latin typeface="Arial"/>
                <a:ea typeface="Arial"/>
                <a:cs typeface="Arial"/>
              </a:rPr>
              <a:t>Partnership outreach</a:t>
            </a:r>
            <a:endParaRPr sz="1200"/>
          </a:p>
        </p:txBody>
      </p:sp>
      <p:sp>
        <p:nvSpPr>
          <p:cNvPr id="16" name="Text 14">
            <a:extLst xmlns:a="http://schemas.openxmlformats.org/drawingml/2006/main">
              <a:ext uri="{FF2B5EF4-FFF2-40B4-BE49-F238E27FC236}">
                <a16:creationId xmlns:a16="http://schemas.microsoft.com/office/drawing/2014/main" id="{824A06E0-B0A0-4047-B0A8-B28B513D2020}"/>
              </a:ext>
            </a:extLst>
          </p:cNvPr>
          <p:cNvSpPr>
            <a:spLocks xmlns:a="http://schemas.openxmlformats.org/drawingml/2006/main" noGrp="1"/>
          </p:cNvSpPr>
          <p:nvPr/>
        </p:nvSpPr>
        <p:spPr>
          <a:xfrm xmlns:a="http://schemas.openxmlformats.org/drawingml/2006/main">
            <a:off x="3246120" y="4023360"/>
            <a:ext cx="2423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D9ECF9"/>
                </a:solidFill>
                <a:latin typeface="Arial"/>
                <a:ea typeface="Arial"/>
                <a:cs typeface="Arial"/>
              </a:rPr>
              <a:t>Route to HR, staff welfare or leadership</a:t>
            </a:r>
            <a:endParaRPr sz="1050"/>
          </a:p>
        </p:txBody>
      </p:sp>
      <p:sp>
        <p:nvSpPr>
          <p:cNvPr id="17" name="Text 15">
            <a:extLst xmlns:a="http://schemas.openxmlformats.org/drawingml/2006/main">
              <a:ext uri="{FF2B5EF4-FFF2-40B4-BE49-F238E27FC236}">
                <a16:creationId xmlns:a16="http://schemas.microsoft.com/office/drawing/2014/main" id="{BE18E380-A909-4C8C-B749-9A8066F415D9}"/>
              </a:ext>
            </a:extLst>
          </p:cNvPr>
          <p:cNvSpPr>
            <a:spLocks xmlns:a="http://schemas.openxmlformats.org/drawingml/2006/main" noGrp="1"/>
          </p:cNvSpPr>
          <p:nvPr/>
        </p:nvSpPr>
        <p:spPr>
          <a:xfrm xmlns:a="http://schemas.openxmlformats.org/drawingml/2006/main">
            <a:off x="914400" y="4736592"/>
            <a:ext cx="347472" cy="305775"/>
          </a:xfrm>
          <a:prstGeom xmlns:a="http://schemas.openxmlformats.org/drawingml/2006/main" prst="hexagon">
            <a:avLst/>
          </a:prstGeom>
          <a:solidFill xmlns:a="http://schemas.openxmlformats.org/drawingml/2006/main">
            <a:srgbClr val="80BFEC"/>
          </a:solidFill>
          <a:ln xmlns:a="http://schemas.openxmlformats.org/drawingml/2006/main">
            <a:solidFill>
              <a:srgbClr val="80BFEC"/>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002368"/>
                </a:solidFill>
                <a:latin typeface="Arial"/>
                <a:ea typeface="Arial"/>
                <a:cs typeface="Arial"/>
              </a:rPr>
              <a:t>4</a:t>
            </a:r>
            <a:endParaRPr sz="1000"/>
          </a:p>
        </p:txBody>
      </p:sp>
      <p:sp>
        <p:nvSpPr>
          <p:cNvPr id="18" name="Text 16">
            <a:extLst xmlns:a="http://schemas.openxmlformats.org/drawingml/2006/main">
              <a:ext uri="{FF2B5EF4-FFF2-40B4-BE49-F238E27FC236}">
                <a16:creationId xmlns:a16="http://schemas.microsoft.com/office/drawing/2014/main" id="{2C10D6FB-B411-47B8-A274-535B7EABBAE6}"/>
              </a:ext>
            </a:extLst>
          </p:cNvPr>
          <p:cNvSpPr>
            <a:spLocks xmlns:a="http://schemas.openxmlformats.org/drawingml/2006/main" noGrp="1"/>
          </p:cNvSpPr>
          <p:nvPr/>
        </p:nvSpPr>
        <p:spPr>
          <a:xfrm xmlns:a="http://schemas.openxmlformats.org/drawingml/2006/main">
            <a:off x="1417320" y="4736592"/>
            <a:ext cx="18288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FFFF"/>
                </a:solidFill>
                <a:latin typeface="Arial"/>
                <a:ea typeface="Arial"/>
                <a:cs typeface="Arial"/>
              </a:rPr>
              <a:t>Customer path</a:t>
            </a:r>
            <a:endParaRPr sz="1200"/>
          </a:p>
        </p:txBody>
      </p:sp>
      <p:sp>
        <p:nvSpPr>
          <p:cNvPr id="19" name="Text 17">
            <a:extLst xmlns:a="http://schemas.openxmlformats.org/drawingml/2006/main">
              <a:ext uri="{FF2B5EF4-FFF2-40B4-BE49-F238E27FC236}">
                <a16:creationId xmlns:a16="http://schemas.microsoft.com/office/drawing/2014/main" id="{38551183-2295-43AA-A271-8F12F8566FC0}"/>
              </a:ext>
            </a:extLst>
          </p:cNvPr>
          <p:cNvSpPr>
            <a:spLocks xmlns:a="http://schemas.openxmlformats.org/drawingml/2006/main" noGrp="1"/>
          </p:cNvSpPr>
          <p:nvPr/>
        </p:nvSpPr>
        <p:spPr>
          <a:xfrm xmlns:a="http://schemas.openxmlformats.org/drawingml/2006/main">
            <a:off x="3246120" y="4718304"/>
            <a:ext cx="2423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D9ECF9"/>
                </a:solidFill>
                <a:latin typeface="Arial"/>
                <a:ea typeface="Arial"/>
                <a:cs typeface="Arial"/>
              </a:rPr>
              <a:t>A useful staff introduction creates parent interest</a:t>
            </a:r>
            <a:endParaRPr sz="1050"/>
          </a:p>
        </p:txBody>
      </p:sp>
      <p:sp>
        <p:nvSpPr>
          <p:cNvPr id="20" name="Shape 18">
            <a:extLst xmlns:a="http://schemas.openxmlformats.org/drawingml/2006/main">
              <a:ext uri="{FF2B5EF4-FFF2-40B4-BE49-F238E27FC236}">
                <a16:creationId xmlns:a16="http://schemas.microsoft.com/office/drawing/2014/main" id="{BFA66516-1B69-4DCD-A4C2-6FB977DCCA2C}"/>
              </a:ext>
            </a:extLst>
          </p:cNvPr>
          <p:cNvSpPr>
            <a:spLocks xmlns:a="http://schemas.openxmlformats.org/drawingml/2006/main" noGrp="1"/>
          </p:cNvSpPr>
          <p:nvPr/>
        </p:nvSpPr>
        <p:spPr>
          <a:xfrm xmlns:a="http://schemas.openxmlformats.org/drawingml/2006/main">
            <a:off x="6202375" y="1417320"/>
            <a:ext cx="5440680" cy="4069080"/>
          </a:xfrm>
          <a:prstGeom xmlns:a="http://schemas.openxmlformats.org/drawingml/2006/main" prst="roundRect">
            <a:avLst>
              <a:gd name="adj" fmla="val 1573"/>
            </a:avLst>
          </a:prstGeom>
          <a:solidFill xmlns:a="http://schemas.openxmlformats.org/drawingml/2006/main">
            <a:srgbClr val="D9ECF9"/>
          </a:solidFill>
          <a:ln xmlns:a="http://schemas.openxmlformats.org/drawingml/2006/main" w="12700">
            <a:solidFill>
              <a:srgbClr val="D9ECF9"/>
            </a:solidFill>
            <a:prstDash val="solid"/>
          </a:ln>
        </p:spPr>
      </p:sp>
      <p:sp>
        <p:nvSpPr>
          <p:cNvPr id="21" name="Text 19">
            <a:extLst xmlns:a="http://schemas.openxmlformats.org/drawingml/2006/main">
              <a:ext uri="{FF2B5EF4-FFF2-40B4-BE49-F238E27FC236}">
                <a16:creationId xmlns:a16="http://schemas.microsoft.com/office/drawing/2014/main" id="{FBD87DC8-273A-49E7-AFDB-67509AB14424}"/>
              </a:ext>
            </a:extLst>
          </p:cNvPr>
          <p:cNvSpPr>
            <a:spLocks xmlns:a="http://schemas.openxmlformats.org/drawingml/2006/main" noGrp="1"/>
          </p:cNvSpPr>
          <p:nvPr/>
        </p:nvSpPr>
        <p:spPr>
          <a:xfrm xmlns:a="http://schemas.openxmlformats.org/drawingml/2006/main">
            <a:off x="6568135" y="1709928"/>
            <a:ext cx="914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a:solidFill>
                  <a:srgbClr val="002368"/>
                </a:solidFill>
                <a:latin typeface="Georgia"/>
                <a:ea typeface="Georgia"/>
                <a:cs typeface="Georgia"/>
              </a:rPr>
              <a:t>02</a:t>
            </a:r>
            <a:endParaRPr sz="3000"/>
          </a:p>
        </p:txBody>
      </p:sp>
      <p:sp>
        <p:nvSpPr>
          <p:cNvPr id="22" name="Text 20">
            <a:extLst xmlns:a="http://schemas.openxmlformats.org/drawingml/2006/main">
              <a:ext uri="{FF2B5EF4-FFF2-40B4-BE49-F238E27FC236}">
                <a16:creationId xmlns:a16="http://schemas.microsoft.com/office/drawing/2014/main" id="{9A9839F0-0812-4BC0-8C31-ABD0F61C4273}"/>
              </a:ext>
            </a:extLst>
          </p:cNvPr>
          <p:cNvSpPr>
            <a:spLocks xmlns:a="http://schemas.openxmlformats.org/drawingml/2006/main" noGrp="1"/>
          </p:cNvSpPr>
          <p:nvPr/>
        </p:nvSpPr>
        <p:spPr>
          <a:xfrm xmlns:a="http://schemas.openxmlformats.org/drawingml/2006/main">
            <a:off x="7436815" y="1783080"/>
            <a:ext cx="3886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002368"/>
                </a:solidFill>
                <a:latin typeface="Arial"/>
                <a:ea typeface="Arial"/>
                <a:cs typeface="Arial"/>
              </a:rPr>
              <a:t>First-party parent acquisition</a:t>
            </a:r>
            <a:endParaRPr sz="1700"/>
          </a:p>
        </p:txBody>
      </p:sp>
      <p:sp>
        <p:nvSpPr>
          <p:cNvPr id="23" name="Shape 21">
            <a:extLst xmlns:a="http://schemas.openxmlformats.org/drawingml/2006/main">
              <a:ext uri="{FF2B5EF4-FFF2-40B4-BE49-F238E27FC236}">
                <a16:creationId xmlns:a16="http://schemas.microsoft.com/office/drawing/2014/main" id="{7EF1AC8B-6F68-4A3B-AE7F-E18E7868C172}"/>
              </a:ext>
            </a:extLst>
          </p:cNvPr>
          <p:cNvSpPr>
            <a:spLocks xmlns:a="http://schemas.openxmlformats.org/drawingml/2006/main" noGrp="1"/>
          </p:cNvSpPr>
          <p:nvPr/>
        </p:nvSpPr>
        <p:spPr>
          <a:xfrm xmlns:a="http://schemas.openxmlformats.org/drawingml/2006/main">
            <a:off x="6568135" y="2441448"/>
            <a:ext cx="4709160" cy="0"/>
          </a:xfrm>
          <a:prstGeom xmlns:a="http://schemas.openxmlformats.org/drawingml/2006/main" prst="line">
            <a:avLst/>
          </a:prstGeom>
          <a:noFill xmlns:a="http://schemas.openxmlformats.org/drawingml/2006/main"/>
          <a:ln xmlns:a="http://schemas.openxmlformats.org/drawingml/2006/main" w="9525">
            <a:solidFill>
              <a:srgbClr val="80BFEC"/>
            </a:solidFill>
            <a:prstDash val="solid"/>
          </a:ln>
        </p:spPr>
      </p:sp>
      <p:sp>
        <p:nvSpPr>
          <p:cNvPr id="24" name="Text 22">
            <a:extLst xmlns:a="http://schemas.openxmlformats.org/drawingml/2006/main">
              <a:ext uri="{FF2B5EF4-FFF2-40B4-BE49-F238E27FC236}">
                <a16:creationId xmlns:a16="http://schemas.microsoft.com/office/drawing/2014/main" id="{84B905E1-5519-4B0B-A5C6-275AA1679D3B}"/>
              </a:ext>
            </a:extLst>
          </p:cNvPr>
          <p:cNvSpPr>
            <a:spLocks xmlns:a="http://schemas.openxmlformats.org/drawingml/2006/main" noGrp="1"/>
          </p:cNvSpPr>
          <p:nvPr/>
        </p:nvSpPr>
        <p:spPr>
          <a:xfrm xmlns:a="http://schemas.openxmlformats.org/drawingml/2006/main">
            <a:off x="6568135" y="2651760"/>
            <a:ext cx="347472" cy="305775"/>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Arial"/>
                <a:ea typeface="Arial"/>
                <a:cs typeface="Arial"/>
              </a:rPr>
              <a:t>1</a:t>
            </a:r>
            <a:endParaRPr sz="1000"/>
          </a:p>
        </p:txBody>
      </p:sp>
      <p:sp>
        <p:nvSpPr>
          <p:cNvPr id="25" name="Text 23">
            <a:extLst xmlns:a="http://schemas.openxmlformats.org/drawingml/2006/main">
              <a:ext uri="{FF2B5EF4-FFF2-40B4-BE49-F238E27FC236}">
                <a16:creationId xmlns:a16="http://schemas.microsoft.com/office/drawing/2014/main" id="{07E515E5-9D78-47A2-8671-5B7E01E224BE}"/>
              </a:ext>
            </a:extLst>
          </p:cNvPr>
          <p:cNvSpPr>
            <a:spLocks xmlns:a="http://schemas.openxmlformats.org/drawingml/2006/main" noGrp="1"/>
          </p:cNvSpPr>
          <p:nvPr/>
        </p:nvSpPr>
        <p:spPr>
          <a:xfrm xmlns:a="http://schemas.openxmlformats.org/drawingml/2006/main">
            <a:off x="7071055" y="2651760"/>
            <a:ext cx="18288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02368"/>
                </a:solidFill>
                <a:latin typeface="Arial"/>
                <a:ea typeface="Arial"/>
                <a:cs typeface="Arial"/>
              </a:rPr>
              <a:t>Content and ads</a:t>
            </a:r>
            <a:endParaRPr sz="1200"/>
          </a:p>
        </p:txBody>
      </p:sp>
      <p:sp>
        <p:nvSpPr>
          <p:cNvPr id="26" name="Text 24">
            <a:extLst xmlns:a="http://schemas.openxmlformats.org/drawingml/2006/main">
              <a:ext uri="{FF2B5EF4-FFF2-40B4-BE49-F238E27FC236}">
                <a16:creationId xmlns:a16="http://schemas.microsoft.com/office/drawing/2014/main" id="{8CDD8FB6-9002-4914-9143-64BD4EEC79CA}"/>
              </a:ext>
            </a:extLst>
          </p:cNvPr>
          <p:cNvSpPr>
            <a:spLocks xmlns:a="http://schemas.openxmlformats.org/drawingml/2006/main" noGrp="1"/>
          </p:cNvSpPr>
          <p:nvPr/>
        </p:nvSpPr>
        <p:spPr>
          <a:xfrm xmlns:a="http://schemas.openxmlformats.org/drawingml/2006/main">
            <a:off x="8899855" y="2633472"/>
            <a:ext cx="2423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000000"/>
                </a:solidFill>
                <a:latin typeface="Arial"/>
                <a:ea typeface="Arial"/>
                <a:cs typeface="Arial"/>
              </a:rPr>
              <a:t>Reach parents around real education needs</a:t>
            </a:r>
            <a:endParaRPr sz="1050"/>
          </a:p>
        </p:txBody>
      </p:sp>
      <p:sp>
        <p:nvSpPr>
          <p:cNvPr id="27" name="Text 25">
            <a:extLst xmlns:a="http://schemas.openxmlformats.org/drawingml/2006/main">
              <a:ext uri="{FF2B5EF4-FFF2-40B4-BE49-F238E27FC236}">
                <a16:creationId xmlns:a16="http://schemas.microsoft.com/office/drawing/2014/main" id="{D204805D-CAD9-4162-BE95-C43F711775B3}"/>
              </a:ext>
            </a:extLst>
          </p:cNvPr>
          <p:cNvSpPr>
            <a:spLocks xmlns:a="http://schemas.openxmlformats.org/drawingml/2006/main" noGrp="1"/>
          </p:cNvSpPr>
          <p:nvPr/>
        </p:nvSpPr>
        <p:spPr>
          <a:xfrm xmlns:a="http://schemas.openxmlformats.org/drawingml/2006/main">
            <a:off x="6568135" y="3346704"/>
            <a:ext cx="347472" cy="305775"/>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Arial"/>
                <a:ea typeface="Arial"/>
                <a:cs typeface="Arial"/>
              </a:rPr>
              <a:t>2</a:t>
            </a:r>
            <a:endParaRPr sz="1000"/>
          </a:p>
        </p:txBody>
      </p:sp>
      <p:sp>
        <p:nvSpPr>
          <p:cNvPr id="28" name="Text 26">
            <a:extLst xmlns:a="http://schemas.openxmlformats.org/drawingml/2006/main">
              <a:ext uri="{FF2B5EF4-FFF2-40B4-BE49-F238E27FC236}">
                <a16:creationId xmlns:a16="http://schemas.microsoft.com/office/drawing/2014/main" id="{F47BB91D-66A6-4787-BD10-60155076731B}"/>
              </a:ext>
            </a:extLst>
          </p:cNvPr>
          <p:cNvSpPr>
            <a:spLocks xmlns:a="http://schemas.openxmlformats.org/drawingml/2006/main" noGrp="1"/>
          </p:cNvSpPr>
          <p:nvPr/>
        </p:nvSpPr>
        <p:spPr>
          <a:xfrm xmlns:a="http://schemas.openxmlformats.org/drawingml/2006/main">
            <a:off x="7071055" y="3346704"/>
            <a:ext cx="18288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02368"/>
                </a:solidFill>
                <a:latin typeface="Arial"/>
                <a:ea typeface="Arial"/>
                <a:cs typeface="Arial"/>
              </a:rPr>
              <a:t>Website journey</a:t>
            </a:r>
            <a:endParaRPr sz="1200"/>
          </a:p>
        </p:txBody>
      </p:sp>
      <p:sp>
        <p:nvSpPr>
          <p:cNvPr id="29" name="Text 27">
            <a:extLst xmlns:a="http://schemas.openxmlformats.org/drawingml/2006/main">
              <a:ext uri="{FF2B5EF4-FFF2-40B4-BE49-F238E27FC236}">
                <a16:creationId xmlns:a16="http://schemas.microsoft.com/office/drawing/2014/main" id="{7057362E-6602-4B24-9CDB-725E5CC15E6F}"/>
              </a:ext>
            </a:extLst>
          </p:cNvPr>
          <p:cNvSpPr>
            <a:spLocks xmlns:a="http://schemas.openxmlformats.org/drawingml/2006/main" noGrp="1"/>
          </p:cNvSpPr>
          <p:nvPr/>
        </p:nvSpPr>
        <p:spPr>
          <a:xfrm xmlns:a="http://schemas.openxmlformats.org/drawingml/2006/main">
            <a:off x="8899855" y="3328416"/>
            <a:ext cx="2423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000000"/>
                </a:solidFill>
                <a:latin typeface="Arial"/>
                <a:ea typeface="Arial"/>
                <a:cs typeface="Arial"/>
              </a:rPr>
              <a:t>A relevant landing page and newsletter form</a:t>
            </a:r>
            <a:endParaRPr sz="1050"/>
          </a:p>
        </p:txBody>
      </p:sp>
      <p:sp>
        <p:nvSpPr>
          <p:cNvPr id="30" name="Text 28">
            <a:extLst xmlns:a="http://schemas.openxmlformats.org/drawingml/2006/main">
              <a:ext uri="{FF2B5EF4-FFF2-40B4-BE49-F238E27FC236}">
                <a16:creationId xmlns:a16="http://schemas.microsoft.com/office/drawing/2014/main" id="{F866E4F0-5C00-4249-8077-8F29B1DBEBAF}"/>
              </a:ext>
            </a:extLst>
          </p:cNvPr>
          <p:cNvSpPr>
            <a:spLocks xmlns:a="http://schemas.openxmlformats.org/drawingml/2006/main" noGrp="1"/>
          </p:cNvSpPr>
          <p:nvPr/>
        </p:nvSpPr>
        <p:spPr>
          <a:xfrm xmlns:a="http://schemas.openxmlformats.org/drawingml/2006/main">
            <a:off x="6568135" y="4041648"/>
            <a:ext cx="347472" cy="305775"/>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Arial"/>
                <a:ea typeface="Arial"/>
                <a:cs typeface="Arial"/>
              </a:rPr>
              <a:t>3</a:t>
            </a:r>
            <a:endParaRPr sz="1000"/>
          </a:p>
        </p:txBody>
      </p:sp>
      <p:sp>
        <p:nvSpPr>
          <p:cNvPr id="31" name="Text 29">
            <a:extLst xmlns:a="http://schemas.openxmlformats.org/drawingml/2006/main">
              <a:ext uri="{FF2B5EF4-FFF2-40B4-BE49-F238E27FC236}">
                <a16:creationId xmlns:a16="http://schemas.microsoft.com/office/drawing/2014/main" id="{9007D652-141E-45F2-B62B-025B3D480071}"/>
              </a:ext>
            </a:extLst>
          </p:cNvPr>
          <p:cNvSpPr>
            <a:spLocks xmlns:a="http://schemas.openxmlformats.org/drawingml/2006/main" noGrp="1"/>
          </p:cNvSpPr>
          <p:nvPr/>
        </p:nvSpPr>
        <p:spPr>
          <a:xfrm xmlns:a="http://schemas.openxmlformats.org/drawingml/2006/main">
            <a:off x="7071055" y="4041648"/>
            <a:ext cx="18288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02368"/>
                </a:solidFill>
                <a:latin typeface="Arial"/>
                <a:ea typeface="Arial"/>
                <a:cs typeface="Arial"/>
              </a:rPr>
              <a:t>Permission record</a:t>
            </a:r>
            <a:endParaRPr sz="1200"/>
          </a:p>
        </p:txBody>
      </p:sp>
      <p:sp>
        <p:nvSpPr>
          <p:cNvPr id="32" name="Text 30">
            <a:extLst xmlns:a="http://schemas.openxmlformats.org/drawingml/2006/main">
              <a:ext uri="{FF2B5EF4-FFF2-40B4-BE49-F238E27FC236}">
                <a16:creationId xmlns:a16="http://schemas.microsoft.com/office/drawing/2014/main" id="{EC072396-A4CE-4A46-ABCC-0975F451154C}"/>
              </a:ext>
            </a:extLst>
          </p:cNvPr>
          <p:cNvSpPr>
            <a:spLocks xmlns:a="http://schemas.openxmlformats.org/drawingml/2006/main" noGrp="1"/>
          </p:cNvSpPr>
          <p:nvPr/>
        </p:nvSpPr>
        <p:spPr>
          <a:xfrm xmlns:a="http://schemas.openxmlformats.org/drawingml/2006/main">
            <a:off x="8899855" y="4023360"/>
            <a:ext cx="2423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000000"/>
                </a:solidFill>
                <a:latin typeface="Arial"/>
                <a:ea typeface="Arial"/>
                <a:cs typeface="Arial"/>
              </a:rPr>
              <a:t>Purpose, source and sign-up status captured</a:t>
            </a:r>
            <a:endParaRPr sz="1050"/>
          </a:p>
        </p:txBody>
      </p:sp>
      <p:sp>
        <p:nvSpPr>
          <p:cNvPr id="33" name="Text 31">
            <a:extLst xmlns:a="http://schemas.openxmlformats.org/drawingml/2006/main">
              <a:ext uri="{FF2B5EF4-FFF2-40B4-BE49-F238E27FC236}">
                <a16:creationId xmlns:a16="http://schemas.microsoft.com/office/drawing/2014/main" id="{B5D4BDFD-8998-4D28-8E26-D1F31B8FB8A3}"/>
              </a:ext>
            </a:extLst>
          </p:cNvPr>
          <p:cNvSpPr>
            <a:spLocks xmlns:a="http://schemas.openxmlformats.org/drawingml/2006/main" noGrp="1"/>
          </p:cNvSpPr>
          <p:nvPr/>
        </p:nvSpPr>
        <p:spPr>
          <a:xfrm xmlns:a="http://schemas.openxmlformats.org/drawingml/2006/main">
            <a:off x="6568135" y="4736592"/>
            <a:ext cx="347472" cy="305775"/>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Arial"/>
                <a:ea typeface="Arial"/>
                <a:cs typeface="Arial"/>
              </a:rPr>
              <a:t>4</a:t>
            </a:r>
            <a:endParaRPr sz="1000"/>
          </a:p>
        </p:txBody>
      </p:sp>
      <p:sp>
        <p:nvSpPr>
          <p:cNvPr id="34" name="Text 32">
            <a:extLst xmlns:a="http://schemas.openxmlformats.org/drawingml/2006/main">
              <a:ext uri="{FF2B5EF4-FFF2-40B4-BE49-F238E27FC236}">
                <a16:creationId xmlns:a16="http://schemas.microsoft.com/office/drawing/2014/main" id="{76918597-0E22-4CA5-B7B2-EE57DB44D6BE}"/>
              </a:ext>
            </a:extLst>
          </p:cNvPr>
          <p:cNvSpPr>
            <a:spLocks xmlns:a="http://schemas.openxmlformats.org/drawingml/2006/main" noGrp="1"/>
          </p:cNvSpPr>
          <p:nvPr/>
        </p:nvSpPr>
        <p:spPr>
          <a:xfrm xmlns:a="http://schemas.openxmlformats.org/drawingml/2006/main">
            <a:off x="7071055" y="4736592"/>
            <a:ext cx="18288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02368"/>
                </a:solidFill>
                <a:latin typeface="Arial"/>
                <a:ea typeface="Arial"/>
                <a:cs typeface="Arial"/>
              </a:rPr>
              <a:t>Conversion messages</a:t>
            </a:r>
            <a:endParaRPr sz="1200"/>
          </a:p>
        </p:txBody>
      </p:sp>
      <p:sp>
        <p:nvSpPr>
          <p:cNvPr id="35" name="Text 33">
            <a:extLst xmlns:a="http://schemas.openxmlformats.org/drawingml/2006/main">
              <a:ext uri="{FF2B5EF4-FFF2-40B4-BE49-F238E27FC236}">
                <a16:creationId xmlns:a16="http://schemas.microsoft.com/office/drawing/2014/main" id="{A37A87F0-B0A6-491B-B177-1312AE8573D2}"/>
              </a:ext>
            </a:extLst>
          </p:cNvPr>
          <p:cNvSpPr>
            <a:spLocks xmlns:a="http://schemas.openxmlformats.org/drawingml/2006/main" noGrp="1"/>
          </p:cNvSpPr>
          <p:nvPr/>
        </p:nvSpPr>
        <p:spPr>
          <a:xfrm xmlns:a="http://schemas.openxmlformats.org/drawingml/2006/main">
            <a:off x="8899855" y="4718304"/>
            <a:ext cx="2423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000000"/>
                </a:solidFill>
                <a:latin typeface="Arial"/>
                <a:ea typeface="Arial"/>
                <a:cs typeface="Arial"/>
              </a:rPr>
              <a:t>Guide interest towards enquiry and enrolment</a:t>
            </a:r>
            <a:endParaRPr sz="1050"/>
          </a:p>
        </p:txBody>
      </p:sp>
      <p:sp>
        <p:nvSpPr>
          <p:cNvPr id="36" name="Text 34">
            <a:extLst xmlns:a="http://schemas.openxmlformats.org/drawingml/2006/main">
              <a:ext uri="{FF2B5EF4-FFF2-40B4-BE49-F238E27FC236}">
                <a16:creationId xmlns:a16="http://schemas.microsoft.com/office/drawing/2014/main" id="{E2F21492-8962-45CE-9F09-779AA7D7E3FE}"/>
              </a:ext>
            </a:extLst>
          </p:cNvPr>
          <p:cNvSpPr>
            <a:spLocks xmlns:a="http://schemas.openxmlformats.org/drawingml/2006/main" noGrp="1"/>
          </p:cNvSpPr>
          <p:nvPr/>
        </p:nvSpPr>
        <p:spPr>
          <a:xfrm xmlns:a="http://schemas.openxmlformats.org/drawingml/2006/main">
            <a:off x="5949544" y="5687568"/>
            <a:ext cx="292608" cy="257495"/>
          </a:xfrm>
          <a:prstGeom xmlns:a="http://schemas.openxmlformats.org/drawingml/2006/main" prst="hexagon">
            <a:avLst/>
          </a:prstGeom>
          <a:solidFill xmlns:a="http://schemas.openxmlformats.org/drawingml/2006/main">
            <a:srgbClr val="FFC952"/>
          </a:solidFill>
          <a:ln xmlns:a="http://schemas.openxmlformats.org/drawingml/2006/main">
            <a:solidFill>
              <a:srgbClr val="FFC952"/>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endParaRPr sz="1000"/>
          </a:p>
        </p:txBody>
      </p:sp>
      <p:sp>
        <p:nvSpPr>
          <p:cNvPr id="37" name="Text 35">
            <a:extLst xmlns:a="http://schemas.openxmlformats.org/drawingml/2006/main">
              <a:ext uri="{FF2B5EF4-FFF2-40B4-BE49-F238E27FC236}">
                <a16:creationId xmlns:a16="http://schemas.microsoft.com/office/drawing/2014/main" id="{AA03BF49-68D0-404F-872E-7937C14FCC4B}"/>
              </a:ext>
            </a:extLst>
          </p:cNvPr>
          <p:cNvSpPr>
            <a:spLocks xmlns:a="http://schemas.openxmlformats.org/drawingml/2006/main" noGrp="1"/>
          </p:cNvSpPr>
          <p:nvPr/>
        </p:nvSpPr>
        <p:spPr>
          <a:xfrm xmlns:a="http://schemas.openxmlformats.org/drawingml/2006/main">
            <a:off x="548640" y="5669280"/>
            <a:ext cx="53035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a:solidFill>
                  <a:srgbClr val="002368"/>
                </a:solidFill>
                <a:latin typeface="Georgia"/>
                <a:ea typeface="Georgia"/>
                <a:cs typeface="Georgia"/>
              </a:rPr>
              <a:t>Two paths, one outcome:</a:t>
            </a:r>
            <a:endParaRPr sz="1400"/>
          </a:p>
        </p:txBody>
      </p:sp>
      <p:sp>
        <p:nvSpPr>
          <p:cNvPr id="38" name="Text 36">
            <a:extLst xmlns:a="http://schemas.openxmlformats.org/drawingml/2006/main">
              <a:ext uri="{FF2B5EF4-FFF2-40B4-BE49-F238E27FC236}">
                <a16:creationId xmlns:a16="http://schemas.microsoft.com/office/drawing/2014/main" id="{D9A4D796-05D2-4CFD-A062-0C60B3E5FD86}"/>
              </a:ext>
            </a:extLst>
          </p:cNvPr>
          <p:cNvSpPr>
            <a:spLocks xmlns:a="http://schemas.openxmlformats.org/drawingml/2006/main" noGrp="1"/>
          </p:cNvSpPr>
          <p:nvPr/>
        </p:nvSpPr>
        <p:spPr>
          <a:xfrm xmlns:a="http://schemas.openxmlformats.org/drawingml/2006/main">
            <a:off x="6461608" y="5669280"/>
            <a:ext cx="53035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02368"/>
                </a:solidFill>
                <a:latin typeface="Georgia"/>
                <a:ea typeface="Georgia"/>
                <a:cs typeface="Georgia"/>
              </a:rPr>
              <a:t>qualified enrolment opportunities.</a:t>
            </a:r>
            <a:endParaRPr sz="1400"/>
          </a:p>
        </p:txBody>
      </p:sp>
      <p:pic>
        <p:nvPicPr>
          <p:cNvPr id="80" name="Image 0"/>
          <p:cNvPicPr>
            <a:picLocks xmlns:a="http://schemas.openxmlformats.org/drawingml/2006/main" noChangeAspect="1"/>
          </p:cNvPicPr>
          <p:nvPr/>
        </p:nvPicPr>
        <p:blipFill>
          <a:blip xmlns:r="http://schemas.openxmlformats.org/officeDocument/2006/relationships" xmlns:a="http://schemas.openxmlformats.org/drawingml/2006/main" r:embed="R15743c5a2b1a4134"/>
          <a:stretch xmlns:a="http://schemas.openxmlformats.org/drawingml/2006/main">
            <a:fillRect l="0" t="0" r="0" b="0"/>
          </a:stretch>
        </p:blipFill>
        <p:spPr>
          <a:xfrm xmlns:a="http://schemas.openxmlformats.org/drawingml/2006/main">
            <a:off x="548640" y="6272784"/>
            <a:ext cx="1143000" cy="272176"/>
          </a:xfrm>
          <a:prstGeom xmlns:a="http://schemas.openxmlformats.org/drawingml/2006/main" prst="rect">
            <a:avLst/>
          </a:prstGeom>
        </p:spPr>
      </p:pic>
      <p:sp>
        <p:nvSpPr>
          <p:cNvPr id="40" name="Text 37">
            <a:extLst xmlns:a="http://schemas.openxmlformats.org/drawingml/2006/main">
              <a:ext uri="{FF2B5EF4-FFF2-40B4-BE49-F238E27FC236}">
                <a16:creationId xmlns:a16="http://schemas.microsoft.com/office/drawing/2014/main" id="{F01CDA2C-A8AE-48CC-BCEF-252A6B70223F}"/>
              </a:ext>
            </a:extLst>
          </p:cNvPr>
          <p:cNvSpPr>
            <a:spLocks xmlns:a="http://schemas.openxmlformats.org/drawingml/2006/main" noGrp="1"/>
          </p:cNvSpPr>
          <p:nvPr/>
        </p:nvSpPr>
        <p:spPr>
          <a:xfrm xmlns:a="http://schemas.openxmlformats.org/drawingml/2006/main">
            <a:off x="1965960" y="6309360"/>
            <a:ext cx="85953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818283"/>
                </a:solidFill>
                <a:latin typeface="Arial"/>
                <a:ea typeface="Arial"/>
                <a:cs typeface="Arial"/>
              </a:rPr>
              <a:t>TATO — Tanzania Association of Tour Operators   ·   TCDC — Tanzania Cooperative Development Commission   ·   OSM — OpenStreetMap employers and places near campuses</a:t>
            </a:r>
            <a:endParaRPr sz="800"/>
          </a:p>
        </p:txBody>
      </p:sp>
      <p:sp>
        <p:nvSpPr>
          <p:cNvPr id="41" name="Text 38">
            <a:extLst xmlns:a="http://schemas.openxmlformats.org/drawingml/2006/main">
              <a:ext uri="{FF2B5EF4-FFF2-40B4-BE49-F238E27FC236}">
                <a16:creationId xmlns:a16="http://schemas.microsoft.com/office/drawing/2014/main" id="{75ADAC7D-0197-45EF-B605-800283F39215}"/>
              </a:ext>
            </a:extLst>
          </p:cNvPr>
          <p:cNvSpPr>
            <a:spLocks xmlns:a="http://schemas.openxmlformats.org/drawingml/2006/main" noGrp="1"/>
          </p:cNvSpPr>
          <p:nvPr/>
        </p:nvSpPr>
        <p:spPr>
          <a:xfrm xmlns:a="http://schemas.openxmlformats.org/drawingml/2006/main">
            <a:off x="10911535" y="6254496"/>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002368"/>
                </a:solidFill>
                <a:latin typeface="Georgia"/>
                <a:ea typeface="Georgia"/>
                <a:cs typeface="Georgia"/>
              </a:rPr>
              <a:t>02</a:t>
            </a:r>
            <a:endParaRPr sz="1200"/>
          </a:p>
        </p:txBody>
      </p:sp>
    </p:spTree>
    <p:extLst>
      <p:ext uri="{BB962C8B-B14F-4D97-AF65-F5344CB8AC3E}">
        <p14:creationId xmlns:p14="http://schemas.microsoft.com/office/powerpoint/2010/main" val="141043083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9233785-CFF3-4754-AE84-B79B95B0F7E6}"/>
              </a:ext>
            </a:extLst>
          </p:cNvPr>
          <p:cNvSpPr>
            <a:spLocks xmlns:a="http://schemas.openxmlformats.org/drawingml/2006/main" noGrp="1"/>
          </p:cNvSpPr>
          <p:nvPr/>
        </p:nvSpPr>
        <p:spPr>
          <a:xfrm xmlns:a="http://schemas.openxmlformats.org/drawingml/2006/main">
            <a:off x="548640" y="384048"/>
            <a:ext cx="8229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18283"/>
                </a:solidFill>
                <a:latin typeface="Arial"/>
                <a:ea typeface="Arial"/>
                <a:cs typeface="Arial"/>
              </a:rPr>
              <a:t>ORGANISATIONAL TRACK  ·  METHOD</a:t>
            </a:r>
            <a:endParaRPr sz="900"/>
          </a:p>
        </p:txBody>
      </p:sp>
      <p:sp>
        <p:nvSpPr>
          <p:cNvPr id="3" name="Text 1">
            <a:extLst xmlns:a="http://schemas.openxmlformats.org/drawingml/2006/main">
              <a:ext uri="{FF2B5EF4-FFF2-40B4-BE49-F238E27FC236}">
                <a16:creationId xmlns:a16="http://schemas.microsoft.com/office/drawing/2014/main" id="{5D7BFF62-F199-44C6-B5C9-8819CB27D243}"/>
              </a:ext>
            </a:extLst>
          </p:cNvPr>
          <p:cNvSpPr>
            <a:spLocks xmlns:a="http://schemas.openxmlformats.org/drawingml/2006/main" noGrp="1"/>
          </p:cNvSpPr>
          <p:nvPr/>
        </p:nvSpPr>
        <p:spPr>
          <a:xfrm xmlns:a="http://schemas.openxmlformats.org/drawingml/2006/main">
            <a:off x="548640" y="603504"/>
            <a:ext cx="9601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02368"/>
                </a:solidFill>
                <a:latin typeface="Arial"/>
                <a:ea typeface="Arial"/>
                <a:cs typeface="Arial"/>
              </a:rPr>
              <a:t>Organisational lead-generation method</a:t>
            </a:r>
            <a:endParaRPr sz="2600"/>
          </a:p>
        </p:txBody>
      </p:sp>
      <p:sp>
        <p:nvSpPr>
          <p:cNvPr id="4" name="Shape 2">
            <a:extLst xmlns:a="http://schemas.openxmlformats.org/drawingml/2006/main">
              <a:ext uri="{FF2B5EF4-FFF2-40B4-BE49-F238E27FC236}">
                <a16:creationId xmlns:a16="http://schemas.microsoft.com/office/drawing/2014/main" id="{B3B12D22-CE21-471D-AD3C-5A1F8968B96D}"/>
              </a:ext>
            </a:extLst>
          </p:cNvPr>
          <p:cNvSpPr>
            <a:spLocks xmlns:a="http://schemas.openxmlformats.org/drawingml/2006/main" noGrp="1"/>
          </p:cNvSpPr>
          <p:nvPr/>
        </p:nvSpPr>
        <p:spPr>
          <a:xfrm xmlns:a="http://schemas.openxmlformats.org/drawingml/2006/main">
            <a:off x="777240" y="1773936"/>
            <a:ext cx="9707613" cy="0"/>
          </a:xfrm>
          <a:prstGeom xmlns:a="http://schemas.openxmlformats.org/drawingml/2006/main" prst="line">
            <a:avLst/>
          </a:prstGeom>
          <a:noFill xmlns:a="http://schemas.openxmlformats.org/drawingml/2006/main"/>
          <a:ln xmlns:a="http://schemas.openxmlformats.org/drawingml/2006/main" w="15875">
            <a:solidFill>
              <a:srgbClr val="80BFEC"/>
            </a:solidFill>
            <a:prstDash val="solid"/>
          </a:ln>
        </p:spPr>
      </p:sp>
      <p:sp>
        <p:nvSpPr>
          <p:cNvPr id="5" name="Text 3">
            <a:extLst xmlns:a="http://schemas.openxmlformats.org/drawingml/2006/main">
              <a:ext uri="{FF2B5EF4-FFF2-40B4-BE49-F238E27FC236}">
                <a16:creationId xmlns:a16="http://schemas.microsoft.com/office/drawing/2014/main" id="{CC3B32EB-3559-4383-9028-656D137171BD}"/>
              </a:ext>
            </a:extLst>
          </p:cNvPr>
          <p:cNvSpPr>
            <a:spLocks xmlns:a="http://schemas.openxmlformats.org/drawingml/2006/main" noGrp="1"/>
          </p:cNvSpPr>
          <p:nvPr/>
        </p:nvSpPr>
        <p:spPr>
          <a:xfrm xmlns:a="http://schemas.openxmlformats.org/drawingml/2006/main">
            <a:off x="548640" y="1572768"/>
            <a:ext cx="457200" cy="402336"/>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01</a:t>
            </a:r>
            <a:endParaRPr sz="1100"/>
          </a:p>
        </p:txBody>
      </p:sp>
      <p:sp>
        <p:nvSpPr>
          <p:cNvPr id="6" name="Text 4">
            <a:extLst xmlns:a="http://schemas.openxmlformats.org/drawingml/2006/main">
              <a:ext uri="{FF2B5EF4-FFF2-40B4-BE49-F238E27FC236}">
                <a16:creationId xmlns:a16="http://schemas.microsoft.com/office/drawing/2014/main" id="{1610782E-289E-4A3C-97CA-649206B0192E}"/>
              </a:ext>
            </a:extLst>
          </p:cNvPr>
          <p:cNvSpPr>
            <a:spLocks xmlns:a="http://schemas.openxmlformats.org/drawingml/2006/main" noGrp="1"/>
          </p:cNvSpPr>
          <p:nvPr/>
        </p:nvSpPr>
        <p:spPr>
          <a:xfrm xmlns:a="http://schemas.openxmlformats.org/drawingml/2006/main">
            <a:off x="548640" y="2139696"/>
            <a:ext cx="124964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200" b="1">
                <a:solidFill>
                  <a:srgbClr val="002368"/>
                </a:solidFill>
                <a:latin typeface="Arial"/>
                <a:ea typeface="Arial"/>
                <a:cs typeface="Arial"/>
              </a:rPr>
              <a:t>Select sources</a:t>
            </a:r>
            <a:endParaRPr sz="1200"/>
          </a:p>
        </p:txBody>
      </p:sp>
      <p:sp>
        <p:nvSpPr>
          <p:cNvPr id="7" name="Text 5">
            <a:extLst xmlns:a="http://schemas.openxmlformats.org/drawingml/2006/main">
              <a:ext uri="{FF2B5EF4-FFF2-40B4-BE49-F238E27FC236}">
                <a16:creationId xmlns:a16="http://schemas.microsoft.com/office/drawing/2014/main" id="{B1E65BA5-9ABA-4DEE-AEB3-9D316CF9B6BD}"/>
              </a:ext>
            </a:extLst>
          </p:cNvPr>
          <p:cNvSpPr>
            <a:spLocks xmlns:a="http://schemas.openxmlformats.org/drawingml/2006/main" noGrp="1"/>
          </p:cNvSpPr>
          <p:nvPr/>
        </p:nvSpPr>
        <p:spPr>
          <a:xfrm xmlns:a="http://schemas.openxmlformats.org/drawingml/2006/main">
            <a:off x="548640" y="2624328"/>
            <a:ext cx="120392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000000"/>
                </a:solidFill>
                <a:latin typeface="Arial"/>
                <a:ea typeface="Arial"/>
                <a:cs typeface="Arial"/>
              </a:rPr>
              <a:t>Match the source to the sector</a:t>
            </a:r>
            <a:endParaRPr sz="1000"/>
          </a:p>
        </p:txBody>
      </p:sp>
      <p:sp>
        <p:nvSpPr>
          <p:cNvPr id="8" name="Text 6">
            <a:extLst xmlns:a="http://schemas.openxmlformats.org/drawingml/2006/main">
              <a:ext uri="{FF2B5EF4-FFF2-40B4-BE49-F238E27FC236}">
                <a16:creationId xmlns:a16="http://schemas.microsoft.com/office/drawing/2014/main" id="{7AC3335C-4C6E-4D4D-A8CA-84494F2D940E}"/>
              </a:ext>
            </a:extLst>
          </p:cNvPr>
          <p:cNvSpPr>
            <a:spLocks xmlns:a="http://schemas.openxmlformats.org/drawingml/2006/main" noGrp="1"/>
          </p:cNvSpPr>
          <p:nvPr/>
        </p:nvSpPr>
        <p:spPr>
          <a:xfrm xmlns:a="http://schemas.openxmlformats.org/drawingml/2006/main">
            <a:off x="1935442" y="1572768"/>
            <a:ext cx="457200" cy="402336"/>
          </a:xfrm>
          <a:prstGeom xmlns:a="http://schemas.openxmlformats.org/drawingml/2006/main" prst="hexagon">
            <a:avLst/>
          </a:prstGeom>
          <a:solidFill xmlns:a="http://schemas.openxmlformats.org/drawingml/2006/main">
            <a:srgbClr val="FFC952"/>
          </a:solidFill>
          <a:ln xmlns:a="http://schemas.openxmlformats.org/drawingml/2006/main">
            <a:solidFill>
              <a:srgbClr val="FFC952"/>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02368"/>
                </a:solidFill>
                <a:latin typeface="Arial"/>
                <a:ea typeface="Arial"/>
                <a:cs typeface="Arial"/>
              </a:rPr>
              <a:t>02</a:t>
            </a:r>
            <a:endParaRPr sz="1100"/>
          </a:p>
        </p:txBody>
      </p:sp>
      <p:sp>
        <p:nvSpPr>
          <p:cNvPr id="9" name="Text 7">
            <a:extLst xmlns:a="http://schemas.openxmlformats.org/drawingml/2006/main">
              <a:ext uri="{FF2B5EF4-FFF2-40B4-BE49-F238E27FC236}">
                <a16:creationId xmlns:a16="http://schemas.microsoft.com/office/drawing/2014/main" id="{04CD80AF-BF88-4594-95A5-6AA4A509F24D}"/>
              </a:ext>
            </a:extLst>
          </p:cNvPr>
          <p:cNvSpPr>
            <a:spLocks xmlns:a="http://schemas.openxmlformats.org/drawingml/2006/main" noGrp="1"/>
          </p:cNvSpPr>
          <p:nvPr/>
        </p:nvSpPr>
        <p:spPr>
          <a:xfrm xmlns:a="http://schemas.openxmlformats.org/drawingml/2006/main">
            <a:off x="1935442" y="2139696"/>
            <a:ext cx="124964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200" b="1">
                <a:solidFill>
                  <a:srgbClr val="002368"/>
                </a:solidFill>
                <a:latin typeface="Arial"/>
                <a:ea typeface="Arial"/>
                <a:cs typeface="Arial"/>
              </a:rPr>
              <a:t>Preserve evidence</a:t>
            </a:r>
            <a:endParaRPr sz="1200"/>
          </a:p>
        </p:txBody>
      </p:sp>
      <p:sp>
        <p:nvSpPr>
          <p:cNvPr id="10" name="Text 8">
            <a:extLst xmlns:a="http://schemas.openxmlformats.org/drawingml/2006/main">
              <a:ext uri="{FF2B5EF4-FFF2-40B4-BE49-F238E27FC236}">
                <a16:creationId xmlns:a16="http://schemas.microsoft.com/office/drawing/2014/main" id="{2E09A159-4887-4B06-97E5-C94E8EC31FFF}"/>
              </a:ext>
            </a:extLst>
          </p:cNvPr>
          <p:cNvSpPr>
            <a:spLocks xmlns:a="http://schemas.openxmlformats.org/drawingml/2006/main" noGrp="1"/>
          </p:cNvSpPr>
          <p:nvPr/>
        </p:nvSpPr>
        <p:spPr>
          <a:xfrm xmlns:a="http://schemas.openxmlformats.org/drawingml/2006/main">
            <a:off x="1935442" y="2624328"/>
            <a:ext cx="120392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000000"/>
                </a:solidFill>
                <a:latin typeface="Arial"/>
                <a:ea typeface="Arial"/>
                <a:cs typeface="Arial"/>
              </a:rPr>
              <a:t>Keep raw rows and source URLs</a:t>
            </a:r>
            <a:endParaRPr sz="1000"/>
          </a:p>
        </p:txBody>
      </p:sp>
      <p:sp>
        <p:nvSpPr>
          <p:cNvPr id="11" name="Text 9">
            <a:extLst xmlns:a="http://schemas.openxmlformats.org/drawingml/2006/main">
              <a:ext uri="{FF2B5EF4-FFF2-40B4-BE49-F238E27FC236}">
                <a16:creationId xmlns:a16="http://schemas.microsoft.com/office/drawing/2014/main" id="{E43248C2-756B-4A44-BE12-B7CCC2DF0840}"/>
              </a:ext>
            </a:extLst>
          </p:cNvPr>
          <p:cNvSpPr>
            <a:spLocks xmlns:a="http://schemas.openxmlformats.org/drawingml/2006/main" noGrp="1"/>
          </p:cNvSpPr>
          <p:nvPr/>
        </p:nvSpPr>
        <p:spPr>
          <a:xfrm xmlns:a="http://schemas.openxmlformats.org/drawingml/2006/main">
            <a:off x="3322244" y="1572768"/>
            <a:ext cx="457200" cy="402336"/>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03</a:t>
            </a:r>
            <a:endParaRPr sz="1100"/>
          </a:p>
        </p:txBody>
      </p:sp>
      <p:sp>
        <p:nvSpPr>
          <p:cNvPr id="12" name="Text 10">
            <a:extLst xmlns:a="http://schemas.openxmlformats.org/drawingml/2006/main">
              <a:ext uri="{FF2B5EF4-FFF2-40B4-BE49-F238E27FC236}">
                <a16:creationId xmlns:a16="http://schemas.microsoft.com/office/drawing/2014/main" id="{511FEDBF-9356-4251-AB51-3090C92DC687}"/>
              </a:ext>
            </a:extLst>
          </p:cNvPr>
          <p:cNvSpPr>
            <a:spLocks xmlns:a="http://schemas.openxmlformats.org/drawingml/2006/main" noGrp="1"/>
          </p:cNvSpPr>
          <p:nvPr/>
        </p:nvSpPr>
        <p:spPr>
          <a:xfrm xmlns:a="http://schemas.openxmlformats.org/drawingml/2006/main">
            <a:off x="3322244" y="2139696"/>
            <a:ext cx="124964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200" b="1">
                <a:solidFill>
                  <a:srgbClr val="002368"/>
                </a:solidFill>
                <a:latin typeface="Arial"/>
                <a:ea typeface="Arial"/>
                <a:cs typeface="Arial"/>
              </a:rPr>
              <a:t>Normalise</a:t>
            </a:r>
            <a:endParaRPr sz="1200"/>
          </a:p>
        </p:txBody>
      </p:sp>
      <p:sp>
        <p:nvSpPr>
          <p:cNvPr id="13" name="Text 11">
            <a:extLst xmlns:a="http://schemas.openxmlformats.org/drawingml/2006/main">
              <a:ext uri="{FF2B5EF4-FFF2-40B4-BE49-F238E27FC236}">
                <a16:creationId xmlns:a16="http://schemas.microsoft.com/office/drawing/2014/main" id="{574DABD5-A137-4308-B201-1356BEF5B880}"/>
              </a:ext>
            </a:extLst>
          </p:cNvPr>
          <p:cNvSpPr>
            <a:spLocks xmlns:a="http://schemas.openxmlformats.org/drawingml/2006/main" noGrp="1"/>
          </p:cNvSpPr>
          <p:nvPr/>
        </p:nvSpPr>
        <p:spPr>
          <a:xfrm xmlns:a="http://schemas.openxmlformats.org/drawingml/2006/main">
            <a:off x="3322244" y="2624328"/>
            <a:ext cx="120392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000000"/>
                </a:solidFill>
                <a:latin typeface="Arial"/>
                <a:ea typeface="Arial"/>
                <a:cs typeface="Arial"/>
              </a:rPr>
              <a:t>Standardise names, types and channels</a:t>
            </a:r>
            <a:endParaRPr sz="1000"/>
          </a:p>
        </p:txBody>
      </p:sp>
      <p:sp>
        <p:nvSpPr>
          <p:cNvPr id="14" name="Text 12">
            <a:extLst xmlns:a="http://schemas.openxmlformats.org/drawingml/2006/main">
              <a:ext uri="{FF2B5EF4-FFF2-40B4-BE49-F238E27FC236}">
                <a16:creationId xmlns:a16="http://schemas.microsoft.com/office/drawing/2014/main" id="{E898DEE0-673E-4896-9DBB-10B803F5A830}"/>
              </a:ext>
            </a:extLst>
          </p:cNvPr>
          <p:cNvSpPr>
            <a:spLocks xmlns:a="http://schemas.openxmlformats.org/drawingml/2006/main" noGrp="1"/>
          </p:cNvSpPr>
          <p:nvPr/>
        </p:nvSpPr>
        <p:spPr>
          <a:xfrm xmlns:a="http://schemas.openxmlformats.org/drawingml/2006/main">
            <a:off x="4709046" y="1572768"/>
            <a:ext cx="457200" cy="402336"/>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04</a:t>
            </a:r>
            <a:endParaRPr sz="1100"/>
          </a:p>
        </p:txBody>
      </p:sp>
      <p:sp>
        <p:nvSpPr>
          <p:cNvPr id="15" name="Text 13">
            <a:extLst xmlns:a="http://schemas.openxmlformats.org/drawingml/2006/main">
              <a:ext uri="{FF2B5EF4-FFF2-40B4-BE49-F238E27FC236}">
                <a16:creationId xmlns:a16="http://schemas.microsoft.com/office/drawing/2014/main" id="{9EFA71EF-92EE-49E0-95BD-F1DEAAA07CAA}"/>
              </a:ext>
            </a:extLst>
          </p:cNvPr>
          <p:cNvSpPr>
            <a:spLocks xmlns:a="http://schemas.openxmlformats.org/drawingml/2006/main" noGrp="1"/>
          </p:cNvSpPr>
          <p:nvPr/>
        </p:nvSpPr>
        <p:spPr>
          <a:xfrm xmlns:a="http://schemas.openxmlformats.org/drawingml/2006/main">
            <a:off x="4709046" y="2139696"/>
            <a:ext cx="124964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200" b="1">
                <a:solidFill>
                  <a:srgbClr val="002368"/>
                </a:solidFill>
                <a:latin typeface="Arial"/>
                <a:ea typeface="Arial"/>
                <a:cs typeface="Arial"/>
              </a:rPr>
              <a:t>Deduplicate</a:t>
            </a:r>
            <a:endParaRPr sz="1200"/>
          </a:p>
        </p:txBody>
      </p:sp>
      <p:sp>
        <p:nvSpPr>
          <p:cNvPr id="16" name="Text 14">
            <a:extLst xmlns:a="http://schemas.openxmlformats.org/drawingml/2006/main">
              <a:ext uri="{FF2B5EF4-FFF2-40B4-BE49-F238E27FC236}">
                <a16:creationId xmlns:a16="http://schemas.microsoft.com/office/drawing/2014/main" id="{5AAF8E91-B17F-4C5A-8B82-9735C52B2332}"/>
              </a:ext>
            </a:extLst>
          </p:cNvPr>
          <p:cNvSpPr>
            <a:spLocks xmlns:a="http://schemas.openxmlformats.org/drawingml/2006/main" noGrp="1"/>
          </p:cNvSpPr>
          <p:nvPr/>
        </p:nvSpPr>
        <p:spPr>
          <a:xfrm xmlns:a="http://schemas.openxmlformats.org/drawingml/2006/main">
            <a:off x="4709046" y="2624328"/>
            <a:ext cx="120392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000000"/>
                </a:solidFill>
                <a:latin typeface="Arial"/>
                <a:ea typeface="Arial"/>
                <a:cs typeface="Arial"/>
              </a:rPr>
              <a:t>Merge only strong matches</a:t>
            </a:r>
            <a:endParaRPr sz="1000"/>
          </a:p>
        </p:txBody>
      </p:sp>
      <p:sp>
        <p:nvSpPr>
          <p:cNvPr id="17" name="Text 15">
            <a:extLst xmlns:a="http://schemas.openxmlformats.org/drawingml/2006/main">
              <a:ext uri="{FF2B5EF4-FFF2-40B4-BE49-F238E27FC236}">
                <a16:creationId xmlns:a16="http://schemas.microsoft.com/office/drawing/2014/main" id="{77933A2C-7D66-43FA-BD70-D9FE2712BD54}"/>
              </a:ext>
            </a:extLst>
          </p:cNvPr>
          <p:cNvSpPr>
            <a:spLocks xmlns:a="http://schemas.openxmlformats.org/drawingml/2006/main" noGrp="1"/>
          </p:cNvSpPr>
          <p:nvPr/>
        </p:nvSpPr>
        <p:spPr>
          <a:xfrm xmlns:a="http://schemas.openxmlformats.org/drawingml/2006/main">
            <a:off x="6095848" y="1572768"/>
            <a:ext cx="457200" cy="402336"/>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05</a:t>
            </a:r>
            <a:endParaRPr sz="1100"/>
          </a:p>
        </p:txBody>
      </p:sp>
      <p:sp>
        <p:nvSpPr>
          <p:cNvPr id="18" name="Text 16">
            <a:extLst xmlns:a="http://schemas.openxmlformats.org/drawingml/2006/main">
              <a:ext uri="{FF2B5EF4-FFF2-40B4-BE49-F238E27FC236}">
                <a16:creationId xmlns:a16="http://schemas.microsoft.com/office/drawing/2014/main" id="{FC6C0393-C202-4BB2-80BD-5F55C88EF374}"/>
              </a:ext>
            </a:extLst>
          </p:cNvPr>
          <p:cNvSpPr>
            <a:spLocks xmlns:a="http://schemas.openxmlformats.org/drawingml/2006/main" noGrp="1"/>
          </p:cNvSpPr>
          <p:nvPr/>
        </p:nvSpPr>
        <p:spPr>
          <a:xfrm xmlns:a="http://schemas.openxmlformats.org/drawingml/2006/main">
            <a:off x="6095848" y="2139696"/>
            <a:ext cx="124964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200" b="1">
                <a:solidFill>
                  <a:srgbClr val="002368"/>
                </a:solidFill>
                <a:latin typeface="Arial"/>
                <a:ea typeface="Arial"/>
                <a:cs typeface="Arial"/>
              </a:rPr>
              <a:t>Map access</a:t>
            </a:r>
            <a:endParaRPr sz="1200"/>
          </a:p>
        </p:txBody>
      </p:sp>
      <p:sp>
        <p:nvSpPr>
          <p:cNvPr id="19" name="Text 17">
            <a:extLst xmlns:a="http://schemas.openxmlformats.org/drawingml/2006/main">
              <a:ext uri="{FF2B5EF4-FFF2-40B4-BE49-F238E27FC236}">
                <a16:creationId xmlns:a16="http://schemas.microsoft.com/office/drawing/2014/main" id="{106B2AE1-E11E-4F4A-9BCC-57CABC666064}"/>
              </a:ext>
            </a:extLst>
          </p:cNvPr>
          <p:cNvSpPr>
            <a:spLocks xmlns:a="http://schemas.openxmlformats.org/drawingml/2006/main" noGrp="1"/>
          </p:cNvSpPr>
          <p:nvPr/>
        </p:nvSpPr>
        <p:spPr>
          <a:xfrm xmlns:a="http://schemas.openxmlformats.org/drawingml/2006/main">
            <a:off x="6095848" y="2624328"/>
            <a:ext cx="120392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000000"/>
                </a:solidFill>
                <a:latin typeface="Arial"/>
                <a:ea typeface="Arial"/>
                <a:cs typeface="Arial"/>
              </a:rPr>
              <a:t>Nearest campus and distance band</a:t>
            </a:r>
            <a:endParaRPr sz="1000"/>
          </a:p>
        </p:txBody>
      </p:sp>
      <p:sp>
        <p:nvSpPr>
          <p:cNvPr id="20" name="Text 18">
            <a:extLst xmlns:a="http://schemas.openxmlformats.org/drawingml/2006/main">
              <a:ext uri="{FF2B5EF4-FFF2-40B4-BE49-F238E27FC236}">
                <a16:creationId xmlns:a16="http://schemas.microsoft.com/office/drawing/2014/main" id="{F0F67C4A-E6FD-4A70-89E6-92A921CC2492}"/>
              </a:ext>
            </a:extLst>
          </p:cNvPr>
          <p:cNvSpPr>
            <a:spLocks xmlns:a="http://schemas.openxmlformats.org/drawingml/2006/main" noGrp="1"/>
          </p:cNvSpPr>
          <p:nvPr/>
        </p:nvSpPr>
        <p:spPr>
          <a:xfrm xmlns:a="http://schemas.openxmlformats.org/drawingml/2006/main">
            <a:off x="7482650" y="1572768"/>
            <a:ext cx="457200" cy="402336"/>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06</a:t>
            </a:r>
            <a:endParaRPr sz="1100"/>
          </a:p>
        </p:txBody>
      </p:sp>
      <p:sp>
        <p:nvSpPr>
          <p:cNvPr id="21" name="Text 19">
            <a:extLst xmlns:a="http://schemas.openxmlformats.org/drawingml/2006/main">
              <a:ext uri="{FF2B5EF4-FFF2-40B4-BE49-F238E27FC236}">
                <a16:creationId xmlns:a16="http://schemas.microsoft.com/office/drawing/2014/main" id="{E1A57B0E-21AD-4637-AA1F-9E47E7756C2D}"/>
              </a:ext>
            </a:extLst>
          </p:cNvPr>
          <p:cNvSpPr>
            <a:spLocks xmlns:a="http://schemas.openxmlformats.org/drawingml/2006/main" noGrp="1"/>
          </p:cNvSpPr>
          <p:nvPr/>
        </p:nvSpPr>
        <p:spPr>
          <a:xfrm xmlns:a="http://schemas.openxmlformats.org/drawingml/2006/main">
            <a:off x="7482650" y="2139696"/>
            <a:ext cx="124964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200" b="1">
                <a:solidFill>
                  <a:srgbClr val="002368"/>
                </a:solidFill>
                <a:latin typeface="Arial"/>
                <a:ea typeface="Arial"/>
                <a:cs typeface="Arial"/>
              </a:rPr>
              <a:t>Set priority</a:t>
            </a:r>
            <a:endParaRPr sz="1200"/>
          </a:p>
        </p:txBody>
      </p:sp>
      <p:sp>
        <p:nvSpPr>
          <p:cNvPr id="22" name="Text 20">
            <a:extLst xmlns:a="http://schemas.openxmlformats.org/drawingml/2006/main">
              <a:ext uri="{FF2B5EF4-FFF2-40B4-BE49-F238E27FC236}">
                <a16:creationId xmlns:a16="http://schemas.microsoft.com/office/drawing/2014/main" id="{17A04586-17BA-4F10-98CC-9C455D270B33}"/>
              </a:ext>
            </a:extLst>
          </p:cNvPr>
          <p:cNvSpPr>
            <a:spLocks xmlns:a="http://schemas.openxmlformats.org/drawingml/2006/main" noGrp="1"/>
          </p:cNvSpPr>
          <p:nvPr/>
        </p:nvSpPr>
        <p:spPr>
          <a:xfrm xmlns:a="http://schemas.openxmlformats.org/drawingml/2006/main">
            <a:off x="7482650" y="2624328"/>
            <a:ext cx="120392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000000"/>
                </a:solidFill>
                <a:latin typeface="Arial"/>
                <a:ea typeface="Arial"/>
                <a:cs typeface="Arial"/>
              </a:rPr>
              <a:t>Scale, contactability and fit</a:t>
            </a:r>
            <a:endParaRPr sz="1000"/>
          </a:p>
        </p:txBody>
      </p:sp>
      <p:sp>
        <p:nvSpPr>
          <p:cNvPr id="23" name="Text 21">
            <a:extLst xmlns:a="http://schemas.openxmlformats.org/drawingml/2006/main">
              <a:ext uri="{FF2B5EF4-FFF2-40B4-BE49-F238E27FC236}">
                <a16:creationId xmlns:a16="http://schemas.microsoft.com/office/drawing/2014/main" id="{0CF9D030-C9E9-4CE3-8B46-DF4FD54279FB}"/>
              </a:ext>
            </a:extLst>
          </p:cNvPr>
          <p:cNvSpPr>
            <a:spLocks xmlns:a="http://schemas.openxmlformats.org/drawingml/2006/main" noGrp="1"/>
          </p:cNvSpPr>
          <p:nvPr/>
        </p:nvSpPr>
        <p:spPr>
          <a:xfrm xmlns:a="http://schemas.openxmlformats.org/drawingml/2006/main">
            <a:off x="8869451" y="1572768"/>
            <a:ext cx="457200" cy="402336"/>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07</a:t>
            </a:r>
            <a:endParaRPr sz="1100"/>
          </a:p>
        </p:txBody>
      </p:sp>
      <p:sp>
        <p:nvSpPr>
          <p:cNvPr id="24" name="Text 22">
            <a:extLst xmlns:a="http://schemas.openxmlformats.org/drawingml/2006/main">
              <a:ext uri="{FF2B5EF4-FFF2-40B4-BE49-F238E27FC236}">
                <a16:creationId xmlns:a16="http://schemas.microsoft.com/office/drawing/2014/main" id="{BCB3E915-AA7C-4B05-984A-75F9D8335079}"/>
              </a:ext>
            </a:extLst>
          </p:cNvPr>
          <p:cNvSpPr>
            <a:spLocks xmlns:a="http://schemas.openxmlformats.org/drawingml/2006/main" noGrp="1"/>
          </p:cNvSpPr>
          <p:nvPr/>
        </p:nvSpPr>
        <p:spPr>
          <a:xfrm xmlns:a="http://schemas.openxmlformats.org/drawingml/2006/main">
            <a:off x="8869451" y="2139696"/>
            <a:ext cx="124964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200" b="1">
                <a:solidFill>
                  <a:srgbClr val="002368"/>
                </a:solidFill>
                <a:latin typeface="Arial"/>
                <a:ea typeface="Arial"/>
                <a:cs typeface="Arial"/>
              </a:rPr>
              <a:t>Enrich</a:t>
            </a:r>
            <a:endParaRPr sz="1200"/>
          </a:p>
        </p:txBody>
      </p:sp>
      <p:sp>
        <p:nvSpPr>
          <p:cNvPr id="25" name="Text 23">
            <a:extLst xmlns:a="http://schemas.openxmlformats.org/drawingml/2006/main">
              <a:ext uri="{FF2B5EF4-FFF2-40B4-BE49-F238E27FC236}">
                <a16:creationId xmlns:a16="http://schemas.microsoft.com/office/drawing/2014/main" id="{C8EC4021-FD7F-4412-8083-FFF9CB388468}"/>
              </a:ext>
            </a:extLst>
          </p:cNvPr>
          <p:cNvSpPr>
            <a:spLocks xmlns:a="http://schemas.openxmlformats.org/drawingml/2006/main" noGrp="1"/>
          </p:cNvSpPr>
          <p:nvPr/>
        </p:nvSpPr>
        <p:spPr>
          <a:xfrm xmlns:a="http://schemas.openxmlformats.org/drawingml/2006/main">
            <a:off x="8869451" y="2624328"/>
            <a:ext cx="120392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000000"/>
                </a:solidFill>
                <a:latin typeface="Arial"/>
                <a:ea typeface="Arial"/>
                <a:cs typeface="Arial"/>
              </a:rPr>
              <a:t>Decision-maker and verified context</a:t>
            </a:r>
            <a:endParaRPr sz="1000"/>
          </a:p>
        </p:txBody>
      </p:sp>
      <p:sp>
        <p:nvSpPr>
          <p:cNvPr id="26" name="Text 24">
            <a:extLst xmlns:a="http://schemas.openxmlformats.org/drawingml/2006/main">
              <a:ext uri="{FF2B5EF4-FFF2-40B4-BE49-F238E27FC236}">
                <a16:creationId xmlns:a16="http://schemas.microsoft.com/office/drawing/2014/main" id="{1FA64CE6-9C2A-4907-89A3-D258C24A3F97}"/>
              </a:ext>
            </a:extLst>
          </p:cNvPr>
          <p:cNvSpPr>
            <a:spLocks xmlns:a="http://schemas.openxmlformats.org/drawingml/2006/main" noGrp="1"/>
          </p:cNvSpPr>
          <p:nvPr/>
        </p:nvSpPr>
        <p:spPr>
          <a:xfrm xmlns:a="http://schemas.openxmlformats.org/drawingml/2006/main">
            <a:off x="10256253" y="1572768"/>
            <a:ext cx="457200" cy="402336"/>
          </a:xfrm>
          <a:prstGeom xmlns:a="http://schemas.openxmlformats.org/drawingml/2006/main" prst="hexagon">
            <a:avLst/>
          </a:prstGeom>
          <a:solidFill xmlns:a="http://schemas.openxmlformats.org/drawingml/2006/main">
            <a:srgbClr val="FFC952"/>
          </a:solidFill>
          <a:ln xmlns:a="http://schemas.openxmlformats.org/drawingml/2006/main">
            <a:solidFill>
              <a:srgbClr val="FFC952"/>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02368"/>
                </a:solidFill>
                <a:latin typeface="Arial"/>
                <a:ea typeface="Arial"/>
                <a:cs typeface="Arial"/>
              </a:rPr>
              <a:t>08</a:t>
            </a:r>
            <a:endParaRPr sz="1100"/>
          </a:p>
        </p:txBody>
      </p:sp>
      <p:sp>
        <p:nvSpPr>
          <p:cNvPr id="27" name="Text 25">
            <a:extLst xmlns:a="http://schemas.openxmlformats.org/drawingml/2006/main">
              <a:ext uri="{FF2B5EF4-FFF2-40B4-BE49-F238E27FC236}">
                <a16:creationId xmlns:a16="http://schemas.microsoft.com/office/drawing/2014/main" id="{CF59939C-83BE-46B6-8B22-1717E5584DA8}"/>
              </a:ext>
            </a:extLst>
          </p:cNvPr>
          <p:cNvSpPr>
            <a:spLocks xmlns:a="http://schemas.openxmlformats.org/drawingml/2006/main" noGrp="1"/>
          </p:cNvSpPr>
          <p:nvPr/>
        </p:nvSpPr>
        <p:spPr>
          <a:xfrm xmlns:a="http://schemas.openxmlformats.org/drawingml/2006/main">
            <a:off x="10256253" y="2139696"/>
            <a:ext cx="124964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200" b="1">
                <a:solidFill>
                  <a:srgbClr val="002368"/>
                </a:solidFill>
                <a:latin typeface="Arial"/>
                <a:ea typeface="Arial"/>
                <a:cs typeface="Arial"/>
              </a:rPr>
              <a:t>Review</a:t>
            </a:r>
            <a:endParaRPr sz="1200"/>
          </a:p>
        </p:txBody>
      </p:sp>
      <p:sp>
        <p:nvSpPr>
          <p:cNvPr id="28" name="Text 26">
            <a:extLst xmlns:a="http://schemas.openxmlformats.org/drawingml/2006/main">
              <a:ext uri="{FF2B5EF4-FFF2-40B4-BE49-F238E27FC236}">
                <a16:creationId xmlns:a16="http://schemas.microsoft.com/office/drawing/2014/main" id="{7B6BA17B-B47A-4C91-ACD9-52DD7874E2F2}"/>
              </a:ext>
            </a:extLst>
          </p:cNvPr>
          <p:cNvSpPr>
            <a:spLocks xmlns:a="http://schemas.openxmlformats.org/drawingml/2006/main" noGrp="1"/>
          </p:cNvSpPr>
          <p:nvPr/>
        </p:nvSpPr>
        <p:spPr>
          <a:xfrm xmlns:a="http://schemas.openxmlformats.org/drawingml/2006/main">
            <a:off x="10256253" y="2624328"/>
            <a:ext cx="120392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000000"/>
                </a:solidFill>
                <a:latin typeface="Arial"/>
                <a:ea typeface="Arial"/>
                <a:cs typeface="Arial"/>
              </a:rPr>
              <a:t>Evidence-backed message approval</a:t>
            </a:r>
            <a:endParaRPr sz="1000"/>
          </a:p>
        </p:txBody>
      </p:sp>
      <p:sp>
        <p:nvSpPr>
          <p:cNvPr id="29" name="Text 27">
            <a:extLst xmlns:a="http://schemas.openxmlformats.org/drawingml/2006/main">
              <a:ext uri="{FF2B5EF4-FFF2-40B4-BE49-F238E27FC236}">
                <a16:creationId xmlns:a16="http://schemas.microsoft.com/office/drawing/2014/main" id="{81F689F3-A68E-4C2A-A364-9BEEA56701C8}"/>
              </a:ext>
            </a:extLst>
          </p:cNvPr>
          <p:cNvSpPr>
            <a:spLocks xmlns:a="http://schemas.openxmlformats.org/drawingml/2006/main" noGrp="1"/>
          </p:cNvSpPr>
          <p:nvPr/>
        </p:nvSpPr>
        <p:spPr>
          <a:xfrm xmlns:a="http://schemas.openxmlformats.org/drawingml/2006/main">
            <a:off x="548640" y="3401568"/>
            <a:ext cx="164592" cy="144841"/>
          </a:xfrm>
          <a:prstGeom xmlns:a="http://schemas.openxmlformats.org/drawingml/2006/main" prst="hexagon">
            <a:avLst/>
          </a:prstGeom>
          <a:solidFill xmlns:a="http://schemas.openxmlformats.org/drawingml/2006/main">
            <a:srgbClr val="FFC952"/>
          </a:solidFill>
          <a:ln xmlns:a="http://schemas.openxmlformats.org/drawingml/2006/main">
            <a:solidFill>
              <a:srgbClr val="FFC952"/>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endParaRPr sz="1000"/>
          </a:p>
        </p:txBody>
      </p:sp>
      <p:sp>
        <p:nvSpPr>
          <p:cNvPr id="30" name="Text 28">
            <a:extLst xmlns:a="http://schemas.openxmlformats.org/drawingml/2006/main">
              <a:ext uri="{FF2B5EF4-FFF2-40B4-BE49-F238E27FC236}">
                <a16:creationId xmlns:a16="http://schemas.microsoft.com/office/drawing/2014/main" id="{6505C23B-AE13-45B7-A64F-74EE5C2BA996}"/>
              </a:ext>
            </a:extLst>
          </p:cNvPr>
          <p:cNvSpPr>
            <a:spLocks xmlns:a="http://schemas.openxmlformats.org/drawingml/2006/main" noGrp="1"/>
          </p:cNvSpPr>
          <p:nvPr/>
        </p:nvSpPr>
        <p:spPr>
          <a:xfrm xmlns:a="http://schemas.openxmlformats.org/drawingml/2006/main">
            <a:off x="786384" y="3383280"/>
            <a:ext cx="3657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818283"/>
                </a:solidFill>
                <a:latin typeface="Arial"/>
                <a:ea typeface="Arial"/>
                <a:cs typeface="Arial"/>
              </a:rPr>
              <a:t>Evidence and human-review gates</a:t>
            </a:r>
            <a:endParaRPr sz="900"/>
          </a:p>
        </p:txBody>
      </p:sp>
      <p:sp>
        <p:nvSpPr>
          <p:cNvPr id="31" name="Shape 29">
            <a:extLst xmlns:a="http://schemas.openxmlformats.org/drawingml/2006/main">
              <a:ext uri="{FF2B5EF4-FFF2-40B4-BE49-F238E27FC236}">
                <a16:creationId xmlns:a16="http://schemas.microsoft.com/office/drawing/2014/main" id="{98A1ABF2-5E0B-498F-8AF8-3575DF6E12C1}"/>
              </a:ext>
            </a:extLst>
          </p:cNvPr>
          <p:cNvSpPr>
            <a:spLocks xmlns:a="http://schemas.openxmlformats.org/drawingml/2006/main" noGrp="1"/>
          </p:cNvSpPr>
          <p:nvPr/>
        </p:nvSpPr>
        <p:spPr>
          <a:xfrm xmlns:a="http://schemas.openxmlformats.org/drawingml/2006/main">
            <a:off x="548640" y="3886200"/>
            <a:ext cx="11094415" cy="2103120"/>
          </a:xfrm>
          <a:prstGeom xmlns:a="http://schemas.openxmlformats.org/drawingml/2006/main" prst="roundRect">
            <a:avLst>
              <a:gd name="adj" fmla="val 3043"/>
            </a:avLst>
          </a:prstGeom>
          <a:solidFill xmlns:a="http://schemas.openxmlformats.org/drawingml/2006/main">
            <a:srgbClr val="D9ECF9"/>
          </a:solidFill>
          <a:ln xmlns:a="http://schemas.openxmlformats.org/drawingml/2006/main" w="12700">
            <a:solidFill>
              <a:srgbClr val="D9ECF9"/>
            </a:solidFill>
            <a:prstDash val="solid"/>
          </a:ln>
        </p:spPr>
      </p:sp>
      <p:pic>
        <p:nvPicPr>
          <p:cNvPr id="71" name="Image 0"/>
          <p:cNvPicPr>
            <a:picLocks xmlns:a="http://schemas.openxmlformats.org/drawingml/2006/main" noChangeAspect="1"/>
          </p:cNvPicPr>
          <p:nvPr/>
        </p:nvPicPr>
        <p:blipFill>
          <a:blip xmlns:r="http://schemas.openxmlformats.org/officeDocument/2006/relationships" xmlns:a="http://schemas.openxmlformats.org/drawingml/2006/main" r:embed="R63734efe77b8468f">
            <a:alphaModFix amt="55000"/>
          </a:blip>
          <a:stretch xmlns:a="http://schemas.openxmlformats.org/drawingml/2006/main">
            <a:fillRect l="0" t="0" r="0" b="0"/>
          </a:stretch>
        </p:blipFill>
        <p:spPr>
          <a:xfrm xmlns:a="http://schemas.openxmlformats.org/drawingml/2006/main">
            <a:off x="9859975" y="4251960"/>
            <a:ext cx="1097280" cy="1608513"/>
          </a:xfrm>
          <a:prstGeom xmlns:a="http://schemas.openxmlformats.org/drawingml/2006/main" prst="rect">
            <a:avLst/>
          </a:prstGeom>
        </p:spPr>
      </p:pic>
      <p:sp>
        <p:nvSpPr>
          <p:cNvPr id="33" name="Text 30">
            <a:extLst xmlns:a="http://schemas.openxmlformats.org/drawingml/2006/main">
              <a:ext uri="{FF2B5EF4-FFF2-40B4-BE49-F238E27FC236}">
                <a16:creationId xmlns:a16="http://schemas.microsoft.com/office/drawing/2014/main" id="{FE22A7EB-AD3B-4355-901C-E59BC7960875}"/>
              </a:ext>
            </a:extLst>
          </p:cNvPr>
          <p:cNvSpPr>
            <a:spLocks xmlns:a="http://schemas.openxmlformats.org/drawingml/2006/main" noGrp="1"/>
          </p:cNvSpPr>
          <p:nvPr/>
        </p:nvSpPr>
        <p:spPr>
          <a:xfrm xmlns:a="http://schemas.openxmlformats.org/drawingml/2006/main">
            <a:off x="1005840" y="4297680"/>
            <a:ext cx="420624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2600">
                <a:solidFill>
                  <a:srgbClr val="002368"/>
                </a:solidFill>
                <a:latin typeface="Georgia"/>
                <a:ea typeface="Georgia"/>
                <a:cs typeface="Georgia"/>
              </a:rPr>
              <a:t>Distance shows accessibility.</a:t>
            </a:r>
            <a:endParaRPr sz="2600"/>
          </a:p>
        </p:txBody>
      </p:sp>
      <p:sp>
        <p:nvSpPr>
          <p:cNvPr id="34" name="Text 31">
            <a:extLst xmlns:a="http://schemas.openxmlformats.org/drawingml/2006/main">
              <a:ext uri="{FF2B5EF4-FFF2-40B4-BE49-F238E27FC236}">
                <a16:creationId xmlns:a16="http://schemas.microsoft.com/office/drawing/2014/main" id="{503C9908-02D1-44D8-9801-9A74284F0523}"/>
              </a:ext>
            </a:extLst>
          </p:cNvPr>
          <p:cNvSpPr>
            <a:spLocks xmlns:a="http://schemas.openxmlformats.org/drawingml/2006/main" noGrp="1"/>
          </p:cNvSpPr>
          <p:nvPr/>
        </p:nvSpPr>
        <p:spPr>
          <a:xfrm xmlns:a="http://schemas.openxmlformats.org/drawingml/2006/main">
            <a:off x="5486400" y="4297680"/>
            <a:ext cx="42062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rgbClr val="002368"/>
                </a:solidFill>
                <a:latin typeface="Arial"/>
                <a:ea typeface="Arial"/>
                <a:cs typeface="Arial"/>
              </a:rPr>
              <a:t>Staff scale, contactability and verified education relevance drive priority.</a:t>
            </a:r>
            <a:endParaRPr sz="1400"/>
          </a:p>
        </p:txBody>
      </p:sp>
      <p:sp>
        <p:nvSpPr>
          <p:cNvPr id="35" name="Text 32">
            <a:extLst xmlns:a="http://schemas.openxmlformats.org/drawingml/2006/main">
              <a:ext uri="{FF2B5EF4-FFF2-40B4-BE49-F238E27FC236}">
                <a16:creationId xmlns:a16="http://schemas.microsoft.com/office/drawing/2014/main" id="{AA0C5826-4544-421B-95F5-4A45D6018BDF}"/>
              </a:ext>
            </a:extLst>
          </p:cNvPr>
          <p:cNvSpPr>
            <a:spLocks xmlns:a="http://schemas.openxmlformats.org/drawingml/2006/main" noGrp="1"/>
          </p:cNvSpPr>
          <p:nvPr/>
        </p:nvSpPr>
        <p:spPr>
          <a:xfrm xmlns:a="http://schemas.openxmlformats.org/drawingml/2006/main">
            <a:off x="5486400" y="5001768"/>
            <a:ext cx="420624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050">
                <a:solidFill>
                  <a:srgbClr val="000000"/>
                </a:solidFill>
                <a:latin typeface="Arial"/>
                <a:ea typeface="Arial"/>
                <a:cs typeface="Arial"/>
              </a:rPr>
              <a:t>Distance assigns a campus and a transport band, but it does not qualify an employer on its own. Most Arusha tour operators already sit close to a campus, so size, a reachable owner and education affinity perform the qualifying work.</a:t>
            </a:r>
            <a:endParaRPr sz="1050"/>
          </a:p>
        </p:txBody>
      </p:sp>
      <p:pic>
        <p:nvPicPr>
          <p:cNvPr id="75" name="Image 1"/>
          <p:cNvPicPr>
            <a:picLocks xmlns:a="http://schemas.openxmlformats.org/drawingml/2006/main" noChangeAspect="1"/>
          </p:cNvPicPr>
          <p:nvPr/>
        </p:nvPicPr>
        <p:blipFill>
          <a:blip xmlns:r="http://schemas.openxmlformats.org/officeDocument/2006/relationships" xmlns:a="http://schemas.openxmlformats.org/drawingml/2006/main" r:embed="Rab486c46e32e4ec7"/>
          <a:stretch xmlns:a="http://schemas.openxmlformats.org/drawingml/2006/main">
            <a:fillRect l="0" t="0" r="0" b="0"/>
          </a:stretch>
        </p:blipFill>
        <p:spPr>
          <a:xfrm xmlns:a="http://schemas.openxmlformats.org/drawingml/2006/main">
            <a:off x="548640" y="6272784"/>
            <a:ext cx="1143000" cy="272176"/>
          </a:xfrm>
          <a:prstGeom xmlns:a="http://schemas.openxmlformats.org/drawingml/2006/main" prst="rect">
            <a:avLst/>
          </a:prstGeom>
        </p:spPr>
      </p:pic>
      <p:sp>
        <p:nvSpPr>
          <p:cNvPr id="37" name="Text 33">
            <a:extLst xmlns:a="http://schemas.openxmlformats.org/drawingml/2006/main">
              <a:ext uri="{FF2B5EF4-FFF2-40B4-BE49-F238E27FC236}">
                <a16:creationId xmlns:a16="http://schemas.microsoft.com/office/drawing/2014/main" id="{B0D16E8E-D6D0-4751-BED9-A7A1B54E030C}"/>
              </a:ext>
            </a:extLst>
          </p:cNvPr>
          <p:cNvSpPr>
            <a:spLocks xmlns:a="http://schemas.openxmlformats.org/drawingml/2006/main" noGrp="1"/>
          </p:cNvSpPr>
          <p:nvPr/>
        </p:nvSpPr>
        <p:spPr>
          <a:xfrm xmlns:a="http://schemas.openxmlformats.org/drawingml/2006/main">
            <a:off x="1965960" y="6309360"/>
            <a:ext cx="85953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818283"/>
                </a:solidFill>
                <a:latin typeface="Arial"/>
                <a:ea typeface="Arial"/>
                <a:cs typeface="Arial"/>
              </a:rPr>
              <a:t>Source: docs/methodology/partner-lead-generation.md</a:t>
            </a:r>
            <a:endParaRPr sz="800"/>
          </a:p>
        </p:txBody>
      </p:sp>
      <p:sp>
        <p:nvSpPr>
          <p:cNvPr id="38" name="Text 34">
            <a:extLst xmlns:a="http://schemas.openxmlformats.org/drawingml/2006/main">
              <a:ext uri="{FF2B5EF4-FFF2-40B4-BE49-F238E27FC236}">
                <a16:creationId xmlns:a16="http://schemas.microsoft.com/office/drawing/2014/main" id="{FC23FBD7-D151-4F5B-AD37-24BF861A3416}"/>
              </a:ext>
            </a:extLst>
          </p:cNvPr>
          <p:cNvSpPr>
            <a:spLocks xmlns:a="http://schemas.openxmlformats.org/drawingml/2006/main" noGrp="1"/>
          </p:cNvSpPr>
          <p:nvPr/>
        </p:nvSpPr>
        <p:spPr>
          <a:xfrm xmlns:a="http://schemas.openxmlformats.org/drawingml/2006/main">
            <a:off x="10911535" y="6254496"/>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002368"/>
                </a:solidFill>
                <a:latin typeface="Georgia"/>
                <a:ea typeface="Georgia"/>
                <a:cs typeface="Georgia"/>
              </a:rPr>
              <a:t>03</a:t>
            </a:r>
            <a:endParaRPr sz="1200"/>
          </a:p>
        </p:txBody>
      </p:sp>
    </p:spTree>
    <p:extLst>
      <p:ext uri="{BB962C8B-B14F-4D97-AF65-F5344CB8AC3E}">
        <p14:creationId xmlns:p14="http://schemas.microsoft.com/office/powerpoint/2010/main" val="148656771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4B1D007-D295-4FF6-AC32-5DD9C79FA228}"/>
              </a:ext>
            </a:extLst>
          </p:cNvPr>
          <p:cNvSpPr>
            <a:spLocks xmlns:a="http://schemas.openxmlformats.org/drawingml/2006/main" noGrp="1"/>
          </p:cNvSpPr>
          <p:nvPr/>
        </p:nvSpPr>
        <p:spPr>
          <a:xfrm xmlns:a="http://schemas.openxmlformats.org/drawingml/2006/main">
            <a:off x="548640" y="384048"/>
            <a:ext cx="8229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18283"/>
                </a:solidFill>
                <a:latin typeface="Arial"/>
                <a:ea typeface="Arial"/>
                <a:cs typeface="Arial"/>
              </a:rPr>
              <a:t>ORGANISATIONAL TRACK  ·  QUALIFICATION</a:t>
            </a:r>
            <a:endParaRPr sz="900"/>
          </a:p>
        </p:txBody>
      </p:sp>
      <p:sp>
        <p:nvSpPr>
          <p:cNvPr id="3" name="Text 1">
            <a:extLst xmlns:a="http://schemas.openxmlformats.org/drawingml/2006/main">
              <a:ext uri="{FF2B5EF4-FFF2-40B4-BE49-F238E27FC236}">
                <a16:creationId xmlns:a16="http://schemas.microsoft.com/office/drawing/2014/main" id="{485F020F-3030-4D56-8543-9521D933A32A}"/>
              </a:ext>
            </a:extLst>
          </p:cNvPr>
          <p:cNvSpPr>
            <a:spLocks xmlns:a="http://schemas.openxmlformats.org/drawingml/2006/main" noGrp="1"/>
          </p:cNvSpPr>
          <p:nvPr/>
        </p:nvSpPr>
        <p:spPr>
          <a:xfrm xmlns:a="http://schemas.openxmlformats.org/drawingml/2006/main">
            <a:off x="548640" y="603504"/>
            <a:ext cx="9601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02368"/>
                </a:solidFill>
                <a:latin typeface="Arial"/>
                <a:ea typeface="Arial"/>
                <a:cs typeface="Arial"/>
              </a:rPr>
              <a:t>How organisations enter the list</a:t>
            </a:r>
            <a:endParaRPr sz="2600"/>
          </a:p>
        </p:txBody>
      </p:sp>
      <p:sp>
        <p:nvSpPr>
          <p:cNvPr id="4" name="Text 2">
            <a:extLst xmlns:a="http://schemas.openxmlformats.org/drawingml/2006/main">
              <a:ext uri="{FF2B5EF4-FFF2-40B4-BE49-F238E27FC236}">
                <a16:creationId xmlns:a16="http://schemas.microsoft.com/office/drawing/2014/main" id="{7D02C840-D2F8-47DC-9B3A-2F21341C6972}"/>
              </a:ext>
            </a:extLst>
          </p:cNvPr>
          <p:cNvSpPr>
            <a:spLocks xmlns:a="http://schemas.openxmlformats.org/drawingml/2006/main" noGrp="1"/>
          </p:cNvSpPr>
          <p:nvPr/>
        </p:nvSpPr>
        <p:spPr>
          <a:xfrm xmlns:a="http://schemas.openxmlformats.org/drawingml/2006/main">
            <a:off x="548640" y="1298448"/>
            <a:ext cx="9144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002368"/>
                </a:solidFill>
                <a:latin typeface="Georgia"/>
                <a:ea typeface="Georgia"/>
                <a:cs typeface="Georgia"/>
              </a:rPr>
              <a:t>An organisation qualifies for outreach only when all three conditions are met.</a:t>
            </a:r>
            <a:endParaRPr sz="1600"/>
          </a:p>
        </p:txBody>
      </p:sp>
      <p:sp>
        <p:nvSpPr>
          <p:cNvPr id="5" name="Shape 3">
            <a:extLst xmlns:a="http://schemas.openxmlformats.org/drawingml/2006/main">
              <a:ext uri="{FF2B5EF4-FFF2-40B4-BE49-F238E27FC236}">
                <a16:creationId xmlns:a16="http://schemas.microsoft.com/office/drawing/2014/main" id="{5E6E61A9-BCE7-471C-B433-26F13FDB8BEF}"/>
              </a:ext>
            </a:extLst>
          </p:cNvPr>
          <p:cNvSpPr>
            <a:spLocks xmlns:a="http://schemas.openxmlformats.org/drawingml/2006/main" noGrp="1"/>
          </p:cNvSpPr>
          <p:nvPr/>
        </p:nvSpPr>
        <p:spPr>
          <a:xfrm xmlns:a="http://schemas.openxmlformats.org/drawingml/2006/main">
            <a:off x="548640" y="2011680"/>
            <a:ext cx="3520440" cy="2240280"/>
          </a:xfrm>
          <a:prstGeom xmlns:a="http://schemas.openxmlformats.org/drawingml/2006/main" prst="roundRect">
            <a:avLst>
              <a:gd name="adj" fmla="val 2857"/>
            </a:avLst>
          </a:prstGeom>
          <a:solidFill xmlns:a="http://schemas.openxmlformats.org/drawingml/2006/main">
            <a:srgbClr val="D9ECF9"/>
          </a:solidFill>
          <a:ln xmlns:a="http://schemas.openxmlformats.org/drawingml/2006/main" w="12700">
            <a:solidFill>
              <a:srgbClr val="D9ECF9"/>
            </a:solidFill>
            <a:prstDash val="solid"/>
          </a:ln>
        </p:spPr>
      </p:sp>
      <p:sp>
        <p:nvSpPr>
          <p:cNvPr id="6" name="Text 4">
            <a:extLst xmlns:a="http://schemas.openxmlformats.org/drawingml/2006/main">
              <a:ext uri="{FF2B5EF4-FFF2-40B4-BE49-F238E27FC236}">
                <a16:creationId xmlns:a16="http://schemas.microsoft.com/office/drawing/2014/main" id="{25529E6B-F8BE-4E1D-A9C0-0D66E46454C4}"/>
              </a:ext>
            </a:extLst>
          </p:cNvPr>
          <p:cNvSpPr>
            <a:spLocks xmlns:a="http://schemas.openxmlformats.org/drawingml/2006/main" noGrp="1"/>
          </p:cNvSpPr>
          <p:nvPr/>
        </p:nvSpPr>
        <p:spPr>
          <a:xfrm xmlns:a="http://schemas.openxmlformats.org/drawingml/2006/main">
            <a:off x="868680" y="2331720"/>
            <a:ext cx="420624" cy="370149"/>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1</a:t>
            </a:r>
            <a:endParaRPr sz="1200"/>
          </a:p>
        </p:txBody>
      </p:sp>
      <p:sp>
        <p:nvSpPr>
          <p:cNvPr id="7" name="Text 5">
            <a:extLst xmlns:a="http://schemas.openxmlformats.org/drawingml/2006/main">
              <a:ext uri="{FF2B5EF4-FFF2-40B4-BE49-F238E27FC236}">
                <a16:creationId xmlns:a16="http://schemas.microsoft.com/office/drawing/2014/main" id="{6B5FF7D2-600E-478A-98C9-1356A31932E2}"/>
              </a:ext>
            </a:extLst>
          </p:cNvPr>
          <p:cNvSpPr>
            <a:spLocks xmlns:a="http://schemas.openxmlformats.org/drawingml/2006/main" noGrp="1"/>
          </p:cNvSpPr>
          <p:nvPr/>
        </p:nvSpPr>
        <p:spPr>
          <a:xfrm xmlns:a="http://schemas.openxmlformats.org/drawingml/2006/main">
            <a:off x="1417320" y="2331720"/>
            <a:ext cx="2423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02368"/>
                </a:solidFill>
                <a:latin typeface="Arial"/>
                <a:ea typeface="Arial"/>
                <a:cs typeface="Arial"/>
              </a:rPr>
              <a:t>Eligible organisation</a:t>
            </a:r>
            <a:endParaRPr sz="1500"/>
          </a:p>
        </p:txBody>
      </p:sp>
      <p:sp>
        <p:nvSpPr>
          <p:cNvPr id="8" name="Text 6">
            <a:extLst xmlns:a="http://schemas.openxmlformats.org/drawingml/2006/main">
              <a:ext uri="{FF2B5EF4-FFF2-40B4-BE49-F238E27FC236}">
                <a16:creationId xmlns:a16="http://schemas.microsoft.com/office/drawing/2014/main" id="{3D69BEA9-D8A7-4072-99BC-1F237748BFE5}"/>
              </a:ext>
            </a:extLst>
          </p:cNvPr>
          <p:cNvSpPr>
            <a:spLocks xmlns:a="http://schemas.openxmlformats.org/drawingml/2006/main" noGrp="1"/>
          </p:cNvSpPr>
          <p:nvPr/>
        </p:nvSpPr>
        <p:spPr>
          <a:xfrm xmlns:a="http://schemas.openxmlformats.org/drawingml/2006/main">
            <a:off x="868680" y="2926080"/>
            <a:ext cx="28803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700"/>
              </a:spcAft>
              <a:buSzPct val="100000"/>
              <a:buChar char="•"/>
            </a:pPr>
            <a:r>
              <a:rPr sz="1100">
                <a:solidFill>
                  <a:srgbClr val="000000"/>
                </a:solidFill>
                <a:latin typeface="Arial"/>
                <a:ea typeface="Arial"/>
                <a:cs typeface="Arial"/>
              </a:rPr>
              <a:t>Safari or tour company (TATO)</a:t>
            </a:r>
            <a:endParaRPr sz="1100"/>
          </a:p>
          <a:p xmlns:a="http://schemas.openxmlformats.org/drawingml/2006/main">
            <a:pPr marL="152400" indent="-152400">
              <a:spcAft>
                <a:spcPts val="700"/>
              </a:spcAft>
              <a:buSzPct val="100000"/>
              <a:buChar char="•"/>
            </a:pPr>
            <a:r>
              <a:rPr sz="1100">
                <a:solidFill>
                  <a:srgbClr val="000000"/>
                </a:solidFill>
                <a:latin typeface="Arial"/>
                <a:ea typeface="Arial"/>
                <a:cs typeface="Arial"/>
              </a:rPr>
              <a:t>SACCO or cooperative (TCDC)</a:t>
            </a:r>
            <a:endParaRPr sz="1100"/>
          </a:p>
          <a:p xmlns:a="http://schemas.openxmlformats.org/drawingml/2006/main">
            <a:pPr marL="152400" indent="-152400">
              <a:spcAft>
                <a:spcPts val="700"/>
              </a:spcAft>
              <a:buSzPct val="100000"/>
              <a:buChar char="•"/>
            </a:pPr>
            <a:r>
              <a:rPr sz="1100">
                <a:solidFill>
                  <a:srgbClr val="000000"/>
                </a:solidFill>
                <a:latin typeface="Arial"/>
                <a:ea typeface="Arial"/>
                <a:cs typeface="Arial"/>
              </a:rPr>
              <a:t>Other formal employer (OSM)</a:t>
            </a:r>
            <a:endParaRPr sz="1100"/>
          </a:p>
        </p:txBody>
      </p:sp>
      <p:sp>
        <p:nvSpPr>
          <p:cNvPr id="9" name="Shape 7">
            <a:extLst xmlns:a="http://schemas.openxmlformats.org/drawingml/2006/main">
              <a:ext uri="{FF2B5EF4-FFF2-40B4-BE49-F238E27FC236}">
                <a16:creationId xmlns:a16="http://schemas.microsoft.com/office/drawing/2014/main" id="{03F3392A-E63C-47E3-966B-C1C1E49C4FAD}"/>
              </a:ext>
            </a:extLst>
          </p:cNvPr>
          <p:cNvSpPr>
            <a:spLocks xmlns:a="http://schemas.openxmlformats.org/drawingml/2006/main" noGrp="1"/>
          </p:cNvSpPr>
          <p:nvPr/>
        </p:nvSpPr>
        <p:spPr>
          <a:xfrm xmlns:a="http://schemas.openxmlformats.org/drawingml/2006/main">
            <a:off x="4334256" y="2011680"/>
            <a:ext cx="3520440" cy="2240280"/>
          </a:xfrm>
          <a:prstGeom xmlns:a="http://schemas.openxmlformats.org/drawingml/2006/main" prst="roundRect">
            <a:avLst>
              <a:gd name="adj" fmla="val 2857"/>
            </a:avLst>
          </a:prstGeom>
          <a:solidFill xmlns:a="http://schemas.openxmlformats.org/drawingml/2006/main">
            <a:srgbClr val="D9ECF9"/>
          </a:solidFill>
          <a:ln xmlns:a="http://schemas.openxmlformats.org/drawingml/2006/main" w="12700">
            <a:solidFill>
              <a:srgbClr val="D9ECF9"/>
            </a:solidFill>
            <a:prstDash val="solid"/>
          </a:ln>
        </p:spPr>
      </p:sp>
      <p:sp>
        <p:nvSpPr>
          <p:cNvPr id="10" name="Text 8">
            <a:extLst xmlns:a="http://schemas.openxmlformats.org/drawingml/2006/main">
              <a:ext uri="{FF2B5EF4-FFF2-40B4-BE49-F238E27FC236}">
                <a16:creationId xmlns:a16="http://schemas.microsoft.com/office/drawing/2014/main" id="{7D85CDCB-D112-4487-A473-E1077372F183}"/>
              </a:ext>
            </a:extLst>
          </p:cNvPr>
          <p:cNvSpPr>
            <a:spLocks xmlns:a="http://schemas.openxmlformats.org/drawingml/2006/main" noGrp="1"/>
          </p:cNvSpPr>
          <p:nvPr/>
        </p:nvSpPr>
        <p:spPr>
          <a:xfrm xmlns:a="http://schemas.openxmlformats.org/drawingml/2006/main">
            <a:off x="4654296" y="2331720"/>
            <a:ext cx="420624" cy="370149"/>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2</a:t>
            </a:r>
            <a:endParaRPr sz="1200"/>
          </a:p>
        </p:txBody>
      </p:sp>
      <p:sp>
        <p:nvSpPr>
          <p:cNvPr id="11" name="Text 9">
            <a:extLst xmlns:a="http://schemas.openxmlformats.org/drawingml/2006/main">
              <a:ext uri="{FF2B5EF4-FFF2-40B4-BE49-F238E27FC236}">
                <a16:creationId xmlns:a16="http://schemas.microsoft.com/office/drawing/2014/main" id="{2F216C0D-C7F4-4A0B-AFA4-F0815BFF2BAE}"/>
              </a:ext>
            </a:extLst>
          </p:cNvPr>
          <p:cNvSpPr>
            <a:spLocks xmlns:a="http://schemas.openxmlformats.org/drawingml/2006/main" noGrp="1"/>
          </p:cNvSpPr>
          <p:nvPr/>
        </p:nvSpPr>
        <p:spPr>
          <a:xfrm xmlns:a="http://schemas.openxmlformats.org/drawingml/2006/main">
            <a:off x="5202936" y="2331720"/>
            <a:ext cx="2423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02368"/>
                </a:solidFill>
                <a:latin typeface="Arial"/>
                <a:ea typeface="Arial"/>
                <a:cs typeface="Arial"/>
              </a:rPr>
              <a:t>Within the catchment</a:t>
            </a:r>
            <a:endParaRPr sz="1500"/>
          </a:p>
        </p:txBody>
      </p:sp>
      <p:sp>
        <p:nvSpPr>
          <p:cNvPr id="12" name="Text 10">
            <a:extLst xmlns:a="http://schemas.openxmlformats.org/drawingml/2006/main">
              <a:ext uri="{FF2B5EF4-FFF2-40B4-BE49-F238E27FC236}">
                <a16:creationId xmlns:a16="http://schemas.microsoft.com/office/drawing/2014/main" id="{02A67E93-1156-4F50-BD79-4396433DAD19}"/>
              </a:ext>
            </a:extLst>
          </p:cNvPr>
          <p:cNvSpPr>
            <a:spLocks xmlns:a="http://schemas.openxmlformats.org/drawingml/2006/main" noGrp="1"/>
          </p:cNvSpPr>
          <p:nvPr/>
        </p:nvSpPr>
        <p:spPr>
          <a:xfrm xmlns:a="http://schemas.openxmlformats.org/drawingml/2006/main">
            <a:off x="4654296" y="2926080"/>
            <a:ext cx="28803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700"/>
              </a:spcAft>
              <a:buSzPct val="100000"/>
              <a:buChar char="•"/>
            </a:pPr>
            <a:r>
              <a:rPr sz="1100">
                <a:solidFill>
                  <a:srgbClr val="000000"/>
                </a:solidFill>
                <a:latin typeface="Arial"/>
                <a:ea typeface="Arial"/>
                <a:cs typeface="Arial"/>
              </a:rPr>
              <a:t>≤ 25 km from the nearest candidate campus</a:t>
            </a:r>
            <a:endParaRPr sz="1100"/>
          </a:p>
          <a:p xmlns:a="http://schemas.openxmlformats.org/drawingml/2006/main">
            <a:pPr marL="152400" indent="-152400">
              <a:spcAft>
                <a:spcPts val="700"/>
              </a:spcAft>
              <a:buSzPct val="100000"/>
              <a:buChar char="•"/>
            </a:pPr>
            <a:r>
              <a:rPr sz="1100">
                <a:solidFill>
                  <a:srgbClr val="000000"/>
                </a:solidFill>
                <a:latin typeface="Arial"/>
                <a:ea typeface="Arial"/>
                <a:cs typeface="Arial"/>
              </a:rPr>
              <a:t>Mapped to a Silverleaf transport band</a:t>
            </a:r>
            <a:endParaRPr sz="1100"/>
          </a:p>
          <a:p xmlns:a="http://schemas.openxmlformats.org/drawingml/2006/main">
            <a:pPr marL="152400" indent="-152400">
              <a:spcAft>
                <a:spcPts val="700"/>
              </a:spcAft>
              <a:buSzPct val="100000"/>
              <a:buChar char="•"/>
            </a:pPr>
            <a:r>
              <a:rPr sz="1100">
                <a:solidFill>
                  <a:srgbClr val="000000"/>
                </a:solidFill>
                <a:latin typeface="Arial"/>
                <a:ea typeface="Arial"/>
                <a:cs typeface="Arial"/>
              </a:rPr>
              <a:t>Outside or uncertain records stay in the audit trail, not in qualified outreach</a:t>
            </a:r>
            <a:endParaRPr sz="1100"/>
          </a:p>
        </p:txBody>
      </p:sp>
      <p:sp>
        <p:nvSpPr>
          <p:cNvPr id="13" name="Shape 11">
            <a:extLst xmlns:a="http://schemas.openxmlformats.org/drawingml/2006/main">
              <a:ext uri="{FF2B5EF4-FFF2-40B4-BE49-F238E27FC236}">
                <a16:creationId xmlns:a16="http://schemas.microsoft.com/office/drawing/2014/main" id="{A8D9D33C-25AF-48F4-AB7D-E9B92DDCA2E9}"/>
              </a:ext>
            </a:extLst>
          </p:cNvPr>
          <p:cNvSpPr>
            <a:spLocks xmlns:a="http://schemas.openxmlformats.org/drawingml/2006/main" noGrp="1"/>
          </p:cNvSpPr>
          <p:nvPr/>
        </p:nvSpPr>
        <p:spPr>
          <a:xfrm xmlns:a="http://schemas.openxmlformats.org/drawingml/2006/main">
            <a:off x="8119872" y="2011680"/>
            <a:ext cx="3520440" cy="2240280"/>
          </a:xfrm>
          <a:prstGeom xmlns:a="http://schemas.openxmlformats.org/drawingml/2006/main" prst="roundRect">
            <a:avLst>
              <a:gd name="adj" fmla="val 2857"/>
            </a:avLst>
          </a:prstGeom>
          <a:solidFill xmlns:a="http://schemas.openxmlformats.org/drawingml/2006/main">
            <a:srgbClr val="D9ECF9"/>
          </a:solidFill>
          <a:ln xmlns:a="http://schemas.openxmlformats.org/drawingml/2006/main" w="12700">
            <a:solidFill>
              <a:srgbClr val="D9ECF9"/>
            </a:solidFill>
            <a:prstDash val="solid"/>
          </a:ln>
        </p:spPr>
      </p:sp>
      <p:sp>
        <p:nvSpPr>
          <p:cNvPr id="14" name="Text 12">
            <a:extLst xmlns:a="http://schemas.openxmlformats.org/drawingml/2006/main">
              <a:ext uri="{FF2B5EF4-FFF2-40B4-BE49-F238E27FC236}">
                <a16:creationId xmlns:a16="http://schemas.microsoft.com/office/drawing/2014/main" id="{EA3EC8C3-44D9-4783-B283-A08EC3AD52DB}"/>
              </a:ext>
            </a:extLst>
          </p:cNvPr>
          <p:cNvSpPr>
            <a:spLocks xmlns:a="http://schemas.openxmlformats.org/drawingml/2006/main" noGrp="1"/>
          </p:cNvSpPr>
          <p:nvPr/>
        </p:nvSpPr>
        <p:spPr>
          <a:xfrm xmlns:a="http://schemas.openxmlformats.org/drawingml/2006/main">
            <a:off x="8439912" y="2331720"/>
            <a:ext cx="420624" cy="370149"/>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3</a:t>
            </a:r>
            <a:endParaRPr sz="1200"/>
          </a:p>
        </p:txBody>
      </p:sp>
      <p:sp>
        <p:nvSpPr>
          <p:cNvPr id="15" name="Text 13">
            <a:extLst xmlns:a="http://schemas.openxmlformats.org/drawingml/2006/main">
              <a:ext uri="{FF2B5EF4-FFF2-40B4-BE49-F238E27FC236}">
                <a16:creationId xmlns:a16="http://schemas.microsoft.com/office/drawing/2014/main" id="{C4A58446-AB23-49E4-A0C0-2E4D23D5BA51}"/>
              </a:ext>
            </a:extLst>
          </p:cNvPr>
          <p:cNvSpPr>
            <a:spLocks xmlns:a="http://schemas.openxmlformats.org/drawingml/2006/main" noGrp="1"/>
          </p:cNvSpPr>
          <p:nvPr/>
        </p:nvSpPr>
        <p:spPr>
          <a:xfrm xmlns:a="http://schemas.openxmlformats.org/drawingml/2006/main">
            <a:off x="8988552" y="2331720"/>
            <a:ext cx="2423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02368"/>
                </a:solidFill>
                <a:latin typeface="Arial"/>
                <a:ea typeface="Arial"/>
                <a:cs typeface="Arial"/>
              </a:rPr>
              <a:t>Traceable record</a:t>
            </a:r>
            <a:endParaRPr sz="1500"/>
          </a:p>
        </p:txBody>
      </p:sp>
      <p:sp>
        <p:nvSpPr>
          <p:cNvPr id="16" name="Text 14">
            <a:extLst xmlns:a="http://schemas.openxmlformats.org/drawingml/2006/main">
              <a:ext uri="{FF2B5EF4-FFF2-40B4-BE49-F238E27FC236}">
                <a16:creationId xmlns:a16="http://schemas.microsoft.com/office/drawing/2014/main" id="{171A6945-3053-4DA1-8594-488DC4DF49AD}"/>
              </a:ext>
            </a:extLst>
          </p:cNvPr>
          <p:cNvSpPr>
            <a:spLocks xmlns:a="http://schemas.openxmlformats.org/drawingml/2006/main" noGrp="1"/>
          </p:cNvSpPr>
          <p:nvPr/>
        </p:nvSpPr>
        <p:spPr>
          <a:xfrm xmlns:a="http://schemas.openxmlformats.org/drawingml/2006/main">
            <a:off x="8439912" y="2926080"/>
            <a:ext cx="28803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spcAft>
                <a:spcPts val="700"/>
              </a:spcAft>
              <a:buSzPct val="100000"/>
              <a:buChar char="•"/>
            </a:pPr>
            <a:r>
              <a:rPr sz="1100">
                <a:solidFill>
                  <a:srgbClr val="000000"/>
                </a:solidFill>
                <a:latin typeface="Arial"/>
                <a:ea typeface="Arial"/>
                <a:cs typeface="Arial"/>
              </a:rPr>
              <a:t>Identifiable organisation and public source</a:t>
            </a:r>
            <a:endParaRPr sz="1100"/>
          </a:p>
          <a:p xmlns:a="http://schemas.openxmlformats.org/drawingml/2006/main">
            <a:pPr marL="152400" indent="-152400">
              <a:spcAft>
                <a:spcPts val="700"/>
              </a:spcAft>
              <a:buSzPct val="100000"/>
              <a:buChar char="•"/>
            </a:pPr>
            <a:r>
              <a:rPr sz="1100">
                <a:solidFill>
                  <a:srgbClr val="000000"/>
                </a:solidFill>
                <a:latin typeface="Arial"/>
                <a:ea typeface="Arial"/>
                <a:cs typeface="Arial"/>
              </a:rPr>
              <a:t>Evidence preserved and fields normalised</a:t>
            </a:r>
            <a:endParaRPr sz="1100"/>
          </a:p>
          <a:p xmlns:a="http://schemas.openxmlformats.org/drawingml/2006/main">
            <a:pPr marL="152400" indent="-152400">
              <a:spcAft>
                <a:spcPts val="700"/>
              </a:spcAft>
              <a:buSzPct val="100000"/>
              <a:buChar char="•"/>
            </a:pPr>
            <a:r>
              <a:rPr sz="1100">
                <a:solidFill>
                  <a:srgbClr val="000000"/>
                </a:solidFill>
                <a:latin typeface="Arial"/>
                <a:ea typeface="Arial"/>
                <a:cs typeface="Arial"/>
              </a:rPr>
              <a:t>Strong duplicates merged</a:t>
            </a:r>
            <a:endParaRPr sz="1100"/>
          </a:p>
        </p:txBody>
      </p:sp>
      <p:sp>
        <p:nvSpPr>
          <p:cNvPr id="17" name="Text 15">
            <a:extLst xmlns:a="http://schemas.openxmlformats.org/drawingml/2006/main">
              <a:ext uri="{FF2B5EF4-FFF2-40B4-BE49-F238E27FC236}">
                <a16:creationId xmlns:a16="http://schemas.microsoft.com/office/drawing/2014/main" id="{E2A0F7D3-8AFF-403D-9C1C-DD29A40EEE04}"/>
              </a:ext>
            </a:extLst>
          </p:cNvPr>
          <p:cNvSpPr>
            <a:spLocks xmlns:a="http://schemas.openxmlformats.org/drawingml/2006/main" noGrp="1"/>
          </p:cNvSpPr>
          <p:nvPr/>
        </p:nvSpPr>
        <p:spPr>
          <a:xfrm xmlns:a="http://schemas.openxmlformats.org/drawingml/2006/main">
            <a:off x="548640" y="4754880"/>
            <a:ext cx="3657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18283"/>
                </a:solidFill>
                <a:latin typeface="Arial"/>
                <a:ea typeface="Arial"/>
                <a:cs typeface="Arial"/>
              </a:rPr>
              <a:t>FIVE CAMPUS ANCHORS</a:t>
            </a:r>
            <a:endParaRPr sz="900"/>
          </a:p>
        </p:txBody>
      </p:sp>
      <p:sp>
        <p:nvSpPr>
          <p:cNvPr id="18" name="Text 16">
            <a:extLst xmlns:a="http://schemas.openxmlformats.org/drawingml/2006/main">
              <a:ext uri="{FF2B5EF4-FFF2-40B4-BE49-F238E27FC236}">
                <a16:creationId xmlns:a16="http://schemas.microsoft.com/office/drawing/2014/main" id="{BA05974A-FAEB-433B-AD4E-C5CE217D0406}"/>
              </a:ext>
            </a:extLst>
          </p:cNvPr>
          <p:cNvSpPr>
            <a:spLocks xmlns:a="http://schemas.openxmlformats.org/drawingml/2006/main" noGrp="1"/>
          </p:cNvSpPr>
          <p:nvPr/>
        </p:nvSpPr>
        <p:spPr>
          <a:xfrm xmlns:a="http://schemas.openxmlformats.org/drawingml/2006/main">
            <a:off x="548640" y="5001768"/>
            <a:ext cx="975665" cy="29260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002368"/>
                </a:solidFill>
                <a:latin typeface="Arial"/>
                <a:ea typeface="Arial"/>
                <a:cs typeface="Arial"/>
              </a:rPr>
              <a:t>Usa River</a:t>
            </a:r>
            <a:endParaRPr sz="1000"/>
          </a:p>
        </p:txBody>
      </p:sp>
      <p:sp>
        <p:nvSpPr>
          <p:cNvPr id="19" name="Text 17">
            <a:extLst xmlns:a="http://schemas.openxmlformats.org/drawingml/2006/main">
              <a:ext uri="{FF2B5EF4-FFF2-40B4-BE49-F238E27FC236}">
                <a16:creationId xmlns:a16="http://schemas.microsoft.com/office/drawing/2014/main" id="{C4C831A5-E33D-4861-81CF-1A680D3877B4}"/>
              </a:ext>
            </a:extLst>
          </p:cNvPr>
          <p:cNvSpPr>
            <a:spLocks xmlns:a="http://schemas.openxmlformats.org/drawingml/2006/main" noGrp="1"/>
          </p:cNvSpPr>
          <p:nvPr/>
        </p:nvSpPr>
        <p:spPr>
          <a:xfrm xmlns:a="http://schemas.openxmlformats.org/drawingml/2006/main">
            <a:off x="1661465" y="5001768"/>
            <a:ext cx="1810512" cy="29260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002368"/>
                </a:solidFill>
                <a:latin typeface="Arial"/>
                <a:ea typeface="Arial"/>
                <a:cs typeface="Arial"/>
              </a:rPr>
              <a:t>Arusha City (Sakina)</a:t>
            </a:r>
            <a:endParaRPr sz="1000"/>
          </a:p>
        </p:txBody>
      </p:sp>
      <p:sp>
        <p:nvSpPr>
          <p:cNvPr id="20" name="Text 18">
            <a:extLst xmlns:a="http://schemas.openxmlformats.org/drawingml/2006/main">
              <a:ext uri="{FF2B5EF4-FFF2-40B4-BE49-F238E27FC236}">
                <a16:creationId xmlns:a16="http://schemas.microsoft.com/office/drawing/2014/main" id="{48A950D2-0EF7-47D2-BE34-C83F338F2FB8}"/>
              </a:ext>
            </a:extLst>
          </p:cNvPr>
          <p:cNvSpPr>
            <a:spLocks xmlns:a="http://schemas.openxmlformats.org/drawingml/2006/main" noGrp="1"/>
          </p:cNvSpPr>
          <p:nvPr/>
        </p:nvSpPr>
        <p:spPr>
          <a:xfrm xmlns:a="http://schemas.openxmlformats.org/drawingml/2006/main">
            <a:off x="3609137" y="5001768"/>
            <a:ext cx="747979" cy="29260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002368"/>
                </a:solidFill>
                <a:latin typeface="Arial"/>
                <a:ea typeface="Arial"/>
                <a:cs typeface="Arial"/>
              </a:rPr>
              <a:t>Ilboru</a:t>
            </a:r>
            <a:endParaRPr sz="1000"/>
          </a:p>
        </p:txBody>
      </p:sp>
      <p:sp>
        <p:nvSpPr>
          <p:cNvPr id="21" name="Text 19">
            <a:extLst xmlns:a="http://schemas.openxmlformats.org/drawingml/2006/main">
              <a:ext uri="{FF2B5EF4-FFF2-40B4-BE49-F238E27FC236}">
                <a16:creationId xmlns:a16="http://schemas.microsoft.com/office/drawing/2014/main" id="{06BCEA09-0975-437E-86C5-77CC680EEA0D}"/>
              </a:ext>
            </a:extLst>
          </p:cNvPr>
          <p:cNvSpPr>
            <a:spLocks xmlns:a="http://schemas.openxmlformats.org/drawingml/2006/main" noGrp="1"/>
          </p:cNvSpPr>
          <p:nvPr/>
        </p:nvSpPr>
        <p:spPr>
          <a:xfrm xmlns:a="http://schemas.openxmlformats.org/drawingml/2006/main">
            <a:off x="4494276" y="5001768"/>
            <a:ext cx="823874" cy="29260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002368"/>
                </a:solidFill>
                <a:latin typeface="Arial"/>
                <a:ea typeface="Arial"/>
                <a:cs typeface="Arial"/>
              </a:rPr>
              <a:t>Kijenge</a:t>
            </a:r>
            <a:endParaRPr sz="1000"/>
          </a:p>
        </p:txBody>
      </p:sp>
      <p:sp>
        <p:nvSpPr>
          <p:cNvPr id="22" name="Text 20">
            <a:extLst xmlns:a="http://schemas.openxmlformats.org/drawingml/2006/main">
              <a:ext uri="{FF2B5EF4-FFF2-40B4-BE49-F238E27FC236}">
                <a16:creationId xmlns:a16="http://schemas.microsoft.com/office/drawing/2014/main" id="{5FC5CCB9-81BA-4F3A-B06B-D3E7172852E8}"/>
              </a:ext>
            </a:extLst>
          </p:cNvPr>
          <p:cNvSpPr>
            <a:spLocks xmlns:a="http://schemas.openxmlformats.org/drawingml/2006/main" noGrp="1"/>
          </p:cNvSpPr>
          <p:nvPr/>
        </p:nvSpPr>
        <p:spPr>
          <a:xfrm xmlns:a="http://schemas.openxmlformats.org/drawingml/2006/main">
            <a:off x="5455310" y="5001768"/>
            <a:ext cx="1203350" cy="29260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002368"/>
                </a:solidFill>
                <a:latin typeface="Arial"/>
                <a:ea typeface="Arial"/>
                <a:cs typeface="Arial"/>
              </a:rPr>
              <a:t>Boma Ng’ombe</a:t>
            </a:r>
            <a:endParaRPr sz="1000"/>
          </a:p>
        </p:txBody>
      </p:sp>
      <p:sp>
        <p:nvSpPr>
          <p:cNvPr id="23" name="Text 21">
            <a:extLst xmlns:a="http://schemas.openxmlformats.org/drawingml/2006/main">
              <a:ext uri="{FF2B5EF4-FFF2-40B4-BE49-F238E27FC236}">
                <a16:creationId xmlns:a16="http://schemas.microsoft.com/office/drawing/2014/main" id="{15798C38-B96E-4F93-925A-16F26BB1DBCF}"/>
              </a:ext>
            </a:extLst>
          </p:cNvPr>
          <p:cNvSpPr>
            <a:spLocks xmlns:a="http://schemas.openxmlformats.org/drawingml/2006/main" noGrp="1"/>
          </p:cNvSpPr>
          <p:nvPr/>
        </p:nvSpPr>
        <p:spPr>
          <a:xfrm xmlns:a="http://schemas.openxmlformats.org/drawingml/2006/main">
            <a:off x="548640" y="5440680"/>
            <a:ext cx="10058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818283"/>
                </a:solidFill>
                <a:latin typeface="Arial"/>
                <a:ea typeface="Arial"/>
                <a:cs typeface="Arial"/>
              </a:rPr>
              <a:t>Distances are straight-line estimates from approximate campus coordinates (about ±1–2 km). Confirm exact campus pins before route planning.</a:t>
            </a:r>
            <a:endParaRPr sz="95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c9337a6ca01f4a6e"/>
          <a:stretch xmlns:a="http://schemas.openxmlformats.org/drawingml/2006/main">
            <a:fillRect l="0" t="0" r="0" b="0"/>
          </a:stretch>
        </p:blipFill>
        <p:spPr>
          <a:xfrm xmlns:a="http://schemas.openxmlformats.org/drawingml/2006/main">
            <a:off x="548640" y="6272784"/>
            <a:ext cx="1143000" cy="272176"/>
          </a:xfrm>
          <a:prstGeom xmlns:a="http://schemas.openxmlformats.org/drawingml/2006/main" prst="rect">
            <a:avLst/>
          </a:prstGeom>
        </p:spPr>
      </p:pic>
      <p:sp>
        <p:nvSpPr>
          <p:cNvPr id="25" name="Text 22">
            <a:extLst xmlns:a="http://schemas.openxmlformats.org/drawingml/2006/main">
              <a:ext uri="{FF2B5EF4-FFF2-40B4-BE49-F238E27FC236}">
                <a16:creationId xmlns:a16="http://schemas.microsoft.com/office/drawing/2014/main" id="{55A92C64-7C6F-4E8E-9B07-74400851D322}"/>
              </a:ext>
            </a:extLst>
          </p:cNvPr>
          <p:cNvSpPr>
            <a:spLocks xmlns:a="http://schemas.openxmlformats.org/drawingml/2006/main" noGrp="1"/>
          </p:cNvSpPr>
          <p:nvPr/>
        </p:nvSpPr>
        <p:spPr>
          <a:xfrm xmlns:a="http://schemas.openxmlformats.org/drawingml/2006/main">
            <a:off x="1965960" y="6309360"/>
            <a:ext cx="85953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818283"/>
                </a:solidFill>
                <a:latin typeface="Arial"/>
                <a:ea typeface="Arial"/>
                <a:cs typeface="Arial"/>
              </a:rPr>
              <a:t>Source: partner-lead-generation.md, source workbook and Silverleaf Master Database</a:t>
            </a:r>
            <a:endParaRPr sz="800"/>
          </a:p>
        </p:txBody>
      </p:sp>
      <p:sp>
        <p:nvSpPr>
          <p:cNvPr id="26" name="Text 23">
            <a:extLst xmlns:a="http://schemas.openxmlformats.org/drawingml/2006/main">
              <a:ext uri="{FF2B5EF4-FFF2-40B4-BE49-F238E27FC236}">
                <a16:creationId xmlns:a16="http://schemas.microsoft.com/office/drawing/2014/main" id="{7D2C47A1-16AF-4D47-ADB2-C6C5F2AFE590}"/>
              </a:ext>
            </a:extLst>
          </p:cNvPr>
          <p:cNvSpPr>
            <a:spLocks xmlns:a="http://schemas.openxmlformats.org/drawingml/2006/main" noGrp="1"/>
          </p:cNvSpPr>
          <p:nvPr/>
        </p:nvSpPr>
        <p:spPr>
          <a:xfrm xmlns:a="http://schemas.openxmlformats.org/drawingml/2006/main">
            <a:off x="10911535" y="6254496"/>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002368"/>
                </a:solidFill>
                <a:latin typeface="Georgia"/>
                <a:ea typeface="Georgia"/>
                <a:cs typeface="Georgia"/>
              </a:rPr>
              <a:t>04</a:t>
            </a:r>
            <a:endParaRPr sz="1200"/>
          </a:p>
        </p:txBody>
      </p:sp>
    </p:spTree>
    <p:extLst>
      <p:ext uri="{BB962C8B-B14F-4D97-AF65-F5344CB8AC3E}">
        <p14:creationId xmlns:p14="http://schemas.microsoft.com/office/powerpoint/2010/main" val="163639445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9706DA3-93C5-4F7C-9AC3-5F2DF90D6856}"/>
              </a:ext>
            </a:extLst>
          </p:cNvPr>
          <p:cNvSpPr>
            <a:spLocks xmlns:a="http://schemas.openxmlformats.org/drawingml/2006/main" noGrp="1"/>
          </p:cNvSpPr>
          <p:nvPr/>
        </p:nvSpPr>
        <p:spPr>
          <a:xfrm xmlns:a="http://schemas.openxmlformats.org/drawingml/2006/main">
            <a:off x="548640" y="384048"/>
            <a:ext cx="8229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18283"/>
                </a:solidFill>
                <a:latin typeface="Arial"/>
                <a:ea typeface="Arial"/>
                <a:cs typeface="Arial"/>
              </a:rPr>
              <a:t>ORGANISATIONAL TRACK  ·  PRIORITISATION</a:t>
            </a:r>
            <a:endParaRPr sz="900"/>
          </a:p>
        </p:txBody>
      </p:sp>
      <p:sp>
        <p:nvSpPr>
          <p:cNvPr id="3" name="Text 1">
            <a:extLst xmlns:a="http://schemas.openxmlformats.org/drawingml/2006/main">
              <a:ext uri="{FF2B5EF4-FFF2-40B4-BE49-F238E27FC236}">
                <a16:creationId xmlns:a16="http://schemas.microsoft.com/office/drawing/2014/main" id="{68558695-422E-49C4-A7BD-5171CD7E23B9}"/>
              </a:ext>
            </a:extLst>
          </p:cNvPr>
          <p:cNvSpPr>
            <a:spLocks xmlns:a="http://schemas.openxmlformats.org/drawingml/2006/main" noGrp="1"/>
          </p:cNvSpPr>
          <p:nvPr/>
        </p:nvSpPr>
        <p:spPr>
          <a:xfrm xmlns:a="http://schemas.openxmlformats.org/drawingml/2006/main">
            <a:off x="548640" y="603504"/>
            <a:ext cx="9601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02368"/>
                </a:solidFill>
                <a:latin typeface="Arial"/>
                <a:ea typeface="Arial"/>
                <a:cs typeface="Arial"/>
              </a:rPr>
              <a:t>Outreach priority after enrichment</a:t>
            </a:r>
            <a:endParaRPr sz="2600"/>
          </a:p>
        </p:txBody>
      </p:sp>
      <p:sp>
        <p:nvSpPr>
          <p:cNvPr id="4" name="Text 2">
            <a:extLst xmlns:a="http://schemas.openxmlformats.org/drawingml/2006/main">
              <a:ext uri="{FF2B5EF4-FFF2-40B4-BE49-F238E27FC236}">
                <a16:creationId xmlns:a16="http://schemas.microsoft.com/office/drawing/2014/main" id="{0731D13D-6CBB-4231-8827-F53930FC08C8}"/>
              </a:ext>
            </a:extLst>
          </p:cNvPr>
          <p:cNvSpPr>
            <a:spLocks xmlns:a="http://schemas.openxmlformats.org/drawingml/2006/main" noGrp="1"/>
          </p:cNvSpPr>
          <p:nvPr/>
        </p:nvSpPr>
        <p:spPr>
          <a:xfrm xmlns:a="http://schemas.openxmlformats.org/drawingml/2006/main">
            <a:off x="548640" y="1325880"/>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18283"/>
                </a:solidFill>
                <a:latin typeface="Arial"/>
                <a:ea typeface="Arial"/>
                <a:cs typeface="Arial"/>
              </a:rPr>
              <a:t>EVIDENCE REVIEWED</a:t>
            </a:r>
            <a:endParaRPr sz="900"/>
          </a:p>
        </p:txBody>
      </p:sp>
      <p:sp>
        <p:nvSpPr>
          <p:cNvPr id="5" name="Text 3">
            <a:extLst xmlns:a="http://schemas.openxmlformats.org/drawingml/2006/main">
              <a:ext uri="{FF2B5EF4-FFF2-40B4-BE49-F238E27FC236}">
                <a16:creationId xmlns:a16="http://schemas.microsoft.com/office/drawing/2014/main" id="{EBC6DA40-D393-4363-B651-42CA4A40F8EA}"/>
              </a:ext>
            </a:extLst>
          </p:cNvPr>
          <p:cNvSpPr>
            <a:spLocks xmlns:a="http://schemas.openxmlformats.org/drawingml/2006/main" noGrp="1"/>
          </p:cNvSpPr>
          <p:nvPr/>
        </p:nvSpPr>
        <p:spPr>
          <a:xfrm xmlns:a="http://schemas.openxmlformats.org/drawingml/2006/main">
            <a:off x="548640" y="1554480"/>
            <a:ext cx="1150315" cy="292608"/>
          </a:xfrm>
          <a:prstGeom xmlns:a="http://schemas.openxmlformats.org/drawingml/2006/main" prst="roundRect">
            <a:avLst>
              <a:gd name="adj" fmla="val 50000"/>
            </a:avLst>
          </a:prstGeom>
          <a:solidFill xmlns:a="http://schemas.openxmlformats.org/drawingml/2006/main">
            <a:srgbClr val="D9ECF9"/>
          </a:solidFill>
          <a:ln xmlns:a="http://schemas.openxmlformats.org/drawingml/2006/main" w="9525">
            <a:solidFill>
              <a:srgbClr val="D9ECF9"/>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002368"/>
                </a:solidFill>
                <a:latin typeface="Arial"/>
                <a:ea typeface="Arial"/>
                <a:cs typeface="Arial"/>
              </a:rPr>
              <a:t>Staff scale</a:t>
            </a:r>
            <a:endParaRPr sz="1000"/>
          </a:p>
        </p:txBody>
      </p:sp>
      <p:sp>
        <p:nvSpPr>
          <p:cNvPr id="6" name="Text 4">
            <a:extLst xmlns:a="http://schemas.openxmlformats.org/drawingml/2006/main">
              <a:ext uri="{FF2B5EF4-FFF2-40B4-BE49-F238E27FC236}">
                <a16:creationId xmlns:a16="http://schemas.microsoft.com/office/drawing/2014/main" id="{31AC97DB-C060-4B8B-9B07-25E45C0D8238}"/>
              </a:ext>
            </a:extLst>
          </p:cNvPr>
          <p:cNvSpPr>
            <a:spLocks xmlns:a="http://schemas.openxmlformats.org/drawingml/2006/main" noGrp="1"/>
          </p:cNvSpPr>
          <p:nvPr/>
        </p:nvSpPr>
        <p:spPr>
          <a:xfrm xmlns:a="http://schemas.openxmlformats.org/drawingml/2006/main">
            <a:off x="1826971" y="1554480"/>
            <a:ext cx="3076042" cy="292608"/>
          </a:xfrm>
          <a:prstGeom xmlns:a="http://schemas.openxmlformats.org/drawingml/2006/main" prst="roundRect">
            <a:avLst>
              <a:gd name="adj" fmla="val 50000"/>
            </a:avLst>
          </a:prstGeom>
          <a:solidFill xmlns:a="http://schemas.openxmlformats.org/drawingml/2006/main">
            <a:srgbClr val="D9ECF9"/>
          </a:solidFill>
          <a:ln xmlns:a="http://schemas.openxmlformats.org/drawingml/2006/main" w="9525">
            <a:solidFill>
              <a:srgbClr val="D9ECF9"/>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002368"/>
                </a:solidFill>
                <a:latin typeface="Arial"/>
                <a:ea typeface="Arial"/>
                <a:cs typeface="Arial"/>
              </a:rPr>
              <a:t>Reachable decision-maker or role route</a:t>
            </a:r>
            <a:endParaRPr sz="1000"/>
          </a:p>
        </p:txBody>
      </p:sp>
      <p:sp>
        <p:nvSpPr>
          <p:cNvPr id="7" name="Text 5">
            <a:extLst xmlns:a="http://schemas.openxmlformats.org/drawingml/2006/main">
              <a:ext uri="{FF2B5EF4-FFF2-40B4-BE49-F238E27FC236}">
                <a16:creationId xmlns:a16="http://schemas.microsoft.com/office/drawing/2014/main" id="{F6DCDE07-80FA-490F-969F-BE9E53AAB218}"/>
              </a:ext>
            </a:extLst>
          </p:cNvPr>
          <p:cNvSpPr>
            <a:spLocks xmlns:a="http://schemas.openxmlformats.org/drawingml/2006/main" noGrp="1"/>
          </p:cNvSpPr>
          <p:nvPr/>
        </p:nvSpPr>
        <p:spPr>
          <a:xfrm xmlns:a="http://schemas.openxmlformats.org/drawingml/2006/main">
            <a:off x="5031029" y="1554480"/>
            <a:ext cx="1934870" cy="292608"/>
          </a:xfrm>
          <a:prstGeom xmlns:a="http://schemas.openxmlformats.org/drawingml/2006/main" prst="roundRect">
            <a:avLst>
              <a:gd name="adj" fmla="val 50000"/>
            </a:avLst>
          </a:prstGeom>
          <a:solidFill xmlns:a="http://schemas.openxmlformats.org/drawingml/2006/main">
            <a:srgbClr val="D9ECF9"/>
          </a:solidFill>
          <a:ln xmlns:a="http://schemas.openxmlformats.org/drawingml/2006/main" w="9525">
            <a:solidFill>
              <a:srgbClr val="D9ECF9"/>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002368"/>
                </a:solidFill>
                <a:latin typeface="Arial"/>
                <a:ea typeface="Arial"/>
                <a:cs typeface="Arial"/>
              </a:rPr>
              <a:t>Direct contact channel</a:t>
            </a:r>
            <a:endParaRPr sz="1000"/>
          </a:p>
        </p:txBody>
      </p:sp>
      <p:sp>
        <p:nvSpPr>
          <p:cNvPr id="8" name="Text 6">
            <a:extLst xmlns:a="http://schemas.openxmlformats.org/drawingml/2006/main">
              <a:ext uri="{FF2B5EF4-FFF2-40B4-BE49-F238E27FC236}">
                <a16:creationId xmlns:a16="http://schemas.microsoft.com/office/drawing/2014/main" id="{7DEAD253-AE8D-4105-B39C-3360EC6ED5B8}"/>
              </a:ext>
            </a:extLst>
          </p:cNvPr>
          <p:cNvSpPr>
            <a:spLocks xmlns:a="http://schemas.openxmlformats.org/drawingml/2006/main" noGrp="1"/>
          </p:cNvSpPr>
          <p:nvPr/>
        </p:nvSpPr>
        <p:spPr>
          <a:xfrm xmlns:a="http://schemas.openxmlformats.org/drawingml/2006/main">
            <a:off x="7093915" y="1554480"/>
            <a:ext cx="3646627" cy="292608"/>
          </a:xfrm>
          <a:prstGeom xmlns:a="http://schemas.openxmlformats.org/drawingml/2006/main" prst="roundRect">
            <a:avLst>
              <a:gd name="adj" fmla="val 50000"/>
            </a:avLst>
          </a:prstGeom>
          <a:solidFill xmlns:a="http://schemas.openxmlformats.org/drawingml/2006/main">
            <a:srgbClr val="D9ECF9"/>
          </a:solidFill>
          <a:ln xmlns:a="http://schemas.openxmlformats.org/drawingml/2006/main" w="9525">
            <a:solidFill>
              <a:srgbClr val="D9ECF9"/>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002368"/>
                </a:solidFill>
                <a:latin typeface="Arial"/>
                <a:ea typeface="Arial"/>
                <a:cs typeface="Arial"/>
              </a:rPr>
              <a:t>Education, community or staff-welfare affinity</a:t>
            </a:r>
            <a:endParaRPr sz="1000"/>
          </a:p>
        </p:txBody>
      </p:sp>
      <p:sp>
        <p:nvSpPr>
          <p:cNvPr id="9" name="Shape 7">
            <a:extLst xmlns:a="http://schemas.openxmlformats.org/drawingml/2006/main">
              <a:ext uri="{FF2B5EF4-FFF2-40B4-BE49-F238E27FC236}">
                <a16:creationId xmlns:a16="http://schemas.microsoft.com/office/drawing/2014/main" id="{56BED0FC-0A82-471C-B0E8-0189C345F6AF}"/>
              </a:ext>
            </a:extLst>
          </p:cNvPr>
          <p:cNvSpPr>
            <a:spLocks xmlns:a="http://schemas.openxmlformats.org/drawingml/2006/main" noGrp="1"/>
          </p:cNvSpPr>
          <p:nvPr/>
        </p:nvSpPr>
        <p:spPr>
          <a:xfrm xmlns:a="http://schemas.openxmlformats.org/drawingml/2006/main">
            <a:off x="548640" y="2103120"/>
            <a:ext cx="2615184" cy="2697480"/>
          </a:xfrm>
          <a:prstGeom xmlns:a="http://schemas.openxmlformats.org/drawingml/2006/main" prst="roundRect">
            <a:avLst>
              <a:gd name="adj" fmla="val 2448"/>
            </a:avLst>
          </a:prstGeom>
          <a:solidFill xmlns:a="http://schemas.openxmlformats.org/drawingml/2006/main">
            <a:srgbClr val="002368"/>
          </a:solidFill>
          <a:ln xmlns:a="http://schemas.openxmlformats.org/drawingml/2006/main" w="12700">
            <a:solidFill>
              <a:srgbClr val="002368"/>
            </a:solidFill>
            <a:prstDash val="solid"/>
          </a:ln>
        </p:spPr>
      </p:sp>
      <p:sp>
        <p:nvSpPr>
          <p:cNvPr id="10" name="Text 8">
            <a:extLst xmlns:a="http://schemas.openxmlformats.org/drawingml/2006/main">
              <a:ext uri="{FF2B5EF4-FFF2-40B4-BE49-F238E27FC236}">
                <a16:creationId xmlns:a16="http://schemas.microsoft.com/office/drawing/2014/main" id="{D6E63883-E0D8-4E43-BE39-1FCE73C2A59A}"/>
              </a:ext>
            </a:extLst>
          </p:cNvPr>
          <p:cNvSpPr>
            <a:spLocks xmlns:a="http://schemas.openxmlformats.org/drawingml/2006/main" noGrp="1"/>
          </p:cNvSpPr>
          <p:nvPr/>
        </p:nvSpPr>
        <p:spPr>
          <a:xfrm xmlns:a="http://schemas.openxmlformats.org/drawingml/2006/main">
            <a:off x="868680" y="2377440"/>
            <a:ext cx="1097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a:solidFill>
                  <a:srgbClr val="FFFFFF"/>
                </a:solidFill>
                <a:latin typeface="Georgia"/>
                <a:ea typeface="Georgia"/>
                <a:cs typeface="Georgia"/>
              </a:rPr>
              <a:t>P1</a:t>
            </a:r>
            <a:endParaRPr sz="2800"/>
          </a:p>
        </p:txBody>
      </p:sp>
      <p:sp>
        <p:nvSpPr>
          <p:cNvPr id="11" name="Text 9">
            <a:extLst xmlns:a="http://schemas.openxmlformats.org/drawingml/2006/main">
              <a:ext uri="{FF2B5EF4-FFF2-40B4-BE49-F238E27FC236}">
                <a16:creationId xmlns:a16="http://schemas.microsoft.com/office/drawing/2014/main" id="{9DBDD937-4ED5-4954-94CB-D1AA809A610F}"/>
              </a:ext>
            </a:extLst>
          </p:cNvPr>
          <p:cNvSpPr>
            <a:spLocks xmlns:a="http://schemas.openxmlformats.org/drawingml/2006/main" noGrp="1"/>
          </p:cNvSpPr>
          <p:nvPr/>
        </p:nvSpPr>
        <p:spPr>
          <a:xfrm xmlns:a="http://schemas.openxmlformats.org/drawingml/2006/main">
            <a:off x="868680" y="2944368"/>
            <a:ext cx="1975104"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FFFFFF"/>
                </a:solidFill>
                <a:latin typeface="Arial"/>
                <a:ea typeface="Arial"/>
                <a:cs typeface="Arial"/>
              </a:rPr>
              <a:t>CALL FIRST</a:t>
            </a:r>
            <a:endParaRPr sz="900"/>
          </a:p>
        </p:txBody>
      </p:sp>
      <p:sp>
        <p:nvSpPr>
          <p:cNvPr id="12" name="Text 10">
            <a:extLst xmlns:a="http://schemas.openxmlformats.org/drawingml/2006/main">
              <a:ext uri="{FF2B5EF4-FFF2-40B4-BE49-F238E27FC236}">
                <a16:creationId xmlns:a16="http://schemas.microsoft.com/office/drawing/2014/main" id="{A9CF44C7-654E-4BB6-A927-31FADF9C9016}"/>
              </a:ext>
            </a:extLst>
          </p:cNvPr>
          <p:cNvSpPr>
            <a:spLocks xmlns:a="http://schemas.openxmlformats.org/drawingml/2006/main" noGrp="1"/>
          </p:cNvSpPr>
          <p:nvPr/>
        </p:nvSpPr>
        <p:spPr>
          <a:xfrm xmlns:a="http://schemas.openxmlformats.org/drawingml/2006/main">
            <a:off x="868680" y="3291840"/>
            <a:ext cx="197510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050">
                <a:solidFill>
                  <a:srgbClr val="D9ECF9"/>
                </a:solidFill>
                <a:latin typeface="Arial"/>
                <a:ea typeface="Arial"/>
                <a:cs typeface="Arial"/>
              </a:rPr>
              <a:t>Strongest evidenced case: meaningful staff scale and/or clear education or staff-welfare fit, with a usable route.</a:t>
            </a:r>
            <a:endParaRPr sz="1050"/>
          </a:p>
        </p:txBody>
      </p:sp>
      <p:sp>
        <p:nvSpPr>
          <p:cNvPr id="13" name="Text 11">
            <a:extLst xmlns:a="http://schemas.openxmlformats.org/drawingml/2006/main">
              <a:ext uri="{FF2B5EF4-FFF2-40B4-BE49-F238E27FC236}">
                <a16:creationId xmlns:a16="http://schemas.microsoft.com/office/drawing/2014/main" id="{18F8F9BF-C85B-42DE-B05C-CF4AB25A8619}"/>
              </a:ext>
            </a:extLst>
          </p:cNvPr>
          <p:cNvSpPr>
            <a:spLocks xmlns:a="http://schemas.openxmlformats.org/drawingml/2006/main" noGrp="1"/>
          </p:cNvSpPr>
          <p:nvPr/>
        </p:nvSpPr>
        <p:spPr>
          <a:xfrm xmlns:a="http://schemas.openxmlformats.org/drawingml/2006/main">
            <a:off x="868680" y="4142232"/>
            <a:ext cx="914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a:solidFill>
                  <a:srgbClr val="FFC952"/>
                </a:solidFill>
                <a:latin typeface="Georgia"/>
                <a:ea typeface="Georgia"/>
                <a:cs typeface="Georgia"/>
              </a:rPr>
              <a:t>11</a:t>
            </a:r>
            <a:endParaRPr sz="3000"/>
          </a:p>
        </p:txBody>
      </p:sp>
      <p:sp>
        <p:nvSpPr>
          <p:cNvPr id="14" name="Text 12">
            <a:extLst xmlns:a="http://schemas.openxmlformats.org/drawingml/2006/main">
              <a:ext uri="{FF2B5EF4-FFF2-40B4-BE49-F238E27FC236}">
                <a16:creationId xmlns:a16="http://schemas.microsoft.com/office/drawing/2014/main" id="{1232E8C6-87F7-4560-8D7E-8D24BA0D388D}"/>
              </a:ext>
            </a:extLst>
          </p:cNvPr>
          <p:cNvSpPr>
            <a:spLocks xmlns:a="http://schemas.openxmlformats.org/drawingml/2006/main" noGrp="1"/>
          </p:cNvSpPr>
          <p:nvPr/>
        </p:nvSpPr>
        <p:spPr>
          <a:xfrm xmlns:a="http://schemas.openxmlformats.org/drawingml/2006/main">
            <a:off x="1737360" y="4142232"/>
            <a:ext cx="1280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FFFFFF"/>
                </a:solidFill>
                <a:latin typeface="Arial"/>
                <a:ea typeface="Arial"/>
                <a:cs typeface="Arial"/>
              </a:rPr>
              <a:t>organisations</a:t>
            </a:r>
            <a:endParaRPr sz="950"/>
          </a:p>
        </p:txBody>
      </p:sp>
      <p:sp>
        <p:nvSpPr>
          <p:cNvPr id="15" name="Shape 13">
            <a:extLst xmlns:a="http://schemas.openxmlformats.org/drawingml/2006/main">
              <a:ext uri="{FF2B5EF4-FFF2-40B4-BE49-F238E27FC236}">
                <a16:creationId xmlns:a16="http://schemas.microsoft.com/office/drawing/2014/main" id="{8906314F-0A7F-4EB1-A017-A44D8327F1D4}"/>
              </a:ext>
            </a:extLst>
          </p:cNvPr>
          <p:cNvSpPr>
            <a:spLocks xmlns:a="http://schemas.openxmlformats.org/drawingml/2006/main" noGrp="1"/>
          </p:cNvSpPr>
          <p:nvPr/>
        </p:nvSpPr>
        <p:spPr>
          <a:xfrm xmlns:a="http://schemas.openxmlformats.org/drawingml/2006/main">
            <a:off x="3374136" y="2103120"/>
            <a:ext cx="2615184" cy="2697480"/>
          </a:xfrm>
          <a:prstGeom xmlns:a="http://schemas.openxmlformats.org/drawingml/2006/main" prst="roundRect">
            <a:avLst>
              <a:gd name="adj" fmla="val 2448"/>
            </a:avLst>
          </a:prstGeom>
          <a:solidFill xmlns:a="http://schemas.openxmlformats.org/drawingml/2006/main">
            <a:srgbClr val="80BFEC"/>
          </a:solidFill>
          <a:ln xmlns:a="http://schemas.openxmlformats.org/drawingml/2006/main" w="12700">
            <a:solidFill>
              <a:srgbClr val="80BFEC"/>
            </a:solidFill>
            <a:prstDash val="solid"/>
          </a:ln>
        </p:spPr>
      </p:sp>
      <p:sp>
        <p:nvSpPr>
          <p:cNvPr id="16" name="Text 14">
            <a:extLst xmlns:a="http://schemas.openxmlformats.org/drawingml/2006/main">
              <a:ext uri="{FF2B5EF4-FFF2-40B4-BE49-F238E27FC236}">
                <a16:creationId xmlns:a16="http://schemas.microsoft.com/office/drawing/2014/main" id="{B7FC68AF-E630-43DF-AD42-20E51887728D}"/>
              </a:ext>
            </a:extLst>
          </p:cNvPr>
          <p:cNvSpPr>
            <a:spLocks xmlns:a="http://schemas.openxmlformats.org/drawingml/2006/main" noGrp="1"/>
          </p:cNvSpPr>
          <p:nvPr/>
        </p:nvSpPr>
        <p:spPr>
          <a:xfrm xmlns:a="http://schemas.openxmlformats.org/drawingml/2006/main">
            <a:off x="3694176" y="2377440"/>
            <a:ext cx="1097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a:solidFill>
                  <a:srgbClr val="002368"/>
                </a:solidFill>
                <a:latin typeface="Georgia"/>
                <a:ea typeface="Georgia"/>
                <a:cs typeface="Georgia"/>
              </a:rPr>
              <a:t>P2</a:t>
            </a:r>
            <a:endParaRPr sz="2800"/>
          </a:p>
        </p:txBody>
      </p:sp>
      <p:sp>
        <p:nvSpPr>
          <p:cNvPr id="17" name="Text 15">
            <a:extLst xmlns:a="http://schemas.openxmlformats.org/drawingml/2006/main">
              <a:ext uri="{FF2B5EF4-FFF2-40B4-BE49-F238E27FC236}">
                <a16:creationId xmlns:a16="http://schemas.microsoft.com/office/drawing/2014/main" id="{1D0FB280-A999-4478-904D-A03124A5EE00}"/>
              </a:ext>
            </a:extLst>
          </p:cNvPr>
          <p:cNvSpPr>
            <a:spLocks xmlns:a="http://schemas.openxmlformats.org/drawingml/2006/main" noGrp="1"/>
          </p:cNvSpPr>
          <p:nvPr/>
        </p:nvSpPr>
        <p:spPr>
          <a:xfrm xmlns:a="http://schemas.openxmlformats.org/drawingml/2006/main">
            <a:off x="3694176" y="2944368"/>
            <a:ext cx="1975104"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002368"/>
                </a:solidFill>
                <a:latin typeface="Arial"/>
                <a:ea typeface="Arial"/>
                <a:cs typeface="Arial"/>
              </a:rPr>
              <a:t>NEXT</a:t>
            </a:r>
            <a:endParaRPr sz="900"/>
          </a:p>
        </p:txBody>
      </p:sp>
      <p:sp>
        <p:nvSpPr>
          <p:cNvPr id="18" name="Text 16">
            <a:extLst xmlns:a="http://schemas.openxmlformats.org/drawingml/2006/main">
              <a:ext uri="{FF2B5EF4-FFF2-40B4-BE49-F238E27FC236}">
                <a16:creationId xmlns:a16="http://schemas.microsoft.com/office/drawing/2014/main" id="{8DFE981F-217A-47A5-A132-EE92DA762B13}"/>
              </a:ext>
            </a:extLst>
          </p:cNvPr>
          <p:cNvSpPr>
            <a:spLocks xmlns:a="http://schemas.openxmlformats.org/drawingml/2006/main" noGrp="1"/>
          </p:cNvSpPr>
          <p:nvPr/>
        </p:nvSpPr>
        <p:spPr>
          <a:xfrm xmlns:a="http://schemas.openxmlformats.org/drawingml/2006/main">
            <a:off x="3694176" y="3291840"/>
            <a:ext cx="197510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050">
                <a:solidFill>
                  <a:srgbClr val="002368"/>
                </a:solidFill>
                <a:latin typeface="Arial"/>
                <a:ea typeface="Arial"/>
                <a:cs typeface="Arial"/>
              </a:rPr>
              <a:t>Credible scale, contactability or fit, but the evidence is less complete or compelling than P1.</a:t>
            </a:r>
            <a:endParaRPr sz="1050"/>
          </a:p>
        </p:txBody>
      </p:sp>
      <p:sp>
        <p:nvSpPr>
          <p:cNvPr id="19" name="Text 17">
            <a:extLst xmlns:a="http://schemas.openxmlformats.org/drawingml/2006/main">
              <a:ext uri="{FF2B5EF4-FFF2-40B4-BE49-F238E27FC236}">
                <a16:creationId xmlns:a16="http://schemas.microsoft.com/office/drawing/2014/main" id="{A3F18118-4C95-4420-B3AB-A50B96988035}"/>
              </a:ext>
            </a:extLst>
          </p:cNvPr>
          <p:cNvSpPr>
            <a:spLocks xmlns:a="http://schemas.openxmlformats.org/drawingml/2006/main" noGrp="1"/>
          </p:cNvSpPr>
          <p:nvPr/>
        </p:nvSpPr>
        <p:spPr>
          <a:xfrm xmlns:a="http://schemas.openxmlformats.org/drawingml/2006/main">
            <a:off x="3694176" y="4142232"/>
            <a:ext cx="914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a:solidFill>
                  <a:srgbClr val="002368"/>
                </a:solidFill>
                <a:latin typeface="Georgia"/>
                <a:ea typeface="Georgia"/>
                <a:cs typeface="Georgia"/>
              </a:rPr>
              <a:t>20</a:t>
            </a:r>
            <a:endParaRPr sz="3000"/>
          </a:p>
        </p:txBody>
      </p:sp>
      <p:sp>
        <p:nvSpPr>
          <p:cNvPr id="20" name="Text 18">
            <a:extLst xmlns:a="http://schemas.openxmlformats.org/drawingml/2006/main">
              <a:ext uri="{FF2B5EF4-FFF2-40B4-BE49-F238E27FC236}">
                <a16:creationId xmlns:a16="http://schemas.microsoft.com/office/drawing/2014/main" id="{0DB2BE2D-2C4A-40E3-8A43-AB09BB3A11EB}"/>
              </a:ext>
            </a:extLst>
          </p:cNvPr>
          <p:cNvSpPr>
            <a:spLocks xmlns:a="http://schemas.openxmlformats.org/drawingml/2006/main" noGrp="1"/>
          </p:cNvSpPr>
          <p:nvPr/>
        </p:nvSpPr>
        <p:spPr>
          <a:xfrm xmlns:a="http://schemas.openxmlformats.org/drawingml/2006/main">
            <a:off x="4562856" y="4142232"/>
            <a:ext cx="1280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002368"/>
                </a:solidFill>
                <a:latin typeface="Arial"/>
                <a:ea typeface="Arial"/>
                <a:cs typeface="Arial"/>
              </a:rPr>
              <a:t>organisations</a:t>
            </a:r>
            <a:endParaRPr sz="950"/>
          </a:p>
        </p:txBody>
      </p:sp>
      <p:sp>
        <p:nvSpPr>
          <p:cNvPr id="21" name="Shape 19">
            <a:extLst xmlns:a="http://schemas.openxmlformats.org/drawingml/2006/main">
              <a:ext uri="{FF2B5EF4-FFF2-40B4-BE49-F238E27FC236}">
                <a16:creationId xmlns:a16="http://schemas.microsoft.com/office/drawing/2014/main" id="{8E7B4058-EBB6-48BE-AF15-5D4F8E5EC6B0}"/>
              </a:ext>
            </a:extLst>
          </p:cNvPr>
          <p:cNvSpPr>
            <a:spLocks xmlns:a="http://schemas.openxmlformats.org/drawingml/2006/main" noGrp="1"/>
          </p:cNvSpPr>
          <p:nvPr/>
        </p:nvSpPr>
        <p:spPr>
          <a:xfrm xmlns:a="http://schemas.openxmlformats.org/drawingml/2006/main">
            <a:off x="6199632" y="2103120"/>
            <a:ext cx="2615184" cy="2697480"/>
          </a:xfrm>
          <a:prstGeom xmlns:a="http://schemas.openxmlformats.org/drawingml/2006/main" prst="roundRect">
            <a:avLst>
              <a:gd name="adj" fmla="val 2448"/>
            </a:avLst>
          </a:prstGeom>
          <a:solidFill xmlns:a="http://schemas.openxmlformats.org/drawingml/2006/main">
            <a:srgbClr val="D9ECF9"/>
          </a:solidFill>
          <a:ln xmlns:a="http://schemas.openxmlformats.org/drawingml/2006/main" w="12700">
            <a:solidFill>
              <a:srgbClr val="D9ECF9"/>
            </a:solidFill>
            <a:prstDash val="solid"/>
          </a:ln>
        </p:spPr>
      </p:sp>
      <p:sp>
        <p:nvSpPr>
          <p:cNvPr id="22" name="Text 20">
            <a:extLst xmlns:a="http://schemas.openxmlformats.org/drawingml/2006/main">
              <a:ext uri="{FF2B5EF4-FFF2-40B4-BE49-F238E27FC236}">
                <a16:creationId xmlns:a16="http://schemas.microsoft.com/office/drawing/2014/main" id="{6E2F4D9B-BB04-48BA-9394-5425C55518B2}"/>
              </a:ext>
            </a:extLst>
          </p:cNvPr>
          <p:cNvSpPr>
            <a:spLocks xmlns:a="http://schemas.openxmlformats.org/drawingml/2006/main" noGrp="1"/>
          </p:cNvSpPr>
          <p:nvPr/>
        </p:nvSpPr>
        <p:spPr>
          <a:xfrm xmlns:a="http://schemas.openxmlformats.org/drawingml/2006/main">
            <a:off x="6519672" y="2377440"/>
            <a:ext cx="1097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a:solidFill>
                  <a:srgbClr val="002368"/>
                </a:solidFill>
                <a:latin typeface="Georgia"/>
                <a:ea typeface="Georgia"/>
                <a:cs typeface="Georgia"/>
              </a:rPr>
              <a:t>P3</a:t>
            </a:r>
            <a:endParaRPr sz="2800"/>
          </a:p>
        </p:txBody>
      </p:sp>
      <p:sp>
        <p:nvSpPr>
          <p:cNvPr id="23" name="Text 21">
            <a:extLst xmlns:a="http://schemas.openxmlformats.org/drawingml/2006/main">
              <a:ext uri="{FF2B5EF4-FFF2-40B4-BE49-F238E27FC236}">
                <a16:creationId xmlns:a16="http://schemas.microsoft.com/office/drawing/2014/main" id="{83784498-9E8E-4FA1-89B6-909B3E6AA1E4}"/>
              </a:ext>
            </a:extLst>
          </p:cNvPr>
          <p:cNvSpPr>
            <a:spLocks xmlns:a="http://schemas.openxmlformats.org/drawingml/2006/main" noGrp="1"/>
          </p:cNvSpPr>
          <p:nvPr/>
        </p:nvSpPr>
        <p:spPr>
          <a:xfrm xmlns:a="http://schemas.openxmlformats.org/drawingml/2006/main">
            <a:off x="6519672" y="2944368"/>
            <a:ext cx="1975104"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002368"/>
                </a:solidFill>
                <a:latin typeface="Arial"/>
                <a:ea typeface="Arial"/>
                <a:cs typeface="Arial"/>
              </a:rPr>
              <a:t>RESEARCH / VERIFY</a:t>
            </a:r>
            <a:endParaRPr sz="900"/>
          </a:p>
        </p:txBody>
      </p:sp>
      <p:sp>
        <p:nvSpPr>
          <p:cNvPr id="24" name="Text 22">
            <a:extLst xmlns:a="http://schemas.openxmlformats.org/drawingml/2006/main">
              <a:ext uri="{FF2B5EF4-FFF2-40B4-BE49-F238E27FC236}">
                <a16:creationId xmlns:a16="http://schemas.microsoft.com/office/drawing/2014/main" id="{4C3A22F0-A994-42B4-8C8E-7BF1A9675A79}"/>
              </a:ext>
            </a:extLst>
          </p:cNvPr>
          <p:cNvSpPr>
            <a:spLocks xmlns:a="http://schemas.openxmlformats.org/drawingml/2006/main" noGrp="1"/>
          </p:cNvSpPr>
          <p:nvPr/>
        </p:nvSpPr>
        <p:spPr>
          <a:xfrm xmlns:a="http://schemas.openxmlformats.org/drawingml/2006/main">
            <a:off x="6519672" y="3291840"/>
            <a:ext cx="197510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050">
                <a:solidFill>
                  <a:srgbClr val="000000"/>
                </a:solidFill>
                <a:latin typeface="Arial"/>
                <a:ea typeface="Arial"/>
                <a:cs typeface="Arial"/>
              </a:rPr>
              <a:t>Contactable, while staff scale or education relevance remains weaker or unproven.</a:t>
            </a:r>
            <a:endParaRPr sz="1050"/>
          </a:p>
        </p:txBody>
      </p:sp>
      <p:sp>
        <p:nvSpPr>
          <p:cNvPr id="25" name="Text 23">
            <a:extLst xmlns:a="http://schemas.openxmlformats.org/drawingml/2006/main">
              <a:ext uri="{FF2B5EF4-FFF2-40B4-BE49-F238E27FC236}">
                <a16:creationId xmlns:a16="http://schemas.microsoft.com/office/drawing/2014/main" id="{DCF67777-DB92-49CD-B917-F591A4F13803}"/>
              </a:ext>
            </a:extLst>
          </p:cNvPr>
          <p:cNvSpPr>
            <a:spLocks xmlns:a="http://schemas.openxmlformats.org/drawingml/2006/main" noGrp="1"/>
          </p:cNvSpPr>
          <p:nvPr/>
        </p:nvSpPr>
        <p:spPr>
          <a:xfrm xmlns:a="http://schemas.openxmlformats.org/drawingml/2006/main">
            <a:off x="6519672" y="4142232"/>
            <a:ext cx="914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a:solidFill>
                  <a:srgbClr val="002368"/>
                </a:solidFill>
                <a:latin typeface="Georgia"/>
                <a:ea typeface="Georgia"/>
                <a:cs typeface="Georgia"/>
              </a:rPr>
              <a:t>24</a:t>
            </a:r>
            <a:endParaRPr sz="3000"/>
          </a:p>
        </p:txBody>
      </p:sp>
      <p:sp>
        <p:nvSpPr>
          <p:cNvPr id="26" name="Text 24">
            <a:extLst xmlns:a="http://schemas.openxmlformats.org/drawingml/2006/main">
              <a:ext uri="{FF2B5EF4-FFF2-40B4-BE49-F238E27FC236}">
                <a16:creationId xmlns:a16="http://schemas.microsoft.com/office/drawing/2014/main" id="{9BBBAF13-15AB-4DD2-B9F0-4BC0CBB75426}"/>
              </a:ext>
            </a:extLst>
          </p:cNvPr>
          <p:cNvSpPr>
            <a:spLocks xmlns:a="http://schemas.openxmlformats.org/drawingml/2006/main" noGrp="1"/>
          </p:cNvSpPr>
          <p:nvPr/>
        </p:nvSpPr>
        <p:spPr>
          <a:xfrm xmlns:a="http://schemas.openxmlformats.org/drawingml/2006/main">
            <a:off x="7388352" y="4142232"/>
            <a:ext cx="1280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002368"/>
                </a:solidFill>
                <a:latin typeface="Arial"/>
                <a:ea typeface="Arial"/>
                <a:cs typeface="Arial"/>
              </a:rPr>
              <a:t>organisations</a:t>
            </a:r>
            <a:endParaRPr sz="950"/>
          </a:p>
        </p:txBody>
      </p:sp>
      <p:sp>
        <p:nvSpPr>
          <p:cNvPr id="27" name="Shape 25">
            <a:extLst xmlns:a="http://schemas.openxmlformats.org/drawingml/2006/main">
              <a:ext uri="{FF2B5EF4-FFF2-40B4-BE49-F238E27FC236}">
                <a16:creationId xmlns:a16="http://schemas.microsoft.com/office/drawing/2014/main" id="{F4F73A6A-B3E0-4A28-8245-A986333254FF}"/>
              </a:ext>
            </a:extLst>
          </p:cNvPr>
          <p:cNvSpPr>
            <a:spLocks xmlns:a="http://schemas.openxmlformats.org/drawingml/2006/main" noGrp="1"/>
          </p:cNvSpPr>
          <p:nvPr/>
        </p:nvSpPr>
        <p:spPr>
          <a:xfrm xmlns:a="http://schemas.openxmlformats.org/drawingml/2006/main">
            <a:off x="9025128" y="2103120"/>
            <a:ext cx="2615184" cy="2697480"/>
          </a:xfrm>
          <a:prstGeom xmlns:a="http://schemas.openxmlformats.org/drawingml/2006/main" prst="roundRect">
            <a:avLst>
              <a:gd name="adj" fmla="val 2448"/>
            </a:avLst>
          </a:prstGeom>
          <a:solidFill xmlns:a="http://schemas.openxmlformats.org/drawingml/2006/main">
            <a:srgbClr val="ECECEC"/>
          </a:solidFill>
          <a:ln xmlns:a="http://schemas.openxmlformats.org/drawingml/2006/main" w="12700">
            <a:solidFill>
              <a:srgbClr val="ECECEC"/>
            </a:solidFill>
            <a:prstDash val="solid"/>
          </a:ln>
        </p:spPr>
      </p:sp>
      <p:sp>
        <p:nvSpPr>
          <p:cNvPr id="28" name="Text 26">
            <a:extLst xmlns:a="http://schemas.openxmlformats.org/drawingml/2006/main">
              <a:ext uri="{FF2B5EF4-FFF2-40B4-BE49-F238E27FC236}">
                <a16:creationId xmlns:a16="http://schemas.microsoft.com/office/drawing/2014/main" id="{B1B43FD1-754B-4384-977B-15AD330B9007}"/>
              </a:ext>
            </a:extLst>
          </p:cNvPr>
          <p:cNvSpPr>
            <a:spLocks xmlns:a="http://schemas.openxmlformats.org/drawingml/2006/main" noGrp="1"/>
          </p:cNvSpPr>
          <p:nvPr/>
        </p:nvSpPr>
        <p:spPr>
          <a:xfrm xmlns:a="http://schemas.openxmlformats.org/drawingml/2006/main">
            <a:off x="9345168" y="2377440"/>
            <a:ext cx="1097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a:solidFill>
                  <a:srgbClr val="002368"/>
                </a:solidFill>
                <a:latin typeface="Georgia"/>
                <a:ea typeface="Georgia"/>
                <a:cs typeface="Georgia"/>
              </a:rPr>
              <a:t>X</a:t>
            </a:r>
            <a:endParaRPr sz="2800"/>
          </a:p>
        </p:txBody>
      </p:sp>
      <p:sp>
        <p:nvSpPr>
          <p:cNvPr id="29" name="Text 27">
            <a:extLst xmlns:a="http://schemas.openxmlformats.org/drawingml/2006/main">
              <a:ext uri="{FF2B5EF4-FFF2-40B4-BE49-F238E27FC236}">
                <a16:creationId xmlns:a16="http://schemas.microsoft.com/office/drawing/2014/main" id="{8393CCAE-353D-4BF7-9F9E-039E65DEDA71}"/>
              </a:ext>
            </a:extLst>
          </p:cNvPr>
          <p:cNvSpPr>
            <a:spLocks xmlns:a="http://schemas.openxmlformats.org/drawingml/2006/main" noGrp="1"/>
          </p:cNvSpPr>
          <p:nvPr/>
        </p:nvSpPr>
        <p:spPr>
          <a:xfrm xmlns:a="http://schemas.openxmlformats.org/drawingml/2006/main">
            <a:off x="9345168" y="2944368"/>
            <a:ext cx="1975104"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002368"/>
                </a:solidFill>
                <a:latin typeface="Arial"/>
                <a:ea typeface="Arial"/>
                <a:cs typeface="Arial"/>
              </a:rPr>
              <a:t>HOLD</a:t>
            </a:r>
            <a:endParaRPr sz="900"/>
          </a:p>
        </p:txBody>
      </p:sp>
      <p:sp>
        <p:nvSpPr>
          <p:cNvPr id="30" name="Text 28">
            <a:extLst xmlns:a="http://schemas.openxmlformats.org/drawingml/2006/main">
              <a:ext uri="{FF2B5EF4-FFF2-40B4-BE49-F238E27FC236}">
                <a16:creationId xmlns:a16="http://schemas.microsoft.com/office/drawing/2014/main" id="{33F439E4-D3B4-40A9-BA0B-7944FAD42863}"/>
              </a:ext>
            </a:extLst>
          </p:cNvPr>
          <p:cNvSpPr>
            <a:spLocks xmlns:a="http://schemas.openxmlformats.org/drawingml/2006/main" noGrp="1"/>
          </p:cNvSpPr>
          <p:nvPr/>
        </p:nvSpPr>
        <p:spPr>
          <a:xfrm xmlns:a="http://schemas.openxmlformats.org/drawingml/2006/main">
            <a:off x="9345168" y="3291840"/>
            <a:ext cx="197510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050">
                <a:solidFill>
                  <a:srgbClr val="000000"/>
                </a:solidFill>
                <a:latin typeface="Arial"/>
                <a:ea typeface="Arial"/>
                <a:cs typeface="Arial"/>
              </a:rPr>
              <a:t>No usable verified route: dead, wrong or unreachable website or contact path.</a:t>
            </a:r>
            <a:endParaRPr sz="1050"/>
          </a:p>
        </p:txBody>
      </p:sp>
      <p:sp>
        <p:nvSpPr>
          <p:cNvPr id="31" name="Text 29">
            <a:extLst xmlns:a="http://schemas.openxmlformats.org/drawingml/2006/main">
              <a:ext uri="{FF2B5EF4-FFF2-40B4-BE49-F238E27FC236}">
                <a16:creationId xmlns:a16="http://schemas.microsoft.com/office/drawing/2014/main" id="{B6CBEED8-ABF3-41DF-BFDB-61E326B7127D}"/>
              </a:ext>
            </a:extLst>
          </p:cNvPr>
          <p:cNvSpPr>
            <a:spLocks xmlns:a="http://schemas.openxmlformats.org/drawingml/2006/main" noGrp="1"/>
          </p:cNvSpPr>
          <p:nvPr/>
        </p:nvSpPr>
        <p:spPr>
          <a:xfrm xmlns:a="http://schemas.openxmlformats.org/drawingml/2006/main">
            <a:off x="9345168" y="4142232"/>
            <a:ext cx="914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a:solidFill>
                  <a:srgbClr val="818283"/>
                </a:solidFill>
                <a:latin typeface="Georgia"/>
                <a:ea typeface="Georgia"/>
                <a:cs typeface="Georgia"/>
              </a:rPr>
              <a:t>7</a:t>
            </a:r>
            <a:endParaRPr sz="3000"/>
          </a:p>
        </p:txBody>
      </p:sp>
      <p:sp>
        <p:nvSpPr>
          <p:cNvPr id="32" name="Text 30">
            <a:extLst xmlns:a="http://schemas.openxmlformats.org/drawingml/2006/main">
              <a:ext uri="{FF2B5EF4-FFF2-40B4-BE49-F238E27FC236}">
                <a16:creationId xmlns:a16="http://schemas.microsoft.com/office/drawing/2014/main" id="{68FEA72A-CE21-4279-8CBE-4ABBCB0622DF}"/>
              </a:ext>
            </a:extLst>
          </p:cNvPr>
          <p:cNvSpPr>
            <a:spLocks xmlns:a="http://schemas.openxmlformats.org/drawingml/2006/main" noGrp="1"/>
          </p:cNvSpPr>
          <p:nvPr/>
        </p:nvSpPr>
        <p:spPr>
          <a:xfrm xmlns:a="http://schemas.openxmlformats.org/drawingml/2006/main">
            <a:off x="9848088" y="4142232"/>
            <a:ext cx="1280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002368"/>
                </a:solidFill>
                <a:latin typeface="Arial"/>
                <a:ea typeface="Arial"/>
                <a:cs typeface="Arial"/>
              </a:rPr>
              <a:t>organisations</a:t>
            </a:r>
            <a:endParaRPr sz="950"/>
          </a:p>
        </p:txBody>
      </p:sp>
      <p:sp>
        <p:nvSpPr>
          <p:cNvPr id="33" name="Text 31">
            <a:extLst xmlns:a="http://schemas.openxmlformats.org/drawingml/2006/main">
              <a:ext uri="{FF2B5EF4-FFF2-40B4-BE49-F238E27FC236}">
                <a16:creationId xmlns:a16="http://schemas.microsoft.com/office/drawing/2014/main" id="{B2FED73F-AC75-4C33-AC26-794DA94BE0F5}"/>
              </a:ext>
            </a:extLst>
          </p:cNvPr>
          <p:cNvSpPr>
            <a:spLocks xmlns:a="http://schemas.openxmlformats.org/drawingml/2006/main" noGrp="1"/>
          </p:cNvSpPr>
          <p:nvPr/>
        </p:nvSpPr>
        <p:spPr>
          <a:xfrm xmlns:a="http://schemas.openxmlformats.org/drawingml/2006/main">
            <a:off x="548640" y="5074920"/>
            <a:ext cx="146304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600">
                <a:solidFill>
                  <a:srgbClr val="002368"/>
                </a:solidFill>
                <a:latin typeface="Georgia"/>
                <a:ea typeface="Georgia"/>
                <a:cs typeface="Georgia"/>
              </a:rPr>
              <a:t>893</a:t>
            </a:r>
            <a:endParaRPr sz="3600"/>
          </a:p>
        </p:txBody>
      </p:sp>
      <p:sp>
        <p:nvSpPr>
          <p:cNvPr id="34" name="Text 32">
            <a:extLst xmlns:a="http://schemas.openxmlformats.org/drawingml/2006/main">
              <a:ext uri="{FF2B5EF4-FFF2-40B4-BE49-F238E27FC236}">
                <a16:creationId xmlns:a16="http://schemas.microsoft.com/office/drawing/2014/main" id="{16FAC9DC-896A-4AA8-968C-7E8BD7D4A6DA}"/>
              </a:ext>
            </a:extLst>
          </p:cNvPr>
          <p:cNvSpPr>
            <a:spLocks xmlns:a="http://schemas.openxmlformats.org/drawingml/2006/main" noGrp="1"/>
          </p:cNvSpPr>
          <p:nvPr/>
        </p:nvSpPr>
        <p:spPr>
          <a:xfrm xmlns:a="http://schemas.openxmlformats.org/drawingml/2006/main">
            <a:off x="1965960" y="5166360"/>
            <a:ext cx="38404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002368"/>
                </a:solidFill>
                <a:latin typeface="Arial"/>
                <a:ea typeface="Arial"/>
                <a:cs typeface="Arial"/>
              </a:rPr>
              <a:t>master organisations remain unbanded</a:t>
            </a:r>
            <a:endParaRPr sz="1050"/>
          </a:p>
          <a:p xmlns:a="http://schemas.openxmlformats.org/drawingml/2006/main">
            <a:pPr marL="0" indent="0">
              <a:buNone/>
            </a:pPr>
            <a:r>
              <a:rPr sz="1050">
                <a:solidFill>
                  <a:srgbClr val="002368"/>
                </a:solidFill>
                <a:latin typeface="Arial"/>
                <a:ea typeface="Arial"/>
                <a:cs typeface="Arial"/>
              </a:rPr>
              <a:t>until enrichment is completed.</a:t>
            </a:r>
            <a:endParaRPr sz="1050"/>
          </a:p>
        </p:txBody>
      </p:sp>
      <p:sp>
        <p:nvSpPr>
          <p:cNvPr id="35" name="Shape 33">
            <a:extLst xmlns:a="http://schemas.openxmlformats.org/drawingml/2006/main">
              <a:ext uri="{FF2B5EF4-FFF2-40B4-BE49-F238E27FC236}">
                <a16:creationId xmlns:a16="http://schemas.microsoft.com/office/drawing/2014/main" id="{E8BE1059-A244-40D6-B996-14A07B1A5E83}"/>
              </a:ext>
            </a:extLst>
          </p:cNvPr>
          <p:cNvSpPr>
            <a:spLocks xmlns:a="http://schemas.openxmlformats.org/drawingml/2006/main" noGrp="1"/>
          </p:cNvSpPr>
          <p:nvPr/>
        </p:nvSpPr>
        <p:spPr>
          <a:xfrm xmlns:a="http://schemas.openxmlformats.org/drawingml/2006/main">
            <a:off x="5989320" y="5138928"/>
            <a:ext cx="0" cy="804672"/>
          </a:xfrm>
          <a:prstGeom xmlns:a="http://schemas.openxmlformats.org/drawingml/2006/main" prst="line">
            <a:avLst/>
          </a:prstGeom>
          <a:noFill xmlns:a="http://schemas.openxmlformats.org/drawingml/2006/main"/>
          <a:ln xmlns:a="http://schemas.openxmlformats.org/drawingml/2006/main" w="12700">
            <a:solidFill>
              <a:srgbClr val="ECECEC"/>
            </a:solidFill>
            <a:prstDash val="solid"/>
          </a:ln>
        </p:spPr>
      </p:sp>
      <p:sp>
        <p:nvSpPr>
          <p:cNvPr id="36" name="Text 34">
            <a:extLst xmlns:a="http://schemas.openxmlformats.org/drawingml/2006/main">
              <a:ext uri="{FF2B5EF4-FFF2-40B4-BE49-F238E27FC236}">
                <a16:creationId xmlns:a16="http://schemas.microsoft.com/office/drawing/2014/main" id="{B99404BA-9825-4221-8AAD-21C97A52F926}"/>
              </a:ext>
            </a:extLst>
          </p:cNvPr>
          <p:cNvSpPr>
            <a:spLocks xmlns:a="http://schemas.openxmlformats.org/drawingml/2006/main" noGrp="1"/>
          </p:cNvSpPr>
          <p:nvPr/>
        </p:nvSpPr>
        <p:spPr>
          <a:xfrm xmlns:a="http://schemas.openxmlformats.org/drawingml/2006/main">
            <a:off x="6263640" y="5138928"/>
            <a:ext cx="53949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500"/>
              </a:spcAft>
              <a:buNone/>
            </a:pPr>
            <a:r>
              <a:rPr sz="1000">
                <a:solidFill>
                  <a:srgbClr val="818283"/>
                </a:solidFill>
                <a:latin typeface="Arial"/>
                <a:ea typeface="Arial"/>
                <a:cs typeface="Arial"/>
              </a:rPr>
              <a:t>P1 / P2 / P3 / X are evidence-backed outreach bands, not a numeric score.</a:t>
            </a:r>
            <a:endParaRPr sz="1000"/>
          </a:p>
          <a:p xmlns:a="http://schemas.openxmlformats.org/drawingml/2006/main">
            <a:pPr marL="0" indent="0">
              <a:buNone/>
            </a:pPr>
            <a:r>
              <a:rPr sz="1000">
                <a:solidFill>
                  <a:srgbClr val="818283"/>
                </a:solidFill>
                <a:latin typeface="Arial"/>
                <a:ea typeface="Arial"/>
                <a:cs typeface="Arial"/>
              </a:rPr>
              <a:t>A–D desk tiers rank record readiness only; they do not measure employer value or outreach priority.</a:t>
            </a:r>
            <a:endParaRPr sz="1000"/>
          </a:p>
        </p:txBody>
      </p:sp>
      <p:pic>
        <p:nvPicPr>
          <p:cNvPr id="76" name="Image 0"/>
          <p:cNvPicPr>
            <a:picLocks xmlns:a="http://schemas.openxmlformats.org/drawingml/2006/main" noChangeAspect="1"/>
          </p:cNvPicPr>
          <p:nvPr/>
        </p:nvPicPr>
        <p:blipFill>
          <a:blip xmlns:r="http://schemas.openxmlformats.org/officeDocument/2006/relationships" xmlns:a="http://schemas.openxmlformats.org/drawingml/2006/main" r:embed="R879adbea925e47c0"/>
          <a:stretch xmlns:a="http://schemas.openxmlformats.org/drawingml/2006/main">
            <a:fillRect l="0" t="0" r="0" b="0"/>
          </a:stretch>
        </p:blipFill>
        <p:spPr>
          <a:xfrm xmlns:a="http://schemas.openxmlformats.org/drawingml/2006/main">
            <a:off x="548640" y="6272784"/>
            <a:ext cx="1143000" cy="272176"/>
          </a:xfrm>
          <a:prstGeom xmlns:a="http://schemas.openxmlformats.org/drawingml/2006/main" prst="rect">
            <a:avLst/>
          </a:prstGeom>
        </p:spPr>
      </p:pic>
      <p:sp>
        <p:nvSpPr>
          <p:cNvPr id="38" name="Text 35">
            <a:extLst xmlns:a="http://schemas.openxmlformats.org/drawingml/2006/main">
              <a:ext uri="{FF2B5EF4-FFF2-40B4-BE49-F238E27FC236}">
                <a16:creationId xmlns:a16="http://schemas.microsoft.com/office/drawing/2014/main" id="{12C8C64F-1D9C-494A-9433-F1E790143FA4}"/>
              </a:ext>
            </a:extLst>
          </p:cNvPr>
          <p:cNvSpPr>
            <a:spLocks xmlns:a="http://schemas.openxmlformats.org/drawingml/2006/main" noGrp="1"/>
          </p:cNvSpPr>
          <p:nvPr/>
        </p:nvSpPr>
        <p:spPr>
          <a:xfrm xmlns:a="http://schemas.openxmlformats.org/drawingml/2006/main">
            <a:off x="1965960" y="6309360"/>
            <a:ext cx="85953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818283"/>
                </a:solidFill>
                <a:latin typeface="Arial"/>
                <a:ea typeface="Arial"/>
                <a:cs typeface="Arial"/>
              </a:rPr>
              <a:t>Source: partner-lead-generation.md, source workbook and Silverleaf Master Database</a:t>
            </a:r>
            <a:endParaRPr sz="800"/>
          </a:p>
        </p:txBody>
      </p:sp>
      <p:sp>
        <p:nvSpPr>
          <p:cNvPr id="39" name="Text 36">
            <a:extLst xmlns:a="http://schemas.openxmlformats.org/drawingml/2006/main">
              <a:ext uri="{FF2B5EF4-FFF2-40B4-BE49-F238E27FC236}">
                <a16:creationId xmlns:a16="http://schemas.microsoft.com/office/drawing/2014/main" id="{CCCD4580-53CB-4864-9BD3-874F281E5659}"/>
              </a:ext>
            </a:extLst>
          </p:cNvPr>
          <p:cNvSpPr>
            <a:spLocks xmlns:a="http://schemas.openxmlformats.org/drawingml/2006/main" noGrp="1"/>
          </p:cNvSpPr>
          <p:nvPr/>
        </p:nvSpPr>
        <p:spPr>
          <a:xfrm xmlns:a="http://schemas.openxmlformats.org/drawingml/2006/main">
            <a:off x="10911535" y="6254496"/>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002368"/>
                </a:solidFill>
                <a:latin typeface="Georgia"/>
                <a:ea typeface="Georgia"/>
                <a:cs typeface="Georgia"/>
              </a:rPr>
              <a:t>05</a:t>
            </a:r>
            <a:endParaRPr sz="1200"/>
          </a:p>
        </p:txBody>
      </p:sp>
    </p:spTree>
    <p:extLst>
      <p:ext uri="{BB962C8B-B14F-4D97-AF65-F5344CB8AC3E}">
        <p14:creationId xmlns:p14="http://schemas.microsoft.com/office/powerpoint/2010/main" val="60491269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2BA2F6A-B4E3-4287-84D5-39398DDAD33F}"/>
              </a:ext>
            </a:extLst>
          </p:cNvPr>
          <p:cNvSpPr>
            <a:spLocks xmlns:a="http://schemas.openxmlformats.org/drawingml/2006/main" noGrp="1"/>
          </p:cNvSpPr>
          <p:nvPr/>
        </p:nvSpPr>
        <p:spPr>
          <a:xfrm xmlns:a="http://schemas.openxmlformats.org/drawingml/2006/main">
            <a:off x="548640" y="384048"/>
            <a:ext cx="8229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18283"/>
                </a:solidFill>
                <a:latin typeface="Arial"/>
                <a:ea typeface="Arial"/>
                <a:cs typeface="Arial"/>
              </a:rPr>
              <a:t>SOURCES</a:t>
            </a:r>
            <a:endParaRPr sz="900"/>
          </a:p>
        </p:txBody>
      </p:sp>
      <p:sp>
        <p:nvSpPr>
          <p:cNvPr id="3" name="Text 1">
            <a:extLst xmlns:a="http://schemas.openxmlformats.org/drawingml/2006/main">
              <a:ext uri="{FF2B5EF4-FFF2-40B4-BE49-F238E27FC236}">
                <a16:creationId xmlns:a16="http://schemas.microsoft.com/office/drawing/2014/main" id="{DEC744FC-79B3-45E6-82F5-E7A291947F2E}"/>
              </a:ext>
            </a:extLst>
          </p:cNvPr>
          <p:cNvSpPr>
            <a:spLocks xmlns:a="http://schemas.openxmlformats.org/drawingml/2006/main" noGrp="1"/>
          </p:cNvSpPr>
          <p:nvPr/>
        </p:nvSpPr>
        <p:spPr>
          <a:xfrm xmlns:a="http://schemas.openxmlformats.org/drawingml/2006/main">
            <a:off x="548640" y="603504"/>
            <a:ext cx="9601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02368"/>
                </a:solidFill>
                <a:latin typeface="Arial"/>
                <a:ea typeface="Arial"/>
                <a:cs typeface="Arial"/>
              </a:rPr>
              <a:t>Lead-source coverage</a:t>
            </a:r>
            <a:endParaRPr sz="2600"/>
          </a:p>
        </p:txBody>
      </p:sp>
      <p:sp>
        <p:nvSpPr>
          <p:cNvPr id="4" name="Text 2">
            <a:extLst xmlns:a="http://schemas.openxmlformats.org/drawingml/2006/main">
              <a:ext uri="{FF2B5EF4-FFF2-40B4-BE49-F238E27FC236}">
                <a16:creationId xmlns:a16="http://schemas.microsoft.com/office/drawing/2014/main" id="{E0173207-C564-4EBB-9BB2-A9A3003ECBB0}"/>
              </a:ext>
            </a:extLst>
          </p:cNvPr>
          <p:cNvSpPr>
            <a:spLocks xmlns:a="http://schemas.openxmlformats.org/drawingml/2006/main" noGrp="1"/>
          </p:cNvSpPr>
          <p:nvPr/>
        </p:nvSpPr>
        <p:spPr>
          <a:xfrm xmlns:a="http://schemas.openxmlformats.org/drawingml/2006/main">
            <a:off x="548640" y="1298448"/>
            <a:ext cx="9144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002368"/>
                </a:solidFill>
                <a:latin typeface="Georgia"/>
                <a:ea typeface="Georgia"/>
                <a:cs typeface="Georgia"/>
              </a:rPr>
              <a:t>Three public sources provide complementary coverage.</a:t>
            </a:r>
            <a:endParaRPr sz="1600"/>
          </a:p>
        </p:txBody>
      </p:sp>
      <p:sp>
        <p:nvSpPr>
          <p:cNvPr id="5" name="Shape 3">
            <a:extLst xmlns:a="http://schemas.openxmlformats.org/drawingml/2006/main">
              <a:ext uri="{FF2B5EF4-FFF2-40B4-BE49-F238E27FC236}">
                <a16:creationId xmlns:a16="http://schemas.microsoft.com/office/drawing/2014/main" id="{484CE559-0D96-418F-A97F-0BDBC1C9FA38}"/>
              </a:ext>
            </a:extLst>
          </p:cNvPr>
          <p:cNvSpPr>
            <a:spLocks xmlns:a="http://schemas.openxmlformats.org/drawingml/2006/main" noGrp="1"/>
          </p:cNvSpPr>
          <p:nvPr/>
        </p:nvSpPr>
        <p:spPr>
          <a:xfrm xmlns:a="http://schemas.openxmlformats.org/drawingml/2006/main">
            <a:off x="548640" y="1920240"/>
            <a:ext cx="3520440" cy="3657600"/>
          </a:xfrm>
          <a:prstGeom xmlns:a="http://schemas.openxmlformats.org/drawingml/2006/main" prst="roundRect">
            <a:avLst>
              <a:gd name="adj" fmla="val 1818"/>
            </a:avLst>
          </a:prstGeom>
          <a:solidFill xmlns:a="http://schemas.openxmlformats.org/drawingml/2006/main">
            <a:srgbClr val="D9ECF9"/>
          </a:solidFill>
          <a:ln xmlns:a="http://schemas.openxmlformats.org/drawingml/2006/main" w="12700">
            <a:solidFill>
              <a:srgbClr val="D9ECF9"/>
            </a:solidFill>
            <a:prstDash val="solid"/>
          </a:ln>
        </p:spPr>
      </p:sp>
      <p:sp>
        <p:nvSpPr>
          <p:cNvPr id="6" name="Text 4">
            <a:extLst xmlns:a="http://schemas.openxmlformats.org/drawingml/2006/main">
              <a:ext uri="{FF2B5EF4-FFF2-40B4-BE49-F238E27FC236}">
                <a16:creationId xmlns:a16="http://schemas.microsoft.com/office/drawing/2014/main" id="{3CEC76F9-CC1F-4C46-A48C-3B34F6FFB967}"/>
              </a:ext>
            </a:extLst>
          </p:cNvPr>
          <p:cNvSpPr>
            <a:spLocks xmlns:a="http://schemas.openxmlformats.org/drawingml/2006/main" noGrp="1"/>
          </p:cNvSpPr>
          <p:nvPr/>
        </p:nvSpPr>
        <p:spPr>
          <a:xfrm xmlns:a="http://schemas.openxmlformats.org/drawingml/2006/main">
            <a:off x="868680" y="2212848"/>
            <a:ext cx="1828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368"/>
                </a:solidFill>
                <a:latin typeface="Arial"/>
                <a:ea typeface="Arial"/>
                <a:cs typeface="Arial"/>
              </a:rPr>
              <a:t>TATO</a:t>
            </a:r>
            <a:endParaRPr sz="1800"/>
          </a:p>
        </p:txBody>
      </p:sp>
      <p:sp>
        <p:nvSpPr>
          <p:cNvPr id="7" name="Text 5">
            <a:extLst xmlns:a="http://schemas.openxmlformats.org/drawingml/2006/main">
              <a:ext uri="{FF2B5EF4-FFF2-40B4-BE49-F238E27FC236}">
                <a16:creationId xmlns:a16="http://schemas.microsoft.com/office/drawing/2014/main" id="{980D61C3-ECDA-4D94-9874-9D3E7E49B6F0}"/>
              </a:ext>
            </a:extLst>
          </p:cNvPr>
          <p:cNvSpPr>
            <a:spLocks xmlns:a="http://schemas.openxmlformats.org/drawingml/2006/main" noGrp="1"/>
          </p:cNvSpPr>
          <p:nvPr/>
        </p:nvSpPr>
        <p:spPr>
          <a:xfrm xmlns:a="http://schemas.openxmlformats.org/drawingml/2006/main">
            <a:off x="868680" y="2578608"/>
            <a:ext cx="28803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818283"/>
                </a:solidFill>
                <a:latin typeface="Arial"/>
                <a:ea typeface="Arial"/>
                <a:cs typeface="Arial"/>
              </a:rPr>
              <a:t>Tanzania Association of Tour Operators</a:t>
            </a:r>
            <a:endParaRPr sz="900"/>
          </a:p>
        </p:txBody>
      </p:sp>
      <p:sp>
        <p:nvSpPr>
          <p:cNvPr id="8" name="Text 6">
            <a:extLst xmlns:a="http://schemas.openxmlformats.org/drawingml/2006/main">
              <a:ext uri="{FF2B5EF4-FFF2-40B4-BE49-F238E27FC236}">
                <a16:creationId xmlns:a16="http://schemas.microsoft.com/office/drawing/2014/main" id="{C381105C-201F-42F0-8D18-50876AB377D6}"/>
              </a:ext>
            </a:extLst>
          </p:cNvPr>
          <p:cNvSpPr>
            <a:spLocks xmlns:a="http://schemas.openxmlformats.org/drawingml/2006/main" noGrp="1"/>
          </p:cNvSpPr>
          <p:nvPr/>
        </p:nvSpPr>
        <p:spPr>
          <a:xfrm xmlns:a="http://schemas.openxmlformats.org/drawingml/2006/main">
            <a:off x="868680" y="2880360"/>
            <a:ext cx="1463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a:solidFill>
                  <a:srgbClr val="002368"/>
                </a:solidFill>
                <a:latin typeface="Georgia"/>
                <a:ea typeface="Georgia"/>
                <a:cs typeface="Georgia"/>
              </a:rPr>
              <a:t>476</a:t>
            </a:r>
            <a:endParaRPr sz="4000"/>
          </a:p>
        </p:txBody>
      </p:sp>
      <p:sp>
        <p:nvSpPr>
          <p:cNvPr id="9" name="Text 7">
            <a:extLst xmlns:a="http://schemas.openxmlformats.org/drawingml/2006/main">
              <a:ext uri="{FF2B5EF4-FFF2-40B4-BE49-F238E27FC236}">
                <a16:creationId xmlns:a16="http://schemas.microsoft.com/office/drawing/2014/main" id="{A2FACCF4-2B05-4066-AFD5-EE0D488598C5}"/>
              </a:ext>
            </a:extLst>
          </p:cNvPr>
          <p:cNvSpPr>
            <a:spLocks xmlns:a="http://schemas.openxmlformats.org/drawingml/2006/main" noGrp="1"/>
          </p:cNvSpPr>
          <p:nvPr/>
        </p:nvSpPr>
        <p:spPr>
          <a:xfrm xmlns:a="http://schemas.openxmlformats.org/drawingml/2006/main">
            <a:off x="1965960" y="3090672"/>
            <a:ext cx="1783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02368"/>
                </a:solidFill>
                <a:latin typeface="Arial"/>
                <a:ea typeface="Arial"/>
                <a:cs typeface="Arial"/>
              </a:rPr>
              <a:t>companies</a:t>
            </a:r>
            <a:endParaRPr sz="1050"/>
          </a:p>
        </p:txBody>
      </p:sp>
      <p:sp>
        <p:nvSpPr>
          <p:cNvPr id="10" name="Text 8">
            <a:extLst xmlns:a="http://schemas.openxmlformats.org/drawingml/2006/main">
              <a:ext uri="{FF2B5EF4-FFF2-40B4-BE49-F238E27FC236}">
                <a16:creationId xmlns:a16="http://schemas.microsoft.com/office/drawing/2014/main" id="{A40BCC47-BE5B-422A-92EA-8B95411DD2E9}"/>
              </a:ext>
            </a:extLst>
          </p:cNvPr>
          <p:cNvSpPr>
            <a:spLocks xmlns:a="http://schemas.openxmlformats.org/drawingml/2006/main" noGrp="1"/>
          </p:cNvSpPr>
          <p:nvPr/>
        </p:nvSpPr>
        <p:spPr>
          <a:xfrm xmlns:a="http://schemas.openxmlformats.org/drawingml/2006/main">
            <a:off x="868680" y="3566160"/>
            <a:ext cx="28803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818283"/>
                </a:solidFill>
                <a:latin typeface="Arial"/>
                <a:ea typeface="Arial"/>
                <a:cs typeface="Arial"/>
              </a:rPr>
              <a:t>456 emails  ·  459 phones</a:t>
            </a:r>
            <a:endParaRPr sz="950"/>
          </a:p>
        </p:txBody>
      </p:sp>
      <p:sp>
        <p:nvSpPr>
          <p:cNvPr id="11" name="Shape 9">
            <a:extLst xmlns:a="http://schemas.openxmlformats.org/drawingml/2006/main">
              <a:ext uri="{FF2B5EF4-FFF2-40B4-BE49-F238E27FC236}">
                <a16:creationId xmlns:a16="http://schemas.microsoft.com/office/drawing/2014/main" id="{F2A5CF58-8898-4453-A4F2-61E46DD90147}"/>
              </a:ext>
            </a:extLst>
          </p:cNvPr>
          <p:cNvSpPr>
            <a:spLocks xmlns:a="http://schemas.openxmlformats.org/drawingml/2006/main" noGrp="1"/>
          </p:cNvSpPr>
          <p:nvPr/>
        </p:nvSpPr>
        <p:spPr>
          <a:xfrm xmlns:a="http://schemas.openxmlformats.org/drawingml/2006/main">
            <a:off x="868680" y="3886200"/>
            <a:ext cx="2880360" cy="0"/>
          </a:xfrm>
          <a:prstGeom xmlns:a="http://schemas.openxmlformats.org/drawingml/2006/main" prst="line">
            <a:avLst/>
          </a:prstGeom>
          <a:noFill xmlns:a="http://schemas.openxmlformats.org/drawingml/2006/main"/>
          <a:ln xmlns:a="http://schemas.openxmlformats.org/drawingml/2006/main" w="9525">
            <a:solidFill>
              <a:srgbClr val="80BFEC"/>
            </a:solidFill>
            <a:prstDash val="solid"/>
          </a:ln>
        </p:spPr>
      </p:sp>
      <p:sp>
        <p:nvSpPr>
          <p:cNvPr id="12" name="Text 10">
            <a:extLst xmlns:a="http://schemas.openxmlformats.org/drawingml/2006/main">
              <a:ext uri="{FF2B5EF4-FFF2-40B4-BE49-F238E27FC236}">
                <a16:creationId xmlns:a16="http://schemas.microsoft.com/office/drawing/2014/main" id="{E1F6A114-646C-423D-B092-88B73C4D3883}"/>
              </a:ext>
            </a:extLst>
          </p:cNvPr>
          <p:cNvSpPr>
            <a:spLocks xmlns:a="http://schemas.openxmlformats.org/drawingml/2006/main" noGrp="1"/>
          </p:cNvSpPr>
          <p:nvPr/>
        </p:nvSpPr>
        <p:spPr>
          <a:xfrm xmlns:a="http://schemas.openxmlformats.org/drawingml/2006/main">
            <a:off x="868680" y="4023360"/>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002368"/>
                </a:solidFill>
                <a:latin typeface="Arial"/>
                <a:ea typeface="Arial"/>
                <a:cs typeface="Arial"/>
              </a:rPr>
              <a:t>CONTRIBUTES</a:t>
            </a:r>
            <a:endParaRPr sz="900"/>
          </a:p>
        </p:txBody>
      </p:sp>
      <p:sp>
        <p:nvSpPr>
          <p:cNvPr id="13" name="Text 11">
            <a:extLst xmlns:a="http://schemas.openxmlformats.org/drawingml/2006/main">
              <a:ext uri="{FF2B5EF4-FFF2-40B4-BE49-F238E27FC236}">
                <a16:creationId xmlns:a16="http://schemas.microsoft.com/office/drawing/2014/main" id="{D21FFADE-58BF-4272-A0E2-462E4A7E41D2}"/>
              </a:ext>
            </a:extLst>
          </p:cNvPr>
          <p:cNvSpPr>
            <a:spLocks xmlns:a="http://schemas.openxmlformats.org/drawingml/2006/main" noGrp="1"/>
          </p:cNvSpPr>
          <p:nvPr/>
        </p:nvSpPr>
        <p:spPr>
          <a:xfrm xmlns:a="http://schemas.openxmlformats.org/drawingml/2006/main">
            <a:off x="868680" y="4233672"/>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000000"/>
                </a:solidFill>
                <a:latin typeface="Arial"/>
                <a:ea typeface="Arial"/>
                <a:cs typeface="Arial"/>
              </a:rPr>
              <a:t>Tour-operator category, company channels and location</a:t>
            </a:r>
            <a:endParaRPr sz="1050"/>
          </a:p>
        </p:txBody>
      </p:sp>
      <p:sp>
        <p:nvSpPr>
          <p:cNvPr id="14" name="Text 12">
            <a:extLst xmlns:a="http://schemas.openxmlformats.org/drawingml/2006/main">
              <a:ext uri="{FF2B5EF4-FFF2-40B4-BE49-F238E27FC236}">
                <a16:creationId xmlns:a16="http://schemas.microsoft.com/office/drawing/2014/main" id="{EF719209-11E3-4E81-8088-97EC5C353D38}"/>
              </a:ext>
            </a:extLst>
          </p:cNvPr>
          <p:cNvSpPr>
            <a:spLocks xmlns:a="http://schemas.openxmlformats.org/drawingml/2006/main" noGrp="1"/>
          </p:cNvSpPr>
          <p:nvPr/>
        </p:nvSpPr>
        <p:spPr>
          <a:xfrm xmlns:a="http://schemas.openxmlformats.org/drawingml/2006/main">
            <a:off x="868680" y="4773168"/>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18283"/>
                </a:solidFill>
                <a:latin typeface="Arial"/>
                <a:ea typeface="Arial"/>
                <a:cs typeface="Arial"/>
              </a:rPr>
              <a:t>WITHHOLDS</a:t>
            </a:r>
            <a:endParaRPr sz="900"/>
          </a:p>
        </p:txBody>
      </p:sp>
      <p:sp>
        <p:nvSpPr>
          <p:cNvPr id="15" name="Text 13">
            <a:extLst xmlns:a="http://schemas.openxmlformats.org/drawingml/2006/main">
              <a:ext uri="{FF2B5EF4-FFF2-40B4-BE49-F238E27FC236}">
                <a16:creationId xmlns:a16="http://schemas.microsoft.com/office/drawing/2014/main" id="{03B7F7EE-1CCE-4B9B-BA17-5D2D16732461}"/>
              </a:ext>
            </a:extLst>
          </p:cNvPr>
          <p:cNvSpPr>
            <a:spLocks xmlns:a="http://schemas.openxmlformats.org/drawingml/2006/main" noGrp="1"/>
          </p:cNvSpPr>
          <p:nvPr/>
        </p:nvSpPr>
        <p:spPr>
          <a:xfrm xmlns:a="http://schemas.openxmlformats.org/drawingml/2006/main">
            <a:off x="868680" y="4983480"/>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000000"/>
                </a:solidFill>
                <a:latin typeface="Arial"/>
                <a:ea typeface="Arial"/>
                <a:cs typeface="Arial"/>
              </a:rPr>
              <a:t>Reliable staff count and precise coordinates</a:t>
            </a:r>
            <a:endParaRPr sz="1050"/>
          </a:p>
        </p:txBody>
      </p:sp>
      <p:sp>
        <p:nvSpPr>
          <p:cNvPr id="16" name="Shape 14">
            <a:extLst xmlns:a="http://schemas.openxmlformats.org/drawingml/2006/main">
              <a:ext uri="{FF2B5EF4-FFF2-40B4-BE49-F238E27FC236}">
                <a16:creationId xmlns:a16="http://schemas.microsoft.com/office/drawing/2014/main" id="{C8EE3613-204B-4B92-A8B9-0A7F22AC51D6}"/>
              </a:ext>
            </a:extLst>
          </p:cNvPr>
          <p:cNvSpPr>
            <a:spLocks xmlns:a="http://schemas.openxmlformats.org/drawingml/2006/main" noGrp="1"/>
          </p:cNvSpPr>
          <p:nvPr/>
        </p:nvSpPr>
        <p:spPr>
          <a:xfrm xmlns:a="http://schemas.openxmlformats.org/drawingml/2006/main">
            <a:off x="4334256" y="1920240"/>
            <a:ext cx="3520440" cy="3657600"/>
          </a:xfrm>
          <a:prstGeom xmlns:a="http://schemas.openxmlformats.org/drawingml/2006/main" prst="roundRect">
            <a:avLst>
              <a:gd name="adj" fmla="val 1818"/>
            </a:avLst>
          </a:prstGeom>
          <a:solidFill xmlns:a="http://schemas.openxmlformats.org/drawingml/2006/main">
            <a:srgbClr val="D9ECF9"/>
          </a:solidFill>
          <a:ln xmlns:a="http://schemas.openxmlformats.org/drawingml/2006/main" w="12700">
            <a:solidFill>
              <a:srgbClr val="D9ECF9"/>
            </a:solidFill>
            <a:prstDash val="solid"/>
          </a:ln>
        </p:spPr>
      </p:sp>
      <p:sp>
        <p:nvSpPr>
          <p:cNvPr id="17" name="Text 15">
            <a:extLst xmlns:a="http://schemas.openxmlformats.org/drawingml/2006/main">
              <a:ext uri="{FF2B5EF4-FFF2-40B4-BE49-F238E27FC236}">
                <a16:creationId xmlns:a16="http://schemas.microsoft.com/office/drawing/2014/main" id="{F540AC4D-B123-43E7-B06E-7F2350E45508}"/>
              </a:ext>
            </a:extLst>
          </p:cNvPr>
          <p:cNvSpPr>
            <a:spLocks xmlns:a="http://schemas.openxmlformats.org/drawingml/2006/main" noGrp="1"/>
          </p:cNvSpPr>
          <p:nvPr/>
        </p:nvSpPr>
        <p:spPr>
          <a:xfrm xmlns:a="http://schemas.openxmlformats.org/drawingml/2006/main">
            <a:off x="4654296" y="2212848"/>
            <a:ext cx="1828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368"/>
                </a:solidFill>
                <a:latin typeface="Arial"/>
                <a:ea typeface="Arial"/>
                <a:cs typeface="Arial"/>
              </a:rPr>
              <a:t>TCDC</a:t>
            </a:r>
            <a:endParaRPr sz="1800"/>
          </a:p>
        </p:txBody>
      </p:sp>
      <p:sp>
        <p:nvSpPr>
          <p:cNvPr id="18" name="Text 16">
            <a:extLst xmlns:a="http://schemas.openxmlformats.org/drawingml/2006/main">
              <a:ext uri="{FF2B5EF4-FFF2-40B4-BE49-F238E27FC236}">
                <a16:creationId xmlns:a16="http://schemas.microsoft.com/office/drawing/2014/main" id="{87B20A7F-C230-4FF3-A336-DAE063D38E0A}"/>
              </a:ext>
            </a:extLst>
          </p:cNvPr>
          <p:cNvSpPr>
            <a:spLocks xmlns:a="http://schemas.openxmlformats.org/drawingml/2006/main" noGrp="1"/>
          </p:cNvSpPr>
          <p:nvPr/>
        </p:nvSpPr>
        <p:spPr>
          <a:xfrm xmlns:a="http://schemas.openxmlformats.org/drawingml/2006/main">
            <a:off x="4654296" y="2578608"/>
            <a:ext cx="28803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818283"/>
                </a:solidFill>
                <a:latin typeface="Arial"/>
                <a:ea typeface="Arial"/>
                <a:cs typeface="Arial"/>
              </a:rPr>
              <a:t>Tanzania Cooperative Development Commission</a:t>
            </a:r>
            <a:endParaRPr sz="900"/>
          </a:p>
        </p:txBody>
      </p:sp>
      <p:sp>
        <p:nvSpPr>
          <p:cNvPr id="19" name="Text 17">
            <a:extLst xmlns:a="http://schemas.openxmlformats.org/drawingml/2006/main">
              <a:ext uri="{FF2B5EF4-FFF2-40B4-BE49-F238E27FC236}">
                <a16:creationId xmlns:a16="http://schemas.microsoft.com/office/drawing/2014/main" id="{6692C907-BEB6-491D-90CC-1DB71BC1739D}"/>
              </a:ext>
            </a:extLst>
          </p:cNvPr>
          <p:cNvSpPr>
            <a:spLocks xmlns:a="http://schemas.openxmlformats.org/drawingml/2006/main" noGrp="1"/>
          </p:cNvSpPr>
          <p:nvPr/>
        </p:nvSpPr>
        <p:spPr>
          <a:xfrm xmlns:a="http://schemas.openxmlformats.org/drawingml/2006/main">
            <a:off x="4654296" y="2880360"/>
            <a:ext cx="1463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a:solidFill>
                  <a:srgbClr val="002368"/>
                </a:solidFill>
                <a:latin typeface="Georgia"/>
                <a:ea typeface="Georgia"/>
                <a:cs typeface="Georgia"/>
              </a:rPr>
              <a:t>115</a:t>
            </a:r>
            <a:endParaRPr sz="4000"/>
          </a:p>
        </p:txBody>
      </p:sp>
      <p:sp>
        <p:nvSpPr>
          <p:cNvPr id="20" name="Text 18">
            <a:extLst xmlns:a="http://schemas.openxmlformats.org/drawingml/2006/main">
              <a:ext uri="{FF2B5EF4-FFF2-40B4-BE49-F238E27FC236}">
                <a16:creationId xmlns:a16="http://schemas.microsoft.com/office/drawing/2014/main" id="{AA134FCE-4B01-4DE0-ADC8-D4F84BB9BE66}"/>
              </a:ext>
            </a:extLst>
          </p:cNvPr>
          <p:cNvSpPr>
            <a:spLocks xmlns:a="http://schemas.openxmlformats.org/drawingml/2006/main" noGrp="1"/>
          </p:cNvSpPr>
          <p:nvPr/>
        </p:nvSpPr>
        <p:spPr>
          <a:xfrm xmlns:a="http://schemas.openxmlformats.org/drawingml/2006/main">
            <a:off x="5751576" y="3090672"/>
            <a:ext cx="1783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02368"/>
                </a:solidFill>
                <a:latin typeface="Arial"/>
                <a:ea typeface="Arial"/>
                <a:cs typeface="Arial"/>
              </a:rPr>
              <a:t>deduplicated SACCOs</a:t>
            </a:r>
            <a:endParaRPr sz="1050"/>
          </a:p>
        </p:txBody>
      </p:sp>
      <p:sp>
        <p:nvSpPr>
          <p:cNvPr id="21" name="Text 19">
            <a:extLst xmlns:a="http://schemas.openxmlformats.org/drawingml/2006/main">
              <a:ext uri="{FF2B5EF4-FFF2-40B4-BE49-F238E27FC236}">
                <a16:creationId xmlns:a16="http://schemas.microsoft.com/office/drawing/2014/main" id="{01A5378C-DCAB-4596-94D6-D1ADA2113ACD}"/>
              </a:ext>
            </a:extLst>
          </p:cNvPr>
          <p:cNvSpPr>
            <a:spLocks xmlns:a="http://schemas.openxmlformats.org/drawingml/2006/main" noGrp="1"/>
          </p:cNvSpPr>
          <p:nvPr/>
        </p:nvSpPr>
        <p:spPr>
          <a:xfrm xmlns:a="http://schemas.openxmlformats.org/drawingml/2006/main">
            <a:off x="4654296" y="3566160"/>
            <a:ext cx="28803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818283"/>
                </a:solidFill>
                <a:latin typeface="Arial"/>
                <a:ea typeface="Arial"/>
                <a:cs typeface="Arial"/>
              </a:rPr>
              <a:t>Registered organisations</a:t>
            </a:r>
            <a:endParaRPr sz="950"/>
          </a:p>
        </p:txBody>
      </p:sp>
      <p:sp>
        <p:nvSpPr>
          <p:cNvPr id="22" name="Shape 20">
            <a:extLst xmlns:a="http://schemas.openxmlformats.org/drawingml/2006/main">
              <a:ext uri="{FF2B5EF4-FFF2-40B4-BE49-F238E27FC236}">
                <a16:creationId xmlns:a16="http://schemas.microsoft.com/office/drawing/2014/main" id="{477A3057-B6F3-4E8B-ACCF-2C61851B4085}"/>
              </a:ext>
            </a:extLst>
          </p:cNvPr>
          <p:cNvSpPr>
            <a:spLocks xmlns:a="http://schemas.openxmlformats.org/drawingml/2006/main" noGrp="1"/>
          </p:cNvSpPr>
          <p:nvPr/>
        </p:nvSpPr>
        <p:spPr>
          <a:xfrm xmlns:a="http://schemas.openxmlformats.org/drawingml/2006/main">
            <a:off x="4654296" y="3886200"/>
            <a:ext cx="2880360" cy="0"/>
          </a:xfrm>
          <a:prstGeom xmlns:a="http://schemas.openxmlformats.org/drawingml/2006/main" prst="line">
            <a:avLst/>
          </a:prstGeom>
          <a:noFill xmlns:a="http://schemas.openxmlformats.org/drawingml/2006/main"/>
          <a:ln xmlns:a="http://schemas.openxmlformats.org/drawingml/2006/main" w="9525">
            <a:solidFill>
              <a:srgbClr val="80BFEC"/>
            </a:solidFill>
            <a:prstDash val="solid"/>
          </a:ln>
        </p:spPr>
      </p:sp>
      <p:sp>
        <p:nvSpPr>
          <p:cNvPr id="23" name="Text 21">
            <a:extLst xmlns:a="http://schemas.openxmlformats.org/drawingml/2006/main">
              <a:ext uri="{FF2B5EF4-FFF2-40B4-BE49-F238E27FC236}">
                <a16:creationId xmlns:a16="http://schemas.microsoft.com/office/drawing/2014/main" id="{B50E59DF-C74D-4BE2-8FDE-7CA703ECFA28}"/>
              </a:ext>
            </a:extLst>
          </p:cNvPr>
          <p:cNvSpPr>
            <a:spLocks xmlns:a="http://schemas.openxmlformats.org/drawingml/2006/main" noGrp="1"/>
          </p:cNvSpPr>
          <p:nvPr/>
        </p:nvSpPr>
        <p:spPr>
          <a:xfrm xmlns:a="http://schemas.openxmlformats.org/drawingml/2006/main">
            <a:off x="4654296" y="4023360"/>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002368"/>
                </a:solidFill>
                <a:latin typeface="Arial"/>
                <a:ea typeface="Arial"/>
                <a:cs typeface="Arial"/>
              </a:rPr>
              <a:t>CONTRIBUTES</a:t>
            </a:r>
            <a:endParaRPr sz="900"/>
          </a:p>
        </p:txBody>
      </p:sp>
      <p:sp>
        <p:nvSpPr>
          <p:cNvPr id="24" name="Text 22">
            <a:extLst xmlns:a="http://schemas.openxmlformats.org/drawingml/2006/main">
              <a:ext uri="{FF2B5EF4-FFF2-40B4-BE49-F238E27FC236}">
                <a16:creationId xmlns:a16="http://schemas.microsoft.com/office/drawing/2014/main" id="{CE029184-9964-487F-A731-293BF7120573}"/>
              </a:ext>
            </a:extLst>
          </p:cNvPr>
          <p:cNvSpPr>
            <a:spLocks xmlns:a="http://schemas.openxmlformats.org/drawingml/2006/main" noGrp="1"/>
          </p:cNvSpPr>
          <p:nvPr/>
        </p:nvSpPr>
        <p:spPr>
          <a:xfrm xmlns:a="http://schemas.openxmlformats.org/drawingml/2006/main">
            <a:off x="4654296" y="4233672"/>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000000"/>
                </a:solidFill>
                <a:latin typeface="Arial"/>
                <a:ea typeface="Arial"/>
                <a:cs typeface="Arial"/>
              </a:rPr>
              <a:t>Registered name, address or region and licence class</a:t>
            </a:r>
            <a:endParaRPr sz="1050"/>
          </a:p>
        </p:txBody>
      </p:sp>
      <p:sp>
        <p:nvSpPr>
          <p:cNvPr id="25" name="Text 23">
            <a:extLst xmlns:a="http://schemas.openxmlformats.org/drawingml/2006/main">
              <a:ext uri="{FF2B5EF4-FFF2-40B4-BE49-F238E27FC236}">
                <a16:creationId xmlns:a16="http://schemas.microsoft.com/office/drawing/2014/main" id="{B18A3FC8-F6E5-4321-850D-C50DA16E4501}"/>
              </a:ext>
            </a:extLst>
          </p:cNvPr>
          <p:cNvSpPr>
            <a:spLocks xmlns:a="http://schemas.openxmlformats.org/drawingml/2006/main" noGrp="1"/>
          </p:cNvSpPr>
          <p:nvPr/>
        </p:nvSpPr>
        <p:spPr>
          <a:xfrm xmlns:a="http://schemas.openxmlformats.org/drawingml/2006/main">
            <a:off x="4654296" y="4773168"/>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18283"/>
                </a:solidFill>
                <a:latin typeface="Arial"/>
                <a:ea typeface="Arial"/>
                <a:cs typeface="Arial"/>
              </a:rPr>
              <a:t>WITHHOLDS</a:t>
            </a:r>
            <a:endParaRPr sz="900"/>
          </a:p>
        </p:txBody>
      </p:sp>
      <p:sp>
        <p:nvSpPr>
          <p:cNvPr id="26" name="Text 24">
            <a:extLst xmlns:a="http://schemas.openxmlformats.org/drawingml/2006/main">
              <a:ext uri="{FF2B5EF4-FFF2-40B4-BE49-F238E27FC236}">
                <a16:creationId xmlns:a16="http://schemas.microsoft.com/office/drawing/2014/main" id="{580EF9D7-0F6E-4B9D-8795-E5A737B9E1B3}"/>
              </a:ext>
            </a:extLst>
          </p:cNvPr>
          <p:cNvSpPr>
            <a:spLocks xmlns:a="http://schemas.openxmlformats.org/drawingml/2006/main" noGrp="1"/>
          </p:cNvSpPr>
          <p:nvPr/>
        </p:nvSpPr>
        <p:spPr>
          <a:xfrm xmlns:a="http://schemas.openxmlformats.org/drawingml/2006/main">
            <a:off x="4654296" y="4983480"/>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000000"/>
                </a:solidFill>
                <a:latin typeface="Arial"/>
                <a:ea typeface="Arial"/>
                <a:cs typeface="Arial"/>
              </a:rPr>
              <a:t>Named decision-makers and member counts</a:t>
            </a:r>
            <a:endParaRPr sz="1050"/>
          </a:p>
        </p:txBody>
      </p:sp>
      <p:sp>
        <p:nvSpPr>
          <p:cNvPr id="27" name="Shape 25">
            <a:extLst xmlns:a="http://schemas.openxmlformats.org/drawingml/2006/main">
              <a:ext uri="{FF2B5EF4-FFF2-40B4-BE49-F238E27FC236}">
                <a16:creationId xmlns:a16="http://schemas.microsoft.com/office/drawing/2014/main" id="{3F155F2F-8C84-42F9-80E8-0FFA90AEC3AE}"/>
              </a:ext>
            </a:extLst>
          </p:cNvPr>
          <p:cNvSpPr>
            <a:spLocks xmlns:a="http://schemas.openxmlformats.org/drawingml/2006/main" noGrp="1"/>
          </p:cNvSpPr>
          <p:nvPr/>
        </p:nvSpPr>
        <p:spPr>
          <a:xfrm xmlns:a="http://schemas.openxmlformats.org/drawingml/2006/main">
            <a:off x="8119872" y="1920240"/>
            <a:ext cx="3520440" cy="3657600"/>
          </a:xfrm>
          <a:prstGeom xmlns:a="http://schemas.openxmlformats.org/drawingml/2006/main" prst="roundRect">
            <a:avLst>
              <a:gd name="adj" fmla="val 1818"/>
            </a:avLst>
          </a:prstGeom>
          <a:solidFill xmlns:a="http://schemas.openxmlformats.org/drawingml/2006/main">
            <a:srgbClr val="D9ECF9"/>
          </a:solidFill>
          <a:ln xmlns:a="http://schemas.openxmlformats.org/drawingml/2006/main" w="12700">
            <a:solidFill>
              <a:srgbClr val="D9ECF9"/>
            </a:solidFill>
            <a:prstDash val="solid"/>
          </a:ln>
        </p:spPr>
      </p:sp>
      <p:sp>
        <p:nvSpPr>
          <p:cNvPr id="28" name="Text 26">
            <a:extLst xmlns:a="http://schemas.openxmlformats.org/drawingml/2006/main">
              <a:ext uri="{FF2B5EF4-FFF2-40B4-BE49-F238E27FC236}">
                <a16:creationId xmlns:a16="http://schemas.microsoft.com/office/drawing/2014/main" id="{5375EE23-141B-4742-96D6-A8E641BFFBDE}"/>
              </a:ext>
            </a:extLst>
          </p:cNvPr>
          <p:cNvSpPr>
            <a:spLocks xmlns:a="http://schemas.openxmlformats.org/drawingml/2006/main" noGrp="1"/>
          </p:cNvSpPr>
          <p:nvPr/>
        </p:nvSpPr>
        <p:spPr>
          <a:xfrm xmlns:a="http://schemas.openxmlformats.org/drawingml/2006/main">
            <a:off x="8439912" y="2212848"/>
            <a:ext cx="1828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002368"/>
                </a:solidFill>
                <a:latin typeface="Arial"/>
                <a:ea typeface="Arial"/>
                <a:cs typeface="Arial"/>
              </a:rPr>
              <a:t>OSM</a:t>
            </a:r>
            <a:endParaRPr sz="1800"/>
          </a:p>
        </p:txBody>
      </p:sp>
      <p:sp>
        <p:nvSpPr>
          <p:cNvPr id="29" name="Text 27">
            <a:extLst xmlns:a="http://schemas.openxmlformats.org/drawingml/2006/main">
              <a:ext uri="{FF2B5EF4-FFF2-40B4-BE49-F238E27FC236}">
                <a16:creationId xmlns:a16="http://schemas.microsoft.com/office/drawing/2014/main" id="{9C2E6DE7-8C07-44DA-B2A6-1B91FFEEFAE7}"/>
              </a:ext>
            </a:extLst>
          </p:cNvPr>
          <p:cNvSpPr>
            <a:spLocks xmlns:a="http://schemas.openxmlformats.org/drawingml/2006/main" noGrp="1"/>
          </p:cNvSpPr>
          <p:nvPr/>
        </p:nvSpPr>
        <p:spPr>
          <a:xfrm xmlns:a="http://schemas.openxmlformats.org/drawingml/2006/main">
            <a:off x="8439912" y="2578608"/>
            <a:ext cx="28803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818283"/>
                </a:solidFill>
                <a:latin typeface="Arial"/>
                <a:ea typeface="Arial"/>
                <a:cs typeface="Arial"/>
              </a:rPr>
              <a:t>OpenStreetMap employer layer</a:t>
            </a:r>
            <a:endParaRPr sz="900"/>
          </a:p>
        </p:txBody>
      </p:sp>
      <p:sp>
        <p:nvSpPr>
          <p:cNvPr id="30" name="Text 28">
            <a:extLst xmlns:a="http://schemas.openxmlformats.org/drawingml/2006/main">
              <a:ext uri="{FF2B5EF4-FFF2-40B4-BE49-F238E27FC236}">
                <a16:creationId xmlns:a16="http://schemas.microsoft.com/office/drawing/2014/main" id="{B1BF515E-EB73-431B-8107-CB16BB5563B6}"/>
              </a:ext>
            </a:extLst>
          </p:cNvPr>
          <p:cNvSpPr>
            <a:spLocks xmlns:a="http://schemas.openxmlformats.org/drawingml/2006/main" noGrp="1"/>
          </p:cNvSpPr>
          <p:nvPr/>
        </p:nvSpPr>
        <p:spPr>
          <a:xfrm xmlns:a="http://schemas.openxmlformats.org/drawingml/2006/main">
            <a:off x="8439912" y="2880360"/>
            <a:ext cx="1463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a:solidFill>
                  <a:srgbClr val="002368"/>
                </a:solidFill>
                <a:latin typeface="Georgia"/>
                <a:ea typeface="Georgia"/>
                <a:cs typeface="Georgia"/>
              </a:rPr>
              <a:t>241</a:t>
            </a:r>
            <a:endParaRPr sz="4000"/>
          </a:p>
        </p:txBody>
      </p:sp>
      <p:sp>
        <p:nvSpPr>
          <p:cNvPr id="31" name="Text 29">
            <a:extLst xmlns:a="http://schemas.openxmlformats.org/drawingml/2006/main">
              <a:ext uri="{FF2B5EF4-FFF2-40B4-BE49-F238E27FC236}">
                <a16:creationId xmlns:a16="http://schemas.microsoft.com/office/drawing/2014/main" id="{181A42C9-D83E-40BA-A96D-917694AB80C5}"/>
              </a:ext>
            </a:extLst>
          </p:cNvPr>
          <p:cNvSpPr>
            <a:spLocks xmlns:a="http://schemas.openxmlformats.org/drawingml/2006/main" noGrp="1"/>
          </p:cNvSpPr>
          <p:nvPr/>
        </p:nvSpPr>
        <p:spPr>
          <a:xfrm xmlns:a="http://schemas.openxmlformats.org/drawingml/2006/main">
            <a:off x="9537192" y="3090672"/>
            <a:ext cx="1783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02368"/>
                </a:solidFill>
                <a:latin typeface="Arial"/>
                <a:ea typeface="Arial"/>
                <a:cs typeface="Arial"/>
              </a:rPr>
              <a:t>employers within 25 km</a:t>
            </a:r>
            <a:endParaRPr sz="1050"/>
          </a:p>
        </p:txBody>
      </p:sp>
      <p:sp>
        <p:nvSpPr>
          <p:cNvPr id="32" name="Text 30">
            <a:extLst xmlns:a="http://schemas.openxmlformats.org/drawingml/2006/main">
              <a:ext uri="{FF2B5EF4-FFF2-40B4-BE49-F238E27FC236}">
                <a16:creationId xmlns:a16="http://schemas.microsoft.com/office/drawing/2014/main" id="{8E1FDBC7-D04C-4525-810A-ED5DDA047A2F}"/>
              </a:ext>
            </a:extLst>
          </p:cNvPr>
          <p:cNvSpPr>
            <a:spLocks xmlns:a="http://schemas.openxmlformats.org/drawingml/2006/main" noGrp="1"/>
          </p:cNvSpPr>
          <p:nvPr/>
        </p:nvSpPr>
        <p:spPr>
          <a:xfrm xmlns:a="http://schemas.openxmlformats.org/drawingml/2006/main">
            <a:off x="8439912" y="3566160"/>
            <a:ext cx="28803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818283"/>
                </a:solidFill>
                <a:latin typeface="Arial"/>
                <a:ea typeface="Arial"/>
                <a:cs typeface="Arial"/>
              </a:rPr>
              <a:t>Mapped places near campuses</a:t>
            </a:r>
            <a:endParaRPr sz="950"/>
          </a:p>
        </p:txBody>
      </p:sp>
      <p:sp>
        <p:nvSpPr>
          <p:cNvPr id="33" name="Shape 31">
            <a:extLst xmlns:a="http://schemas.openxmlformats.org/drawingml/2006/main">
              <a:ext uri="{FF2B5EF4-FFF2-40B4-BE49-F238E27FC236}">
                <a16:creationId xmlns:a16="http://schemas.microsoft.com/office/drawing/2014/main" id="{A2642567-3444-4E51-92AF-C72C6E865ED0}"/>
              </a:ext>
            </a:extLst>
          </p:cNvPr>
          <p:cNvSpPr>
            <a:spLocks xmlns:a="http://schemas.openxmlformats.org/drawingml/2006/main" noGrp="1"/>
          </p:cNvSpPr>
          <p:nvPr/>
        </p:nvSpPr>
        <p:spPr>
          <a:xfrm xmlns:a="http://schemas.openxmlformats.org/drawingml/2006/main">
            <a:off x="8439912" y="3886200"/>
            <a:ext cx="2880360" cy="0"/>
          </a:xfrm>
          <a:prstGeom xmlns:a="http://schemas.openxmlformats.org/drawingml/2006/main" prst="line">
            <a:avLst/>
          </a:prstGeom>
          <a:noFill xmlns:a="http://schemas.openxmlformats.org/drawingml/2006/main"/>
          <a:ln xmlns:a="http://schemas.openxmlformats.org/drawingml/2006/main" w="9525">
            <a:solidFill>
              <a:srgbClr val="80BFEC"/>
            </a:solidFill>
            <a:prstDash val="solid"/>
          </a:ln>
        </p:spPr>
      </p:sp>
      <p:sp>
        <p:nvSpPr>
          <p:cNvPr id="34" name="Text 32">
            <a:extLst xmlns:a="http://schemas.openxmlformats.org/drawingml/2006/main">
              <a:ext uri="{FF2B5EF4-FFF2-40B4-BE49-F238E27FC236}">
                <a16:creationId xmlns:a16="http://schemas.microsoft.com/office/drawing/2014/main" id="{6C00E610-23D2-413F-8515-9770ECF40727}"/>
              </a:ext>
            </a:extLst>
          </p:cNvPr>
          <p:cNvSpPr>
            <a:spLocks xmlns:a="http://schemas.openxmlformats.org/drawingml/2006/main" noGrp="1"/>
          </p:cNvSpPr>
          <p:nvPr/>
        </p:nvSpPr>
        <p:spPr>
          <a:xfrm xmlns:a="http://schemas.openxmlformats.org/drawingml/2006/main">
            <a:off x="8439912" y="4023360"/>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002368"/>
                </a:solidFill>
                <a:latin typeface="Arial"/>
                <a:ea typeface="Arial"/>
                <a:cs typeface="Arial"/>
              </a:rPr>
              <a:t>CONTRIBUTES</a:t>
            </a:r>
            <a:endParaRPr sz="900"/>
          </a:p>
        </p:txBody>
      </p:sp>
      <p:sp>
        <p:nvSpPr>
          <p:cNvPr id="35" name="Text 33">
            <a:extLst xmlns:a="http://schemas.openxmlformats.org/drawingml/2006/main">
              <a:ext uri="{FF2B5EF4-FFF2-40B4-BE49-F238E27FC236}">
                <a16:creationId xmlns:a16="http://schemas.microsoft.com/office/drawing/2014/main" id="{574B58AC-BF5E-4AAA-9248-20863E303C47}"/>
              </a:ext>
            </a:extLst>
          </p:cNvPr>
          <p:cNvSpPr>
            <a:spLocks xmlns:a="http://schemas.openxmlformats.org/drawingml/2006/main" noGrp="1"/>
          </p:cNvSpPr>
          <p:nvPr/>
        </p:nvSpPr>
        <p:spPr>
          <a:xfrm xmlns:a="http://schemas.openxmlformats.org/drawingml/2006/main">
            <a:off x="8439912" y="4233672"/>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000000"/>
                </a:solidFill>
                <a:latin typeface="Arial"/>
                <a:ea typeface="Arial"/>
                <a:cs typeface="Arial"/>
              </a:rPr>
              <a:t>Mapped position and employer category</a:t>
            </a:r>
            <a:endParaRPr sz="1050"/>
          </a:p>
        </p:txBody>
      </p:sp>
      <p:sp>
        <p:nvSpPr>
          <p:cNvPr id="36" name="Text 34">
            <a:extLst xmlns:a="http://schemas.openxmlformats.org/drawingml/2006/main">
              <a:ext uri="{FF2B5EF4-FFF2-40B4-BE49-F238E27FC236}">
                <a16:creationId xmlns:a16="http://schemas.microsoft.com/office/drawing/2014/main" id="{BA1517D9-A9B1-4B1C-BF61-4316A2A592A5}"/>
              </a:ext>
            </a:extLst>
          </p:cNvPr>
          <p:cNvSpPr>
            <a:spLocks xmlns:a="http://schemas.openxmlformats.org/drawingml/2006/main" noGrp="1"/>
          </p:cNvSpPr>
          <p:nvPr/>
        </p:nvSpPr>
        <p:spPr>
          <a:xfrm xmlns:a="http://schemas.openxmlformats.org/drawingml/2006/main">
            <a:off x="8439912" y="4773168"/>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18283"/>
                </a:solidFill>
                <a:latin typeface="Arial"/>
                <a:ea typeface="Arial"/>
                <a:cs typeface="Arial"/>
              </a:rPr>
              <a:t>WITHHOLDS</a:t>
            </a:r>
            <a:endParaRPr sz="900"/>
          </a:p>
        </p:txBody>
      </p:sp>
      <p:sp>
        <p:nvSpPr>
          <p:cNvPr id="37" name="Text 35">
            <a:extLst xmlns:a="http://schemas.openxmlformats.org/drawingml/2006/main">
              <a:ext uri="{FF2B5EF4-FFF2-40B4-BE49-F238E27FC236}">
                <a16:creationId xmlns:a16="http://schemas.microsoft.com/office/drawing/2014/main" id="{1B860FDD-A22C-4508-9868-94F3ED17F0C0}"/>
              </a:ext>
            </a:extLst>
          </p:cNvPr>
          <p:cNvSpPr>
            <a:spLocks xmlns:a="http://schemas.openxmlformats.org/drawingml/2006/main" noGrp="1"/>
          </p:cNvSpPr>
          <p:nvPr/>
        </p:nvSpPr>
        <p:spPr>
          <a:xfrm xmlns:a="http://schemas.openxmlformats.org/drawingml/2006/main">
            <a:off x="8439912" y="4983480"/>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000000"/>
                </a:solidFill>
                <a:latin typeface="Arial"/>
                <a:ea typeface="Arial"/>
                <a:cs typeface="Arial"/>
              </a:rPr>
              <a:t>Usable contacts and staff information</a:t>
            </a:r>
            <a:endParaRPr sz="1050"/>
          </a:p>
        </p:txBody>
      </p:sp>
      <p:sp>
        <p:nvSpPr>
          <p:cNvPr id="38" name="Text 36">
            <a:extLst xmlns:a="http://schemas.openxmlformats.org/drawingml/2006/main">
              <a:ext uri="{FF2B5EF4-FFF2-40B4-BE49-F238E27FC236}">
                <a16:creationId xmlns:a16="http://schemas.microsoft.com/office/drawing/2014/main" id="{BE96AAF5-22A6-46A3-827B-CDFDC1EC0824}"/>
              </a:ext>
            </a:extLst>
          </p:cNvPr>
          <p:cNvSpPr>
            <a:spLocks xmlns:a="http://schemas.openxmlformats.org/drawingml/2006/main" noGrp="1"/>
          </p:cNvSpPr>
          <p:nvPr/>
        </p:nvSpPr>
        <p:spPr>
          <a:xfrm xmlns:a="http://schemas.openxmlformats.org/drawingml/2006/main">
            <a:off x="548640" y="5760720"/>
            <a:ext cx="1109441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818283"/>
                </a:solidFill>
                <a:latin typeface="Arial"/>
                <a:ea typeface="Arial"/>
                <a:cs typeface="Arial"/>
              </a:rPr>
              <a:t>Source totals overlap and do not add up to the 955-record master, which also preserves enrichment, branches and unresolved matches.</a:t>
            </a:r>
            <a:endParaRPr sz="950"/>
          </a:p>
        </p:txBody>
      </p:sp>
      <p:pic>
        <p:nvPicPr>
          <p:cNvPr id="80" name="Image 0"/>
          <p:cNvPicPr>
            <a:picLocks xmlns:a="http://schemas.openxmlformats.org/drawingml/2006/main" noChangeAspect="1"/>
          </p:cNvPicPr>
          <p:nvPr/>
        </p:nvPicPr>
        <p:blipFill>
          <a:blip xmlns:r="http://schemas.openxmlformats.org/officeDocument/2006/relationships" xmlns:a="http://schemas.openxmlformats.org/drawingml/2006/main" r:embed="R1dd3118f1c4a4fc8"/>
          <a:stretch xmlns:a="http://schemas.openxmlformats.org/drawingml/2006/main">
            <a:fillRect l="0" t="0" r="0" b="0"/>
          </a:stretch>
        </p:blipFill>
        <p:spPr>
          <a:xfrm xmlns:a="http://schemas.openxmlformats.org/drawingml/2006/main">
            <a:off x="548640" y="6272784"/>
            <a:ext cx="1143000" cy="272176"/>
          </a:xfrm>
          <a:prstGeom xmlns:a="http://schemas.openxmlformats.org/drawingml/2006/main" prst="rect">
            <a:avLst/>
          </a:prstGeom>
        </p:spPr>
      </p:pic>
      <p:sp>
        <p:nvSpPr>
          <p:cNvPr id="40" name="Text 37">
            <a:extLst xmlns:a="http://schemas.openxmlformats.org/drawingml/2006/main">
              <a:ext uri="{FF2B5EF4-FFF2-40B4-BE49-F238E27FC236}">
                <a16:creationId xmlns:a16="http://schemas.microsoft.com/office/drawing/2014/main" id="{39649B36-7FC8-4DFC-B315-D44BA9367657}"/>
              </a:ext>
            </a:extLst>
          </p:cNvPr>
          <p:cNvSpPr>
            <a:spLocks xmlns:a="http://schemas.openxmlformats.org/drawingml/2006/main" noGrp="1"/>
          </p:cNvSpPr>
          <p:nvPr/>
        </p:nvSpPr>
        <p:spPr>
          <a:xfrm xmlns:a="http://schemas.openxmlformats.org/drawingml/2006/main">
            <a:off x="1965960" y="6309360"/>
            <a:ext cx="85953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818283"/>
                </a:solidFill>
                <a:latin typeface="Arial"/>
                <a:ea typeface="Arial"/>
                <a:cs typeface="Arial"/>
              </a:rPr>
              <a:t>Source: TATO directory extract, TCDC register subset and OSM employer layer</a:t>
            </a:r>
            <a:endParaRPr sz="800"/>
          </a:p>
        </p:txBody>
      </p:sp>
      <p:sp>
        <p:nvSpPr>
          <p:cNvPr id="41" name="Text 38">
            <a:extLst xmlns:a="http://schemas.openxmlformats.org/drawingml/2006/main">
              <a:ext uri="{FF2B5EF4-FFF2-40B4-BE49-F238E27FC236}">
                <a16:creationId xmlns:a16="http://schemas.microsoft.com/office/drawing/2014/main" id="{E7EC9E6E-8FE6-4AA1-B9C0-1BB8E5477F34}"/>
              </a:ext>
            </a:extLst>
          </p:cNvPr>
          <p:cNvSpPr>
            <a:spLocks xmlns:a="http://schemas.openxmlformats.org/drawingml/2006/main" noGrp="1"/>
          </p:cNvSpPr>
          <p:nvPr/>
        </p:nvSpPr>
        <p:spPr>
          <a:xfrm xmlns:a="http://schemas.openxmlformats.org/drawingml/2006/main">
            <a:off x="10911535" y="6254496"/>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002368"/>
                </a:solidFill>
                <a:latin typeface="Georgia"/>
                <a:ea typeface="Georgia"/>
                <a:cs typeface="Georgia"/>
              </a:rPr>
              <a:t>06</a:t>
            </a:r>
            <a:endParaRPr sz="1200"/>
          </a:p>
        </p:txBody>
      </p:sp>
    </p:spTree>
    <p:extLst>
      <p:ext uri="{BB962C8B-B14F-4D97-AF65-F5344CB8AC3E}">
        <p14:creationId xmlns:p14="http://schemas.microsoft.com/office/powerpoint/2010/main" val="7756377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963D4B2-3CA7-43A4-A50E-8AE80EE6E55B}"/>
              </a:ext>
            </a:extLst>
          </p:cNvPr>
          <p:cNvSpPr>
            <a:spLocks xmlns:a="http://schemas.openxmlformats.org/drawingml/2006/main" noGrp="1"/>
          </p:cNvSpPr>
          <p:nvPr/>
        </p:nvSpPr>
        <p:spPr>
          <a:xfrm xmlns:a="http://schemas.openxmlformats.org/drawingml/2006/main">
            <a:off x="548640" y="384048"/>
            <a:ext cx="8229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18283"/>
                </a:solidFill>
                <a:latin typeface="Arial"/>
                <a:ea typeface="Arial"/>
                <a:cs typeface="Arial"/>
              </a:rPr>
              <a:t>COVERAGE</a:t>
            </a:r>
            <a:endParaRPr sz="900"/>
          </a:p>
        </p:txBody>
      </p:sp>
      <p:sp>
        <p:nvSpPr>
          <p:cNvPr id="3" name="Text 1">
            <a:extLst xmlns:a="http://schemas.openxmlformats.org/drawingml/2006/main">
              <a:ext uri="{FF2B5EF4-FFF2-40B4-BE49-F238E27FC236}">
                <a16:creationId xmlns:a16="http://schemas.microsoft.com/office/drawing/2014/main" id="{9F895FCA-5AD7-4ED2-869F-2DB5C99A2D47}"/>
              </a:ext>
            </a:extLst>
          </p:cNvPr>
          <p:cNvSpPr>
            <a:spLocks xmlns:a="http://schemas.openxmlformats.org/drawingml/2006/main" noGrp="1"/>
          </p:cNvSpPr>
          <p:nvPr/>
        </p:nvSpPr>
        <p:spPr>
          <a:xfrm xmlns:a="http://schemas.openxmlformats.org/drawingml/2006/main">
            <a:off x="548640" y="603504"/>
            <a:ext cx="9601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02368"/>
                </a:solidFill>
                <a:latin typeface="Arial"/>
                <a:ea typeface="Arial"/>
                <a:cs typeface="Arial"/>
              </a:rPr>
              <a:t>Organisation coverage and contact enrichment</a:t>
            </a:r>
            <a:endParaRPr sz="2600"/>
          </a:p>
        </p:txBody>
      </p:sp>
      <p:sp>
        <p:nvSpPr>
          <p:cNvPr id="4" name="Text 2">
            <a:extLst xmlns:a="http://schemas.openxmlformats.org/drawingml/2006/main">
              <a:ext uri="{FF2B5EF4-FFF2-40B4-BE49-F238E27FC236}">
                <a16:creationId xmlns:a16="http://schemas.microsoft.com/office/drawing/2014/main" id="{1EB7EC0D-639C-4B5A-8976-38321F907CD8}"/>
              </a:ext>
            </a:extLst>
          </p:cNvPr>
          <p:cNvSpPr>
            <a:spLocks xmlns:a="http://schemas.openxmlformats.org/drawingml/2006/main" noGrp="1"/>
          </p:cNvSpPr>
          <p:nvPr/>
        </p:nvSpPr>
        <p:spPr>
          <a:xfrm xmlns:a="http://schemas.openxmlformats.org/drawingml/2006/main">
            <a:off x="548640" y="137160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002368"/>
                </a:solidFill>
                <a:latin typeface="Arial"/>
                <a:ea typeface="Arial"/>
                <a:cs typeface="Arial"/>
              </a:rPr>
              <a:t>Organisation records by source</a:t>
            </a:r>
            <a:endParaRPr sz="1200"/>
          </a:p>
        </p:txBody>
      </p:sp>
      <p:graphicFrame>
        <p:nvGraphicFramePr>
          <p:cNvPr id="34" name="Chart 0"/>
          <p:cNvGraphicFramePr/>
          <p:nvPr/>
        </p:nvGraphicFramePr>
        <p:xfrm>
          <a:off xmlns:a="http://schemas.openxmlformats.org/drawingml/2006/main" x="502920" y="1691640"/>
          <a:ext xmlns:a="http://schemas.openxmlformats.org/drawingml/2006/main" cx="6035040" cy="2834640"/>
        </p:xfrm>
        <a:graphic xmlns:a="http://schemas.openxmlformats.org/drawingml/2006/main">
          <a:graphicData uri="http://schemas.openxmlformats.org/drawingml/2006/chart">
            <c:chart xmlns:r="http://schemas.openxmlformats.org/officeDocument/2006/relationships" xmlns:c="http://schemas.openxmlformats.org/drawingml/2006/chart" r:id="R96c639344546428f"/>
          </a:graphicData>
        </a:graphic>
      </p:graphicFrame>
      <p:sp>
        <p:nvSpPr>
          <p:cNvPr id="6" name="Text 3">
            <a:extLst xmlns:a="http://schemas.openxmlformats.org/drawingml/2006/main">
              <a:ext uri="{FF2B5EF4-FFF2-40B4-BE49-F238E27FC236}">
                <a16:creationId xmlns:a16="http://schemas.microsoft.com/office/drawing/2014/main" id="{05323AC4-160C-4DA3-A755-B4FA17A8E3D6}"/>
              </a:ext>
            </a:extLst>
          </p:cNvPr>
          <p:cNvSpPr>
            <a:spLocks xmlns:a="http://schemas.openxmlformats.org/drawingml/2006/main" noGrp="1"/>
          </p:cNvSpPr>
          <p:nvPr/>
        </p:nvSpPr>
        <p:spPr>
          <a:xfrm xmlns:a="http://schemas.openxmlformats.org/drawingml/2006/main">
            <a:off x="548640" y="4617720"/>
            <a:ext cx="58521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818283"/>
                </a:solidFill>
                <a:latin typeface="Arial"/>
                <a:ea typeface="Arial"/>
                <a:cs typeface="Arial"/>
              </a:rPr>
              <a:t>Source totals overlap; they do not sum to the 955-record master.</a:t>
            </a:r>
            <a:endParaRPr sz="900"/>
          </a:p>
        </p:txBody>
      </p:sp>
      <p:sp>
        <p:nvSpPr>
          <p:cNvPr id="7" name="Text 4">
            <a:extLst xmlns:a="http://schemas.openxmlformats.org/drawingml/2006/main">
              <a:ext uri="{FF2B5EF4-FFF2-40B4-BE49-F238E27FC236}">
                <a16:creationId xmlns:a16="http://schemas.microsoft.com/office/drawing/2014/main" id="{295ADABA-A745-4B56-8375-193C1F1EB37E}"/>
              </a:ext>
            </a:extLst>
          </p:cNvPr>
          <p:cNvSpPr>
            <a:spLocks xmlns:a="http://schemas.openxmlformats.org/drawingml/2006/main" noGrp="1"/>
          </p:cNvSpPr>
          <p:nvPr/>
        </p:nvSpPr>
        <p:spPr>
          <a:xfrm xmlns:a="http://schemas.openxmlformats.org/drawingml/2006/main">
            <a:off x="548640" y="5074920"/>
            <a:ext cx="3657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18283"/>
                </a:solidFill>
                <a:latin typeface="Arial"/>
                <a:ea typeface="Arial"/>
                <a:cs typeface="Arial"/>
              </a:rPr>
              <a:t>INITIAL PRIORITY PASS</a:t>
            </a:r>
            <a:endParaRPr sz="900"/>
          </a:p>
        </p:txBody>
      </p:sp>
      <p:sp>
        <p:nvSpPr>
          <p:cNvPr id="8" name="Text 5">
            <a:extLst xmlns:a="http://schemas.openxmlformats.org/drawingml/2006/main">
              <a:ext uri="{FF2B5EF4-FFF2-40B4-BE49-F238E27FC236}">
                <a16:creationId xmlns:a16="http://schemas.microsoft.com/office/drawing/2014/main" id="{8B05033D-7184-4DC9-B981-9E5FC98002D6}"/>
              </a:ext>
            </a:extLst>
          </p:cNvPr>
          <p:cNvSpPr>
            <a:spLocks xmlns:a="http://schemas.openxmlformats.org/drawingml/2006/main" noGrp="1"/>
          </p:cNvSpPr>
          <p:nvPr/>
        </p:nvSpPr>
        <p:spPr>
          <a:xfrm xmlns:a="http://schemas.openxmlformats.org/drawingml/2006/main">
            <a:off x="548640" y="5303520"/>
            <a:ext cx="731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a:solidFill>
                  <a:srgbClr val="002368"/>
                </a:solidFill>
                <a:latin typeface="Georgia"/>
                <a:ea typeface="Georgia"/>
                <a:cs typeface="Georgia"/>
              </a:rPr>
              <a:t>62</a:t>
            </a:r>
            <a:endParaRPr sz="2200"/>
          </a:p>
        </p:txBody>
      </p:sp>
      <p:sp>
        <p:nvSpPr>
          <p:cNvPr id="9" name="Text 6">
            <a:extLst xmlns:a="http://schemas.openxmlformats.org/drawingml/2006/main">
              <a:ext uri="{FF2B5EF4-FFF2-40B4-BE49-F238E27FC236}">
                <a16:creationId xmlns:a16="http://schemas.microsoft.com/office/drawing/2014/main" id="{F0413ECC-7D05-4651-88F2-4B98A21C4D58}"/>
              </a:ext>
            </a:extLst>
          </p:cNvPr>
          <p:cNvSpPr>
            <a:spLocks xmlns:a="http://schemas.openxmlformats.org/drawingml/2006/main" noGrp="1"/>
          </p:cNvSpPr>
          <p:nvPr/>
        </p:nvSpPr>
        <p:spPr>
          <a:xfrm xmlns:a="http://schemas.openxmlformats.org/drawingml/2006/main">
            <a:off x="548640" y="5715000"/>
            <a:ext cx="14173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818283"/>
                </a:solidFill>
                <a:latin typeface="Arial"/>
                <a:ea typeface="Arial"/>
                <a:cs typeface="Arial"/>
              </a:rPr>
              <a:t>organisations</a:t>
            </a:r>
            <a:endParaRPr sz="900"/>
          </a:p>
        </p:txBody>
      </p:sp>
      <p:sp>
        <p:nvSpPr>
          <p:cNvPr id="10" name="Text 7">
            <a:extLst xmlns:a="http://schemas.openxmlformats.org/drawingml/2006/main">
              <a:ext uri="{FF2B5EF4-FFF2-40B4-BE49-F238E27FC236}">
                <a16:creationId xmlns:a16="http://schemas.microsoft.com/office/drawing/2014/main" id="{F1FBDCE0-F3AC-4FB4-9A73-C5BBAEEF7981}"/>
              </a:ext>
            </a:extLst>
          </p:cNvPr>
          <p:cNvSpPr>
            <a:spLocks xmlns:a="http://schemas.openxmlformats.org/drawingml/2006/main" noGrp="1"/>
          </p:cNvSpPr>
          <p:nvPr/>
        </p:nvSpPr>
        <p:spPr>
          <a:xfrm xmlns:a="http://schemas.openxmlformats.org/drawingml/2006/main">
            <a:off x="2029968" y="5303520"/>
            <a:ext cx="731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a:solidFill>
                  <a:srgbClr val="002368"/>
                </a:solidFill>
                <a:latin typeface="Georgia"/>
                <a:ea typeface="Georgia"/>
                <a:cs typeface="Georgia"/>
              </a:rPr>
              <a:t>40</a:t>
            </a:r>
            <a:endParaRPr sz="2200"/>
          </a:p>
        </p:txBody>
      </p:sp>
      <p:sp>
        <p:nvSpPr>
          <p:cNvPr id="11" name="Text 8">
            <a:extLst xmlns:a="http://schemas.openxmlformats.org/drawingml/2006/main">
              <a:ext uri="{FF2B5EF4-FFF2-40B4-BE49-F238E27FC236}">
                <a16:creationId xmlns:a16="http://schemas.microsoft.com/office/drawing/2014/main" id="{90EF9612-B7A8-4DBC-8C85-E578299F3312}"/>
              </a:ext>
            </a:extLst>
          </p:cNvPr>
          <p:cNvSpPr>
            <a:spLocks xmlns:a="http://schemas.openxmlformats.org/drawingml/2006/main" noGrp="1"/>
          </p:cNvSpPr>
          <p:nvPr/>
        </p:nvSpPr>
        <p:spPr>
          <a:xfrm xmlns:a="http://schemas.openxmlformats.org/drawingml/2006/main">
            <a:off x="2029968" y="5715000"/>
            <a:ext cx="14173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818283"/>
                </a:solidFill>
                <a:latin typeface="Arial"/>
                <a:ea typeface="Arial"/>
                <a:cs typeface="Arial"/>
              </a:rPr>
              <a:t>senior contacts</a:t>
            </a:r>
            <a:endParaRPr sz="900"/>
          </a:p>
        </p:txBody>
      </p:sp>
      <p:sp>
        <p:nvSpPr>
          <p:cNvPr id="12" name="Text 9">
            <a:extLst xmlns:a="http://schemas.openxmlformats.org/drawingml/2006/main">
              <a:ext uri="{FF2B5EF4-FFF2-40B4-BE49-F238E27FC236}">
                <a16:creationId xmlns:a16="http://schemas.microsoft.com/office/drawing/2014/main" id="{1F05F325-9CA3-4BBC-A7CE-D9EBADBC2B3A}"/>
              </a:ext>
            </a:extLst>
          </p:cNvPr>
          <p:cNvSpPr>
            <a:spLocks xmlns:a="http://schemas.openxmlformats.org/drawingml/2006/main" noGrp="1"/>
          </p:cNvSpPr>
          <p:nvPr/>
        </p:nvSpPr>
        <p:spPr>
          <a:xfrm xmlns:a="http://schemas.openxmlformats.org/drawingml/2006/main">
            <a:off x="3511296" y="5303520"/>
            <a:ext cx="731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a:solidFill>
                  <a:srgbClr val="002368"/>
                </a:solidFill>
                <a:latin typeface="Georgia"/>
                <a:ea typeface="Georgia"/>
                <a:cs typeface="Georgia"/>
              </a:rPr>
              <a:t>49</a:t>
            </a:r>
            <a:endParaRPr sz="2200"/>
          </a:p>
        </p:txBody>
      </p:sp>
      <p:sp>
        <p:nvSpPr>
          <p:cNvPr id="13" name="Text 10">
            <a:extLst xmlns:a="http://schemas.openxmlformats.org/drawingml/2006/main">
              <a:ext uri="{FF2B5EF4-FFF2-40B4-BE49-F238E27FC236}">
                <a16:creationId xmlns:a16="http://schemas.microsoft.com/office/drawing/2014/main" id="{3C730511-9EED-42D5-8647-F5C5E8291795}"/>
              </a:ext>
            </a:extLst>
          </p:cNvPr>
          <p:cNvSpPr>
            <a:spLocks xmlns:a="http://schemas.openxmlformats.org/drawingml/2006/main" noGrp="1"/>
          </p:cNvSpPr>
          <p:nvPr/>
        </p:nvSpPr>
        <p:spPr>
          <a:xfrm xmlns:a="http://schemas.openxmlformats.org/drawingml/2006/main">
            <a:off x="3511296" y="5715000"/>
            <a:ext cx="14173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818283"/>
                </a:solidFill>
                <a:latin typeface="Arial"/>
                <a:ea typeface="Arial"/>
                <a:cs typeface="Arial"/>
              </a:rPr>
              <a:t>direct emails</a:t>
            </a:r>
            <a:endParaRPr sz="900"/>
          </a:p>
        </p:txBody>
      </p:sp>
      <p:sp>
        <p:nvSpPr>
          <p:cNvPr id="14" name="Text 11">
            <a:extLst xmlns:a="http://schemas.openxmlformats.org/drawingml/2006/main">
              <a:ext uri="{FF2B5EF4-FFF2-40B4-BE49-F238E27FC236}">
                <a16:creationId xmlns:a16="http://schemas.microsoft.com/office/drawing/2014/main" id="{83BCA790-2DC8-49B3-82D8-F44CBA986B95}"/>
              </a:ext>
            </a:extLst>
          </p:cNvPr>
          <p:cNvSpPr>
            <a:spLocks xmlns:a="http://schemas.openxmlformats.org/drawingml/2006/main" noGrp="1"/>
          </p:cNvSpPr>
          <p:nvPr/>
        </p:nvSpPr>
        <p:spPr>
          <a:xfrm xmlns:a="http://schemas.openxmlformats.org/drawingml/2006/main">
            <a:off x="4992624" y="5303520"/>
            <a:ext cx="731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a:solidFill>
                  <a:srgbClr val="002368"/>
                </a:solidFill>
                <a:latin typeface="Georgia"/>
                <a:ea typeface="Georgia"/>
                <a:cs typeface="Georgia"/>
              </a:rPr>
              <a:t>50</a:t>
            </a:r>
            <a:endParaRPr sz="2200"/>
          </a:p>
        </p:txBody>
      </p:sp>
      <p:sp>
        <p:nvSpPr>
          <p:cNvPr id="15" name="Text 12">
            <a:extLst xmlns:a="http://schemas.openxmlformats.org/drawingml/2006/main">
              <a:ext uri="{FF2B5EF4-FFF2-40B4-BE49-F238E27FC236}">
                <a16:creationId xmlns:a16="http://schemas.microsoft.com/office/drawing/2014/main" id="{DAEBE848-42BA-46E1-A1F1-F8AEDDD7E999}"/>
              </a:ext>
            </a:extLst>
          </p:cNvPr>
          <p:cNvSpPr>
            <a:spLocks xmlns:a="http://schemas.openxmlformats.org/drawingml/2006/main" noGrp="1"/>
          </p:cNvSpPr>
          <p:nvPr/>
        </p:nvSpPr>
        <p:spPr>
          <a:xfrm xmlns:a="http://schemas.openxmlformats.org/drawingml/2006/main">
            <a:off x="4992624" y="5715000"/>
            <a:ext cx="14173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818283"/>
                </a:solidFill>
                <a:latin typeface="Arial"/>
                <a:ea typeface="Arial"/>
                <a:cs typeface="Arial"/>
              </a:rPr>
              <a:t>Tanzanian phones</a:t>
            </a:r>
            <a:endParaRPr sz="900"/>
          </a:p>
        </p:txBody>
      </p:sp>
      <p:sp>
        <p:nvSpPr>
          <p:cNvPr id="16" name="Text 13">
            <a:extLst xmlns:a="http://schemas.openxmlformats.org/drawingml/2006/main">
              <a:ext uri="{FF2B5EF4-FFF2-40B4-BE49-F238E27FC236}">
                <a16:creationId xmlns:a16="http://schemas.microsoft.com/office/drawing/2014/main" id="{60D86264-4118-4FC3-BD59-F9F3FC37A1C1}"/>
              </a:ext>
            </a:extLst>
          </p:cNvPr>
          <p:cNvSpPr>
            <a:spLocks xmlns:a="http://schemas.openxmlformats.org/drawingml/2006/main" noGrp="1"/>
          </p:cNvSpPr>
          <p:nvPr/>
        </p:nvSpPr>
        <p:spPr>
          <a:xfrm xmlns:a="http://schemas.openxmlformats.org/drawingml/2006/main">
            <a:off x="7086600" y="1234440"/>
            <a:ext cx="2743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6000">
                <a:solidFill>
                  <a:srgbClr val="002368"/>
                </a:solidFill>
                <a:latin typeface="Georgia"/>
                <a:ea typeface="Georgia"/>
                <a:cs typeface="Georgia"/>
              </a:rPr>
              <a:t>353</a:t>
            </a:r>
            <a:endParaRPr sz="6000"/>
          </a:p>
        </p:txBody>
      </p:sp>
      <p:sp>
        <p:nvSpPr>
          <p:cNvPr id="17" name="Text 14">
            <a:extLst xmlns:a="http://schemas.openxmlformats.org/drawingml/2006/main">
              <a:ext uri="{FF2B5EF4-FFF2-40B4-BE49-F238E27FC236}">
                <a16:creationId xmlns:a16="http://schemas.microsoft.com/office/drawing/2014/main" id="{F47D2374-ECC1-4BE5-974B-99E7830699A6}"/>
              </a:ext>
            </a:extLst>
          </p:cNvPr>
          <p:cNvSpPr>
            <a:spLocks xmlns:a="http://schemas.openxmlformats.org/drawingml/2006/main" noGrp="1"/>
          </p:cNvSpPr>
          <p:nvPr/>
        </p:nvSpPr>
        <p:spPr>
          <a:xfrm xmlns:a="http://schemas.openxmlformats.org/drawingml/2006/main">
            <a:off x="7132320" y="2194560"/>
            <a:ext cx="455645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002368"/>
                </a:solidFill>
                <a:latin typeface="Arial"/>
                <a:ea typeface="Arial"/>
                <a:cs typeface="Arial"/>
              </a:rPr>
              <a:t>published business-contact records</a:t>
            </a:r>
            <a:endParaRPr sz="1200"/>
          </a:p>
          <a:p xmlns:a="http://schemas.openxmlformats.org/drawingml/2006/main">
            <a:pPr marL="0" indent="0">
              <a:buNone/>
            </a:pPr>
            <a:r>
              <a:rPr sz="1200" b="1">
                <a:solidFill>
                  <a:srgbClr val="002368"/>
                </a:solidFill>
                <a:latin typeface="Arial"/>
                <a:ea typeface="Arial"/>
                <a:cs typeface="Arial"/>
              </a:rPr>
              <a:t>across 172 organisations</a:t>
            </a:r>
            <a:endParaRPr sz="1200"/>
          </a:p>
        </p:txBody>
      </p:sp>
      <p:sp>
        <p:nvSpPr>
          <p:cNvPr id="18" name="Shape 15">
            <a:extLst xmlns:a="http://schemas.openxmlformats.org/drawingml/2006/main">
              <a:ext uri="{FF2B5EF4-FFF2-40B4-BE49-F238E27FC236}">
                <a16:creationId xmlns:a16="http://schemas.microsoft.com/office/drawing/2014/main" id="{21CFDDBC-BF9F-4F8F-B17D-3F2453FE8F95}"/>
              </a:ext>
            </a:extLst>
          </p:cNvPr>
          <p:cNvSpPr>
            <a:spLocks xmlns:a="http://schemas.openxmlformats.org/drawingml/2006/main" noGrp="1"/>
          </p:cNvSpPr>
          <p:nvPr/>
        </p:nvSpPr>
        <p:spPr>
          <a:xfrm xmlns:a="http://schemas.openxmlformats.org/drawingml/2006/main">
            <a:off x="7086600" y="2880360"/>
            <a:ext cx="4556455" cy="0"/>
          </a:xfrm>
          <a:prstGeom xmlns:a="http://schemas.openxmlformats.org/drawingml/2006/main" prst="line">
            <a:avLst/>
          </a:prstGeom>
          <a:noFill xmlns:a="http://schemas.openxmlformats.org/drawingml/2006/main"/>
          <a:ln xmlns:a="http://schemas.openxmlformats.org/drawingml/2006/main" w="9525">
            <a:solidFill>
              <a:srgbClr val="80BFEC"/>
            </a:solidFill>
            <a:prstDash val="solid"/>
          </a:ln>
        </p:spPr>
      </p:sp>
      <p:sp>
        <p:nvSpPr>
          <p:cNvPr id="19" name="Text 16">
            <a:extLst xmlns:a="http://schemas.openxmlformats.org/drawingml/2006/main">
              <a:ext uri="{FF2B5EF4-FFF2-40B4-BE49-F238E27FC236}">
                <a16:creationId xmlns:a16="http://schemas.microsoft.com/office/drawing/2014/main" id="{6B584B04-3341-487C-B59C-A51364AAD014}"/>
              </a:ext>
            </a:extLst>
          </p:cNvPr>
          <p:cNvSpPr>
            <a:spLocks xmlns:a="http://schemas.openxmlformats.org/drawingml/2006/main" noGrp="1"/>
          </p:cNvSpPr>
          <p:nvPr/>
        </p:nvSpPr>
        <p:spPr>
          <a:xfrm xmlns:a="http://schemas.openxmlformats.org/drawingml/2006/main">
            <a:off x="7086600" y="3017520"/>
            <a:ext cx="914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a:solidFill>
                  <a:srgbClr val="002368"/>
                </a:solidFill>
                <a:latin typeface="Georgia"/>
                <a:ea typeface="Georgia"/>
                <a:cs typeface="Georgia"/>
              </a:rPr>
              <a:t>313</a:t>
            </a:r>
            <a:endParaRPr sz="2400"/>
          </a:p>
        </p:txBody>
      </p:sp>
      <p:sp>
        <p:nvSpPr>
          <p:cNvPr id="20" name="Text 17">
            <a:extLst xmlns:a="http://schemas.openxmlformats.org/drawingml/2006/main">
              <a:ext uri="{FF2B5EF4-FFF2-40B4-BE49-F238E27FC236}">
                <a16:creationId xmlns:a16="http://schemas.microsoft.com/office/drawing/2014/main" id="{FF6135F3-55FD-4411-92B9-21A46247644B}"/>
              </a:ext>
            </a:extLst>
          </p:cNvPr>
          <p:cNvSpPr>
            <a:spLocks xmlns:a="http://schemas.openxmlformats.org/drawingml/2006/main" noGrp="1"/>
          </p:cNvSpPr>
          <p:nvPr/>
        </p:nvSpPr>
        <p:spPr>
          <a:xfrm xmlns:a="http://schemas.openxmlformats.org/drawingml/2006/main">
            <a:off x="8001000" y="3017520"/>
            <a:ext cx="364205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000000"/>
                </a:solidFill>
                <a:latin typeface="Arial"/>
                <a:ea typeface="Arial"/>
                <a:cs typeface="Arial"/>
              </a:rPr>
              <a:t>contacts attached to TATO-linked organisations</a:t>
            </a:r>
            <a:endParaRPr sz="1050"/>
          </a:p>
        </p:txBody>
      </p:sp>
      <p:sp>
        <p:nvSpPr>
          <p:cNvPr id="21" name="Text 18">
            <a:extLst xmlns:a="http://schemas.openxmlformats.org/drawingml/2006/main">
              <a:ext uri="{FF2B5EF4-FFF2-40B4-BE49-F238E27FC236}">
                <a16:creationId xmlns:a16="http://schemas.microsoft.com/office/drawing/2014/main" id="{EC916DD5-785E-4C2C-8185-725906EC7245}"/>
              </a:ext>
            </a:extLst>
          </p:cNvPr>
          <p:cNvSpPr>
            <a:spLocks xmlns:a="http://schemas.openxmlformats.org/drawingml/2006/main" noGrp="1"/>
          </p:cNvSpPr>
          <p:nvPr/>
        </p:nvSpPr>
        <p:spPr>
          <a:xfrm xmlns:a="http://schemas.openxmlformats.org/drawingml/2006/main">
            <a:off x="7086600" y="3584448"/>
            <a:ext cx="914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a:solidFill>
                  <a:srgbClr val="002368"/>
                </a:solidFill>
                <a:latin typeface="Georgia"/>
                <a:ea typeface="Georgia"/>
                <a:cs typeface="Georgia"/>
              </a:rPr>
              <a:t>40</a:t>
            </a:r>
            <a:endParaRPr sz="2400"/>
          </a:p>
        </p:txBody>
      </p:sp>
      <p:sp>
        <p:nvSpPr>
          <p:cNvPr id="22" name="Text 19">
            <a:extLst xmlns:a="http://schemas.openxmlformats.org/drawingml/2006/main">
              <a:ext uri="{FF2B5EF4-FFF2-40B4-BE49-F238E27FC236}">
                <a16:creationId xmlns:a16="http://schemas.microsoft.com/office/drawing/2014/main" id="{C1DCC97E-F2D6-409D-8B0F-5D903F84A242}"/>
              </a:ext>
            </a:extLst>
          </p:cNvPr>
          <p:cNvSpPr>
            <a:spLocks xmlns:a="http://schemas.openxmlformats.org/drawingml/2006/main" noGrp="1"/>
          </p:cNvSpPr>
          <p:nvPr/>
        </p:nvSpPr>
        <p:spPr>
          <a:xfrm xmlns:a="http://schemas.openxmlformats.org/drawingml/2006/main">
            <a:off x="8001000" y="3584448"/>
            <a:ext cx="364205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000000"/>
                </a:solidFill>
                <a:latin typeface="Arial"/>
                <a:ea typeface="Arial"/>
                <a:cs typeface="Arial"/>
              </a:rPr>
              <a:t>additional named routes: 29 other research, 9 OSM and 2 TCDC</a:t>
            </a:r>
            <a:endParaRPr sz="1050"/>
          </a:p>
        </p:txBody>
      </p:sp>
      <p:sp>
        <p:nvSpPr>
          <p:cNvPr id="23" name="Shape 20">
            <a:extLst xmlns:a="http://schemas.openxmlformats.org/drawingml/2006/main">
              <a:ext uri="{FF2B5EF4-FFF2-40B4-BE49-F238E27FC236}">
                <a16:creationId xmlns:a16="http://schemas.microsoft.com/office/drawing/2014/main" id="{0B2CFDA0-88B0-4507-9622-16073176F38B}"/>
              </a:ext>
            </a:extLst>
          </p:cNvPr>
          <p:cNvSpPr>
            <a:spLocks xmlns:a="http://schemas.openxmlformats.org/drawingml/2006/main" noGrp="1"/>
          </p:cNvSpPr>
          <p:nvPr/>
        </p:nvSpPr>
        <p:spPr>
          <a:xfrm xmlns:a="http://schemas.openxmlformats.org/drawingml/2006/main">
            <a:off x="7086600" y="4389120"/>
            <a:ext cx="4556455" cy="1325880"/>
          </a:xfrm>
          <a:prstGeom xmlns:a="http://schemas.openxmlformats.org/drawingml/2006/main" prst="roundRect">
            <a:avLst>
              <a:gd name="adj" fmla="val 4828"/>
            </a:avLst>
          </a:prstGeom>
          <a:solidFill xmlns:a="http://schemas.openxmlformats.org/drawingml/2006/main">
            <a:srgbClr val="FFF7E5"/>
          </a:solidFill>
          <a:ln xmlns:a="http://schemas.openxmlformats.org/drawingml/2006/main" w="12700">
            <a:solidFill>
              <a:srgbClr val="FFF7E5"/>
            </a:solidFill>
            <a:prstDash val="solid"/>
          </a:ln>
        </p:spPr>
      </p:sp>
      <p:sp>
        <p:nvSpPr>
          <p:cNvPr id="24" name="Text 21">
            <a:extLst xmlns:a="http://schemas.openxmlformats.org/drawingml/2006/main">
              <a:ext uri="{FF2B5EF4-FFF2-40B4-BE49-F238E27FC236}">
                <a16:creationId xmlns:a16="http://schemas.microsoft.com/office/drawing/2014/main" id="{EEDE1C15-45EC-42CD-905D-432A5D8D7AEC}"/>
              </a:ext>
            </a:extLst>
          </p:cNvPr>
          <p:cNvSpPr>
            <a:spLocks xmlns:a="http://schemas.openxmlformats.org/drawingml/2006/main" noGrp="1"/>
          </p:cNvSpPr>
          <p:nvPr/>
        </p:nvSpPr>
        <p:spPr>
          <a:xfrm xmlns:a="http://schemas.openxmlformats.org/drawingml/2006/main">
            <a:off x="7360920" y="4617720"/>
            <a:ext cx="310896" cy="273588"/>
          </a:xfrm>
          <a:prstGeom xmlns:a="http://schemas.openxmlformats.org/drawingml/2006/main" prst="hexagon">
            <a:avLst/>
          </a:prstGeom>
          <a:solidFill xmlns:a="http://schemas.openxmlformats.org/drawingml/2006/main">
            <a:srgbClr val="FFC952"/>
          </a:solidFill>
          <a:ln xmlns:a="http://schemas.openxmlformats.org/drawingml/2006/main">
            <a:solidFill>
              <a:srgbClr val="FFC952"/>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02368"/>
                </a:solidFill>
                <a:latin typeface="Arial"/>
                <a:ea typeface="Arial"/>
                <a:cs typeface="Arial"/>
              </a:rPr>
              <a:t>!</a:t>
            </a:r>
            <a:endParaRPr sz="1100"/>
          </a:p>
        </p:txBody>
      </p:sp>
      <p:sp>
        <p:nvSpPr>
          <p:cNvPr id="25" name="Text 22">
            <a:extLst xmlns:a="http://schemas.openxmlformats.org/drawingml/2006/main">
              <a:ext uri="{FF2B5EF4-FFF2-40B4-BE49-F238E27FC236}">
                <a16:creationId xmlns:a16="http://schemas.microsoft.com/office/drawing/2014/main" id="{096B230E-FEA8-4435-9E2A-F17D1CB39698}"/>
              </a:ext>
            </a:extLst>
          </p:cNvPr>
          <p:cNvSpPr>
            <a:spLocks xmlns:a="http://schemas.openxmlformats.org/drawingml/2006/main" noGrp="1"/>
          </p:cNvSpPr>
          <p:nvPr/>
        </p:nvSpPr>
        <p:spPr>
          <a:xfrm xmlns:a="http://schemas.openxmlformats.org/drawingml/2006/main">
            <a:off x="7818120" y="4572000"/>
            <a:ext cx="3550615"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050">
                <a:solidFill>
                  <a:srgbClr val="000000"/>
                </a:solidFill>
                <a:latin typeface="Arial"/>
                <a:ea typeface="Arial"/>
                <a:cs typeface="Arial"/>
              </a:rPr>
              <a:t>Targeted enrichment has now added named routes for 9 OSM-linked and 2 TCDC-linked organisations. Continue enriching the remaining employers and SACCOs.</a:t>
            </a:r>
            <a:endParaRPr sz="1050"/>
          </a:p>
        </p:txBody>
      </p:sp>
      <p:pic>
        <p:nvPicPr>
          <p:cNvPr id="55" name="Image 0"/>
          <p:cNvPicPr>
            <a:picLocks xmlns:a="http://schemas.openxmlformats.org/drawingml/2006/main" noChangeAspect="1"/>
          </p:cNvPicPr>
          <p:nvPr/>
        </p:nvPicPr>
        <p:blipFill>
          <a:blip xmlns:r="http://schemas.openxmlformats.org/officeDocument/2006/relationships" xmlns:a="http://schemas.openxmlformats.org/drawingml/2006/main" r:embed="R8cd5163502f148fb"/>
          <a:stretch xmlns:a="http://schemas.openxmlformats.org/drawingml/2006/main">
            <a:fillRect l="0" t="0" r="0" b="0"/>
          </a:stretch>
        </p:blipFill>
        <p:spPr>
          <a:xfrm xmlns:a="http://schemas.openxmlformats.org/drawingml/2006/main">
            <a:off x="548640" y="6272784"/>
            <a:ext cx="1143000" cy="272176"/>
          </a:xfrm>
          <a:prstGeom xmlns:a="http://schemas.openxmlformats.org/drawingml/2006/main" prst="rect">
            <a:avLst/>
          </a:prstGeom>
        </p:spPr>
      </p:pic>
      <p:sp>
        <p:nvSpPr>
          <p:cNvPr id="27" name="Text 23">
            <a:extLst xmlns:a="http://schemas.openxmlformats.org/drawingml/2006/main">
              <a:ext uri="{FF2B5EF4-FFF2-40B4-BE49-F238E27FC236}">
                <a16:creationId xmlns:a16="http://schemas.microsoft.com/office/drawing/2014/main" id="{869EB3C1-2DD8-43E7-8A23-E9C0DE41B3F4}"/>
              </a:ext>
            </a:extLst>
          </p:cNvPr>
          <p:cNvSpPr>
            <a:spLocks xmlns:a="http://schemas.openxmlformats.org/drawingml/2006/main" noGrp="1"/>
          </p:cNvSpPr>
          <p:nvPr/>
        </p:nvSpPr>
        <p:spPr>
          <a:xfrm xmlns:a="http://schemas.openxmlformats.org/drawingml/2006/main">
            <a:off x="1965960" y="6309360"/>
            <a:ext cx="85953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818283"/>
                </a:solidFill>
                <a:latin typeface="Arial"/>
                <a:ea typeface="Arial"/>
                <a:cs typeface="Arial"/>
              </a:rPr>
              <a:t>Source: source extracts and consolidated Silverleaf Master Database</a:t>
            </a:r>
            <a:endParaRPr sz="800"/>
          </a:p>
        </p:txBody>
      </p:sp>
      <p:sp>
        <p:nvSpPr>
          <p:cNvPr id="28" name="Text 24">
            <a:extLst xmlns:a="http://schemas.openxmlformats.org/drawingml/2006/main">
              <a:ext uri="{FF2B5EF4-FFF2-40B4-BE49-F238E27FC236}">
                <a16:creationId xmlns:a16="http://schemas.microsoft.com/office/drawing/2014/main" id="{747E0D6E-07CF-4E5B-ADDD-F2C46C067D0A}"/>
              </a:ext>
            </a:extLst>
          </p:cNvPr>
          <p:cNvSpPr>
            <a:spLocks xmlns:a="http://schemas.openxmlformats.org/drawingml/2006/main" noGrp="1"/>
          </p:cNvSpPr>
          <p:nvPr/>
        </p:nvSpPr>
        <p:spPr>
          <a:xfrm xmlns:a="http://schemas.openxmlformats.org/drawingml/2006/main">
            <a:off x="10911535" y="6254496"/>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002368"/>
                </a:solidFill>
                <a:latin typeface="Georgia"/>
                <a:ea typeface="Georgia"/>
                <a:cs typeface="Georgia"/>
              </a:rPr>
              <a:t>07</a:t>
            </a:r>
            <a:endParaRPr sz="1200"/>
          </a:p>
        </p:txBody>
      </p:sp>
    </p:spTree>
    <p:extLst>
      <p:ext uri="{BB962C8B-B14F-4D97-AF65-F5344CB8AC3E}">
        <p14:creationId xmlns:p14="http://schemas.microsoft.com/office/powerpoint/2010/main" val="161616064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EF3418-DDC4-4BA3-A23A-523C5535CC27}"/>
              </a:ext>
            </a:extLst>
          </p:cNvPr>
          <p:cNvSpPr>
            <a:spLocks xmlns:a="http://schemas.openxmlformats.org/drawingml/2006/main" noGrp="1"/>
          </p:cNvSpPr>
          <p:nvPr/>
        </p:nvSpPr>
        <p:spPr>
          <a:xfrm xmlns:a="http://schemas.openxmlformats.org/drawingml/2006/main">
            <a:off x="548640" y="384048"/>
            <a:ext cx="8229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18283"/>
                </a:solidFill>
                <a:latin typeface="Arial"/>
                <a:ea typeface="Arial"/>
                <a:cs typeface="Arial"/>
              </a:rPr>
              <a:t>ORGANISATIONAL TRACK  ·  MESSAGING</a:t>
            </a:r>
            <a:endParaRPr sz="900"/>
          </a:p>
        </p:txBody>
      </p:sp>
      <p:sp>
        <p:nvSpPr>
          <p:cNvPr id="3" name="Text 1">
            <a:extLst xmlns:a="http://schemas.openxmlformats.org/drawingml/2006/main">
              <a:ext uri="{FF2B5EF4-FFF2-40B4-BE49-F238E27FC236}">
                <a16:creationId xmlns:a16="http://schemas.microsoft.com/office/drawing/2014/main" id="{BAFC807B-F205-49E6-8371-E7C6EF17FAE4}"/>
              </a:ext>
            </a:extLst>
          </p:cNvPr>
          <p:cNvSpPr>
            <a:spLocks xmlns:a="http://schemas.openxmlformats.org/drawingml/2006/main" noGrp="1"/>
          </p:cNvSpPr>
          <p:nvPr/>
        </p:nvSpPr>
        <p:spPr>
          <a:xfrm xmlns:a="http://schemas.openxmlformats.org/drawingml/2006/main">
            <a:off x="548640" y="603504"/>
            <a:ext cx="9601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02368"/>
                </a:solidFill>
                <a:latin typeface="Arial"/>
                <a:ea typeface="Arial"/>
                <a:cs typeface="Arial"/>
              </a:rPr>
              <a:t>Partnership message and value exchange</a:t>
            </a:r>
            <a:endParaRPr sz="2600"/>
          </a:p>
        </p:txBody>
      </p:sp>
      <p:sp>
        <p:nvSpPr>
          <p:cNvPr id="4" name="Text 2">
            <a:extLst xmlns:a="http://schemas.openxmlformats.org/drawingml/2006/main">
              <a:ext uri="{FF2B5EF4-FFF2-40B4-BE49-F238E27FC236}">
                <a16:creationId xmlns:a16="http://schemas.microsoft.com/office/drawing/2014/main" id="{09BBFB8D-224F-4AFC-91A0-85EDBFB326BC}"/>
              </a:ext>
            </a:extLst>
          </p:cNvPr>
          <p:cNvSpPr>
            <a:spLocks xmlns:a="http://schemas.openxmlformats.org/drawingml/2006/main" noGrp="1"/>
          </p:cNvSpPr>
          <p:nvPr/>
        </p:nvSpPr>
        <p:spPr>
          <a:xfrm xmlns:a="http://schemas.openxmlformats.org/drawingml/2006/main">
            <a:off x="548640" y="1371600"/>
            <a:ext cx="3657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18283"/>
                </a:solidFill>
                <a:latin typeface="Arial"/>
                <a:ea typeface="Arial"/>
                <a:cs typeface="Arial"/>
              </a:rPr>
              <a:t>MESSAGE STRUCTURE</a:t>
            </a:r>
            <a:endParaRPr sz="900"/>
          </a:p>
        </p:txBody>
      </p:sp>
      <p:sp>
        <p:nvSpPr>
          <p:cNvPr id="5" name="Shape 3">
            <a:extLst xmlns:a="http://schemas.openxmlformats.org/drawingml/2006/main">
              <a:ext uri="{FF2B5EF4-FFF2-40B4-BE49-F238E27FC236}">
                <a16:creationId xmlns:a16="http://schemas.microsoft.com/office/drawing/2014/main" id="{2CA27771-B85B-487B-ACDF-D282FCF12BA0}"/>
              </a:ext>
            </a:extLst>
          </p:cNvPr>
          <p:cNvSpPr>
            <a:spLocks xmlns:a="http://schemas.openxmlformats.org/drawingml/2006/main" noGrp="1"/>
          </p:cNvSpPr>
          <p:nvPr/>
        </p:nvSpPr>
        <p:spPr>
          <a:xfrm xmlns:a="http://schemas.openxmlformats.org/drawingml/2006/main">
            <a:off x="749808" y="1874520"/>
            <a:ext cx="0" cy="2606040"/>
          </a:xfrm>
          <a:prstGeom xmlns:a="http://schemas.openxmlformats.org/drawingml/2006/main" prst="line">
            <a:avLst/>
          </a:prstGeom>
          <a:noFill xmlns:a="http://schemas.openxmlformats.org/drawingml/2006/main"/>
          <a:ln xmlns:a="http://schemas.openxmlformats.org/drawingml/2006/main" w="15875">
            <a:solidFill>
              <a:srgbClr val="80BFEC"/>
            </a:solidFill>
            <a:prstDash val="solid"/>
          </a:ln>
        </p:spPr>
      </p:sp>
      <p:sp>
        <p:nvSpPr>
          <p:cNvPr id="6" name="Text 4">
            <a:extLst xmlns:a="http://schemas.openxmlformats.org/drawingml/2006/main">
              <a:ext uri="{FF2B5EF4-FFF2-40B4-BE49-F238E27FC236}">
                <a16:creationId xmlns:a16="http://schemas.microsoft.com/office/drawing/2014/main" id="{910DA125-F2FD-4872-942B-366BC05CC949}"/>
              </a:ext>
            </a:extLst>
          </p:cNvPr>
          <p:cNvSpPr>
            <a:spLocks xmlns:a="http://schemas.openxmlformats.org/drawingml/2006/main" noGrp="1"/>
          </p:cNvSpPr>
          <p:nvPr/>
        </p:nvSpPr>
        <p:spPr>
          <a:xfrm xmlns:a="http://schemas.openxmlformats.org/drawingml/2006/main">
            <a:off x="548640" y="1691640"/>
            <a:ext cx="402336" cy="354056"/>
          </a:xfrm>
          <a:prstGeom xmlns:a="http://schemas.openxmlformats.org/drawingml/2006/main" prst="hexagon">
            <a:avLst/>
          </a:prstGeom>
          <a:solidFill xmlns:a="http://schemas.openxmlformats.org/drawingml/2006/main">
            <a:srgbClr val="FFC952"/>
          </a:solidFill>
          <a:ln xmlns:a="http://schemas.openxmlformats.org/drawingml/2006/main">
            <a:solidFill>
              <a:srgbClr val="FFC952"/>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02368"/>
                </a:solidFill>
                <a:latin typeface="Arial"/>
                <a:ea typeface="Arial"/>
                <a:cs typeface="Arial"/>
              </a:rPr>
              <a:t>1</a:t>
            </a:r>
            <a:endParaRPr sz="1100"/>
          </a:p>
        </p:txBody>
      </p:sp>
      <p:sp>
        <p:nvSpPr>
          <p:cNvPr id="7" name="Text 5">
            <a:extLst xmlns:a="http://schemas.openxmlformats.org/drawingml/2006/main">
              <a:ext uri="{FF2B5EF4-FFF2-40B4-BE49-F238E27FC236}">
                <a16:creationId xmlns:a16="http://schemas.microsoft.com/office/drawing/2014/main" id="{3F3936E3-02B4-4ED1-A891-6BBF6AE90C18}"/>
              </a:ext>
            </a:extLst>
          </p:cNvPr>
          <p:cNvSpPr>
            <a:spLocks xmlns:a="http://schemas.openxmlformats.org/drawingml/2006/main" noGrp="1"/>
          </p:cNvSpPr>
          <p:nvPr/>
        </p:nvSpPr>
        <p:spPr>
          <a:xfrm xmlns:a="http://schemas.openxmlformats.org/drawingml/2006/main">
            <a:off x="1188720" y="1691640"/>
            <a:ext cx="1371600" cy="3566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02368"/>
                </a:solidFill>
                <a:latin typeface="Arial"/>
                <a:ea typeface="Arial"/>
                <a:cs typeface="Arial"/>
              </a:rPr>
              <a:t>HOOK</a:t>
            </a:r>
            <a:endParaRPr sz="1100"/>
          </a:p>
        </p:txBody>
      </p:sp>
      <p:sp>
        <p:nvSpPr>
          <p:cNvPr id="8" name="Text 6">
            <a:extLst xmlns:a="http://schemas.openxmlformats.org/drawingml/2006/main">
              <a:ext uri="{FF2B5EF4-FFF2-40B4-BE49-F238E27FC236}">
                <a16:creationId xmlns:a16="http://schemas.microsoft.com/office/drawing/2014/main" id="{43A525C7-C133-4FE5-9983-1C755E1B9FD5}"/>
              </a:ext>
            </a:extLst>
          </p:cNvPr>
          <p:cNvSpPr>
            <a:spLocks xmlns:a="http://schemas.openxmlformats.org/drawingml/2006/main" noGrp="1"/>
          </p:cNvSpPr>
          <p:nvPr/>
        </p:nvSpPr>
        <p:spPr>
          <a:xfrm xmlns:a="http://schemas.openxmlformats.org/drawingml/2006/main">
            <a:off x="2560320" y="169164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50">
                <a:solidFill>
                  <a:srgbClr val="000000"/>
                </a:solidFill>
                <a:latin typeface="Arial"/>
                <a:ea typeface="Arial"/>
                <a:cs typeface="Arial"/>
              </a:rPr>
              <a:t>A current, verified fact — used only when it explains why the offer fits.</a:t>
            </a:r>
            <a:endParaRPr sz="1150"/>
          </a:p>
        </p:txBody>
      </p:sp>
      <p:sp>
        <p:nvSpPr>
          <p:cNvPr id="9" name="Text 7">
            <a:extLst xmlns:a="http://schemas.openxmlformats.org/drawingml/2006/main">
              <a:ext uri="{FF2B5EF4-FFF2-40B4-BE49-F238E27FC236}">
                <a16:creationId xmlns:a16="http://schemas.microsoft.com/office/drawing/2014/main" id="{A6DB82D0-9C0C-47BF-A879-DAAD4C115F41}"/>
              </a:ext>
            </a:extLst>
          </p:cNvPr>
          <p:cNvSpPr>
            <a:spLocks xmlns:a="http://schemas.openxmlformats.org/drawingml/2006/main" noGrp="1"/>
          </p:cNvSpPr>
          <p:nvPr/>
        </p:nvSpPr>
        <p:spPr>
          <a:xfrm xmlns:a="http://schemas.openxmlformats.org/drawingml/2006/main">
            <a:off x="548640" y="2560320"/>
            <a:ext cx="402336" cy="354056"/>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2</a:t>
            </a:r>
            <a:endParaRPr sz="1100"/>
          </a:p>
        </p:txBody>
      </p:sp>
      <p:sp>
        <p:nvSpPr>
          <p:cNvPr id="10" name="Text 8">
            <a:extLst xmlns:a="http://schemas.openxmlformats.org/drawingml/2006/main">
              <a:ext uri="{FF2B5EF4-FFF2-40B4-BE49-F238E27FC236}">
                <a16:creationId xmlns:a16="http://schemas.microsoft.com/office/drawing/2014/main" id="{35DDF30D-14CC-4998-AF23-95C4A3632A7A}"/>
              </a:ext>
            </a:extLst>
          </p:cNvPr>
          <p:cNvSpPr>
            <a:spLocks xmlns:a="http://schemas.openxmlformats.org/drawingml/2006/main" noGrp="1"/>
          </p:cNvSpPr>
          <p:nvPr/>
        </p:nvSpPr>
        <p:spPr>
          <a:xfrm xmlns:a="http://schemas.openxmlformats.org/drawingml/2006/main">
            <a:off x="1188720" y="2560320"/>
            <a:ext cx="1371600" cy="3566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02368"/>
                </a:solidFill>
                <a:latin typeface="Arial"/>
                <a:ea typeface="Arial"/>
                <a:cs typeface="Arial"/>
              </a:rPr>
              <a:t>RELEVANCE</a:t>
            </a:r>
            <a:endParaRPr sz="1100"/>
          </a:p>
        </p:txBody>
      </p:sp>
      <p:sp>
        <p:nvSpPr>
          <p:cNvPr id="11" name="Text 9">
            <a:extLst xmlns:a="http://schemas.openxmlformats.org/drawingml/2006/main">
              <a:ext uri="{FF2B5EF4-FFF2-40B4-BE49-F238E27FC236}">
                <a16:creationId xmlns:a16="http://schemas.microsoft.com/office/drawing/2014/main" id="{9EBE9813-5BDE-4B7D-ADF1-F90EA971B732}"/>
              </a:ext>
            </a:extLst>
          </p:cNvPr>
          <p:cNvSpPr>
            <a:spLocks xmlns:a="http://schemas.openxmlformats.org/drawingml/2006/main" noGrp="1"/>
          </p:cNvSpPr>
          <p:nvPr/>
        </p:nvSpPr>
        <p:spPr>
          <a:xfrm xmlns:a="http://schemas.openxmlformats.org/drawingml/2006/main">
            <a:off x="2560320" y="256032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50">
                <a:solidFill>
                  <a:srgbClr val="000000"/>
                </a:solidFill>
                <a:latin typeface="Arial"/>
                <a:ea typeface="Arial"/>
                <a:cs typeface="Arial"/>
              </a:rPr>
              <a:t>A nearby education option may be useful to staff or members.</a:t>
            </a:r>
            <a:endParaRPr sz="1150"/>
          </a:p>
        </p:txBody>
      </p:sp>
      <p:sp>
        <p:nvSpPr>
          <p:cNvPr id="12" name="Text 10">
            <a:extLst xmlns:a="http://schemas.openxmlformats.org/drawingml/2006/main">
              <a:ext uri="{FF2B5EF4-FFF2-40B4-BE49-F238E27FC236}">
                <a16:creationId xmlns:a16="http://schemas.microsoft.com/office/drawing/2014/main" id="{8A09EA52-1789-4069-A681-FDA18063E2D0}"/>
              </a:ext>
            </a:extLst>
          </p:cNvPr>
          <p:cNvSpPr>
            <a:spLocks xmlns:a="http://schemas.openxmlformats.org/drawingml/2006/main" noGrp="1"/>
          </p:cNvSpPr>
          <p:nvPr/>
        </p:nvSpPr>
        <p:spPr>
          <a:xfrm xmlns:a="http://schemas.openxmlformats.org/drawingml/2006/main">
            <a:off x="548640" y="3429000"/>
            <a:ext cx="402336" cy="354056"/>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3</a:t>
            </a:r>
            <a:endParaRPr sz="1100"/>
          </a:p>
        </p:txBody>
      </p:sp>
      <p:sp>
        <p:nvSpPr>
          <p:cNvPr id="13" name="Text 11">
            <a:extLst xmlns:a="http://schemas.openxmlformats.org/drawingml/2006/main">
              <a:ext uri="{FF2B5EF4-FFF2-40B4-BE49-F238E27FC236}">
                <a16:creationId xmlns:a16="http://schemas.microsoft.com/office/drawing/2014/main" id="{529532A5-710A-4D58-8ABE-AA16701190CA}"/>
              </a:ext>
            </a:extLst>
          </p:cNvPr>
          <p:cNvSpPr>
            <a:spLocks xmlns:a="http://schemas.openxmlformats.org/drawingml/2006/main" noGrp="1"/>
          </p:cNvSpPr>
          <p:nvPr/>
        </p:nvSpPr>
        <p:spPr>
          <a:xfrm xmlns:a="http://schemas.openxmlformats.org/drawingml/2006/main">
            <a:off x="1188720" y="3429000"/>
            <a:ext cx="1371600" cy="3566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02368"/>
                </a:solidFill>
                <a:latin typeface="Arial"/>
                <a:ea typeface="Arial"/>
                <a:cs typeface="Arial"/>
              </a:rPr>
              <a:t>OFFER</a:t>
            </a:r>
            <a:endParaRPr sz="1100"/>
          </a:p>
        </p:txBody>
      </p:sp>
      <p:sp>
        <p:nvSpPr>
          <p:cNvPr id="14" name="Text 12">
            <a:extLst xmlns:a="http://schemas.openxmlformats.org/drawingml/2006/main">
              <a:ext uri="{FF2B5EF4-FFF2-40B4-BE49-F238E27FC236}">
                <a16:creationId xmlns:a16="http://schemas.microsoft.com/office/drawing/2014/main" id="{42304F4A-CCDB-4112-B738-A079A94CFC84}"/>
              </a:ext>
            </a:extLst>
          </p:cNvPr>
          <p:cNvSpPr>
            <a:spLocks xmlns:a="http://schemas.openxmlformats.org/drawingml/2006/main" noGrp="1"/>
          </p:cNvSpPr>
          <p:nvPr/>
        </p:nvSpPr>
        <p:spPr>
          <a:xfrm xmlns:a="http://schemas.openxmlformats.org/drawingml/2006/main">
            <a:off x="2560320" y="342900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50">
                <a:solidFill>
                  <a:srgbClr val="000000"/>
                </a:solidFill>
                <a:latin typeface="Arial"/>
                <a:ea typeface="Arial"/>
                <a:cs typeface="Arial"/>
              </a:rPr>
              <a:t>Silverleaf provides approved information and answers parent questions.</a:t>
            </a:r>
            <a:endParaRPr sz="1150"/>
          </a:p>
        </p:txBody>
      </p:sp>
      <p:sp>
        <p:nvSpPr>
          <p:cNvPr id="15" name="Text 13">
            <a:extLst xmlns:a="http://schemas.openxmlformats.org/drawingml/2006/main">
              <a:ext uri="{FF2B5EF4-FFF2-40B4-BE49-F238E27FC236}">
                <a16:creationId xmlns:a16="http://schemas.microsoft.com/office/drawing/2014/main" id="{D7338B70-9AC6-491D-B90F-5CDCB10AE189}"/>
              </a:ext>
            </a:extLst>
          </p:cNvPr>
          <p:cNvSpPr>
            <a:spLocks xmlns:a="http://schemas.openxmlformats.org/drawingml/2006/main" noGrp="1"/>
          </p:cNvSpPr>
          <p:nvPr/>
        </p:nvSpPr>
        <p:spPr>
          <a:xfrm xmlns:a="http://schemas.openxmlformats.org/drawingml/2006/main">
            <a:off x="548640" y="4297680"/>
            <a:ext cx="402336" cy="354056"/>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4</a:t>
            </a:r>
            <a:endParaRPr sz="1100"/>
          </a:p>
        </p:txBody>
      </p:sp>
      <p:sp>
        <p:nvSpPr>
          <p:cNvPr id="16" name="Text 14">
            <a:extLst xmlns:a="http://schemas.openxmlformats.org/drawingml/2006/main">
              <a:ext uri="{FF2B5EF4-FFF2-40B4-BE49-F238E27FC236}">
                <a16:creationId xmlns:a16="http://schemas.microsoft.com/office/drawing/2014/main" id="{5F5ED54C-6148-4BDD-B531-773BF9C44DEF}"/>
              </a:ext>
            </a:extLst>
          </p:cNvPr>
          <p:cNvSpPr>
            <a:spLocks xmlns:a="http://schemas.openxmlformats.org/drawingml/2006/main" noGrp="1"/>
          </p:cNvSpPr>
          <p:nvPr/>
        </p:nvSpPr>
        <p:spPr>
          <a:xfrm xmlns:a="http://schemas.openxmlformats.org/drawingml/2006/main">
            <a:off x="1188720" y="4297680"/>
            <a:ext cx="1371600" cy="3566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02368"/>
                </a:solidFill>
                <a:latin typeface="Arial"/>
                <a:ea typeface="Arial"/>
                <a:cs typeface="Arial"/>
              </a:rPr>
              <a:t>ASK</a:t>
            </a:r>
            <a:endParaRPr sz="1100"/>
          </a:p>
        </p:txBody>
      </p:sp>
      <p:sp>
        <p:nvSpPr>
          <p:cNvPr id="17" name="Text 15">
            <a:extLst xmlns:a="http://schemas.openxmlformats.org/drawingml/2006/main">
              <a:ext uri="{FF2B5EF4-FFF2-40B4-BE49-F238E27FC236}">
                <a16:creationId xmlns:a16="http://schemas.microsoft.com/office/drawing/2014/main" id="{C79F046D-D445-4A93-A8F8-5E80B67E221D}"/>
              </a:ext>
            </a:extLst>
          </p:cNvPr>
          <p:cNvSpPr>
            <a:spLocks xmlns:a="http://schemas.openxmlformats.org/drawingml/2006/main" noGrp="1"/>
          </p:cNvSpPr>
          <p:nvPr/>
        </p:nvSpPr>
        <p:spPr>
          <a:xfrm xmlns:a="http://schemas.openxmlformats.org/drawingml/2006/main">
            <a:off x="2560320" y="429768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50">
                <a:solidFill>
                  <a:srgbClr val="000000"/>
                </a:solidFill>
                <a:latin typeface="Arial"/>
                <a:ea typeface="Arial"/>
                <a:cs typeface="Arial"/>
              </a:rPr>
              <a:t>Route us to HR or staff welfare, or consider sharing the material internally.</a:t>
            </a:r>
            <a:endParaRPr sz="1150"/>
          </a:p>
        </p:txBody>
      </p:sp>
      <p:sp>
        <p:nvSpPr>
          <p:cNvPr id="18" name="Text 16">
            <a:extLst xmlns:a="http://schemas.openxmlformats.org/drawingml/2006/main">
              <a:ext uri="{FF2B5EF4-FFF2-40B4-BE49-F238E27FC236}">
                <a16:creationId xmlns:a16="http://schemas.microsoft.com/office/drawing/2014/main" id="{CD73BE3A-2E68-4450-942E-E95E6CDF12D0}"/>
              </a:ext>
            </a:extLst>
          </p:cNvPr>
          <p:cNvSpPr>
            <a:spLocks xmlns:a="http://schemas.openxmlformats.org/drawingml/2006/main" noGrp="1"/>
          </p:cNvSpPr>
          <p:nvPr/>
        </p:nvSpPr>
        <p:spPr>
          <a:xfrm xmlns:a="http://schemas.openxmlformats.org/drawingml/2006/main">
            <a:off x="548640" y="5257800"/>
            <a:ext cx="621792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818283"/>
                </a:solidFill>
                <a:latin typeface="Georgia"/>
                <a:ea typeface="Georgia"/>
                <a:cs typeface="Georgia"/>
              </a:rPr>
              <a:t>The message begins with a hook only when a current source supports it. Relevance, offer and ask stay specific to the recipient’s role.</a:t>
            </a:r>
            <a:endParaRPr sz="1250"/>
          </a:p>
        </p:txBody>
      </p:sp>
      <p:sp>
        <p:nvSpPr>
          <p:cNvPr id="19" name="Text 17">
            <a:extLst xmlns:a="http://schemas.openxmlformats.org/drawingml/2006/main">
              <a:ext uri="{FF2B5EF4-FFF2-40B4-BE49-F238E27FC236}">
                <a16:creationId xmlns:a16="http://schemas.microsoft.com/office/drawing/2014/main" id="{39B287E4-CE17-4297-AF81-BE1249B5BB6F}"/>
              </a:ext>
            </a:extLst>
          </p:cNvPr>
          <p:cNvSpPr>
            <a:spLocks xmlns:a="http://schemas.openxmlformats.org/drawingml/2006/main" noGrp="1"/>
          </p:cNvSpPr>
          <p:nvPr/>
        </p:nvSpPr>
        <p:spPr>
          <a:xfrm xmlns:a="http://schemas.openxmlformats.org/drawingml/2006/main">
            <a:off x="7406640" y="1371600"/>
            <a:ext cx="3657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18283"/>
                </a:solidFill>
                <a:latin typeface="Arial"/>
                <a:ea typeface="Arial"/>
                <a:cs typeface="Arial"/>
              </a:rPr>
              <a:t>VALUE EXCHANGE</a:t>
            </a:r>
            <a:endParaRPr sz="900"/>
          </a:p>
        </p:txBody>
      </p:sp>
      <p:sp>
        <p:nvSpPr>
          <p:cNvPr id="20" name="Shape 18">
            <a:extLst xmlns:a="http://schemas.openxmlformats.org/drawingml/2006/main">
              <a:ext uri="{FF2B5EF4-FFF2-40B4-BE49-F238E27FC236}">
                <a16:creationId xmlns:a16="http://schemas.microsoft.com/office/drawing/2014/main" id="{2DBE2B00-820E-4DBF-B596-5D93F27CF0A4}"/>
              </a:ext>
            </a:extLst>
          </p:cNvPr>
          <p:cNvSpPr>
            <a:spLocks xmlns:a="http://schemas.openxmlformats.org/drawingml/2006/main" noGrp="1"/>
          </p:cNvSpPr>
          <p:nvPr/>
        </p:nvSpPr>
        <p:spPr>
          <a:xfrm xmlns:a="http://schemas.openxmlformats.org/drawingml/2006/main">
            <a:off x="7406640" y="1691640"/>
            <a:ext cx="4236415" cy="960120"/>
          </a:xfrm>
          <a:prstGeom xmlns:a="http://schemas.openxmlformats.org/drawingml/2006/main" prst="roundRect">
            <a:avLst>
              <a:gd name="adj" fmla="val 6667"/>
            </a:avLst>
          </a:prstGeom>
          <a:solidFill xmlns:a="http://schemas.openxmlformats.org/drawingml/2006/main">
            <a:srgbClr val="D9ECF9"/>
          </a:solidFill>
          <a:ln xmlns:a="http://schemas.openxmlformats.org/drawingml/2006/main" w="12700">
            <a:solidFill>
              <a:srgbClr val="D9ECF9"/>
            </a:solidFill>
            <a:prstDash val="solid"/>
          </a:ln>
        </p:spPr>
      </p:sp>
      <p:sp>
        <p:nvSpPr>
          <p:cNvPr id="21" name="Text 19">
            <a:extLst xmlns:a="http://schemas.openxmlformats.org/drawingml/2006/main">
              <a:ext uri="{FF2B5EF4-FFF2-40B4-BE49-F238E27FC236}">
                <a16:creationId xmlns:a16="http://schemas.microsoft.com/office/drawing/2014/main" id="{B740C2C8-8D7D-4532-9B41-5F2C7F140907}"/>
              </a:ext>
            </a:extLst>
          </p:cNvPr>
          <p:cNvSpPr>
            <a:spLocks xmlns:a="http://schemas.openxmlformats.org/drawingml/2006/main" noGrp="1"/>
          </p:cNvSpPr>
          <p:nvPr/>
        </p:nvSpPr>
        <p:spPr>
          <a:xfrm xmlns:a="http://schemas.openxmlformats.org/drawingml/2006/main">
            <a:off x="7680960" y="1856232"/>
            <a:ext cx="36877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002368"/>
                </a:solidFill>
                <a:latin typeface="Arial"/>
                <a:ea typeface="Arial"/>
                <a:cs typeface="Arial"/>
              </a:rPr>
              <a:t>Value for the organisation</a:t>
            </a:r>
            <a:endParaRPr sz="1250"/>
          </a:p>
        </p:txBody>
      </p:sp>
      <p:sp>
        <p:nvSpPr>
          <p:cNvPr id="22" name="Text 20">
            <a:extLst xmlns:a="http://schemas.openxmlformats.org/drawingml/2006/main">
              <a:ext uri="{FF2B5EF4-FFF2-40B4-BE49-F238E27FC236}">
                <a16:creationId xmlns:a16="http://schemas.microsoft.com/office/drawing/2014/main" id="{BA036E9A-8249-4AE2-9A2F-25525F3B44A9}"/>
              </a:ext>
            </a:extLst>
          </p:cNvPr>
          <p:cNvSpPr>
            <a:spLocks xmlns:a="http://schemas.openxmlformats.org/drawingml/2006/main" noGrp="1"/>
          </p:cNvSpPr>
          <p:nvPr/>
        </p:nvSpPr>
        <p:spPr>
          <a:xfrm xmlns:a="http://schemas.openxmlformats.org/drawingml/2006/main">
            <a:off x="7680960" y="2148840"/>
            <a:ext cx="368777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000000"/>
                </a:solidFill>
                <a:latin typeface="Arial"/>
                <a:ea typeface="Arial"/>
                <a:cs typeface="Arial"/>
              </a:rPr>
              <a:t>A useful education option for staff with little administrative work.</a:t>
            </a:r>
            <a:endParaRPr sz="1050"/>
          </a:p>
        </p:txBody>
      </p:sp>
      <p:sp>
        <p:nvSpPr>
          <p:cNvPr id="23" name="Shape 21">
            <a:extLst xmlns:a="http://schemas.openxmlformats.org/drawingml/2006/main">
              <a:ext uri="{FF2B5EF4-FFF2-40B4-BE49-F238E27FC236}">
                <a16:creationId xmlns:a16="http://schemas.microsoft.com/office/drawing/2014/main" id="{F8A0274C-7F56-4EA1-A8FC-A953012BE4BF}"/>
              </a:ext>
            </a:extLst>
          </p:cNvPr>
          <p:cNvSpPr>
            <a:spLocks xmlns:a="http://schemas.openxmlformats.org/drawingml/2006/main" noGrp="1"/>
          </p:cNvSpPr>
          <p:nvPr/>
        </p:nvSpPr>
        <p:spPr>
          <a:xfrm xmlns:a="http://schemas.openxmlformats.org/drawingml/2006/main">
            <a:off x="7406640" y="2834640"/>
            <a:ext cx="4236415" cy="960120"/>
          </a:xfrm>
          <a:prstGeom xmlns:a="http://schemas.openxmlformats.org/drawingml/2006/main" prst="roundRect">
            <a:avLst>
              <a:gd name="adj" fmla="val 6667"/>
            </a:avLst>
          </a:prstGeom>
          <a:solidFill xmlns:a="http://schemas.openxmlformats.org/drawingml/2006/main">
            <a:srgbClr val="D9ECF9"/>
          </a:solidFill>
          <a:ln xmlns:a="http://schemas.openxmlformats.org/drawingml/2006/main" w="12700">
            <a:solidFill>
              <a:srgbClr val="D9ECF9"/>
            </a:solidFill>
            <a:prstDash val="solid"/>
          </a:ln>
        </p:spPr>
      </p:sp>
      <p:sp>
        <p:nvSpPr>
          <p:cNvPr id="24" name="Text 22">
            <a:extLst xmlns:a="http://schemas.openxmlformats.org/drawingml/2006/main">
              <a:ext uri="{FF2B5EF4-FFF2-40B4-BE49-F238E27FC236}">
                <a16:creationId xmlns:a16="http://schemas.microsoft.com/office/drawing/2014/main" id="{A192EBF9-594F-4104-86D2-F2443CAE4BA4}"/>
              </a:ext>
            </a:extLst>
          </p:cNvPr>
          <p:cNvSpPr>
            <a:spLocks xmlns:a="http://schemas.openxmlformats.org/drawingml/2006/main" noGrp="1"/>
          </p:cNvSpPr>
          <p:nvPr/>
        </p:nvSpPr>
        <p:spPr>
          <a:xfrm xmlns:a="http://schemas.openxmlformats.org/drawingml/2006/main">
            <a:off x="7680960" y="2999232"/>
            <a:ext cx="36877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002368"/>
                </a:solidFill>
                <a:latin typeface="Arial"/>
                <a:ea typeface="Arial"/>
                <a:cs typeface="Arial"/>
              </a:rPr>
              <a:t>Value for Silverleaf</a:t>
            </a:r>
            <a:endParaRPr sz="1250"/>
          </a:p>
        </p:txBody>
      </p:sp>
      <p:sp>
        <p:nvSpPr>
          <p:cNvPr id="25" name="Text 23">
            <a:extLst xmlns:a="http://schemas.openxmlformats.org/drawingml/2006/main">
              <a:ext uri="{FF2B5EF4-FFF2-40B4-BE49-F238E27FC236}">
                <a16:creationId xmlns:a16="http://schemas.microsoft.com/office/drawing/2014/main" id="{6ABDAC97-CCE7-498B-AF29-6FCBE2BA0975}"/>
              </a:ext>
            </a:extLst>
          </p:cNvPr>
          <p:cNvSpPr>
            <a:spLocks xmlns:a="http://schemas.openxmlformats.org/drawingml/2006/main" noGrp="1"/>
          </p:cNvSpPr>
          <p:nvPr/>
        </p:nvSpPr>
        <p:spPr>
          <a:xfrm xmlns:a="http://schemas.openxmlformats.org/drawingml/2006/main">
            <a:off x="7680960" y="3291840"/>
            <a:ext cx="368777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000000"/>
                </a:solidFill>
                <a:latin typeface="Arial"/>
                <a:ea typeface="Arial"/>
                <a:cs typeface="Arial"/>
              </a:rPr>
              <a:t>Access to interested parents through trusted internal channels.</a:t>
            </a:r>
            <a:endParaRPr sz="1050"/>
          </a:p>
        </p:txBody>
      </p:sp>
      <p:sp>
        <p:nvSpPr>
          <p:cNvPr id="26" name="Shape 24">
            <a:extLst xmlns:a="http://schemas.openxmlformats.org/drawingml/2006/main">
              <a:ext uri="{FF2B5EF4-FFF2-40B4-BE49-F238E27FC236}">
                <a16:creationId xmlns:a16="http://schemas.microsoft.com/office/drawing/2014/main" id="{DF34A85B-7CDB-492F-B920-DEB6A56D5820}"/>
              </a:ext>
            </a:extLst>
          </p:cNvPr>
          <p:cNvSpPr>
            <a:spLocks xmlns:a="http://schemas.openxmlformats.org/drawingml/2006/main" noGrp="1"/>
          </p:cNvSpPr>
          <p:nvPr/>
        </p:nvSpPr>
        <p:spPr>
          <a:xfrm xmlns:a="http://schemas.openxmlformats.org/drawingml/2006/main">
            <a:off x="7406640" y="4023360"/>
            <a:ext cx="4236415" cy="1417320"/>
          </a:xfrm>
          <a:prstGeom xmlns:a="http://schemas.openxmlformats.org/drawingml/2006/main" prst="roundRect">
            <a:avLst>
              <a:gd name="adj" fmla="val 4516"/>
            </a:avLst>
          </a:prstGeom>
          <a:solidFill xmlns:a="http://schemas.openxmlformats.org/drawingml/2006/main">
            <a:srgbClr val="FFF7E5"/>
          </a:solidFill>
          <a:ln xmlns:a="http://schemas.openxmlformats.org/drawingml/2006/main" w="12700">
            <a:solidFill>
              <a:srgbClr val="FFF7E5"/>
            </a:solidFill>
            <a:prstDash val="solid"/>
          </a:ln>
        </p:spPr>
      </p:sp>
      <p:sp>
        <p:nvSpPr>
          <p:cNvPr id="27" name="Text 25">
            <a:extLst xmlns:a="http://schemas.openxmlformats.org/drawingml/2006/main">
              <a:ext uri="{FF2B5EF4-FFF2-40B4-BE49-F238E27FC236}">
                <a16:creationId xmlns:a16="http://schemas.microsoft.com/office/drawing/2014/main" id="{5B365F0B-8F46-43FE-9E55-849DB0ECB97E}"/>
              </a:ext>
            </a:extLst>
          </p:cNvPr>
          <p:cNvSpPr>
            <a:spLocks xmlns:a="http://schemas.openxmlformats.org/drawingml/2006/main" noGrp="1"/>
          </p:cNvSpPr>
          <p:nvPr/>
        </p:nvSpPr>
        <p:spPr>
          <a:xfrm xmlns:a="http://schemas.openxmlformats.org/drawingml/2006/main">
            <a:off x="7680960" y="4224528"/>
            <a:ext cx="310896" cy="273588"/>
          </a:xfrm>
          <a:prstGeom xmlns:a="http://schemas.openxmlformats.org/drawingml/2006/main" prst="hexagon">
            <a:avLst/>
          </a:prstGeom>
          <a:solidFill xmlns:a="http://schemas.openxmlformats.org/drawingml/2006/main">
            <a:srgbClr val="FFC952"/>
          </a:solidFill>
          <a:ln xmlns:a="http://schemas.openxmlformats.org/drawingml/2006/main">
            <a:solidFill>
              <a:srgbClr val="FFC952"/>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02368"/>
                </a:solidFill>
                <a:latin typeface="Arial"/>
                <a:ea typeface="Arial"/>
                <a:cs typeface="Arial"/>
              </a:rPr>
              <a:t>!</a:t>
            </a:r>
            <a:endParaRPr sz="1100"/>
          </a:p>
        </p:txBody>
      </p:sp>
      <p:sp>
        <p:nvSpPr>
          <p:cNvPr id="28" name="Text 26">
            <a:extLst xmlns:a="http://schemas.openxmlformats.org/drawingml/2006/main">
              <a:ext uri="{FF2B5EF4-FFF2-40B4-BE49-F238E27FC236}">
                <a16:creationId xmlns:a16="http://schemas.microsoft.com/office/drawing/2014/main" id="{44E860BD-4657-46EF-9120-3593229B7C42}"/>
              </a:ext>
            </a:extLst>
          </p:cNvPr>
          <p:cNvSpPr>
            <a:spLocks xmlns:a="http://schemas.openxmlformats.org/drawingml/2006/main" noGrp="1"/>
          </p:cNvSpPr>
          <p:nvPr/>
        </p:nvSpPr>
        <p:spPr>
          <a:xfrm xmlns:a="http://schemas.openxmlformats.org/drawingml/2006/main">
            <a:off x="8138160" y="4187952"/>
            <a:ext cx="32305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002368"/>
                </a:solidFill>
                <a:latin typeface="Arial"/>
                <a:ea typeface="Arial"/>
                <a:cs typeface="Arial"/>
              </a:rPr>
              <a:t>Claims held for approval</a:t>
            </a:r>
            <a:endParaRPr sz="1250"/>
          </a:p>
        </p:txBody>
      </p:sp>
      <p:sp>
        <p:nvSpPr>
          <p:cNvPr id="29" name="Text 27">
            <a:extLst xmlns:a="http://schemas.openxmlformats.org/drawingml/2006/main">
              <a:ext uri="{FF2B5EF4-FFF2-40B4-BE49-F238E27FC236}">
                <a16:creationId xmlns:a16="http://schemas.microsoft.com/office/drawing/2014/main" id="{024471B8-B72A-4811-BAC0-38B7C13C7852}"/>
              </a:ext>
            </a:extLst>
          </p:cNvPr>
          <p:cNvSpPr>
            <a:spLocks xmlns:a="http://schemas.openxmlformats.org/drawingml/2006/main" noGrp="1"/>
          </p:cNvSpPr>
          <p:nvPr/>
        </p:nvSpPr>
        <p:spPr>
          <a:xfrm xmlns:a="http://schemas.openxmlformats.org/drawingml/2006/main">
            <a:off x="8138160" y="4480560"/>
            <a:ext cx="3230575"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050">
                <a:solidFill>
                  <a:srgbClr val="000000"/>
                </a:solidFill>
                <a:latin typeface="Arial"/>
                <a:ea typeface="Arial"/>
                <a:cs typeface="Arial"/>
              </a:rPr>
              <a:t>Discounts, scholarships, reserved places, transport availability and formal employee benefits require current approval before use.</a:t>
            </a:r>
            <a:endParaRPr sz="1050"/>
          </a:p>
        </p:txBody>
      </p:sp>
      <p:pic>
        <p:nvPicPr>
          <p:cNvPr id="62" name="Image 0"/>
          <p:cNvPicPr>
            <a:picLocks xmlns:a="http://schemas.openxmlformats.org/drawingml/2006/main" noChangeAspect="1"/>
          </p:cNvPicPr>
          <p:nvPr/>
        </p:nvPicPr>
        <p:blipFill>
          <a:blip xmlns:r="http://schemas.openxmlformats.org/officeDocument/2006/relationships" xmlns:a="http://schemas.openxmlformats.org/drawingml/2006/main" r:embed="Rfbdc0612ab3643de"/>
          <a:stretch xmlns:a="http://schemas.openxmlformats.org/drawingml/2006/main">
            <a:fillRect l="0" t="0" r="0" b="0"/>
          </a:stretch>
        </p:blipFill>
        <p:spPr>
          <a:xfrm xmlns:a="http://schemas.openxmlformats.org/drawingml/2006/main">
            <a:off x="548640" y="6272784"/>
            <a:ext cx="1143000" cy="272176"/>
          </a:xfrm>
          <a:prstGeom xmlns:a="http://schemas.openxmlformats.org/drawingml/2006/main" prst="rect">
            <a:avLst/>
          </a:prstGeom>
        </p:spPr>
      </p:pic>
      <p:sp>
        <p:nvSpPr>
          <p:cNvPr id="31" name="Text 28">
            <a:extLst xmlns:a="http://schemas.openxmlformats.org/drawingml/2006/main">
              <a:ext uri="{FF2B5EF4-FFF2-40B4-BE49-F238E27FC236}">
                <a16:creationId xmlns:a16="http://schemas.microsoft.com/office/drawing/2014/main" id="{4877E705-B886-4D10-A7F8-1AEC960FD399}"/>
              </a:ext>
            </a:extLst>
          </p:cNvPr>
          <p:cNvSpPr>
            <a:spLocks xmlns:a="http://schemas.openxmlformats.org/drawingml/2006/main" noGrp="1"/>
          </p:cNvSpPr>
          <p:nvPr/>
        </p:nvSpPr>
        <p:spPr>
          <a:xfrm xmlns:a="http://schemas.openxmlformats.org/drawingml/2006/main">
            <a:off x="1965960" y="6309360"/>
            <a:ext cx="85953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818283"/>
                </a:solidFill>
                <a:latin typeface="Arial"/>
                <a:ea typeface="Arial"/>
                <a:cs typeface="Arial"/>
              </a:rPr>
              <a:t>Source: Silverleaf outreach strategy, hook guidance and approved brand positioning</a:t>
            </a:r>
            <a:endParaRPr sz="800"/>
          </a:p>
        </p:txBody>
      </p:sp>
      <p:sp>
        <p:nvSpPr>
          <p:cNvPr id="32" name="Text 29">
            <a:extLst xmlns:a="http://schemas.openxmlformats.org/drawingml/2006/main">
              <a:ext uri="{FF2B5EF4-FFF2-40B4-BE49-F238E27FC236}">
                <a16:creationId xmlns:a16="http://schemas.microsoft.com/office/drawing/2014/main" id="{76ADE9F8-934F-42F2-B4FB-EAE16A38F6C4}"/>
              </a:ext>
            </a:extLst>
          </p:cNvPr>
          <p:cNvSpPr>
            <a:spLocks xmlns:a="http://schemas.openxmlformats.org/drawingml/2006/main" noGrp="1"/>
          </p:cNvSpPr>
          <p:nvPr/>
        </p:nvSpPr>
        <p:spPr>
          <a:xfrm xmlns:a="http://schemas.openxmlformats.org/drawingml/2006/main">
            <a:off x="10911535" y="6254496"/>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002368"/>
                </a:solidFill>
                <a:latin typeface="Georgia"/>
                <a:ea typeface="Georgia"/>
                <a:cs typeface="Georgia"/>
              </a:rPr>
              <a:t>08</a:t>
            </a:r>
            <a:endParaRPr sz="1200"/>
          </a:p>
        </p:txBody>
      </p:sp>
    </p:spTree>
    <p:extLst>
      <p:ext uri="{BB962C8B-B14F-4D97-AF65-F5344CB8AC3E}">
        <p14:creationId xmlns:p14="http://schemas.microsoft.com/office/powerpoint/2010/main" val="19074505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00BF386-6E03-4972-A1D3-68888CEA2D54}"/>
              </a:ext>
            </a:extLst>
          </p:cNvPr>
          <p:cNvSpPr>
            <a:spLocks xmlns:a="http://schemas.openxmlformats.org/drawingml/2006/main" noGrp="1"/>
          </p:cNvSpPr>
          <p:nvPr/>
        </p:nvSpPr>
        <p:spPr>
          <a:xfrm xmlns:a="http://schemas.openxmlformats.org/drawingml/2006/main">
            <a:off x="548640" y="384048"/>
            <a:ext cx="8229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18283"/>
                </a:solidFill>
                <a:latin typeface="Arial"/>
                <a:ea typeface="Arial"/>
                <a:cs typeface="Arial"/>
              </a:rPr>
              <a:t>ORGANISATIONAL TRACK  ·  SEQUENCES</a:t>
            </a:r>
            <a:endParaRPr sz="900"/>
          </a:p>
        </p:txBody>
      </p:sp>
      <p:sp>
        <p:nvSpPr>
          <p:cNvPr id="3" name="Text 1">
            <a:extLst xmlns:a="http://schemas.openxmlformats.org/drawingml/2006/main">
              <a:ext uri="{FF2B5EF4-FFF2-40B4-BE49-F238E27FC236}">
                <a16:creationId xmlns:a16="http://schemas.microsoft.com/office/drawing/2014/main" id="{7028F41C-33E9-4E5D-BEC7-0DBE7E254646}"/>
              </a:ext>
            </a:extLst>
          </p:cNvPr>
          <p:cNvSpPr>
            <a:spLocks xmlns:a="http://schemas.openxmlformats.org/drawingml/2006/main" noGrp="1"/>
          </p:cNvSpPr>
          <p:nvPr/>
        </p:nvSpPr>
        <p:spPr>
          <a:xfrm xmlns:a="http://schemas.openxmlformats.org/drawingml/2006/main">
            <a:off x="548640" y="603504"/>
            <a:ext cx="9601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02368"/>
                </a:solidFill>
                <a:latin typeface="Arial"/>
                <a:ea typeface="Arial"/>
                <a:cs typeface="Arial"/>
              </a:rPr>
              <a:t>Outreach intensity follows lead readiness</a:t>
            </a:r>
            <a:endParaRPr sz="2600"/>
          </a:p>
        </p:txBody>
      </p:sp>
      <p:sp>
        <p:nvSpPr>
          <p:cNvPr id="4" name="Text 2">
            <a:extLst xmlns:a="http://schemas.openxmlformats.org/drawingml/2006/main">
              <a:ext uri="{FF2B5EF4-FFF2-40B4-BE49-F238E27FC236}">
                <a16:creationId xmlns:a16="http://schemas.microsoft.com/office/drawing/2014/main" id="{0D243908-A62D-4EDF-91AB-E53A7DA7BCDE}"/>
              </a:ext>
            </a:extLst>
          </p:cNvPr>
          <p:cNvSpPr>
            <a:spLocks xmlns:a="http://schemas.openxmlformats.org/drawingml/2006/main" noGrp="1"/>
          </p:cNvSpPr>
          <p:nvPr/>
        </p:nvSpPr>
        <p:spPr>
          <a:xfrm xmlns:a="http://schemas.openxmlformats.org/drawingml/2006/main">
            <a:off x="548640" y="1298448"/>
            <a:ext cx="7315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002368"/>
                </a:solidFill>
                <a:latin typeface="Georgia"/>
                <a:ea typeface="Georgia"/>
                <a:cs typeface="Georgia"/>
              </a:rPr>
              <a:t>Most leads need routing before they receive a partnership pitch.</a:t>
            </a:r>
            <a:endParaRPr sz="1600"/>
          </a:p>
        </p:txBody>
      </p:sp>
      <p:sp>
        <p:nvSpPr>
          <p:cNvPr id="5" name="Text 3">
            <a:extLst xmlns:a="http://schemas.openxmlformats.org/drawingml/2006/main">
              <a:ext uri="{FF2B5EF4-FFF2-40B4-BE49-F238E27FC236}">
                <a16:creationId xmlns:a16="http://schemas.microsoft.com/office/drawing/2014/main" id="{3017BC26-3889-4CEE-8AFA-DDBF8701510A}"/>
              </a:ext>
            </a:extLst>
          </p:cNvPr>
          <p:cNvSpPr>
            <a:spLocks xmlns:a="http://schemas.openxmlformats.org/drawingml/2006/main" noGrp="1"/>
          </p:cNvSpPr>
          <p:nvPr/>
        </p:nvSpPr>
        <p:spPr>
          <a:xfrm xmlns:a="http://schemas.openxmlformats.org/drawingml/2006/main">
            <a:off x="548640" y="166420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818283"/>
                </a:solidFill>
                <a:latin typeface="Arial"/>
                <a:ea typeface="Arial"/>
                <a:cs typeface="Arial"/>
              </a:rPr>
              <a:t>The sequence gets longer only when the recipient and offer fit are better supported.</a:t>
            </a:r>
            <a:endParaRPr sz="1100"/>
          </a:p>
        </p:txBody>
      </p:sp>
      <p:sp>
        <p:nvSpPr>
          <p:cNvPr id="6" name="Shape 4">
            <a:extLst xmlns:a="http://schemas.openxmlformats.org/drawingml/2006/main">
              <a:ext uri="{FF2B5EF4-FFF2-40B4-BE49-F238E27FC236}">
                <a16:creationId xmlns:a16="http://schemas.microsoft.com/office/drawing/2014/main" id="{8C06ED03-D6B1-4D3B-BF59-AF443A785F05}"/>
              </a:ext>
            </a:extLst>
          </p:cNvPr>
          <p:cNvSpPr>
            <a:spLocks xmlns:a="http://schemas.openxmlformats.org/drawingml/2006/main" noGrp="1"/>
          </p:cNvSpPr>
          <p:nvPr/>
        </p:nvSpPr>
        <p:spPr>
          <a:xfrm xmlns:a="http://schemas.openxmlformats.org/drawingml/2006/main">
            <a:off x="548640" y="2148840"/>
            <a:ext cx="7739852" cy="310896"/>
          </a:xfrm>
          <a:prstGeom xmlns:a="http://schemas.openxmlformats.org/drawingml/2006/main" prst="rect">
            <a:avLst/>
          </a:prstGeom>
          <a:solidFill xmlns:a="http://schemas.openxmlformats.org/drawingml/2006/main">
            <a:srgbClr val="002368"/>
          </a:solidFill>
          <a:ln xmlns:a="http://schemas.openxmlformats.org/drawingml/2006/main" w="12700">
            <a:solidFill>
              <a:srgbClr val="002368"/>
            </a:solidFill>
            <a:prstDash val="solid"/>
          </a:ln>
        </p:spPr>
      </p:sp>
      <p:sp>
        <p:nvSpPr>
          <p:cNvPr id="7" name="Text 5">
            <a:extLst xmlns:a="http://schemas.openxmlformats.org/drawingml/2006/main">
              <a:ext uri="{FF2B5EF4-FFF2-40B4-BE49-F238E27FC236}">
                <a16:creationId xmlns:a16="http://schemas.microsoft.com/office/drawing/2014/main" id="{7F4D9E80-9EAC-4564-A602-C96A9EF049DE}"/>
              </a:ext>
            </a:extLst>
          </p:cNvPr>
          <p:cNvSpPr>
            <a:spLocks xmlns:a="http://schemas.openxmlformats.org/drawingml/2006/main" noGrp="1"/>
          </p:cNvSpPr>
          <p:nvPr/>
        </p:nvSpPr>
        <p:spPr>
          <a:xfrm xmlns:a="http://schemas.openxmlformats.org/drawingml/2006/main">
            <a:off x="685800" y="2148840"/>
            <a:ext cx="755697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FFFFFF"/>
                </a:solidFill>
                <a:latin typeface="Arial"/>
                <a:ea typeface="Arial"/>
                <a:cs typeface="Arial"/>
              </a:rPr>
              <a:t>70%  ·  651 plans</a:t>
            </a:r>
            <a:endParaRPr sz="950"/>
          </a:p>
        </p:txBody>
      </p:sp>
      <p:sp>
        <p:nvSpPr>
          <p:cNvPr id="8" name="Shape 6">
            <a:extLst xmlns:a="http://schemas.openxmlformats.org/drawingml/2006/main">
              <a:ext uri="{FF2B5EF4-FFF2-40B4-BE49-F238E27FC236}">
                <a16:creationId xmlns:a16="http://schemas.microsoft.com/office/drawing/2014/main" id="{D43767B7-F766-4263-A39F-D67977E84559}"/>
              </a:ext>
            </a:extLst>
          </p:cNvPr>
          <p:cNvSpPr>
            <a:spLocks xmlns:a="http://schemas.openxmlformats.org/drawingml/2006/main" noGrp="1"/>
          </p:cNvSpPr>
          <p:nvPr/>
        </p:nvSpPr>
        <p:spPr>
          <a:xfrm xmlns:a="http://schemas.openxmlformats.org/drawingml/2006/main">
            <a:off x="8325068" y="2148840"/>
            <a:ext cx="725240" cy="310896"/>
          </a:xfrm>
          <a:prstGeom xmlns:a="http://schemas.openxmlformats.org/drawingml/2006/main" prst="rect">
            <a:avLst/>
          </a:prstGeom>
          <a:solidFill xmlns:a="http://schemas.openxmlformats.org/drawingml/2006/main">
            <a:srgbClr val="FFC952"/>
          </a:solidFill>
          <a:ln xmlns:a="http://schemas.openxmlformats.org/drawingml/2006/main" w="12700">
            <a:solidFill>
              <a:srgbClr val="FFC952"/>
            </a:solidFill>
            <a:prstDash val="solid"/>
          </a:ln>
        </p:spPr>
      </p:sp>
      <p:sp>
        <p:nvSpPr>
          <p:cNvPr id="9" name="Text 7">
            <a:extLst xmlns:a="http://schemas.openxmlformats.org/drawingml/2006/main">
              <a:ext uri="{FF2B5EF4-FFF2-40B4-BE49-F238E27FC236}">
                <a16:creationId xmlns:a16="http://schemas.microsoft.com/office/drawing/2014/main" id="{B9665FE6-76E7-4720-8E0B-3A4C11EB1391}"/>
              </a:ext>
            </a:extLst>
          </p:cNvPr>
          <p:cNvSpPr>
            <a:spLocks xmlns:a="http://schemas.openxmlformats.org/drawingml/2006/main" noGrp="1"/>
          </p:cNvSpPr>
          <p:nvPr/>
        </p:nvSpPr>
        <p:spPr>
          <a:xfrm xmlns:a="http://schemas.openxmlformats.org/drawingml/2006/main">
            <a:off x="8462228" y="2148840"/>
            <a:ext cx="542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002368"/>
                </a:solidFill>
                <a:latin typeface="Arial"/>
                <a:ea typeface="Arial"/>
                <a:cs typeface="Arial"/>
              </a:rPr>
              <a:t>7%</a:t>
            </a:r>
            <a:endParaRPr sz="950"/>
          </a:p>
        </p:txBody>
      </p:sp>
      <p:sp>
        <p:nvSpPr>
          <p:cNvPr id="10" name="Shape 8">
            <a:extLst xmlns:a="http://schemas.openxmlformats.org/drawingml/2006/main">
              <a:ext uri="{FF2B5EF4-FFF2-40B4-BE49-F238E27FC236}">
                <a16:creationId xmlns:a16="http://schemas.microsoft.com/office/drawing/2014/main" id="{70134FFA-249D-481B-993C-EB1E54C4BEA3}"/>
              </a:ext>
            </a:extLst>
          </p:cNvPr>
          <p:cNvSpPr>
            <a:spLocks xmlns:a="http://schemas.openxmlformats.org/drawingml/2006/main" noGrp="1"/>
          </p:cNvSpPr>
          <p:nvPr/>
        </p:nvSpPr>
        <p:spPr>
          <a:xfrm xmlns:a="http://schemas.openxmlformats.org/drawingml/2006/main">
            <a:off x="9086883" y="2148840"/>
            <a:ext cx="2556172" cy="310896"/>
          </a:xfrm>
          <a:prstGeom xmlns:a="http://schemas.openxmlformats.org/drawingml/2006/main" prst="rect">
            <a:avLst/>
          </a:prstGeom>
          <a:solidFill xmlns:a="http://schemas.openxmlformats.org/drawingml/2006/main">
            <a:srgbClr val="ECECEC"/>
          </a:solidFill>
          <a:ln xmlns:a="http://schemas.openxmlformats.org/drawingml/2006/main" w="12700">
            <a:solidFill>
              <a:srgbClr val="ECECEC"/>
            </a:solidFill>
            <a:prstDash val="solid"/>
          </a:ln>
        </p:spPr>
      </p:sp>
      <p:sp>
        <p:nvSpPr>
          <p:cNvPr id="11" name="Text 9">
            <a:extLst xmlns:a="http://schemas.openxmlformats.org/drawingml/2006/main">
              <a:ext uri="{FF2B5EF4-FFF2-40B4-BE49-F238E27FC236}">
                <a16:creationId xmlns:a16="http://schemas.microsoft.com/office/drawing/2014/main" id="{9CCA1714-5A5E-410C-9D1F-D83C4C39C39C}"/>
              </a:ext>
            </a:extLst>
          </p:cNvPr>
          <p:cNvSpPr>
            <a:spLocks xmlns:a="http://schemas.openxmlformats.org/drawingml/2006/main" noGrp="1"/>
          </p:cNvSpPr>
          <p:nvPr/>
        </p:nvSpPr>
        <p:spPr>
          <a:xfrm xmlns:a="http://schemas.openxmlformats.org/drawingml/2006/main">
            <a:off x="9224043" y="2148840"/>
            <a:ext cx="23732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002368"/>
                </a:solidFill>
                <a:latin typeface="Arial"/>
                <a:ea typeface="Arial"/>
                <a:cs typeface="Arial"/>
              </a:rPr>
              <a:t>23%  ·  215 plans</a:t>
            </a:r>
            <a:endParaRPr sz="950"/>
          </a:p>
        </p:txBody>
      </p:sp>
      <p:sp>
        <p:nvSpPr>
          <p:cNvPr id="12" name="Text 10">
            <a:extLst xmlns:a="http://schemas.openxmlformats.org/drawingml/2006/main">
              <a:ext uri="{FF2B5EF4-FFF2-40B4-BE49-F238E27FC236}">
                <a16:creationId xmlns:a16="http://schemas.microsoft.com/office/drawing/2014/main" id="{D13FB6B0-CE7C-4256-8A54-53E5C3356944}"/>
              </a:ext>
            </a:extLst>
          </p:cNvPr>
          <p:cNvSpPr>
            <a:spLocks xmlns:a="http://schemas.openxmlformats.org/drawingml/2006/main" noGrp="1"/>
          </p:cNvSpPr>
          <p:nvPr/>
        </p:nvSpPr>
        <p:spPr>
          <a:xfrm xmlns:a="http://schemas.openxmlformats.org/drawingml/2006/main">
            <a:off x="8899855" y="1892808"/>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818283"/>
                </a:solidFill>
                <a:latin typeface="Arial"/>
                <a:ea typeface="Arial"/>
                <a:cs typeface="Arial"/>
              </a:rPr>
              <a:t>927 outreach plans</a:t>
            </a:r>
            <a:endParaRPr sz="900"/>
          </a:p>
        </p:txBody>
      </p:sp>
      <p:sp>
        <p:nvSpPr>
          <p:cNvPr id="13" name="Shape 11">
            <a:extLst xmlns:a="http://schemas.openxmlformats.org/drawingml/2006/main">
              <a:ext uri="{FF2B5EF4-FFF2-40B4-BE49-F238E27FC236}">
                <a16:creationId xmlns:a16="http://schemas.microsoft.com/office/drawing/2014/main" id="{917EDFD3-12A5-4AB9-9108-E259B750B10A}"/>
              </a:ext>
            </a:extLst>
          </p:cNvPr>
          <p:cNvSpPr>
            <a:spLocks xmlns:a="http://schemas.openxmlformats.org/drawingml/2006/main" noGrp="1"/>
          </p:cNvSpPr>
          <p:nvPr/>
        </p:nvSpPr>
        <p:spPr>
          <a:xfrm xmlns:a="http://schemas.openxmlformats.org/drawingml/2006/main">
            <a:off x="548640" y="2743200"/>
            <a:ext cx="3520440" cy="2286000"/>
          </a:xfrm>
          <a:prstGeom xmlns:a="http://schemas.openxmlformats.org/drawingml/2006/main" prst="roundRect">
            <a:avLst>
              <a:gd name="adj" fmla="val 2800"/>
            </a:avLst>
          </a:prstGeom>
          <a:solidFill xmlns:a="http://schemas.openxmlformats.org/drawingml/2006/main">
            <a:srgbClr val="D9ECF9"/>
          </a:solidFill>
          <a:ln xmlns:a="http://schemas.openxmlformats.org/drawingml/2006/main" w="12700">
            <a:solidFill>
              <a:srgbClr val="D9ECF9"/>
            </a:solidFill>
            <a:prstDash val="solid"/>
          </a:ln>
        </p:spPr>
      </p:sp>
      <p:sp>
        <p:nvSpPr>
          <p:cNvPr id="14" name="Text 12">
            <a:extLst xmlns:a="http://schemas.openxmlformats.org/drawingml/2006/main">
              <a:ext uri="{FF2B5EF4-FFF2-40B4-BE49-F238E27FC236}">
                <a16:creationId xmlns:a16="http://schemas.microsoft.com/office/drawing/2014/main" id="{7AEC2D5A-274C-4472-8BDD-B5F88E5ADE55}"/>
              </a:ext>
            </a:extLst>
          </p:cNvPr>
          <p:cNvSpPr>
            <a:spLocks xmlns:a="http://schemas.openxmlformats.org/drawingml/2006/main" noGrp="1"/>
          </p:cNvSpPr>
          <p:nvPr/>
        </p:nvSpPr>
        <p:spPr>
          <a:xfrm xmlns:a="http://schemas.openxmlformats.org/drawingml/2006/main">
            <a:off x="822960" y="2971800"/>
            <a:ext cx="2011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02368"/>
                </a:solidFill>
                <a:latin typeface="Arial"/>
                <a:ea typeface="Arial"/>
                <a:cs typeface="Arial"/>
              </a:rPr>
              <a:t>Routing first</a:t>
            </a:r>
            <a:endParaRPr sz="1400"/>
          </a:p>
        </p:txBody>
      </p:sp>
      <p:sp>
        <p:nvSpPr>
          <p:cNvPr id="15" name="Text 13">
            <a:extLst xmlns:a="http://schemas.openxmlformats.org/drawingml/2006/main">
              <a:ext uri="{FF2B5EF4-FFF2-40B4-BE49-F238E27FC236}">
                <a16:creationId xmlns:a16="http://schemas.microsoft.com/office/drawing/2014/main" id="{1BE186A4-DE03-4743-BC51-DC886C01F647}"/>
              </a:ext>
            </a:extLst>
          </p:cNvPr>
          <p:cNvSpPr>
            <a:spLocks xmlns:a="http://schemas.openxmlformats.org/drawingml/2006/main" noGrp="1"/>
          </p:cNvSpPr>
          <p:nvPr/>
        </p:nvSpPr>
        <p:spPr>
          <a:xfrm xmlns:a="http://schemas.openxmlformats.org/drawingml/2006/main">
            <a:off x="2788920" y="2880360"/>
            <a:ext cx="10058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2600">
                <a:solidFill>
                  <a:srgbClr val="002368"/>
                </a:solidFill>
                <a:latin typeface="Georgia"/>
                <a:ea typeface="Georgia"/>
                <a:cs typeface="Georgia"/>
              </a:rPr>
              <a:t>70%</a:t>
            </a:r>
            <a:endParaRPr sz="2600"/>
          </a:p>
        </p:txBody>
      </p:sp>
      <p:sp>
        <p:nvSpPr>
          <p:cNvPr id="16" name="Text 14">
            <a:extLst xmlns:a="http://schemas.openxmlformats.org/drawingml/2006/main">
              <a:ext uri="{FF2B5EF4-FFF2-40B4-BE49-F238E27FC236}">
                <a16:creationId xmlns:a16="http://schemas.microsoft.com/office/drawing/2014/main" id="{266C0A07-38F8-4E61-AA9C-CD22E9F5F2E3}"/>
              </a:ext>
            </a:extLst>
          </p:cNvPr>
          <p:cNvSpPr>
            <a:spLocks xmlns:a="http://schemas.openxmlformats.org/drawingml/2006/main" noGrp="1"/>
          </p:cNvSpPr>
          <p:nvPr/>
        </p:nvSpPr>
        <p:spPr>
          <a:xfrm xmlns:a="http://schemas.openxmlformats.org/drawingml/2006/main">
            <a:off x="2788920" y="3364992"/>
            <a:ext cx="1005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818283"/>
                </a:solidFill>
                <a:latin typeface="Arial"/>
                <a:ea typeface="Arial"/>
                <a:cs typeface="Arial"/>
              </a:rPr>
              <a:t>651 plans</a:t>
            </a:r>
            <a:endParaRPr sz="850"/>
          </a:p>
        </p:txBody>
      </p:sp>
      <p:sp>
        <p:nvSpPr>
          <p:cNvPr id="17" name="Text 15">
            <a:extLst xmlns:a="http://schemas.openxmlformats.org/drawingml/2006/main">
              <a:ext uri="{FF2B5EF4-FFF2-40B4-BE49-F238E27FC236}">
                <a16:creationId xmlns:a16="http://schemas.microsoft.com/office/drawing/2014/main" id="{F8110FD7-27CE-4C77-8346-B85AB5918BFE}"/>
              </a:ext>
            </a:extLst>
          </p:cNvPr>
          <p:cNvSpPr>
            <a:spLocks xmlns:a="http://schemas.openxmlformats.org/drawingml/2006/main" noGrp="1"/>
          </p:cNvSpPr>
          <p:nvPr/>
        </p:nvSpPr>
        <p:spPr>
          <a:xfrm xmlns:a="http://schemas.openxmlformats.org/drawingml/2006/main">
            <a:off x="822960" y="3429000"/>
            <a:ext cx="187452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000000"/>
                </a:solidFill>
                <a:latin typeface="Arial"/>
                <a:ea typeface="Arial"/>
                <a:cs typeface="Arial"/>
              </a:rPr>
              <a:t>An organisation route exists, but the decision-maker is not yet confirmed.</a:t>
            </a:r>
            <a:endParaRPr sz="1000"/>
          </a:p>
        </p:txBody>
      </p:sp>
      <p:sp>
        <p:nvSpPr>
          <p:cNvPr id="18" name="Shape 16">
            <a:extLst xmlns:a="http://schemas.openxmlformats.org/drawingml/2006/main">
              <a:ext uri="{FF2B5EF4-FFF2-40B4-BE49-F238E27FC236}">
                <a16:creationId xmlns:a16="http://schemas.microsoft.com/office/drawing/2014/main" id="{48841428-7AE1-411D-BD7E-BB55BD99B945}"/>
              </a:ext>
            </a:extLst>
          </p:cNvPr>
          <p:cNvSpPr>
            <a:spLocks xmlns:a="http://schemas.openxmlformats.org/drawingml/2006/main" noGrp="1"/>
          </p:cNvSpPr>
          <p:nvPr/>
        </p:nvSpPr>
        <p:spPr>
          <a:xfrm xmlns:a="http://schemas.openxmlformats.org/drawingml/2006/main">
            <a:off x="822960" y="4114800"/>
            <a:ext cx="2971800" cy="0"/>
          </a:xfrm>
          <a:prstGeom xmlns:a="http://schemas.openxmlformats.org/drawingml/2006/main" prst="line">
            <a:avLst/>
          </a:prstGeom>
          <a:noFill xmlns:a="http://schemas.openxmlformats.org/drawingml/2006/main"/>
          <a:ln xmlns:a="http://schemas.openxmlformats.org/drawingml/2006/main" w="9525">
            <a:solidFill>
              <a:srgbClr val="002368"/>
            </a:solidFill>
            <a:prstDash val="solid"/>
          </a:ln>
        </p:spPr>
      </p:sp>
      <p:sp>
        <p:nvSpPr>
          <p:cNvPr id="19" name="Text 17">
            <a:extLst xmlns:a="http://schemas.openxmlformats.org/drawingml/2006/main">
              <a:ext uri="{FF2B5EF4-FFF2-40B4-BE49-F238E27FC236}">
                <a16:creationId xmlns:a16="http://schemas.microsoft.com/office/drawing/2014/main" id="{47F09B5F-6973-43BF-8BDC-694D1C1B6C4F}"/>
              </a:ext>
            </a:extLst>
          </p:cNvPr>
          <p:cNvSpPr>
            <a:spLocks xmlns:a="http://schemas.openxmlformats.org/drawingml/2006/main" noGrp="1"/>
          </p:cNvSpPr>
          <p:nvPr/>
        </p:nvSpPr>
        <p:spPr>
          <a:xfrm xmlns:a="http://schemas.openxmlformats.org/drawingml/2006/main">
            <a:off x="822960" y="4224528"/>
            <a:ext cx="5943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02368"/>
                </a:solidFill>
                <a:latin typeface="Arial"/>
                <a:ea typeface="Arial"/>
                <a:cs typeface="Arial"/>
              </a:rPr>
              <a:t>DAY 0</a:t>
            </a:r>
            <a:endParaRPr sz="850"/>
          </a:p>
        </p:txBody>
      </p:sp>
      <p:sp>
        <p:nvSpPr>
          <p:cNvPr id="20" name="Text 18">
            <a:extLst xmlns:a="http://schemas.openxmlformats.org/drawingml/2006/main">
              <a:ext uri="{FF2B5EF4-FFF2-40B4-BE49-F238E27FC236}">
                <a16:creationId xmlns:a16="http://schemas.microsoft.com/office/drawing/2014/main" id="{BC9C2B5F-95CF-43A0-B237-8C6848DF735F}"/>
              </a:ext>
            </a:extLst>
          </p:cNvPr>
          <p:cNvSpPr>
            <a:spLocks xmlns:a="http://schemas.openxmlformats.org/drawingml/2006/main" noGrp="1"/>
          </p:cNvSpPr>
          <p:nvPr/>
        </p:nvSpPr>
        <p:spPr>
          <a:xfrm xmlns:a="http://schemas.openxmlformats.org/drawingml/2006/main">
            <a:off x="1417320" y="4224528"/>
            <a:ext cx="23774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000000"/>
                </a:solidFill>
                <a:latin typeface="Arial"/>
                <a:ea typeface="Arial"/>
                <a:cs typeface="Arial"/>
              </a:rPr>
              <a:t>Brief routing request</a:t>
            </a:r>
            <a:endParaRPr sz="950"/>
          </a:p>
        </p:txBody>
      </p:sp>
      <p:sp>
        <p:nvSpPr>
          <p:cNvPr id="21" name="Text 19">
            <a:extLst xmlns:a="http://schemas.openxmlformats.org/drawingml/2006/main">
              <a:ext uri="{FF2B5EF4-FFF2-40B4-BE49-F238E27FC236}">
                <a16:creationId xmlns:a16="http://schemas.microsoft.com/office/drawing/2014/main" id="{02324BA4-36E3-4A7B-8D60-FA10E595BF15}"/>
              </a:ext>
            </a:extLst>
          </p:cNvPr>
          <p:cNvSpPr>
            <a:spLocks xmlns:a="http://schemas.openxmlformats.org/drawingml/2006/main" noGrp="1"/>
          </p:cNvSpPr>
          <p:nvPr/>
        </p:nvSpPr>
        <p:spPr>
          <a:xfrm xmlns:a="http://schemas.openxmlformats.org/drawingml/2006/main">
            <a:off x="822960" y="4471416"/>
            <a:ext cx="5943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02368"/>
                </a:solidFill>
                <a:latin typeface="Arial"/>
                <a:ea typeface="Arial"/>
                <a:cs typeface="Arial"/>
              </a:rPr>
              <a:t>DAY 5</a:t>
            </a:r>
            <a:endParaRPr sz="850"/>
          </a:p>
        </p:txBody>
      </p:sp>
      <p:sp>
        <p:nvSpPr>
          <p:cNvPr id="22" name="Text 20">
            <a:extLst xmlns:a="http://schemas.openxmlformats.org/drawingml/2006/main">
              <a:ext uri="{FF2B5EF4-FFF2-40B4-BE49-F238E27FC236}">
                <a16:creationId xmlns:a16="http://schemas.microsoft.com/office/drawing/2014/main" id="{2D8A6FBE-9801-4EAA-BC41-307172A55A3C}"/>
              </a:ext>
            </a:extLst>
          </p:cNvPr>
          <p:cNvSpPr>
            <a:spLocks xmlns:a="http://schemas.openxmlformats.org/drawingml/2006/main" noGrp="1"/>
          </p:cNvSpPr>
          <p:nvPr/>
        </p:nvSpPr>
        <p:spPr>
          <a:xfrm xmlns:a="http://schemas.openxmlformats.org/drawingml/2006/main">
            <a:off x="1417320" y="4471416"/>
            <a:ext cx="23774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000000"/>
                </a:solidFill>
                <a:latin typeface="Arial"/>
                <a:ea typeface="Arial"/>
                <a:cs typeface="Arial"/>
              </a:rPr>
              <a:t>One check-in, then stop</a:t>
            </a:r>
            <a:endParaRPr sz="950"/>
          </a:p>
        </p:txBody>
      </p:sp>
      <p:sp>
        <p:nvSpPr>
          <p:cNvPr id="23" name="Shape 21">
            <a:extLst xmlns:a="http://schemas.openxmlformats.org/drawingml/2006/main">
              <a:ext uri="{FF2B5EF4-FFF2-40B4-BE49-F238E27FC236}">
                <a16:creationId xmlns:a16="http://schemas.microsoft.com/office/drawing/2014/main" id="{EA29A1B4-CEBA-48EB-9C6B-BA2E9062F137}"/>
              </a:ext>
            </a:extLst>
          </p:cNvPr>
          <p:cNvSpPr>
            <a:spLocks xmlns:a="http://schemas.openxmlformats.org/drawingml/2006/main" noGrp="1"/>
          </p:cNvSpPr>
          <p:nvPr/>
        </p:nvSpPr>
        <p:spPr>
          <a:xfrm xmlns:a="http://schemas.openxmlformats.org/drawingml/2006/main">
            <a:off x="4334256" y="2743200"/>
            <a:ext cx="3520440" cy="2286000"/>
          </a:xfrm>
          <a:prstGeom xmlns:a="http://schemas.openxmlformats.org/drawingml/2006/main" prst="roundRect">
            <a:avLst>
              <a:gd name="adj" fmla="val 2800"/>
            </a:avLst>
          </a:prstGeom>
          <a:solidFill xmlns:a="http://schemas.openxmlformats.org/drawingml/2006/main">
            <a:srgbClr val="FFF7E5"/>
          </a:solidFill>
          <a:ln xmlns:a="http://schemas.openxmlformats.org/drawingml/2006/main" w="12700">
            <a:solidFill>
              <a:srgbClr val="FFF7E5"/>
            </a:solidFill>
            <a:prstDash val="solid"/>
          </a:ln>
        </p:spPr>
      </p:sp>
      <p:sp>
        <p:nvSpPr>
          <p:cNvPr id="24" name="Text 22">
            <a:extLst xmlns:a="http://schemas.openxmlformats.org/drawingml/2006/main">
              <a:ext uri="{FF2B5EF4-FFF2-40B4-BE49-F238E27FC236}">
                <a16:creationId xmlns:a16="http://schemas.microsoft.com/office/drawing/2014/main" id="{441E5B7A-BE3C-4639-8324-549D766A6575}"/>
              </a:ext>
            </a:extLst>
          </p:cNvPr>
          <p:cNvSpPr>
            <a:spLocks xmlns:a="http://schemas.openxmlformats.org/drawingml/2006/main" noGrp="1"/>
          </p:cNvSpPr>
          <p:nvPr/>
        </p:nvSpPr>
        <p:spPr>
          <a:xfrm xmlns:a="http://schemas.openxmlformats.org/drawingml/2006/main">
            <a:off x="4608576" y="2971800"/>
            <a:ext cx="2011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02368"/>
                </a:solidFill>
                <a:latin typeface="Arial"/>
                <a:ea typeface="Arial"/>
                <a:cs typeface="Arial"/>
              </a:rPr>
              <a:t>Direct recipient</a:t>
            </a:r>
            <a:endParaRPr sz="1400"/>
          </a:p>
        </p:txBody>
      </p:sp>
      <p:sp>
        <p:nvSpPr>
          <p:cNvPr id="25" name="Text 23">
            <a:extLst xmlns:a="http://schemas.openxmlformats.org/drawingml/2006/main">
              <a:ext uri="{FF2B5EF4-FFF2-40B4-BE49-F238E27FC236}">
                <a16:creationId xmlns:a16="http://schemas.microsoft.com/office/drawing/2014/main" id="{BB773C15-9C0E-4D91-AC43-1C12D92D54B4}"/>
              </a:ext>
            </a:extLst>
          </p:cNvPr>
          <p:cNvSpPr>
            <a:spLocks xmlns:a="http://schemas.openxmlformats.org/drawingml/2006/main" noGrp="1"/>
          </p:cNvSpPr>
          <p:nvPr/>
        </p:nvSpPr>
        <p:spPr>
          <a:xfrm xmlns:a="http://schemas.openxmlformats.org/drawingml/2006/main">
            <a:off x="6574536" y="2880360"/>
            <a:ext cx="10058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2600">
                <a:solidFill>
                  <a:srgbClr val="002368"/>
                </a:solidFill>
                <a:latin typeface="Georgia"/>
                <a:ea typeface="Georgia"/>
                <a:cs typeface="Georgia"/>
              </a:rPr>
              <a:t>7%</a:t>
            </a:r>
            <a:endParaRPr sz="2600"/>
          </a:p>
        </p:txBody>
      </p:sp>
      <p:sp>
        <p:nvSpPr>
          <p:cNvPr id="26" name="Text 24">
            <a:extLst xmlns:a="http://schemas.openxmlformats.org/drawingml/2006/main">
              <a:ext uri="{FF2B5EF4-FFF2-40B4-BE49-F238E27FC236}">
                <a16:creationId xmlns:a16="http://schemas.microsoft.com/office/drawing/2014/main" id="{08527C63-E5A6-431C-8A50-29AA09E36A19}"/>
              </a:ext>
            </a:extLst>
          </p:cNvPr>
          <p:cNvSpPr>
            <a:spLocks xmlns:a="http://schemas.openxmlformats.org/drawingml/2006/main" noGrp="1"/>
          </p:cNvSpPr>
          <p:nvPr/>
        </p:nvSpPr>
        <p:spPr>
          <a:xfrm xmlns:a="http://schemas.openxmlformats.org/drawingml/2006/main">
            <a:off x="6574536" y="3364992"/>
            <a:ext cx="1005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818283"/>
                </a:solidFill>
                <a:latin typeface="Arial"/>
                <a:ea typeface="Arial"/>
                <a:cs typeface="Arial"/>
              </a:rPr>
              <a:t>61 plans</a:t>
            </a:r>
            <a:endParaRPr sz="850"/>
          </a:p>
        </p:txBody>
      </p:sp>
      <p:sp>
        <p:nvSpPr>
          <p:cNvPr id="27" name="Text 25">
            <a:extLst xmlns:a="http://schemas.openxmlformats.org/drawingml/2006/main">
              <a:ext uri="{FF2B5EF4-FFF2-40B4-BE49-F238E27FC236}">
                <a16:creationId xmlns:a16="http://schemas.microsoft.com/office/drawing/2014/main" id="{DADC83EA-E9BC-4081-8B1B-9150717DE192}"/>
              </a:ext>
            </a:extLst>
          </p:cNvPr>
          <p:cNvSpPr>
            <a:spLocks xmlns:a="http://schemas.openxmlformats.org/drawingml/2006/main" noGrp="1"/>
          </p:cNvSpPr>
          <p:nvPr/>
        </p:nvSpPr>
        <p:spPr>
          <a:xfrm xmlns:a="http://schemas.openxmlformats.org/drawingml/2006/main">
            <a:off x="4608576" y="3429000"/>
            <a:ext cx="187452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000000"/>
                </a:solidFill>
                <a:latin typeface="Arial"/>
                <a:ea typeface="Arial"/>
                <a:cs typeface="Arial"/>
              </a:rPr>
              <a:t>A named recipient or strong role-based email is available.</a:t>
            </a:r>
            <a:endParaRPr sz="1000"/>
          </a:p>
        </p:txBody>
      </p:sp>
      <p:sp>
        <p:nvSpPr>
          <p:cNvPr id="28" name="Shape 26">
            <a:extLst xmlns:a="http://schemas.openxmlformats.org/drawingml/2006/main">
              <a:ext uri="{FF2B5EF4-FFF2-40B4-BE49-F238E27FC236}">
                <a16:creationId xmlns:a16="http://schemas.microsoft.com/office/drawing/2014/main" id="{B33612FD-2012-4D1A-BBDC-54581D2CBD51}"/>
              </a:ext>
            </a:extLst>
          </p:cNvPr>
          <p:cNvSpPr>
            <a:spLocks xmlns:a="http://schemas.openxmlformats.org/drawingml/2006/main" noGrp="1"/>
          </p:cNvSpPr>
          <p:nvPr/>
        </p:nvSpPr>
        <p:spPr>
          <a:xfrm xmlns:a="http://schemas.openxmlformats.org/drawingml/2006/main">
            <a:off x="4608576" y="4114800"/>
            <a:ext cx="2971800" cy="0"/>
          </a:xfrm>
          <a:prstGeom xmlns:a="http://schemas.openxmlformats.org/drawingml/2006/main" prst="line">
            <a:avLst/>
          </a:prstGeom>
          <a:noFill xmlns:a="http://schemas.openxmlformats.org/drawingml/2006/main"/>
          <a:ln xmlns:a="http://schemas.openxmlformats.org/drawingml/2006/main" w="9525">
            <a:solidFill>
              <a:srgbClr val="FFC952"/>
            </a:solidFill>
            <a:prstDash val="solid"/>
          </a:ln>
        </p:spPr>
      </p:sp>
      <p:sp>
        <p:nvSpPr>
          <p:cNvPr id="29" name="Text 27">
            <a:extLst xmlns:a="http://schemas.openxmlformats.org/drawingml/2006/main">
              <a:ext uri="{FF2B5EF4-FFF2-40B4-BE49-F238E27FC236}">
                <a16:creationId xmlns:a16="http://schemas.microsoft.com/office/drawing/2014/main" id="{13F7FB9C-1E83-4565-BAB7-152A03522522}"/>
              </a:ext>
            </a:extLst>
          </p:cNvPr>
          <p:cNvSpPr>
            <a:spLocks xmlns:a="http://schemas.openxmlformats.org/drawingml/2006/main" noGrp="1"/>
          </p:cNvSpPr>
          <p:nvPr/>
        </p:nvSpPr>
        <p:spPr>
          <a:xfrm xmlns:a="http://schemas.openxmlformats.org/drawingml/2006/main">
            <a:off x="4608576" y="4224528"/>
            <a:ext cx="5943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02368"/>
                </a:solidFill>
                <a:latin typeface="Arial"/>
                <a:ea typeface="Arial"/>
                <a:cs typeface="Arial"/>
              </a:rPr>
              <a:t>DAY 0</a:t>
            </a:r>
            <a:endParaRPr sz="850"/>
          </a:p>
        </p:txBody>
      </p:sp>
      <p:sp>
        <p:nvSpPr>
          <p:cNvPr id="30" name="Text 28">
            <a:extLst xmlns:a="http://schemas.openxmlformats.org/drawingml/2006/main">
              <a:ext uri="{FF2B5EF4-FFF2-40B4-BE49-F238E27FC236}">
                <a16:creationId xmlns:a16="http://schemas.microsoft.com/office/drawing/2014/main" id="{0146076D-69C9-448A-9DF4-7FCF1A803907}"/>
              </a:ext>
            </a:extLst>
          </p:cNvPr>
          <p:cNvSpPr>
            <a:spLocks xmlns:a="http://schemas.openxmlformats.org/drawingml/2006/main" noGrp="1"/>
          </p:cNvSpPr>
          <p:nvPr/>
        </p:nvSpPr>
        <p:spPr>
          <a:xfrm xmlns:a="http://schemas.openxmlformats.org/drawingml/2006/main">
            <a:off x="5202936" y="4224528"/>
            <a:ext cx="23774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000000"/>
                </a:solidFill>
                <a:latin typeface="Arial"/>
                <a:ea typeface="Arial"/>
                <a:cs typeface="Arial"/>
              </a:rPr>
              <a:t>Personalised proposal</a:t>
            </a:r>
            <a:endParaRPr sz="950"/>
          </a:p>
        </p:txBody>
      </p:sp>
      <p:sp>
        <p:nvSpPr>
          <p:cNvPr id="31" name="Text 29">
            <a:extLst xmlns:a="http://schemas.openxmlformats.org/drawingml/2006/main">
              <a:ext uri="{FF2B5EF4-FFF2-40B4-BE49-F238E27FC236}">
                <a16:creationId xmlns:a16="http://schemas.microsoft.com/office/drawing/2014/main" id="{9DA321A7-0B26-434C-B7B2-E125AD85CD30}"/>
              </a:ext>
            </a:extLst>
          </p:cNvPr>
          <p:cNvSpPr>
            <a:spLocks xmlns:a="http://schemas.openxmlformats.org/drawingml/2006/main" noGrp="1"/>
          </p:cNvSpPr>
          <p:nvPr/>
        </p:nvSpPr>
        <p:spPr>
          <a:xfrm xmlns:a="http://schemas.openxmlformats.org/drawingml/2006/main">
            <a:off x="4608576" y="4471416"/>
            <a:ext cx="5943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02368"/>
                </a:solidFill>
                <a:latin typeface="Arial"/>
                <a:ea typeface="Arial"/>
                <a:cs typeface="Arial"/>
              </a:rPr>
              <a:t>DAY 4</a:t>
            </a:r>
            <a:endParaRPr sz="850"/>
          </a:p>
        </p:txBody>
      </p:sp>
      <p:sp>
        <p:nvSpPr>
          <p:cNvPr id="32" name="Text 30">
            <a:extLst xmlns:a="http://schemas.openxmlformats.org/drawingml/2006/main">
              <a:ext uri="{FF2B5EF4-FFF2-40B4-BE49-F238E27FC236}">
                <a16:creationId xmlns:a16="http://schemas.microsoft.com/office/drawing/2014/main" id="{8F78D5D2-4C78-45A8-9D2D-F02C3AC79DF4}"/>
              </a:ext>
            </a:extLst>
          </p:cNvPr>
          <p:cNvSpPr>
            <a:spLocks xmlns:a="http://schemas.openxmlformats.org/drawingml/2006/main" noGrp="1"/>
          </p:cNvSpPr>
          <p:nvPr/>
        </p:nvSpPr>
        <p:spPr>
          <a:xfrm xmlns:a="http://schemas.openxmlformats.org/drawingml/2006/main">
            <a:off x="5202936" y="4471416"/>
            <a:ext cx="23774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000000"/>
                </a:solidFill>
                <a:latin typeface="Arial"/>
                <a:ea typeface="Arial"/>
                <a:cs typeface="Arial"/>
              </a:rPr>
              <a:t>Useful follow-up</a:t>
            </a:r>
            <a:endParaRPr sz="950"/>
          </a:p>
        </p:txBody>
      </p:sp>
      <p:sp>
        <p:nvSpPr>
          <p:cNvPr id="33" name="Text 31">
            <a:extLst xmlns:a="http://schemas.openxmlformats.org/drawingml/2006/main">
              <a:ext uri="{FF2B5EF4-FFF2-40B4-BE49-F238E27FC236}">
                <a16:creationId xmlns:a16="http://schemas.microsoft.com/office/drawing/2014/main" id="{A675A14F-043F-4266-961B-22C2276413FA}"/>
              </a:ext>
            </a:extLst>
          </p:cNvPr>
          <p:cNvSpPr>
            <a:spLocks xmlns:a="http://schemas.openxmlformats.org/drawingml/2006/main" noGrp="1"/>
          </p:cNvSpPr>
          <p:nvPr/>
        </p:nvSpPr>
        <p:spPr>
          <a:xfrm xmlns:a="http://schemas.openxmlformats.org/drawingml/2006/main">
            <a:off x="4608576" y="4718304"/>
            <a:ext cx="5943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02368"/>
                </a:solidFill>
                <a:latin typeface="Arial"/>
                <a:ea typeface="Arial"/>
                <a:cs typeface="Arial"/>
              </a:rPr>
              <a:t>DAY 8</a:t>
            </a:r>
            <a:endParaRPr sz="850"/>
          </a:p>
        </p:txBody>
      </p:sp>
      <p:sp>
        <p:nvSpPr>
          <p:cNvPr id="34" name="Text 32">
            <a:extLst xmlns:a="http://schemas.openxmlformats.org/drawingml/2006/main">
              <a:ext uri="{FF2B5EF4-FFF2-40B4-BE49-F238E27FC236}">
                <a16:creationId xmlns:a16="http://schemas.microsoft.com/office/drawing/2014/main" id="{163BB417-1141-4C79-A304-B0E0BB5FF137}"/>
              </a:ext>
            </a:extLst>
          </p:cNvPr>
          <p:cNvSpPr>
            <a:spLocks xmlns:a="http://schemas.openxmlformats.org/drawingml/2006/main" noGrp="1"/>
          </p:cNvSpPr>
          <p:nvPr/>
        </p:nvSpPr>
        <p:spPr>
          <a:xfrm xmlns:a="http://schemas.openxmlformats.org/drawingml/2006/main">
            <a:off x="5202936" y="4718304"/>
            <a:ext cx="23774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000000"/>
                </a:solidFill>
                <a:latin typeface="Arial"/>
                <a:ea typeface="Arial"/>
                <a:cs typeface="Arial"/>
              </a:rPr>
              <a:t>Polite close</a:t>
            </a:r>
            <a:endParaRPr sz="950"/>
          </a:p>
        </p:txBody>
      </p:sp>
      <p:sp>
        <p:nvSpPr>
          <p:cNvPr id="35" name="Shape 33">
            <a:extLst xmlns:a="http://schemas.openxmlformats.org/drawingml/2006/main">
              <a:ext uri="{FF2B5EF4-FFF2-40B4-BE49-F238E27FC236}">
                <a16:creationId xmlns:a16="http://schemas.microsoft.com/office/drawing/2014/main" id="{C3AEDE70-5355-4E55-A0FF-E19E8A017D76}"/>
              </a:ext>
            </a:extLst>
          </p:cNvPr>
          <p:cNvSpPr>
            <a:spLocks xmlns:a="http://schemas.openxmlformats.org/drawingml/2006/main" noGrp="1"/>
          </p:cNvSpPr>
          <p:nvPr/>
        </p:nvSpPr>
        <p:spPr>
          <a:xfrm xmlns:a="http://schemas.openxmlformats.org/drawingml/2006/main">
            <a:off x="8119872" y="2743200"/>
            <a:ext cx="3520440" cy="2286000"/>
          </a:xfrm>
          <a:prstGeom xmlns:a="http://schemas.openxmlformats.org/drawingml/2006/main" prst="roundRect">
            <a:avLst>
              <a:gd name="adj" fmla="val 2800"/>
            </a:avLst>
          </a:prstGeom>
          <a:solidFill xmlns:a="http://schemas.openxmlformats.org/drawingml/2006/main">
            <a:srgbClr val="ECECEC"/>
          </a:solidFill>
          <a:ln xmlns:a="http://schemas.openxmlformats.org/drawingml/2006/main" w="12700">
            <a:solidFill>
              <a:srgbClr val="ECECEC"/>
            </a:solidFill>
            <a:prstDash val="solid"/>
          </a:ln>
        </p:spPr>
      </p:sp>
      <p:sp>
        <p:nvSpPr>
          <p:cNvPr id="36" name="Text 34">
            <a:extLst xmlns:a="http://schemas.openxmlformats.org/drawingml/2006/main">
              <a:ext uri="{FF2B5EF4-FFF2-40B4-BE49-F238E27FC236}">
                <a16:creationId xmlns:a16="http://schemas.microsoft.com/office/drawing/2014/main" id="{34AEECCC-4E44-451E-A443-F629146B389A}"/>
              </a:ext>
            </a:extLst>
          </p:cNvPr>
          <p:cNvSpPr>
            <a:spLocks xmlns:a="http://schemas.openxmlformats.org/drawingml/2006/main" noGrp="1"/>
          </p:cNvSpPr>
          <p:nvPr/>
        </p:nvSpPr>
        <p:spPr>
          <a:xfrm xmlns:a="http://schemas.openxmlformats.org/drawingml/2006/main">
            <a:off x="8394192" y="2971800"/>
            <a:ext cx="2011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02368"/>
                </a:solidFill>
                <a:latin typeface="Arial"/>
                <a:ea typeface="Arial"/>
                <a:cs typeface="Arial"/>
              </a:rPr>
              <a:t>Hold</a:t>
            </a:r>
            <a:endParaRPr sz="1400"/>
          </a:p>
        </p:txBody>
      </p:sp>
      <p:sp>
        <p:nvSpPr>
          <p:cNvPr id="37" name="Text 35">
            <a:extLst xmlns:a="http://schemas.openxmlformats.org/drawingml/2006/main">
              <a:ext uri="{FF2B5EF4-FFF2-40B4-BE49-F238E27FC236}">
                <a16:creationId xmlns:a16="http://schemas.microsoft.com/office/drawing/2014/main" id="{EB5BEB2B-835A-4BBC-B2FE-9794D6CB6D70}"/>
              </a:ext>
            </a:extLst>
          </p:cNvPr>
          <p:cNvSpPr>
            <a:spLocks xmlns:a="http://schemas.openxmlformats.org/drawingml/2006/main" noGrp="1"/>
          </p:cNvSpPr>
          <p:nvPr/>
        </p:nvSpPr>
        <p:spPr>
          <a:xfrm xmlns:a="http://schemas.openxmlformats.org/drawingml/2006/main">
            <a:off x="10360152" y="2880360"/>
            <a:ext cx="10058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2600">
                <a:solidFill>
                  <a:srgbClr val="002368"/>
                </a:solidFill>
                <a:latin typeface="Georgia"/>
                <a:ea typeface="Georgia"/>
                <a:cs typeface="Georgia"/>
              </a:rPr>
              <a:t>23%</a:t>
            </a:r>
            <a:endParaRPr sz="2600"/>
          </a:p>
        </p:txBody>
      </p:sp>
      <p:sp>
        <p:nvSpPr>
          <p:cNvPr id="38" name="Text 36">
            <a:extLst xmlns:a="http://schemas.openxmlformats.org/drawingml/2006/main">
              <a:ext uri="{FF2B5EF4-FFF2-40B4-BE49-F238E27FC236}">
                <a16:creationId xmlns:a16="http://schemas.microsoft.com/office/drawing/2014/main" id="{BF08D93C-1C76-4EBA-AD2C-7FA85DE69F37}"/>
              </a:ext>
            </a:extLst>
          </p:cNvPr>
          <p:cNvSpPr>
            <a:spLocks xmlns:a="http://schemas.openxmlformats.org/drawingml/2006/main" noGrp="1"/>
          </p:cNvSpPr>
          <p:nvPr/>
        </p:nvSpPr>
        <p:spPr>
          <a:xfrm xmlns:a="http://schemas.openxmlformats.org/drawingml/2006/main">
            <a:off x="10360152" y="3364992"/>
            <a:ext cx="1005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818283"/>
                </a:solidFill>
                <a:latin typeface="Arial"/>
                <a:ea typeface="Arial"/>
                <a:cs typeface="Arial"/>
              </a:rPr>
              <a:t>215 plans</a:t>
            </a:r>
            <a:endParaRPr sz="850"/>
          </a:p>
        </p:txBody>
      </p:sp>
      <p:sp>
        <p:nvSpPr>
          <p:cNvPr id="39" name="Text 37">
            <a:extLst xmlns:a="http://schemas.openxmlformats.org/drawingml/2006/main">
              <a:ext uri="{FF2B5EF4-FFF2-40B4-BE49-F238E27FC236}">
                <a16:creationId xmlns:a16="http://schemas.microsoft.com/office/drawing/2014/main" id="{B6EEF11D-C7EC-455F-B6A2-66226DD8EE16}"/>
              </a:ext>
            </a:extLst>
          </p:cNvPr>
          <p:cNvSpPr>
            <a:spLocks xmlns:a="http://schemas.openxmlformats.org/drawingml/2006/main" noGrp="1"/>
          </p:cNvSpPr>
          <p:nvPr/>
        </p:nvSpPr>
        <p:spPr>
          <a:xfrm xmlns:a="http://schemas.openxmlformats.org/drawingml/2006/main">
            <a:off x="8394192" y="3429000"/>
            <a:ext cx="187452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000000"/>
                </a:solidFill>
                <a:latin typeface="Arial"/>
                <a:ea typeface="Arial"/>
                <a:cs typeface="Arial"/>
              </a:rPr>
              <a:t>Evidence or a usable contact route is still incomplete.</a:t>
            </a:r>
            <a:endParaRPr sz="1000"/>
          </a:p>
        </p:txBody>
      </p:sp>
      <p:sp>
        <p:nvSpPr>
          <p:cNvPr id="40" name="Shape 38">
            <a:extLst xmlns:a="http://schemas.openxmlformats.org/drawingml/2006/main">
              <a:ext uri="{FF2B5EF4-FFF2-40B4-BE49-F238E27FC236}">
                <a16:creationId xmlns:a16="http://schemas.microsoft.com/office/drawing/2014/main" id="{6CB52441-0DCD-435E-9140-0EFFF1054EB4}"/>
              </a:ext>
            </a:extLst>
          </p:cNvPr>
          <p:cNvSpPr>
            <a:spLocks xmlns:a="http://schemas.openxmlformats.org/drawingml/2006/main" noGrp="1"/>
          </p:cNvSpPr>
          <p:nvPr/>
        </p:nvSpPr>
        <p:spPr>
          <a:xfrm xmlns:a="http://schemas.openxmlformats.org/drawingml/2006/main">
            <a:off x="8394192" y="4114800"/>
            <a:ext cx="2971800" cy="0"/>
          </a:xfrm>
          <a:prstGeom xmlns:a="http://schemas.openxmlformats.org/drawingml/2006/main" prst="line">
            <a:avLst/>
          </a:prstGeom>
          <a:noFill xmlns:a="http://schemas.openxmlformats.org/drawingml/2006/main"/>
          <a:ln xmlns:a="http://schemas.openxmlformats.org/drawingml/2006/main" w="9525">
            <a:solidFill>
              <a:srgbClr val="818283"/>
            </a:solidFill>
            <a:prstDash val="solid"/>
          </a:ln>
        </p:spPr>
      </p:sp>
      <p:sp>
        <p:nvSpPr>
          <p:cNvPr id="41" name="Text 39">
            <a:extLst xmlns:a="http://schemas.openxmlformats.org/drawingml/2006/main">
              <a:ext uri="{FF2B5EF4-FFF2-40B4-BE49-F238E27FC236}">
                <a16:creationId xmlns:a16="http://schemas.microsoft.com/office/drawing/2014/main" id="{6711A6AC-8B60-42FB-A59B-1A5CC665C1CC}"/>
              </a:ext>
            </a:extLst>
          </p:cNvPr>
          <p:cNvSpPr>
            <a:spLocks xmlns:a="http://schemas.openxmlformats.org/drawingml/2006/main" noGrp="1"/>
          </p:cNvSpPr>
          <p:nvPr/>
        </p:nvSpPr>
        <p:spPr>
          <a:xfrm xmlns:a="http://schemas.openxmlformats.org/drawingml/2006/main">
            <a:off x="8394192" y="4224528"/>
            <a:ext cx="5943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02368"/>
                </a:solidFill>
                <a:latin typeface="Arial"/>
                <a:ea typeface="Arial"/>
                <a:cs typeface="Arial"/>
              </a:rPr>
              <a:t>—</a:t>
            </a:r>
            <a:endParaRPr sz="850"/>
          </a:p>
        </p:txBody>
      </p:sp>
      <p:sp>
        <p:nvSpPr>
          <p:cNvPr id="42" name="Text 40">
            <a:extLst xmlns:a="http://schemas.openxmlformats.org/drawingml/2006/main">
              <a:ext uri="{FF2B5EF4-FFF2-40B4-BE49-F238E27FC236}">
                <a16:creationId xmlns:a16="http://schemas.microsoft.com/office/drawing/2014/main" id="{F7110BAA-CD16-49AB-9873-B21F82DA2AEC}"/>
              </a:ext>
            </a:extLst>
          </p:cNvPr>
          <p:cNvSpPr>
            <a:spLocks xmlns:a="http://schemas.openxmlformats.org/drawingml/2006/main" noGrp="1"/>
          </p:cNvSpPr>
          <p:nvPr/>
        </p:nvSpPr>
        <p:spPr>
          <a:xfrm xmlns:a="http://schemas.openxmlformats.org/drawingml/2006/main">
            <a:off x="8988552" y="4224528"/>
            <a:ext cx="23774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000000"/>
                </a:solidFill>
                <a:latin typeface="Arial"/>
                <a:ea typeface="Arial"/>
                <a:cs typeface="Arial"/>
              </a:rPr>
              <a:t>Do not send</a:t>
            </a:r>
            <a:endParaRPr sz="950"/>
          </a:p>
        </p:txBody>
      </p:sp>
      <p:sp>
        <p:nvSpPr>
          <p:cNvPr id="43" name="Text 41">
            <a:extLst xmlns:a="http://schemas.openxmlformats.org/drawingml/2006/main">
              <a:ext uri="{FF2B5EF4-FFF2-40B4-BE49-F238E27FC236}">
                <a16:creationId xmlns:a16="http://schemas.microsoft.com/office/drawing/2014/main" id="{446BBC99-C53A-4708-A9BE-74EFCC4B447B}"/>
              </a:ext>
            </a:extLst>
          </p:cNvPr>
          <p:cNvSpPr>
            <a:spLocks xmlns:a="http://schemas.openxmlformats.org/drawingml/2006/main" noGrp="1"/>
          </p:cNvSpPr>
          <p:nvPr/>
        </p:nvSpPr>
        <p:spPr>
          <a:xfrm xmlns:a="http://schemas.openxmlformats.org/drawingml/2006/main">
            <a:off x="8394192" y="4471416"/>
            <a:ext cx="5943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endParaRPr sz="850"/>
          </a:p>
        </p:txBody>
      </p:sp>
      <p:sp>
        <p:nvSpPr>
          <p:cNvPr id="44" name="Text 42">
            <a:extLst xmlns:a="http://schemas.openxmlformats.org/drawingml/2006/main">
              <a:ext uri="{FF2B5EF4-FFF2-40B4-BE49-F238E27FC236}">
                <a16:creationId xmlns:a16="http://schemas.microsoft.com/office/drawing/2014/main" id="{47529D92-5378-4D57-B0A4-BFB3EA5869B3}"/>
              </a:ext>
            </a:extLst>
          </p:cNvPr>
          <p:cNvSpPr>
            <a:spLocks xmlns:a="http://schemas.openxmlformats.org/drawingml/2006/main" noGrp="1"/>
          </p:cNvSpPr>
          <p:nvPr/>
        </p:nvSpPr>
        <p:spPr>
          <a:xfrm xmlns:a="http://schemas.openxmlformats.org/drawingml/2006/main">
            <a:off x="8988552" y="4471416"/>
            <a:ext cx="23774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000000"/>
                </a:solidFill>
                <a:latin typeface="Arial"/>
                <a:ea typeface="Arial"/>
                <a:cs typeface="Arial"/>
              </a:rPr>
              <a:t>Verify the route, fit and claims first</a:t>
            </a:r>
            <a:endParaRPr sz="950"/>
          </a:p>
        </p:txBody>
      </p:sp>
      <p:sp>
        <p:nvSpPr>
          <p:cNvPr id="45" name="Shape 43">
            <a:extLst xmlns:a="http://schemas.openxmlformats.org/drawingml/2006/main">
              <a:ext uri="{FF2B5EF4-FFF2-40B4-BE49-F238E27FC236}">
                <a16:creationId xmlns:a16="http://schemas.microsoft.com/office/drawing/2014/main" id="{281D1DFE-376E-4272-A249-B0F3976CC442}"/>
              </a:ext>
            </a:extLst>
          </p:cNvPr>
          <p:cNvSpPr>
            <a:spLocks xmlns:a="http://schemas.openxmlformats.org/drawingml/2006/main" noGrp="1"/>
          </p:cNvSpPr>
          <p:nvPr/>
        </p:nvSpPr>
        <p:spPr>
          <a:xfrm xmlns:a="http://schemas.openxmlformats.org/drawingml/2006/main">
            <a:off x="548640" y="5212080"/>
            <a:ext cx="7223760" cy="841248"/>
          </a:xfrm>
          <a:prstGeom xmlns:a="http://schemas.openxmlformats.org/drawingml/2006/main" prst="roundRect">
            <a:avLst>
              <a:gd name="adj" fmla="val 7609"/>
            </a:avLst>
          </a:prstGeom>
          <a:solidFill xmlns:a="http://schemas.openxmlformats.org/drawingml/2006/main">
            <a:srgbClr val="FFFFFF"/>
          </a:solidFill>
          <a:ln xmlns:a="http://schemas.openxmlformats.org/drawingml/2006/main" w="9525">
            <a:solidFill>
              <a:srgbClr val="002368"/>
            </a:solidFill>
            <a:prstDash val="solid"/>
          </a:ln>
        </p:spPr>
      </p:sp>
      <p:sp>
        <p:nvSpPr>
          <p:cNvPr id="46" name="Text 44">
            <a:extLst xmlns:a="http://schemas.openxmlformats.org/drawingml/2006/main">
              <a:ext uri="{FF2B5EF4-FFF2-40B4-BE49-F238E27FC236}">
                <a16:creationId xmlns:a16="http://schemas.microsoft.com/office/drawing/2014/main" id="{3F9AAFB8-D4AD-4342-AA81-42EC623AEAD5}"/>
              </a:ext>
            </a:extLst>
          </p:cNvPr>
          <p:cNvSpPr>
            <a:spLocks xmlns:a="http://schemas.openxmlformats.org/drawingml/2006/main" noGrp="1"/>
          </p:cNvSpPr>
          <p:nvPr/>
        </p:nvSpPr>
        <p:spPr>
          <a:xfrm xmlns:a="http://schemas.openxmlformats.org/drawingml/2006/main">
            <a:off x="822960" y="5321808"/>
            <a:ext cx="2743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002368"/>
                </a:solidFill>
                <a:latin typeface="Arial"/>
                <a:ea typeface="Arial"/>
                <a:cs typeface="Arial"/>
              </a:rPr>
              <a:t>Recommended rollout</a:t>
            </a:r>
            <a:endParaRPr sz="1100"/>
          </a:p>
        </p:txBody>
      </p:sp>
      <p:sp>
        <p:nvSpPr>
          <p:cNvPr id="47" name="Text 45">
            <a:extLst xmlns:a="http://schemas.openxmlformats.org/drawingml/2006/main">
              <a:ext uri="{FF2B5EF4-FFF2-40B4-BE49-F238E27FC236}">
                <a16:creationId xmlns:a16="http://schemas.microsoft.com/office/drawing/2014/main" id="{C777EA6B-9DDC-4DDE-B59A-D295CB0832D8}"/>
              </a:ext>
            </a:extLst>
          </p:cNvPr>
          <p:cNvSpPr>
            <a:spLocks xmlns:a="http://schemas.openxmlformats.org/drawingml/2006/main" noGrp="1"/>
          </p:cNvSpPr>
          <p:nvPr/>
        </p:nvSpPr>
        <p:spPr>
          <a:xfrm xmlns:a="http://schemas.openxmlformats.org/drawingml/2006/main">
            <a:off x="822960" y="5559552"/>
            <a:ext cx="6675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000000"/>
                </a:solidFill>
                <a:latin typeface="Arial"/>
                <a:ea typeface="Arial"/>
                <a:cs typeface="Arial"/>
              </a:rPr>
              <a:t>Start with small reviewed batches from the 61 direct-recipient plans. Use their responses to refine the routing message before scaling to 651 organisations.</a:t>
            </a:r>
            <a:endParaRPr sz="950"/>
          </a:p>
        </p:txBody>
      </p:sp>
      <p:sp>
        <p:nvSpPr>
          <p:cNvPr id="48" name="Shape 46">
            <a:extLst xmlns:a="http://schemas.openxmlformats.org/drawingml/2006/main">
              <a:ext uri="{FF2B5EF4-FFF2-40B4-BE49-F238E27FC236}">
                <a16:creationId xmlns:a16="http://schemas.microsoft.com/office/drawing/2014/main" id="{CBEA6819-5090-41C5-B4E6-7DC1970E02B3}"/>
              </a:ext>
            </a:extLst>
          </p:cNvPr>
          <p:cNvSpPr>
            <a:spLocks xmlns:a="http://schemas.openxmlformats.org/drawingml/2006/main" noGrp="1"/>
          </p:cNvSpPr>
          <p:nvPr/>
        </p:nvSpPr>
        <p:spPr>
          <a:xfrm xmlns:a="http://schemas.openxmlformats.org/drawingml/2006/main">
            <a:off x="7982712" y="5212080"/>
            <a:ext cx="3660343" cy="841248"/>
          </a:xfrm>
          <a:prstGeom xmlns:a="http://schemas.openxmlformats.org/drawingml/2006/main" prst="roundRect">
            <a:avLst>
              <a:gd name="adj" fmla="val 7609"/>
            </a:avLst>
          </a:prstGeom>
          <a:solidFill xmlns:a="http://schemas.openxmlformats.org/drawingml/2006/main">
            <a:srgbClr val="002368"/>
          </a:solidFill>
          <a:ln xmlns:a="http://schemas.openxmlformats.org/drawingml/2006/main" w="12700">
            <a:solidFill>
              <a:srgbClr val="002368"/>
            </a:solidFill>
            <a:prstDash val="solid"/>
          </a:ln>
        </p:spPr>
      </p:sp>
      <p:sp>
        <p:nvSpPr>
          <p:cNvPr id="49" name="Text 47">
            <a:extLst xmlns:a="http://schemas.openxmlformats.org/drawingml/2006/main">
              <a:ext uri="{FF2B5EF4-FFF2-40B4-BE49-F238E27FC236}">
                <a16:creationId xmlns:a16="http://schemas.microsoft.com/office/drawing/2014/main" id="{FFF3949C-333B-42F1-B227-A27F4F22A0CF}"/>
              </a:ext>
            </a:extLst>
          </p:cNvPr>
          <p:cNvSpPr>
            <a:spLocks xmlns:a="http://schemas.openxmlformats.org/drawingml/2006/main" noGrp="1"/>
          </p:cNvSpPr>
          <p:nvPr/>
        </p:nvSpPr>
        <p:spPr>
          <a:xfrm xmlns:a="http://schemas.openxmlformats.org/drawingml/2006/main">
            <a:off x="8257032" y="5321808"/>
            <a:ext cx="2743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FFFFFF"/>
                </a:solidFill>
                <a:latin typeface="Arial"/>
                <a:ea typeface="Arial"/>
                <a:cs typeface="Arial"/>
              </a:rPr>
              <a:t>Resend’s role</a:t>
            </a:r>
            <a:endParaRPr sz="1100"/>
          </a:p>
        </p:txBody>
      </p:sp>
      <p:sp>
        <p:nvSpPr>
          <p:cNvPr id="50" name="Text 48">
            <a:extLst xmlns:a="http://schemas.openxmlformats.org/drawingml/2006/main">
              <a:ext uri="{FF2B5EF4-FFF2-40B4-BE49-F238E27FC236}">
                <a16:creationId xmlns:a16="http://schemas.microsoft.com/office/drawing/2014/main" id="{DE8D3DB0-0F46-40DF-B725-76A6CBF26C38}"/>
              </a:ext>
            </a:extLst>
          </p:cNvPr>
          <p:cNvSpPr>
            <a:spLocks xmlns:a="http://schemas.openxmlformats.org/drawingml/2006/main" noGrp="1"/>
          </p:cNvSpPr>
          <p:nvPr/>
        </p:nvSpPr>
        <p:spPr>
          <a:xfrm xmlns:a="http://schemas.openxmlformats.org/drawingml/2006/main">
            <a:off x="8257032" y="5559552"/>
            <a:ext cx="3111703"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D9ECF9"/>
                </a:solidFill>
                <a:latin typeface="Arial"/>
                <a:ea typeface="Arial"/>
                <a:cs typeface="Arial"/>
              </a:rPr>
              <a:t>Deliver approved templates, enforce bounce and unsubscribe stops, and return outcomes to the master.</a:t>
            </a:r>
            <a:endParaRPr sz="950"/>
          </a:p>
        </p:txBody>
      </p:sp>
      <p:pic>
        <p:nvPicPr>
          <p:cNvPr id="104" name="Image 0"/>
          <p:cNvPicPr>
            <a:picLocks xmlns:a="http://schemas.openxmlformats.org/drawingml/2006/main" noChangeAspect="1"/>
          </p:cNvPicPr>
          <p:nvPr/>
        </p:nvPicPr>
        <p:blipFill>
          <a:blip xmlns:r="http://schemas.openxmlformats.org/officeDocument/2006/relationships" xmlns:a="http://schemas.openxmlformats.org/drawingml/2006/main" r:embed="R94a4da882ffb4a6e"/>
          <a:stretch xmlns:a="http://schemas.openxmlformats.org/drawingml/2006/main">
            <a:fillRect l="0" t="0" r="0" b="0"/>
          </a:stretch>
        </p:blipFill>
        <p:spPr>
          <a:xfrm xmlns:a="http://schemas.openxmlformats.org/drawingml/2006/main">
            <a:off x="548640" y="6272784"/>
            <a:ext cx="1143000" cy="272176"/>
          </a:xfrm>
          <a:prstGeom xmlns:a="http://schemas.openxmlformats.org/drawingml/2006/main" prst="rect">
            <a:avLst/>
          </a:prstGeom>
        </p:spPr>
      </p:pic>
      <p:sp>
        <p:nvSpPr>
          <p:cNvPr id="52" name="Text 49">
            <a:extLst xmlns:a="http://schemas.openxmlformats.org/drawingml/2006/main">
              <a:ext uri="{FF2B5EF4-FFF2-40B4-BE49-F238E27FC236}">
                <a16:creationId xmlns:a16="http://schemas.microsoft.com/office/drawing/2014/main" id="{A397BBEA-3561-4D3B-981E-28CF496A2228}"/>
              </a:ext>
            </a:extLst>
          </p:cNvPr>
          <p:cNvSpPr>
            <a:spLocks xmlns:a="http://schemas.openxmlformats.org/drawingml/2006/main" noGrp="1"/>
          </p:cNvSpPr>
          <p:nvPr/>
        </p:nvSpPr>
        <p:spPr>
          <a:xfrm xmlns:a="http://schemas.openxmlformats.org/drawingml/2006/main">
            <a:off x="1965960" y="6309360"/>
            <a:ext cx="85953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818283"/>
                </a:solidFill>
                <a:latin typeface="Arial"/>
                <a:ea typeface="Arial"/>
                <a:cs typeface="Arial"/>
              </a:rPr>
              <a:t>Source: current outreach plans and sequence design</a:t>
            </a:r>
            <a:endParaRPr sz="800"/>
          </a:p>
        </p:txBody>
      </p:sp>
      <p:sp>
        <p:nvSpPr>
          <p:cNvPr id="53" name="Text 50">
            <a:extLst xmlns:a="http://schemas.openxmlformats.org/drawingml/2006/main">
              <a:ext uri="{FF2B5EF4-FFF2-40B4-BE49-F238E27FC236}">
                <a16:creationId xmlns:a16="http://schemas.microsoft.com/office/drawing/2014/main" id="{E2472732-0939-448D-9BC6-637A481D3229}"/>
              </a:ext>
            </a:extLst>
          </p:cNvPr>
          <p:cNvSpPr>
            <a:spLocks xmlns:a="http://schemas.openxmlformats.org/drawingml/2006/main" noGrp="1"/>
          </p:cNvSpPr>
          <p:nvPr/>
        </p:nvSpPr>
        <p:spPr>
          <a:xfrm xmlns:a="http://schemas.openxmlformats.org/drawingml/2006/main">
            <a:off x="10911535" y="6254496"/>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002368"/>
                </a:solidFill>
                <a:latin typeface="Georgia"/>
                <a:ea typeface="Georgia"/>
                <a:cs typeface="Georgia"/>
              </a:rPr>
              <a:t>09</a:t>
            </a:r>
            <a:endParaRPr sz="1200"/>
          </a:p>
        </p:txBody>
      </p:sp>
    </p:spTree>
    <p:extLst>
      <p:ext uri="{BB962C8B-B14F-4D97-AF65-F5344CB8AC3E}">
        <p14:creationId xmlns:p14="http://schemas.microsoft.com/office/powerpoint/2010/main" val="157022910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25066E0-1E19-4BA8-AD41-540EB99DA62E}"/>
              </a:ext>
            </a:extLst>
          </p:cNvPr>
          <p:cNvSpPr>
            <a:spLocks xmlns:a="http://schemas.openxmlformats.org/drawingml/2006/main" noGrp="1"/>
          </p:cNvSpPr>
          <p:nvPr/>
        </p:nvSpPr>
        <p:spPr>
          <a:xfrm xmlns:a="http://schemas.openxmlformats.org/drawingml/2006/main">
            <a:off x="548640" y="384048"/>
            <a:ext cx="8229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18283"/>
                </a:solidFill>
                <a:latin typeface="Arial"/>
                <a:ea typeface="Arial"/>
                <a:cs typeface="Arial"/>
              </a:rPr>
              <a:t>PARENT TRACK  ·  FUNNEL</a:t>
            </a:r>
            <a:endParaRPr sz="900"/>
          </a:p>
        </p:txBody>
      </p:sp>
      <p:sp>
        <p:nvSpPr>
          <p:cNvPr id="3" name="Text 1">
            <a:extLst xmlns:a="http://schemas.openxmlformats.org/drawingml/2006/main">
              <a:ext uri="{FF2B5EF4-FFF2-40B4-BE49-F238E27FC236}">
                <a16:creationId xmlns:a16="http://schemas.microsoft.com/office/drawing/2014/main" id="{74F8E659-0B94-4B57-94F3-5EF9C50E9532}"/>
              </a:ext>
            </a:extLst>
          </p:cNvPr>
          <p:cNvSpPr>
            <a:spLocks xmlns:a="http://schemas.openxmlformats.org/drawingml/2006/main" noGrp="1"/>
          </p:cNvSpPr>
          <p:nvPr/>
        </p:nvSpPr>
        <p:spPr>
          <a:xfrm xmlns:a="http://schemas.openxmlformats.org/drawingml/2006/main">
            <a:off x="548640" y="603504"/>
            <a:ext cx="9601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02368"/>
                </a:solidFill>
                <a:latin typeface="Arial"/>
                <a:ea typeface="Arial"/>
                <a:cs typeface="Arial"/>
              </a:rPr>
              <a:t>First-party parent acquisition funnel</a:t>
            </a:r>
            <a:endParaRPr sz="2600"/>
          </a:p>
        </p:txBody>
      </p:sp>
      <p:sp>
        <p:nvSpPr>
          <p:cNvPr id="4" name="Shape 2">
            <a:extLst xmlns:a="http://schemas.openxmlformats.org/drawingml/2006/main">
              <a:ext uri="{FF2B5EF4-FFF2-40B4-BE49-F238E27FC236}">
                <a16:creationId xmlns:a16="http://schemas.microsoft.com/office/drawing/2014/main" id="{62FE7677-549F-48A8-A731-A956A6B6336E}"/>
              </a:ext>
            </a:extLst>
          </p:cNvPr>
          <p:cNvSpPr>
            <a:spLocks xmlns:a="http://schemas.openxmlformats.org/drawingml/2006/main" noGrp="1"/>
          </p:cNvSpPr>
          <p:nvPr/>
        </p:nvSpPr>
        <p:spPr>
          <a:xfrm xmlns:a="http://schemas.openxmlformats.org/drawingml/2006/main">
            <a:off x="804672" y="1779788"/>
            <a:ext cx="9245346" cy="0"/>
          </a:xfrm>
          <a:prstGeom xmlns:a="http://schemas.openxmlformats.org/drawingml/2006/main" prst="line">
            <a:avLst/>
          </a:prstGeom>
          <a:noFill xmlns:a="http://schemas.openxmlformats.org/drawingml/2006/main"/>
          <a:ln xmlns:a="http://schemas.openxmlformats.org/drawingml/2006/main" w="15875">
            <a:solidFill>
              <a:srgbClr val="80BFEC"/>
            </a:solidFill>
            <a:prstDash val="solid"/>
          </a:ln>
        </p:spPr>
      </p:sp>
      <p:sp>
        <p:nvSpPr>
          <p:cNvPr id="5" name="Text 3">
            <a:extLst xmlns:a="http://schemas.openxmlformats.org/drawingml/2006/main">
              <a:ext uri="{FF2B5EF4-FFF2-40B4-BE49-F238E27FC236}">
                <a16:creationId xmlns:a16="http://schemas.microsoft.com/office/drawing/2014/main" id="{B0C3531E-F58D-4884-85B2-355157575F2F}"/>
              </a:ext>
            </a:extLst>
          </p:cNvPr>
          <p:cNvSpPr>
            <a:spLocks xmlns:a="http://schemas.openxmlformats.org/drawingml/2006/main" noGrp="1"/>
          </p:cNvSpPr>
          <p:nvPr/>
        </p:nvSpPr>
        <p:spPr>
          <a:xfrm xmlns:a="http://schemas.openxmlformats.org/drawingml/2006/main">
            <a:off x="548640" y="1554480"/>
            <a:ext cx="512064" cy="450616"/>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01</a:t>
            </a:r>
            <a:endParaRPr sz="1200"/>
          </a:p>
        </p:txBody>
      </p:sp>
      <p:sp>
        <p:nvSpPr>
          <p:cNvPr id="6" name="Text 4">
            <a:extLst xmlns:a="http://schemas.openxmlformats.org/drawingml/2006/main">
              <a:ext uri="{FF2B5EF4-FFF2-40B4-BE49-F238E27FC236}">
                <a16:creationId xmlns:a16="http://schemas.microsoft.com/office/drawing/2014/main" id="{54B33087-A87F-4B37-8AC3-E011F6FBEE2B}"/>
              </a:ext>
            </a:extLst>
          </p:cNvPr>
          <p:cNvSpPr>
            <a:spLocks xmlns:a="http://schemas.openxmlformats.org/drawingml/2006/main" noGrp="1"/>
          </p:cNvSpPr>
          <p:nvPr/>
        </p:nvSpPr>
        <p:spPr>
          <a:xfrm xmlns:a="http://schemas.openxmlformats.org/drawingml/2006/main">
            <a:off x="548640" y="2176272"/>
            <a:ext cx="1666189"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300" b="1">
                <a:solidFill>
                  <a:srgbClr val="002368"/>
                </a:solidFill>
                <a:latin typeface="Arial"/>
                <a:ea typeface="Arial"/>
                <a:cs typeface="Arial"/>
              </a:rPr>
              <a:t>Content</a:t>
            </a:r>
            <a:endParaRPr sz="1300"/>
          </a:p>
          <a:p xmlns:a="http://schemas.openxmlformats.org/drawingml/2006/main">
            <a:pPr marL="0" indent="0">
              <a:lnSpc>
                <a:spcPct val="105000"/>
              </a:lnSpc>
              <a:buNone/>
            </a:pPr>
            <a:r>
              <a:rPr sz="1300" b="1">
                <a:solidFill>
                  <a:srgbClr val="002368"/>
                </a:solidFill>
                <a:latin typeface="Arial"/>
                <a:ea typeface="Arial"/>
                <a:cs typeface="Arial"/>
              </a:rPr>
              <a:t>and ads</a:t>
            </a:r>
            <a:endParaRPr sz="1300"/>
          </a:p>
        </p:txBody>
      </p:sp>
      <p:sp>
        <p:nvSpPr>
          <p:cNvPr id="7" name="Text 5">
            <a:extLst xmlns:a="http://schemas.openxmlformats.org/drawingml/2006/main">
              <a:ext uri="{FF2B5EF4-FFF2-40B4-BE49-F238E27FC236}">
                <a16:creationId xmlns:a16="http://schemas.microsoft.com/office/drawing/2014/main" id="{8F4BFCC4-D83D-4DA1-8296-4954516A2D7B}"/>
              </a:ext>
            </a:extLst>
          </p:cNvPr>
          <p:cNvSpPr>
            <a:spLocks xmlns:a="http://schemas.openxmlformats.org/drawingml/2006/main" noGrp="1"/>
          </p:cNvSpPr>
          <p:nvPr/>
        </p:nvSpPr>
        <p:spPr>
          <a:xfrm xmlns:a="http://schemas.openxmlformats.org/drawingml/2006/main">
            <a:off x="2397709" y="1554480"/>
            <a:ext cx="512064" cy="450616"/>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02</a:t>
            </a:r>
            <a:endParaRPr sz="1200"/>
          </a:p>
        </p:txBody>
      </p:sp>
      <p:sp>
        <p:nvSpPr>
          <p:cNvPr id="8" name="Text 6">
            <a:extLst xmlns:a="http://schemas.openxmlformats.org/drawingml/2006/main">
              <a:ext uri="{FF2B5EF4-FFF2-40B4-BE49-F238E27FC236}">
                <a16:creationId xmlns:a16="http://schemas.microsoft.com/office/drawing/2014/main" id="{11C58EDA-75F7-445C-84B1-CF130F5F5B31}"/>
              </a:ext>
            </a:extLst>
          </p:cNvPr>
          <p:cNvSpPr>
            <a:spLocks xmlns:a="http://schemas.openxmlformats.org/drawingml/2006/main" noGrp="1"/>
          </p:cNvSpPr>
          <p:nvPr/>
        </p:nvSpPr>
        <p:spPr>
          <a:xfrm xmlns:a="http://schemas.openxmlformats.org/drawingml/2006/main">
            <a:off x="2397709" y="2176272"/>
            <a:ext cx="1666189"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300" b="1">
                <a:solidFill>
                  <a:srgbClr val="002368"/>
                </a:solidFill>
                <a:latin typeface="Arial"/>
                <a:ea typeface="Arial"/>
                <a:cs typeface="Arial"/>
              </a:rPr>
              <a:t>Relevant</a:t>
            </a:r>
            <a:endParaRPr sz="1300"/>
          </a:p>
          <a:p xmlns:a="http://schemas.openxmlformats.org/drawingml/2006/main">
            <a:pPr marL="0" indent="0">
              <a:lnSpc>
                <a:spcPct val="105000"/>
              </a:lnSpc>
              <a:buNone/>
            </a:pPr>
            <a:r>
              <a:rPr sz="1300" b="1">
                <a:solidFill>
                  <a:srgbClr val="002368"/>
                </a:solidFill>
                <a:latin typeface="Arial"/>
                <a:ea typeface="Arial"/>
                <a:cs typeface="Arial"/>
              </a:rPr>
              <a:t>landing page</a:t>
            </a:r>
            <a:endParaRPr sz="1300"/>
          </a:p>
        </p:txBody>
      </p:sp>
      <p:sp>
        <p:nvSpPr>
          <p:cNvPr id="9" name="Text 7">
            <a:extLst xmlns:a="http://schemas.openxmlformats.org/drawingml/2006/main">
              <a:ext uri="{FF2B5EF4-FFF2-40B4-BE49-F238E27FC236}">
                <a16:creationId xmlns:a16="http://schemas.microsoft.com/office/drawing/2014/main" id="{D83AF991-7CD8-4BC1-87D0-45291C5DB8FA}"/>
              </a:ext>
            </a:extLst>
          </p:cNvPr>
          <p:cNvSpPr>
            <a:spLocks xmlns:a="http://schemas.openxmlformats.org/drawingml/2006/main" noGrp="1"/>
          </p:cNvSpPr>
          <p:nvPr/>
        </p:nvSpPr>
        <p:spPr>
          <a:xfrm xmlns:a="http://schemas.openxmlformats.org/drawingml/2006/main">
            <a:off x="4246778" y="1554480"/>
            <a:ext cx="512064" cy="450616"/>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03</a:t>
            </a:r>
            <a:endParaRPr sz="1200"/>
          </a:p>
        </p:txBody>
      </p:sp>
      <p:sp>
        <p:nvSpPr>
          <p:cNvPr id="10" name="Text 8">
            <a:extLst xmlns:a="http://schemas.openxmlformats.org/drawingml/2006/main">
              <a:ext uri="{FF2B5EF4-FFF2-40B4-BE49-F238E27FC236}">
                <a16:creationId xmlns:a16="http://schemas.microsoft.com/office/drawing/2014/main" id="{565BE96F-C467-4883-B302-89860395C627}"/>
              </a:ext>
            </a:extLst>
          </p:cNvPr>
          <p:cNvSpPr>
            <a:spLocks xmlns:a="http://schemas.openxmlformats.org/drawingml/2006/main" noGrp="1"/>
          </p:cNvSpPr>
          <p:nvPr/>
        </p:nvSpPr>
        <p:spPr>
          <a:xfrm xmlns:a="http://schemas.openxmlformats.org/drawingml/2006/main">
            <a:off x="4246778" y="2176272"/>
            <a:ext cx="1666189"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300" b="1">
                <a:solidFill>
                  <a:srgbClr val="002368"/>
                </a:solidFill>
                <a:latin typeface="Arial"/>
                <a:ea typeface="Arial"/>
                <a:cs typeface="Arial"/>
              </a:rPr>
              <a:t>Newsletter</a:t>
            </a:r>
            <a:endParaRPr sz="1300"/>
          </a:p>
          <a:p xmlns:a="http://schemas.openxmlformats.org/drawingml/2006/main">
            <a:pPr marL="0" indent="0">
              <a:lnSpc>
                <a:spcPct val="105000"/>
              </a:lnSpc>
              <a:buNone/>
            </a:pPr>
            <a:r>
              <a:rPr sz="1300" b="1">
                <a:solidFill>
                  <a:srgbClr val="002368"/>
                </a:solidFill>
                <a:latin typeface="Arial"/>
                <a:ea typeface="Arial"/>
                <a:cs typeface="Arial"/>
              </a:rPr>
              <a:t>sign-up</a:t>
            </a:r>
            <a:endParaRPr sz="1300"/>
          </a:p>
        </p:txBody>
      </p:sp>
      <p:sp>
        <p:nvSpPr>
          <p:cNvPr id="11" name="Text 9">
            <a:extLst xmlns:a="http://schemas.openxmlformats.org/drawingml/2006/main">
              <a:ext uri="{FF2B5EF4-FFF2-40B4-BE49-F238E27FC236}">
                <a16:creationId xmlns:a16="http://schemas.microsoft.com/office/drawing/2014/main" id="{40DF9770-33C5-430A-8760-64E8D7ED200A}"/>
              </a:ext>
            </a:extLst>
          </p:cNvPr>
          <p:cNvSpPr>
            <a:spLocks xmlns:a="http://schemas.openxmlformats.org/drawingml/2006/main" noGrp="1"/>
          </p:cNvSpPr>
          <p:nvPr/>
        </p:nvSpPr>
        <p:spPr>
          <a:xfrm xmlns:a="http://schemas.openxmlformats.org/drawingml/2006/main">
            <a:off x="6095848" y="1554480"/>
            <a:ext cx="512064" cy="450616"/>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04</a:t>
            </a:r>
            <a:endParaRPr sz="1200"/>
          </a:p>
        </p:txBody>
      </p:sp>
      <p:sp>
        <p:nvSpPr>
          <p:cNvPr id="12" name="Text 10">
            <a:extLst xmlns:a="http://schemas.openxmlformats.org/drawingml/2006/main">
              <a:ext uri="{FF2B5EF4-FFF2-40B4-BE49-F238E27FC236}">
                <a16:creationId xmlns:a16="http://schemas.microsoft.com/office/drawing/2014/main" id="{C53B5FCB-9B92-4986-A0C0-9DB2B8D612EB}"/>
              </a:ext>
            </a:extLst>
          </p:cNvPr>
          <p:cNvSpPr>
            <a:spLocks xmlns:a="http://schemas.openxmlformats.org/drawingml/2006/main" noGrp="1"/>
          </p:cNvSpPr>
          <p:nvPr/>
        </p:nvSpPr>
        <p:spPr>
          <a:xfrm xmlns:a="http://schemas.openxmlformats.org/drawingml/2006/main">
            <a:off x="6095848" y="2176272"/>
            <a:ext cx="1666189"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300" b="1">
                <a:solidFill>
                  <a:srgbClr val="002368"/>
                </a:solidFill>
                <a:latin typeface="Arial"/>
                <a:ea typeface="Arial"/>
                <a:cs typeface="Arial"/>
              </a:rPr>
              <a:t>Permission</a:t>
            </a:r>
            <a:endParaRPr sz="1300"/>
          </a:p>
          <a:p xmlns:a="http://schemas.openxmlformats.org/drawingml/2006/main">
            <a:pPr marL="0" indent="0">
              <a:lnSpc>
                <a:spcPct val="105000"/>
              </a:lnSpc>
              <a:buNone/>
            </a:pPr>
            <a:r>
              <a:rPr sz="1300" b="1">
                <a:solidFill>
                  <a:srgbClr val="002368"/>
                </a:solidFill>
                <a:latin typeface="Arial"/>
                <a:ea typeface="Arial"/>
                <a:cs typeface="Arial"/>
              </a:rPr>
              <a:t>record</a:t>
            </a:r>
            <a:endParaRPr sz="1300"/>
          </a:p>
        </p:txBody>
      </p:sp>
      <p:sp>
        <p:nvSpPr>
          <p:cNvPr id="13" name="Text 11">
            <a:extLst xmlns:a="http://schemas.openxmlformats.org/drawingml/2006/main">
              <a:ext uri="{FF2B5EF4-FFF2-40B4-BE49-F238E27FC236}">
                <a16:creationId xmlns:a16="http://schemas.microsoft.com/office/drawing/2014/main" id="{0FAD4F3B-EED5-49A0-80B8-33C18EA100B8}"/>
              </a:ext>
            </a:extLst>
          </p:cNvPr>
          <p:cNvSpPr>
            <a:spLocks xmlns:a="http://schemas.openxmlformats.org/drawingml/2006/main" noGrp="1"/>
          </p:cNvSpPr>
          <p:nvPr/>
        </p:nvSpPr>
        <p:spPr>
          <a:xfrm xmlns:a="http://schemas.openxmlformats.org/drawingml/2006/main">
            <a:off x="7944917" y="1554480"/>
            <a:ext cx="512064" cy="450616"/>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05</a:t>
            </a:r>
            <a:endParaRPr sz="1200"/>
          </a:p>
        </p:txBody>
      </p:sp>
      <p:sp>
        <p:nvSpPr>
          <p:cNvPr id="14" name="Text 12">
            <a:extLst xmlns:a="http://schemas.openxmlformats.org/drawingml/2006/main">
              <a:ext uri="{FF2B5EF4-FFF2-40B4-BE49-F238E27FC236}">
                <a16:creationId xmlns:a16="http://schemas.microsoft.com/office/drawing/2014/main" id="{51FE39D0-6546-4123-AD2B-702F115BCD6F}"/>
              </a:ext>
            </a:extLst>
          </p:cNvPr>
          <p:cNvSpPr>
            <a:spLocks xmlns:a="http://schemas.openxmlformats.org/drawingml/2006/main" noGrp="1"/>
          </p:cNvSpPr>
          <p:nvPr/>
        </p:nvSpPr>
        <p:spPr>
          <a:xfrm xmlns:a="http://schemas.openxmlformats.org/drawingml/2006/main">
            <a:off x="7944917" y="2176272"/>
            <a:ext cx="1666189"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300" b="1">
                <a:solidFill>
                  <a:srgbClr val="002368"/>
                </a:solidFill>
                <a:latin typeface="Arial"/>
                <a:ea typeface="Arial"/>
                <a:cs typeface="Arial"/>
              </a:rPr>
              <a:t>Parent</a:t>
            </a:r>
            <a:endParaRPr sz="1300"/>
          </a:p>
          <a:p xmlns:a="http://schemas.openxmlformats.org/drawingml/2006/main">
            <a:pPr marL="0" indent="0">
              <a:lnSpc>
                <a:spcPct val="105000"/>
              </a:lnSpc>
              <a:buNone/>
            </a:pPr>
            <a:r>
              <a:rPr sz="1300" b="1">
                <a:solidFill>
                  <a:srgbClr val="002368"/>
                </a:solidFill>
                <a:latin typeface="Arial"/>
                <a:ea typeface="Arial"/>
                <a:cs typeface="Arial"/>
              </a:rPr>
              <a:t>audience</a:t>
            </a:r>
            <a:endParaRPr sz="1300"/>
          </a:p>
        </p:txBody>
      </p:sp>
      <p:sp>
        <p:nvSpPr>
          <p:cNvPr id="15" name="Text 13">
            <a:extLst xmlns:a="http://schemas.openxmlformats.org/drawingml/2006/main">
              <a:ext uri="{FF2B5EF4-FFF2-40B4-BE49-F238E27FC236}">
                <a16:creationId xmlns:a16="http://schemas.microsoft.com/office/drawing/2014/main" id="{549BA5D4-0C2B-435E-BBEA-428676C44DE1}"/>
              </a:ext>
            </a:extLst>
          </p:cNvPr>
          <p:cNvSpPr>
            <a:spLocks xmlns:a="http://schemas.openxmlformats.org/drawingml/2006/main" noGrp="1"/>
          </p:cNvSpPr>
          <p:nvPr/>
        </p:nvSpPr>
        <p:spPr>
          <a:xfrm xmlns:a="http://schemas.openxmlformats.org/drawingml/2006/main">
            <a:off x="9793986" y="1554480"/>
            <a:ext cx="512064" cy="450616"/>
          </a:xfrm>
          <a:prstGeom xmlns:a="http://schemas.openxmlformats.org/drawingml/2006/main" prst="hexagon">
            <a:avLst/>
          </a:prstGeom>
          <a:solidFill xmlns:a="http://schemas.openxmlformats.org/drawingml/2006/main">
            <a:srgbClr val="FFC952"/>
          </a:solidFill>
          <a:ln xmlns:a="http://schemas.openxmlformats.org/drawingml/2006/main">
            <a:solidFill>
              <a:srgbClr val="FFC952"/>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002368"/>
                </a:solidFill>
                <a:latin typeface="Arial"/>
                <a:ea typeface="Arial"/>
                <a:cs typeface="Arial"/>
              </a:rPr>
              <a:t>06</a:t>
            </a:r>
            <a:endParaRPr sz="1200"/>
          </a:p>
        </p:txBody>
      </p:sp>
      <p:sp>
        <p:nvSpPr>
          <p:cNvPr id="16" name="Text 14">
            <a:extLst xmlns:a="http://schemas.openxmlformats.org/drawingml/2006/main">
              <a:ext uri="{FF2B5EF4-FFF2-40B4-BE49-F238E27FC236}">
                <a16:creationId xmlns:a16="http://schemas.microsoft.com/office/drawing/2014/main" id="{42CB9654-B01E-4ACC-A3E3-4DDB495E6CA8}"/>
              </a:ext>
            </a:extLst>
          </p:cNvPr>
          <p:cNvSpPr>
            <a:spLocks xmlns:a="http://schemas.openxmlformats.org/drawingml/2006/main" noGrp="1"/>
          </p:cNvSpPr>
          <p:nvPr/>
        </p:nvSpPr>
        <p:spPr>
          <a:xfrm xmlns:a="http://schemas.openxmlformats.org/drawingml/2006/main">
            <a:off x="9793986" y="2176272"/>
            <a:ext cx="1666189"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5000"/>
              </a:lnSpc>
              <a:buNone/>
            </a:pPr>
            <a:r>
              <a:rPr sz="1300" b="1">
                <a:solidFill>
                  <a:srgbClr val="002368"/>
                </a:solidFill>
                <a:latin typeface="Arial"/>
                <a:ea typeface="Arial"/>
                <a:cs typeface="Arial"/>
              </a:rPr>
              <a:t>Enquiry and</a:t>
            </a:r>
            <a:endParaRPr sz="1300"/>
          </a:p>
          <a:p xmlns:a="http://schemas.openxmlformats.org/drawingml/2006/main">
            <a:pPr marL="0" indent="0">
              <a:lnSpc>
                <a:spcPct val="105000"/>
              </a:lnSpc>
              <a:buNone/>
            </a:pPr>
            <a:r>
              <a:rPr sz="1300" b="1">
                <a:solidFill>
                  <a:srgbClr val="002368"/>
                </a:solidFill>
                <a:latin typeface="Arial"/>
                <a:ea typeface="Arial"/>
                <a:cs typeface="Arial"/>
              </a:rPr>
              <a:t>enrolment</a:t>
            </a:r>
            <a:endParaRPr sz="1300"/>
          </a:p>
        </p:txBody>
      </p:sp>
      <p:sp>
        <p:nvSpPr>
          <p:cNvPr id="17" name="Shape 15">
            <a:extLst xmlns:a="http://schemas.openxmlformats.org/drawingml/2006/main">
              <a:ext uri="{FF2B5EF4-FFF2-40B4-BE49-F238E27FC236}">
                <a16:creationId xmlns:a16="http://schemas.microsoft.com/office/drawing/2014/main" id="{14330E39-63A0-4BCC-BED5-F3300785B2C3}"/>
              </a:ext>
            </a:extLst>
          </p:cNvPr>
          <p:cNvSpPr>
            <a:spLocks xmlns:a="http://schemas.openxmlformats.org/drawingml/2006/main" noGrp="1"/>
          </p:cNvSpPr>
          <p:nvPr/>
        </p:nvSpPr>
        <p:spPr>
          <a:xfrm xmlns:a="http://schemas.openxmlformats.org/drawingml/2006/main">
            <a:off x="548640" y="3063240"/>
            <a:ext cx="11094415" cy="1463040"/>
          </a:xfrm>
          <a:prstGeom xmlns:a="http://schemas.openxmlformats.org/drawingml/2006/main" prst="roundRect">
            <a:avLst>
              <a:gd name="adj" fmla="val 4375"/>
            </a:avLst>
          </a:prstGeom>
          <a:solidFill xmlns:a="http://schemas.openxmlformats.org/drawingml/2006/main">
            <a:srgbClr val="FFF7E5"/>
          </a:solidFill>
          <a:ln xmlns:a="http://schemas.openxmlformats.org/drawingml/2006/main" w="12700">
            <a:solidFill>
              <a:srgbClr val="FFF7E5"/>
            </a:solidFill>
            <a:prstDash val="solid"/>
          </a:ln>
        </p:spPr>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0213661322434128">
            <a:alphaModFix amt="60000"/>
          </a:blip>
          <a:stretch xmlns:a="http://schemas.openxmlformats.org/drawingml/2006/main">
            <a:fillRect l="0" t="0" r="0" b="0"/>
          </a:stretch>
        </p:blipFill>
        <p:spPr>
          <a:xfrm xmlns:a="http://schemas.openxmlformats.org/drawingml/2006/main">
            <a:off x="10271455" y="3291840"/>
            <a:ext cx="777240" cy="1012767"/>
          </a:xfrm>
          <a:prstGeom xmlns:a="http://schemas.openxmlformats.org/drawingml/2006/main" prst="rect">
            <a:avLst/>
          </a:prstGeom>
        </p:spPr>
      </p:pic>
      <p:sp>
        <p:nvSpPr>
          <p:cNvPr id="19" name="Text 16">
            <a:extLst xmlns:a="http://schemas.openxmlformats.org/drawingml/2006/main">
              <a:ext uri="{FF2B5EF4-FFF2-40B4-BE49-F238E27FC236}">
                <a16:creationId xmlns:a16="http://schemas.microsoft.com/office/drawing/2014/main" id="{BC6F6E14-E321-4F0B-A4D5-CEDD3EF0CFEF}"/>
              </a:ext>
            </a:extLst>
          </p:cNvPr>
          <p:cNvSpPr>
            <a:spLocks xmlns:a="http://schemas.openxmlformats.org/drawingml/2006/main" noGrp="1"/>
          </p:cNvSpPr>
          <p:nvPr/>
        </p:nvSpPr>
        <p:spPr>
          <a:xfrm xmlns:a="http://schemas.openxmlformats.org/drawingml/2006/main">
            <a:off x="960120" y="3355848"/>
            <a:ext cx="3657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002368"/>
                </a:solidFill>
                <a:latin typeface="Arial"/>
                <a:ea typeface="Arial"/>
                <a:cs typeface="Arial"/>
              </a:rPr>
              <a:t>NEWSLETTER PROMISE</a:t>
            </a:r>
            <a:endParaRPr sz="900"/>
          </a:p>
        </p:txBody>
      </p:sp>
      <p:sp>
        <p:nvSpPr>
          <p:cNvPr id="20" name="Text 17">
            <a:extLst xmlns:a="http://schemas.openxmlformats.org/drawingml/2006/main">
              <a:ext uri="{FF2B5EF4-FFF2-40B4-BE49-F238E27FC236}">
                <a16:creationId xmlns:a16="http://schemas.microsoft.com/office/drawing/2014/main" id="{F66D5D31-786F-4451-BAB7-AEFE64A32AB9}"/>
              </a:ext>
            </a:extLst>
          </p:cNvPr>
          <p:cNvSpPr>
            <a:spLocks xmlns:a="http://schemas.openxmlformats.org/drawingml/2006/main" noGrp="1"/>
          </p:cNvSpPr>
          <p:nvPr/>
        </p:nvSpPr>
        <p:spPr>
          <a:xfrm xmlns:a="http://schemas.openxmlformats.org/drawingml/2006/main">
            <a:off x="960120" y="3611880"/>
            <a:ext cx="8808415"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500">
                <a:solidFill>
                  <a:srgbClr val="002368"/>
                </a:solidFill>
                <a:latin typeface="Georgia"/>
                <a:ea typeface="Georgia"/>
                <a:cs typeface="Georgia"/>
              </a:rPr>
              <a:t>Admissions guidance, school-readiness information and campus updates, plus notifications when approved scholarships, bursaries or fee discounts become available.</a:t>
            </a:r>
            <a:endParaRPr sz="1500"/>
          </a:p>
        </p:txBody>
      </p:sp>
      <p:sp>
        <p:nvSpPr>
          <p:cNvPr id="21" name="Text 18">
            <a:extLst xmlns:a="http://schemas.openxmlformats.org/drawingml/2006/main">
              <a:ext uri="{FF2B5EF4-FFF2-40B4-BE49-F238E27FC236}">
                <a16:creationId xmlns:a16="http://schemas.microsoft.com/office/drawing/2014/main" id="{C34C9245-E9C1-459F-9619-458D1425A868}"/>
              </a:ext>
            </a:extLst>
          </p:cNvPr>
          <p:cNvSpPr>
            <a:spLocks xmlns:a="http://schemas.openxmlformats.org/drawingml/2006/main" noGrp="1"/>
          </p:cNvSpPr>
          <p:nvPr/>
        </p:nvSpPr>
        <p:spPr>
          <a:xfrm xmlns:a="http://schemas.openxmlformats.org/drawingml/2006/main">
            <a:off x="548640" y="4846320"/>
            <a:ext cx="3657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18283"/>
                </a:solidFill>
                <a:latin typeface="Arial"/>
                <a:ea typeface="Arial"/>
                <a:cs typeface="Arial"/>
              </a:rPr>
              <a:t>WHAT WE MEASURE</a:t>
            </a:r>
            <a:endParaRPr sz="900"/>
          </a:p>
        </p:txBody>
      </p:sp>
      <p:sp>
        <p:nvSpPr>
          <p:cNvPr id="22" name="Text 19">
            <a:extLst xmlns:a="http://schemas.openxmlformats.org/drawingml/2006/main">
              <a:ext uri="{FF2B5EF4-FFF2-40B4-BE49-F238E27FC236}">
                <a16:creationId xmlns:a16="http://schemas.microsoft.com/office/drawing/2014/main" id="{D8514C08-7B98-4150-9D08-BBE2D371FCCB}"/>
              </a:ext>
            </a:extLst>
          </p:cNvPr>
          <p:cNvSpPr>
            <a:spLocks xmlns:a="http://schemas.openxmlformats.org/drawingml/2006/main" noGrp="1"/>
          </p:cNvSpPr>
          <p:nvPr/>
        </p:nvSpPr>
        <p:spPr>
          <a:xfrm xmlns:a="http://schemas.openxmlformats.org/drawingml/2006/main">
            <a:off x="548640" y="5074920"/>
            <a:ext cx="2171700" cy="29260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002368"/>
                </a:solidFill>
                <a:latin typeface="Arial"/>
                <a:ea typeface="Arial"/>
                <a:cs typeface="Arial"/>
              </a:rPr>
              <a:t>Landing-page conversion</a:t>
            </a:r>
            <a:endParaRPr sz="1000"/>
          </a:p>
        </p:txBody>
      </p:sp>
      <p:sp>
        <p:nvSpPr>
          <p:cNvPr id="23" name="Text 20">
            <a:extLst xmlns:a="http://schemas.openxmlformats.org/drawingml/2006/main">
              <a:ext uri="{FF2B5EF4-FFF2-40B4-BE49-F238E27FC236}">
                <a16:creationId xmlns:a16="http://schemas.microsoft.com/office/drawing/2014/main" id="{498992D5-7CFE-47D2-8BAA-8C394EB3D385}"/>
              </a:ext>
            </a:extLst>
          </p:cNvPr>
          <p:cNvSpPr>
            <a:spLocks xmlns:a="http://schemas.openxmlformats.org/drawingml/2006/main" noGrp="1"/>
          </p:cNvSpPr>
          <p:nvPr/>
        </p:nvSpPr>
        <p:spPr>
          <a:xfrm xmlns:a="http://schemas.openxmlformats.org/drawingml/2006/main">
            <a:off x="2848356" y="5074920"/>
            <a:ext cx="1783080" cy="29260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002368"/>
                </a:solidFill>
                <a:latin typeface="Arial"/>
                <a:ea typeface="Arial"/>
                <a:cs typeface="Arial"/>
              </a:rPr>
              <a:t>Sign-up completion</a:t>
            </a:r>
            <a:endParaRPr sz="1000"/>
          </a:p>
        </p:txBody>
      </p:sp>
      <p:sp>
        <p:nvSpPr>
          <p:cNvPr id="24" name="Text 21">
            <a:extLst xmlns:a="http://schemas.openxmlformats.org/drawingml/2006/main">
              <a:ext uri="{FF2B5EF4-FFF2-40B4-BE49-F238E27FC236}">
                <a16:creationId xmlns:a16="http://schemas.microsoft.com/office/drawing/2014/main" id="{42C65A9C-1FFF-4DED-B0DD-848436DA0C1B}"/>
              </a:ext>
            </a:extLst>
          </p:cNvPr>
          <p:cNvSpPr>
            <a:spLocks xmlns:a="http://schemas.openxmlformats.org/drawingml/2006/main" noGrp="1"/>
          </p:cNvSpPr>
          <p:nvPr/>
        </p:nvSpPr>
        <p:spPr>
          <a:xfrm xmlns:a="http://schemas.openxmlformats.org/drawingml/2006/main">
            <a:off x="4759452" y="5074920"/>
            <a:ext cx="1083564" cy="29260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002368"/>
                </a:solidFill>
                <a:latin typeface="Arial"/>
                <a:ea typeface="Arial"/>
                <a:cs typeface="Arial"/>
              </a:rPr>
              <a:t>Enquiries</a:t>
            </a:r>
            <a:endParaRPr sz="1000"/>
          </a:p>
        </p:txBody>
      </p:sp>
      <p:sp>
        <p:nvSpPr>
          <p:cNvPr id="25" name="Text 22">
            <a:extLst xmlns:a="http://schemas.openxmlformats.org/drawingml/2006/main">
              <a:ext uri="{FF2B5EF4-FFF2-40B4-BE49-F238E27FC236}">
                <a16:creationId xmlns:a16="http://schemas.microsoft.com/office/drawing/2014/main" id="{88AEBC5F-1C98-4FC1-9BC7-46B013D6F413}"/>
              </a:ext>
            </a:extLst>
          </p:cNvPr>
          <p:cNvSpPr>
            <a:spLocks xmlns:a="http://schemas.openxmlformats.org/drawingml/2006/main" noGrp="1"/>
          </p:cNvSpPr>
          <p:nvPr/>
        </p:nvSpPr>
        <p:spPr>
          <a:xfrm xmlns:a="http://schemas.openxmlformats.org/drawingml/2006/main">
            <a:off x="5971032" y="5074920"/>
            <a:ext cx="1394460" cy="29260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002368"/>
                </a:solidFill>
                <a:latin typeface="Arial"/>
                <a:ea typeface="Arial"/>
                <a:cs typeface="Arial"/>
              </a:rPr>
              <a:t>Campus visits</a:t>
            </a:r>
            <a:endParaRPr sz="1000"/>
          </a:p>
        </p:txBody>
      </p:sp>
      <p:sp>
        <p:nvSpPr>
          <p:cNvPr id="26" name="Text 23">
            <a:extLst xmlns:a="http://schemas.openxmlformats.org/drawingml/2006/main">
              <a:ext uri="{FF2B5EF4-FFF2-40B4-BE49-F238E27FC236}">
                <a16:creationId xmlns:a16="http://schemas.microsoft.com/office/drawing/2014/main" id="{1DDBF284-5638-4A98-BFE1-04D7EC852CFA}"/>
              </a:ext>
            </a:extLst>
          </p:cNvPr>
          <p:cNvSpPr>
            <a:spLocks xmlns:a="http://schemas.openxmlformats.org/drawingml/2006/main" noGrp="1"/>
          </p:cNvSpPr>
          <p:nvPr/>
        </p:nvSpPr>
        <p:spPr>
          <a:xfrm xmlns:a="http://schemas.openxmlformats.org/drawingml/2006/main">
            <a:off x="7493508" y="5074920"/>
            <a:ext cx="1316736" cy="29260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002368"/>
                </a:solidFill>
                <a:latin typeface="Arial"/>
                <a:ea typeface="Arial"/>
                <a:cs typeface="Arial"/>
              </a:rPr>
              <a:t>Applications</a:t>
            </a:r>
            <a:endParaRPr sz="1000"/>
          </a:p>
        </p:txBody>
      </p:sp>
      <p:sp>
        <p:nvSpPr>
          <p:cNvPr id="27" name="Text 24">
            <a:extLst xmlns:a="http://schemas.openxmlformats.org/drawingml/2006/main">
              <a:ext uri="{FF2B5EF4-FFF2-40B4-BE49-F238E27FC236}">
                <a16:creationId xmlns:a16="http://schemas.microsoft.com/office/drawing/2014/main" id="{412EB001-7B72-4E3F-A16A-76107B6691CB}"/>
              </a:ext>
            </a:extLst>
          </p:cNvPr>
          <p:cNvSpPr>
            <a:spLocks xmlns:a="http://schemas.openxmlformats.org/drawingml/2006/main" noGrp="1"/>
          </p:cNvSpPr>
          <p:nvPr/>
        </p:nvSpPr>
        <p:spPr>
          <a:xfrm xmlns:a="http://schemas.openxmlformats.org/drawingml/2006/main">
            <a:off x="8938260" y="5074920"/>
            <a:ext cx="1083564" cy="29260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002368"/>
                </a:solidFill>
                <a:latin typeface="Arial"/>
                <a:ea typeface="Arial"/>
                <a:cs typeface="Arial"/>
              </a:rPr>
              <a:t>Enrolment</a:t>
            </a:r>
            <a:endParaRPr sz="1000"/>
          </a:p>
        </p:txBody>
      </p:sp>
      <p:sp>
        <p:nvSpPr>
          <p:cNvPr id="28" name="Text 25">
            <a:extLst xmlns:a="http://schemas.openxmlformats.org/drawingml/2006/main">
              <a:ext uri="{FF2B5EF4-FFF2-40B4-BE49-F238E27FC236}">
                <a16:creationId xmlns:a16="http://schemas.microsoft.com/office/drawing/2014/main" id="{D0C73713-3CF5-441A-8319-284A957D755E}"/>
              </a:ext>
            </a:extLst>
          </p:cNvPr>
          <p:cNvSpPr>
            <a:spLocks xmlns:a="http://schemas.openxmlformats.org/drawingml/2006/main" noGrp="1"/>
          </p:cNvSpPr>
          <p:nvPr/>
        </p:nvSpPr>
        <p:spPr>
          <a:xfrm xmlns:a="http://schemas.openxmlformats.org/drawingml/2006/main">
            <a:off x="548640" y="5577840"/>
            <a:ext cx="10515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818283"/>
                </a:solidFill>
                <a:latin typeface="Arial"/>
                <a:ea typeface="Arial"/>
                <a:cs typeface="Arial"/>
              </a:rPr>
              <a:t>Scholarship, bursary and fee-discount language describes notifications about approved opportunities; it never promises that an offer exists.</a:t>
            </a:r>
            <a:endParaRPr sz="950"/>
          </a:p>
        </p:txBody>
      </p:sp>
      <p:pic>
        <p:nvPicPr>
          <p:cNvPr id="61" name="Image 1"/>
          <p:cNvPicPr>
            <a:picLocks xmlns:a="http://schemas.openxmlformats.org/drawingml/2006/main" noChangeAspect="1"/>
          </p:cNvPicPr>
          <p:nvPr/>
        </p:nvPicPr>
        <p:blipFill>
          <a:blip xmlns:r="http://schemas.openxmlformats.org/officeDocument/2006/relationships" xmlns:a="http://schemas.openxmlformats.org/drawingml/2006/main" r:embed="R4a6b9df35aac4bcc"/>
          <a:stretch xmlns:a="http://schemas.openxmlformats.org/drawingml/2006/main">
            <a:fillRect l="0" t="0" r="0" b="0"/>
          </a:stretch>
        </p:blipFill>
        <p:spPr>
          <a:xfrm xmlns:a="http://schemas.openxmlformats.org/drawingml/2006/main">
            <a:off x="548640" y="6272784"/>
            <a:ext cx="1143000" cy="272176"/>
          </a:xfrm>
          <a:prstGeom xmlns:a="http://schemas.openxmlformats.org/drawingml/2006/main" prst="rect">
            <a:avLst/>
          </a:prstGeom>
        </p:spPr>
      </p:pic>
      <p:sp>
        <p:nvSpPr>
          <p:cNvPr id="30" name="Text 26">
            <a:extLst xmlns:a="http://schemas.openxmlformats.org/drawingml/2006/main">
              <a:ext uri="{FF2B5EF4-FFF2-40B4-BE49-F238E27FC236}">
                <a16:creationId xmlns:a16="http://schemas.microsoft.com/office/drawing/2014/main" id="{EEAA80D3-999E-45C9-B9FE-E009EE676B14}"/>
              </a:ext>
            </a:extLst>
          </p:cNvPr>
          <p:cNvSpPr>
            <a:spLocks xmlns:a="http://schemas.openxmlformats.org/drawingml/2006/main" noGrp="1"/>
          </p:cNvSpPr>
          <p:nvPr/>
        </p:nvSpPr>
        <p:spPr>
          <a:xfrm xmlns:a="http://schemas.openxmlformats.org/drawingml/2006/main">
            <a:off x="1965960" y="6309360"/>
            <a:ext cx="85953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818283"/>
                </a:solidFill>
                <a:latin typeface="Arial"/>
                <a:ea typeface="Arial"/>
                <a:cs typeface="Arial"/>
              </a:rPr>
              <a:t>Source: approved Track 2 plan and Silverleaf marketing positioning</a:t>
            </a:r>
            <a:endParaRPr sz="800"/>
          </a:p>
        </p:txBody>
      </p:sp>
      <p:sp>
        <p:nvSpPr>
          <p:cNvPr id="31" name="Text 27">
            <a:extLst xmlns:a="http://schemas.openxmlformats.org/drawingml/2006/main">
              <a:ext uri="{FF2B5EF4-FFF2-40B4-BE49-F238E27FC236}">
                <a16:creationId xmlns:a16="http://schemas.microsoft.com/office/drawing/2014/main" id="{82F3C588-F271-4DF3-AA23-0B8AA9222A90}"/>
              </a:ext>
            </a:extLst>
          </p:cNvPr>
          <p:cNvSpPr>
            <a:spLocks xmlns:a="http://schemas.openxmlformats.org/drawingml/2006/main" noGrp="1"/>
          </p:cNvSpPr>
          <p:nvPr/>
        </p:nvSpPr>
        <p:spPr>
          <a:xfrm xmlns:a="http://schemas.openxmlformats.org/drawingml/2006/main">
            <a:off x="10911535" y="6254496"/>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002368"/>
                </a:solidFill>
                <a:latin typeface="Georgia"/>
                <a:ea typeface="Georgia"/>
                <a:cs typeface="Georgia"/>
              </a:rPr>
              <a:t>10</a:t>
            </a:r>
            <a:endParaRPr sz="1200"/>
          </a:p>
        </p:txBody>
      </p:sp>
    </p:spTree>
    <p:extLst>
      <p:ext uri="{BB962C8B-B14F-4D97-AF65-F5344CB8AC3E}">
        <p14:creationId xmlns:p14="http://schemas.microsoft.com/office/powerpoint/2010/main" val="84597447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86F6EEC-5172-4235-879F-7B02F73E8D1E}"/>
              </a:ext>
            </a:extLst>
          </p:cNvPr>
          <p:cNvSpPr>
            <a:spLocks xmlns:a="http://schemas.openxmlformats.org/drawingml/2006/main" noGrp="1"/>
          </p:cNvSpPr>
          <p:nvPr/>
        </p:nvSpPr>
        <p:spPr>
          <a:xfrm xmlns:a="http://schemas.openxmlformats.org/drawingml/2006/main">
            <a:off x="0" y="0"/>
            <a:ext cx="3931920" cy="6858000"/>
          </a:xfrm>
          <a:prstGeom xmlns:a="http://schemas.openxmlformats.org/drawingml/2006/main" prst="rect">
            <a:avLst/>
          </a:prstGeom>
          <a:solidFill xmlns:a="http://schemas.openxmlformats.org/drawingml/2006/main">
            <a:srgbClr val="002368"/>
          </a:solidFill>
          <a:ln xmlns:a="http://schemas.openxmlformats.org/drawingml/2006/main" w="12700">
            <a:solidFill>
              <a:srgbClr val="002368"/>
            </a:solidFill>
            <a:prstDash val="solid"/>
          </a:ln>
        </p:spPr>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522203a6e0fb41de"/>
          <a:stretch xmlns:a="http://schemas.openxmlformats.org/drawingml/2006/main">
            <a:fillRect l="0" t="0" r="0" b="0"/>
          </a:stretch>
        </p:blipFill>
        <p:spPr>
          <a:xfrm xmlns:a="http://schemas.openxmlformats.org/drawingml/2006/main">
            <a:off x="548640" y="548640"/>
            <a:ext cx="1737360" cy="413707"/>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043B1ADB-82E7-4536-B698-6B19CE3FB0DF}"/>
              </a:ext>
            </a:extLst>
          </p:cNvPr>
          <p:cNvSpPr>
            <a:spLocks xmlns:a="http://schemas.openxmlformats.org/drawingml/2006/main" noGrp="1"/>
          </p:cNvSpPr>
          <p:nvPr/>
        </p:nvSpPr>
        <p:spPr>
          <a:xfrm xmlns:a="http://schemas.openxmlformats.org/drawingml/2006/main">
            <a:off x="548640" y="1554480"/>
            <a:ext cx="31089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0BFEC"/>
                </a:solidFill>
                <a:latin typeface="Arial"/>
                <a:ea typeface="Arial"/>
                <a:cs typeface="Arial"/>
              </a:rPr>
              <a:t>PARENT TRACK  ·  PRIVACY</a:t>
            </a:r>
            <a:endParaRPr sz="900"/>
          </a:p>
        </p:txBody>
      </p:sp>
      <p:sp>
        <p:nvSpPr>
          <p:cNvPr id="5" name="Text 2">
            <a:extLst xmlns:a="http://schemas.openxmlformats.org/drawingml/2006/main">
              <a:ext uri="{FF2B5EF4-FFF2-40B4-BE49-F238E27FC236}">
                <a16:creationId xmlns:a16="http://schemas.microsoft.com/office/drawing/2014/main" id="{5251C5B9-80F9-4128-B2B6-6BCA1C535C61}"/>
              </a:ext>
            </a:extLst>
          </p:cNvPr>
          <p:cNvSpPr>
            <a:spLocks xmlns:a="http://schemas.openxmlformats.org/drawingml/2006/main" noGrp="1"/>
          </p:cNvSpPr>
          <p:nvPr/>
        </p:nvSpPr>
        <p:spPr>
          <a:xfrm xmlns:a="http://schemas.openxmlformats.org/drawingml/2006/main">
            <a:off x="548640" y="1810512"/>
            <a:ext cx="301752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2600" b="1">
                <a:solidFill>
                  <a:srgbClr val="FFFFFF"/>
                </a:solidFill>
                <a:latin typeface="Arial"/>
                <a:ea typeface="Arial"/>
                <a:cs typeface="Arial"/>
              </a:rPr>
              <a:t>Parent audience data controls</a:t>
            </a:r>
            <a:endParaRPr sz="2600"/>
          </a:p>
        </p:txBody>
      </p:sp>
      <p:sp>
        <p:nvSpPr>
          <p:cNvPr id="6" name="Text 3">
            <a:extLst xmlns:a="http://schemas.openxmlformats.org/drawingml/2006/main">
              <a:ext uri="{FF2B5EF4-FFF2-40B4-BE49-F238E27FC236}">
                <a16:creationId xmlns:a16="http://schemas.microsoft.com/office/drawing/2014/main" id="{F1047E12-4C98-45E8-8FC0-513821E9CFA9}"/>
              </a:ext>
            </a:extLst>
          </p:cNvPr>
          <p:cNvSpPr>
            <a:spLocks xmlns:a="http://schemas.openxmlformats.org/drawingml/2006/main" noGrp="1"/>
          </p:cNvSpPr>
          <p:nvPr/>
        </p:nvSpPr>
        <p:spPr>
          <a:xfrm xmlns:a="http://schemas.openxmlformats.org/drawingml/2006/main">
            <a:off x="548640" y="31546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400">
                <a:solidFill>
                  <a:srgbClr val="80BFEC"/>
                </a:solidFill>
                <a:latin typeface="Georgia"/>
                <a:ea typeface="Georgia"/>
                <a:cs typeface="Georgia"/>
              </a:rPr>
              <a:t>Parents enter the audience through a clear Silverleaf website form.</a:t>
            </a:r>
            <a:endParaRPr sz="1400"/>
          </a:p>
        </p:txBody>
      </p:sp>
      <p:sp>
        <p:nvSpPr>
          <p:cNvPr id="7" name="Text 4">
            <a:extLst xmlns:a="http://schemas.openxmlformats.org/drawingml/2006/main">
              <a:ext uri="{FF2B5EF4-FFF2-40B4-BE49-F238E27FC236}">
                <a16:creationId xmlns:a16="http://schemas.microsoft.com/office/drawing/2014/main" id="{DF494ABB-946B-4EE4-A197-B82FEC551756}"/>
              </a:ext>
            </a:extLst>
          </p:cNvPr>
          <p:cNvSpPr>
            <a:spLocks xmlns:a="http://schemas.openxmlformats.org/drawingml/2006/main" noGrp="1"/>
          </p:cNvSpPr>
          <p:nvPr/>
        </p:nvSpPr>
        <p:spPr>
          <a:xfrm xmlns:a="http://schemas.openxmlformats.org/drawingml/2006/main">
            <a:off x="548640" y="4069080"/>
            <a:ext cx="30175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100">
                <a:solidFill>
                  <a:srgbClr val="D9ECF9"/>
                </a:solidFill>
                <a:latin typeface="Arial"/>
                <a:ea typeface="Arial"/>
                <a:cs typeface="Arial"/>
              </a:rPr>
              <a:t>The form and follow-up process must preserve the person’s choice and explain how the data will be used.</a:t>
            </a:r>
            <a:endParaRPr sz="1100"/>
          </a:p>
        </p:txBody>
      </p:sp>
      <p:sp>
        <p:nvSpPr>
          <p:cNvPr id="8" name="Text 5">
            <a:extLst xmlns:a="http://schemas.openxmlformats.org/drawingml/2006/main">
              <a:ext uri="{FF2B5EF4-FFF2-40B4-BE49-F238E27FC236}">
                <a16:creationId xmlns:a16="http://schemas.microsoft.com/office/drawing/2014/main" id="{9BDF0F63-9553-47F0-8F2A-A5218F819AF0}"/>
              </a:ext>
            </a:extLst>
          </p:cNvPr>
          <p:cNvSpPr>
            <a:spLocks xmlns:a="http://schemas.openxmlformats.org/drawingml/2006/main" noGrp="1"/>
          </p:cNvSpPr>
          <p:nvPr/>
        </p:nvSpPr>
        <p:spPr>
          <a:xfrm xmlns:a="http://schemas.openxmlformats.org/drawingml/2006/main">
            <a:off x="548640" y="6172200"/>
            <a:ext cx="31089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00">
                <a:solidFill>
                  <a:srgbClr val="8091B3"/>
                </a:solidFill>
                <a:latin typeface="Arial"/>
                <a:ea typeface="Arial"/>
                <a:cs typeface="Arial"/>
              </a:rPr>
              <a:t>Sources: Tanzania PDPA, PDPC privacy principles and March 2026 compliance notice</a:t>
            </a:r>
            <a:endParaRPr sz="800"/>
          </a:p>
        </p:txBody>
      </p:sp>
      <p:sp>
        <p:nvSpPr>
          <p:cNvPr id="9" name="Text 6">
            <a:extLst xmlns:a="http://schemas.openxmlformats.org/drawingml/2006/main">
              <a:ext uri="{FF2B5EF4-FFF2-40B4-BE49-F238E27FC236}">
                <a16:creationId xmlns:a16="http://schemas.microsoft.com/office/drawing/2014/main" id="{8FEBE4D3-F804-4E57-A08D-F6432A4A82BC}"/>
              </a:ext>
            </a:extLst>
          </p:cNvPr>
          <p:cNvSpPr>
            <a:spLocks xmlns:a="http://schemas.openxmlformats.org/drawingml/2006/main" noGrp="1"/>
          </p:cNvSpPr>
          <p:nvPr/>
        </p:nvSpPr>
        <p:spPr>
          <a:xfrm xmlns:a="http://schemas.openxmlformats.org/drawingml/2006/main">
            <a:off x="4480560" y="822960"/>
            <a:ext cx="420624" cy="370149"/>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01</a:t>
            </a:r>
            <a:endParaRPr sz="1100"/>
          </a:p>
        </p:txBody>
      </p:sp>
      <p:sp>
        <p:nvSpPr>
          <p:cNvPr id="10" name="Text 7">
            <a:extLst xmlns:a="http://schemas.openxmlformats.org/drawingml/2006/main">
              <a:ext uri="{FF2B5EF4-FFF2-40B4-BE49-F238E27FC236}">
                <a16:creationId xmlns:a16="http://schemas.microsoft.com/office/drawing/2014/main" id="{75E10E1B-F143-49C0-9167-3D5E158AD789}"/>
              </a:ext>
            </a:extLst>
          </p:cNvPr>
          <p:cNvSpPr>
            <a:spLocks xmlns:a="http://schemas.openxmlformats.org/drawingml/2006/main" noGrp="1"/>
          </p:cNvSpPr>
          <p:nvPr/>
        </p:nvSpPr>
        <p:spPr>
          <a:xfrm xmlns:a="http://schemas.openxmlformats.org/drawingml/2006/main">
            <a:off x="5047488" y="822960"/>
            <a:ext cx="2831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368"/>
                </a:solidFill>
                <a:latin typeface="Arial"/>
                <a:ea typeface="Arial"/>
                <a:cs typeface="Arial"/>
              </a:rPr>
              <a:t>Purpose and notice</a:t>
            </a:r>
            <a:endParaRPr sz="1300"/>
          </a:p>
        </p:txBody>
      </p:sp>
      <p:sp>
        <p:nvSpPr>
          <p:cNvPr id="11" name="Text 8">
            <a:extLst xmlns:a="http://schemas.openxmlformats.org/drawingml/2006/main">
              <a:ext uri="{FF2B5EF4-FFF2-40B4-BE49-F238E27FC236}">
                <a16:creationId xmlns:a16="http://schemas.microsoft.com/office/drawing/2014/main" id="{DA7AF369-D70F-4296-B00D-9758D48708EF}"/>
              </a:ext>
            </a:extLst>
          </p:cNvPr>
          <p:cNvSpPr>
            <a:spLocks xmlns:a="http://schemas.openxmlformats.org/drawingml/2006/main" noGrp="1"/>
          </p:cNvSpPr>
          <p:nvPr/>
        </p:nvSpPr>
        <p:spPr>
          <a:xfrm xmlns:a="http://schemas.openxmlformats.org/drawingml/2006/main">
            <a:off x="5047488" y="1234440"/>
            <a:ext cx="275828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050">
                <a:solidFill>
                  <a:srgbClr val="000000"/>
                </a:solidFill>
                <a:latin typeface="Arial"/>
                <a:ea typeface="Arial"/>
                <a:cs typeface="Arial"/>
              </a:rPr>
              <a:t>State what the person will receive before collecting the email address.</a:t>
            </a:r>
            <a:endParaRPr sz="1050"/>
          </a:p>
        </p:txBody>
      </p:sp>
      <p:sp>
        <p:nvSpPr>
          <p:cNvPr id="12" name="Text 9">
            <a:extLst xmlns:a="http://schemas.openxmlformats.org/drawingml/2006/main">
              <a:ext uri="{FF2B5EF4-FFF2-40B4-BE49-F238E27FC236}">
                <a16:creationId xmlns:a16="http://schemas.microsoft.com/office/drawing/2014/main" id="{F3F1E617-CFC6-4C52-B5E2-F3093A630C21}"/>
              </a:ext>
            </a:extLst>
          </p:cNvPr>
          <p:cNvSpPr>
            <a:spLocks xmlns:a="http://schemas.openxmlformats.org/drawingml/2006/main" noGrp="1"/>
          </p:cNvSpPr>
          <p:nvPr/>
        </p:nvSpPr>
        <p:spPr>
          <a:xfrm xmlns:a="http://schemas.openxmlformats.org/drawingml/2006/main">
            <a:off x="8244688" y="822960"/>
            <a:ext cx="420624" cy="370149"/>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02</a:t>
            </a:r>
            <a:endParaRPr sz="1100"/>
          </a:p>
        </p:txBody>
      </p:sp>
      <p:sp>
        <p:nvSpPr>
          <p:cNvPr id="13" name="Text 10">
            <a:extLst xmlns:a="http://schemas.openxmlformats.org/drawingml/2006/main">
              <a:ext uri="{FF2B5EF4-FFF2-40B4-BE49-F238E27FC236}">
                <a16:creationId xmlns:a16="http://schemas.microsoft.com/office/drawing/2014/main" id="{4C6BC87A-BA2A-4A2C-B765-C279E9ECF044}"/>
              </a:ext>
            </a:extLst>
          </p:cNvPr>
          <p:cNvSpPr>
            <a:spLocks xmlns:a="http://schemas.openxmlformats.org/drawingml/2006/main" noGrp="1"/>
          </p:cNvSpPr>
          <p:nvPr/>
        </p:nvSpPr>
        <p:spPr>
          <a:xfrm xmlns:a="http://schemas.openxmlformats.org/drawingml/2006/main">
            <a:off x="8811616" y="822960"/>
            <a:ext cx="2831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368"/>
                </a:solidFill>
                <a:latin typeface="Arial"/>
                <a:ea typeface="Arial"/>
                <a:cs typeface="Arial"/>
              </a:rPr>
              <a:t>Minimum data</a:t>
            </a:r>
            <a:endParaRPr sz="1300"/>
          </a:p>
        </p:txBody>
      </p:sp>
      <p:sp>
        <p:nvSpPr>
          <p:cNvPr id="14" name="Text 11">
            <a:extLst xmlns:a="http://schemas.openxmlformats.org/drawingml/2006/main">
              <a:ext uri="{FF2B5EF4-FFF2-40B4-BE49-F238E27FC236}">
                <a16:creationId xmlns:a16="http://schemas.microsoft.com/office/drawing/2014/main" id="{49F4BE17-42E1-4E6B-8888-91AD93A1C90A}"/>
              </a:ext>
            </a:extLst>
          </p:cNvPr>
          <p:cNvSpPr>
            <a:spLocks xmlns:a="http://schemas.openxmlformats.org/drawingml/2006/main" noGrp="1"/>
          </p:cNvSpPr>
          <p:nvPr/>
        </p:nvSpPr>
        <p:spPr>
          <a:xfrm xmlns:a="http://schemas.openxmlformats.org/drawingml/2006/main">
            <a:off x="8811616" y="1234440"/>
            <a:ext cx="275828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050">
                <a:solidFill>
                  <a:srgbClr val="000000"/>
                </a:solidFill>
                <a:latin typeface="Arial"/>
                <a:ea typeface="Arial"/>
                <a:cs typeface="Arial"/>
              </a:rPr>
              <a:t>Collect only the fields needed for the stated newsletter or admissions purpose.</a:t>
            </a:r>
            <a:endParaRPr sz="1050"/>
          </a:p>
        </p:txBody>
      </p:sp>
      <p:sp>
        <p:nvSpPr>
          <p:cNvPr id="15" name="Text 12">
            <a:extLst xmlns:a="http://schemas.openxmlformats.org/drawingml/2006/main">
              <a:ext uri="{FF2B5EF4-FFF2-40B4-BE49-F238E27FC236}">
                <a16:creationId xmlns:a16="http://schemas.microsoft.com/office/drawing/2014/main" id="{C125E362-E1A1-4FAE-AA8B-10545C34B475}"/>
              </a:ext>
            </a:extLst>
          </p:cNvPr>
          <p:cNvSpPr>
            <a:spLocks xmlns:a="http://schemas.openxmlformats.org/drawingml/2006/main" noGrp="1"/>
          </p:cNvSpPr>
          <p:nvPr/>
        </p:nvSpPr>
        <p:spPr>
          <a:xfrm xmlns:a="http://schemas.openxmlformats.org/drawingml/2006/main">
            <a:off x="4480560" y="2304288"/>
            <a:ext cx="420624" cy="370149"/>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03</a:t>
            </a:r>
            <a:endParaRPr sz="1100"/>
          </a:p>
        </p:txBody>
      </p:sp>
      <p:sp>
        <p:nvSpPr>
          <p:cNvPr id="16" name="Text 13">
            <a:extLst xmlns:a="http://schemas.openxmlformats.org/drawingml/2006/main">
              <a:ext uri="{FF2B5EF4-FFF2-40B4-BE49-F238E27FC236}">
                <a16:creationId xmlns:a16="http://schemas.microsoft.com/office/drawing/2014/main" id="{217D6B3A-C10D-454E-B6D6-531790B9B3AD}"/>
              </a:ext>
            </a:extLst>
          </p:cNvPr>
          <p:cNvSpPr>
            <a:spLocks xmlns:a="http://schemas.openxmlformats.org/drawingml/2006/main" noGrp="1"/>
          </p:cNvSpPr>
          <p:nvPr/>
        </p:nvSpPr>
        <p:spPr>
          <a:xfrm xmlns:a="http://schemas.openxmlformats.org/drawingml/2006/main">
            <a:off x="5047488" y="2304288"/>
            <a:ext cx="2831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368"/>
                </a:solidFill>
                <a:latin typeface="Arial"/>
                <a:ea typeface="Arial"/>
                <a:cs typeface="Arial"/>
              </a:rPr>
              <a:t>Processing record</a:t>
            </a:r>
            <a:endParaRPr sz="1300"/>
          </a:p>
        </p:txBody>
      </p:sp>
      <p:sp>
        <p:nvSpPr>
          <p:cNvPr id="17" name="Text 14">
            <a:extLst xmlns:a="http://schemas.openxmlformats.org/drawingml/2006/main">
              <a:ext uri="{FF2B5EF4-FFF2-40B4-BE49-F238E27FC236}">
                <a16:creationId xmlns:a16="http://schemas.microsoft.com/office/drawing/2014/main" id="{C8FA8354-37CC-4628-AF30-602DFB8006AE}"/>
              </a:ext>
            </a:extLst>
          </p:cNvPr>
          <p:cNvSpPr>
            <a:spLocks xmlns:a="http://schemas.openxmlformats.org/drawingml/2006/main" noGrp="1"/>
          </p:cNvSpPr>
          <p:nvPr/>
        </p:nvSpPr>
        <p:spPr>
          <a:xfrm xmlns:a="http://schemas.openxmlformats.org/drawingml/2006/main">
            <a:off x="5047488" y="2715768"/>
            <a:ext cx="275828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050">
                <a:solidFill>
                  <a:srgbClr val="000000"/>
                </a:solidFill>
                <a:latin typeface="Arial"/>
                <a:ea typeface="Arial"/>
                <a:cs typeface="Arial"/>
              </a:rPr>
              <a:t>Store source, notice version, timestamp and consent or other approved basis.</a:t>
            </a:r>
            <a:endParaRPr sz="1050"/>
          </a:p>
        </p:txBody>
      </p:sp>
      <p:sp>
        <p:nvSpPr>
          <p:cNvPr id="18" name="Text 15">
            <a:extLst xmlns:a="http://schemas.openxmlformats.org/drawingml/2006/main">
              <a:ext uri="{FF2B5EF4-FFF2-40B4-BE49-F238E27FC236}">
                <a16:creationId xmlns:a16="http://schemas.microsoft.com/office/drawing/2014/main" id="{422E103A-6B35-42B7-A842-CDCBA23C1DC8}"/>
              </a:ext>
            </a:extLst>
          </p:cNvPr>
          <p:cNvSpPr>
            <a:spLocks xmlns:a="http://schemas.openxmlformats.org/drawingml/2006/main" noGrp="1"/>
          </p:cNvSpPr>
          <p:nvPr/>
        </p:nvSpPr>
        <p:spPr>
          <a:xfrm xmlns:a="http://schemas.openxmlformats.org/drawingml/2006/main">
            <a:off x="8244688" y="2304288"/>
            <a:ext cx="420624" cy="370149"/>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04</a:t>
            </a:r>
            <a:endParaRPr sz="1100"/>
          </a:p>
        </p:txBody>
      </p:sp>
      <p:sp>
        <p:nvSpPr>
          <p:cNvPr id="19" name="Text 16">
            <a:extLst xmlns:a="http://schemas.openxmlformats.org/drawingml/2006/main">
              <a:ext uri="{FF2B5EF4-FFF2-40B4-BE49-F238E27FC236}">
                <a16:creationId xmlns:a16="http://schemas.microsoft.com/office/drawing/2014/main" id="{A604EEAF-158C-4ED8-B577-84C50CC76D2D}"/>
              </a:ext>
            </a:extLst>
          </p:cNvPr>
          <p:cNvSpPr>
            <a:spLocks xmlns:a="http://schemas.openxmlformats.org/drawingml/2006/main" noGrp="1"/>
          </p:cNvSpPr>
          <p:nvPr/>
        </p:nvSpPr>
        <p:spPr>
          <a:xfrm xmlns:a="http://schemas.openxmlformats.org/drawingml/2006/main">
            <a:off x="8811616" y="2304288"/>
            <a:ext cx="2831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368"/>
                </a:solidFill>
                <a:latin typeface="Arial"/>
                <a:ea typeface="Arial"/>
                <a:cs typeface="Arial"/>
              </a:rPr>
              <a:t>Rights and suppression</a:t>
            </a:r>
            <a:endParaRPr sz="1300"/>
          </a:p>
        </p:txBody>
      </p:sp>
      <p:sp>
        <p:nvSpPr>
          <p:cNvPr id="20" name="Text 17">
            <a:extLst xmlns:a="http://schemas.openxmlformats.org/drawingml/2006/main">
              <a:ext uri="{FF2B5EF4-FFF2-40B4-BE49-F238E27FC236}">
                <a16:creationId xmlns:a16="http://schemas.microsoft.com/office/drawing/2014/main" id="{29A411C5-BEA7-43B1-A049-ECF88389C52C}"/>
              </a:ext>
            </a:extLst>
          </p:cNvPr>
          <p:cNvSpPr>
            <a:spLocks xmlns:a="http://schemas.openxmlformats.org/drawingml/2006/main" noGrp="1"/>
          </p:cNvSpPr>
          <p:nvPr/>
        </p:nvSpPr>
        <p:spPr>
          <a:xfrm xmlns:a="http://schemas.openxmlformats.org/drawingml/2006/main">
            <a:off x="8811616" y="2715768"/>
            <a:ext cx="275828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050">
                <a:solidFill>
                  <a:srgbClr val="000000"/>
                </a:solidFill>
                <a:latin typeface="Arial"/>
                <a:ea typeface="Arial"/>
                <a:cs typeface="Arial"/>
              </a:rPr>
              <a:t>Provide withdrawal and unsubscribe routes and honour direct-marketing objections.</a:t>
            </a:r>
            <a:endParaRPr sz="1050"/>
          </a:p>
        </p:txBody>
      </p:sp>
      <p:sp>
        <p:nvSpPr>
          <p:cNvPr id="21" name="Text 18">
            <a:extLst xmlns:a="http://schemas.openxmlformats.org/drawingml/2006/main">
              <a:ext uri="{FF2B5EF4-FFF2-40B4-BE49-F238E27FC236}">
                <a16:creationId xmlns:a16="http://schemas.microsoft.com/office/drawing/2014/main" id="{5FB75967-4EA6-4047-AD61-F2E7902450F9}"/>
              </a:ext>
            </a:extLst>
          </p:cNvPr>
          <p:cNvSpPr>
            <a:spLocks xmlns:a="http://schemas.openxmlformats.org/drawingml/2006/main" noGrp="1"/>
          </p:cNvSpPr>
          <p:nvPr/>
        </p:nvSpPr>
        <p:spPr>
          <a:xfrm xmlns:a="http://schemas.openxmlformats.org/drawingml/2006/main">
            <a:off x="4480560" y="3785616"/>
            <a:ext cx="420624" cy="370149"/>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05</a:t>
            </a:r>
            <a:endParaRPr sz="1100"/>
          </a:p>
        </p:txBody>
      </p:sp>
      <p:sp>
        <p:nvSpPr>
          <p:cNvPr id="22" name="Text 19">
            <a:extLst xmlns:a="http://schemas.openxmlformats.org/drawingml/2006/main">
              <a:ext uri="{FF2B5EF4-FFF2-40B4-BE49-F238E27FC236}">
                <a16:creationId xmlns:a16="http://schemas.microsoft.com/office/drawing/2014/main" id="{92CF428E-E84A-4FDD-949D-2DF29090F582}"/>
              </a:ext>
            </a:extLst>
          </p:cNvPr>
          <p:cNvSpPr>
            <a:spLocks xmlns:a="http://schemas.openxmlformats.org/drawingml/2006/main" noGrp="1"/>
          </p:cNvSpPr>
          <p:nvPr/>
        </p:nvSpPr>
        <p:spPr>
          <a:xfrm xmlns:a="http://schemas.openxmlformats.org/drawingml/2006/main">
            <a:off x="5047488" y="3785616"/>
            <a:ext cx="2831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368"/>
                </a:solidFill>
                <a:latin typeface="Arial"/>
                <a:ea typeface="Arial"/>
                <a:cs typeface="Arial"/>
              </a:rPr>
              <a:t>Security and retention</a:t>
            </a:r>
            <a:endParaRPr sz="1300"/>
          </a:p>
        </p:txBody>
      </p:sp>
      <p:sp>
        <p:nvSpPr>
          <p:cNvPr id="23" name="Text 20">
            <a:extLst xmlns:a="http://schemas.openxmlformats.org/drawingml/2006/main">
              <a:ext uri="{FF2B5EF4-FFF2-40B4-BE49-F238E27FC236}">
                <a16:creationId xmlns:a16="http://schemas.microsoft.com/office/drawing/2014/main" id="{035805DA-2471-46E9-8CA8-AFE7102AB321}"/>
              </a:ext>
            </a:extLst>
          </p:cNvPr>
          <p:cNvSpPr>
            <a:spLocks xmlns:a="http://schemas.openxmlformats.org/drawingml/2006/main" noGrp="1"/>
          </p:cNvSpPr>
          <p:nvPr/>
        </p:nvSpPr>
        <p:spPr>
          <a:xfrm xmlns:a="http://schemas.openxmlformats.org/drawingml/2006/main">
            <a:off x="5047488" y="4197096"/>
            <a:ext cx="275828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050">
                <a:solidFill>
                  <a:srgbClr val="000000"/>
                </a:solidFill>
                <a:latin typeface="Arial"/>
                <a:ea typeface="Arial"/>
                <a:cs typeface="Arial"/>
              </a:rPr>
              <a:t>Define access, storage, deletion and incident responsibilities.</a:t>
            </a:r>
            <a:endParaRPr sz="1050"/>
          </a:p>
        </p:txBody>
      </p:sp>
      <p:sp>
        <p:nvSpPr>
          <p:cNvPr id="24" name="Text 21">
            <a:extLst xmlns:a="http://schemas.openxmlformats.org/drawingml/2006/main">
              <a:ext uri="{FF2B5EF4-FFF2-40B4-BE49-F238E27FC236}">
                <a16:creationId xmlns:a16="http://schemas.microsoft.com/office/drawing/2014/main" id="{91FA97CC-7B9A-4828-ACEE-A1669D9BC89D}"/>
              </a:ext>
            </a:extLst>
          </p:cNvPr>
          <p:cNvSpPr>
            <a:spLocks xmlns:a="http://schemas.openxmlformats.org/drawingml/2006/main" noGrp="1"/>
          </p:cNvSpPr>
          <p:nvPr/>
        </p:nvSpPr>
        <p:spPr>
          <a:xfrm xmlns:a="http://schemas.openxmlformats.org/drawingml/2006/main">
            <a:off x="8244688" y="3785616"/>
            <a:ext cx="420624" cy="370149"/>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06</a:t>
            </a:r>
            <a:endParaRPr sz="1100"/>
          </a:p>
        </p:txBody>
      </p:sp>
      <p:sp>
        <p:nvSpPr>
          <p:cNvPr id="25" name="Text 22">
            <a:extLst xmlns:a="http://schemas.openxmlformats.org/drawingml/2006/main">
              <a:ext uri="{FF2B5EF4-FFF2-40B4-BE49-F238E27FC236}">
                <a16:creationId xmlns:a16="http://schemas.microsoft.com/office/drawing/2014/main" id="{1517175C-6A66-48D0-8656-D32C9CD77D6F}"/>
              </a:ext>
            </a:extLst>
          </p:cNvPr>
          <p:cNvSpPr>
            <a:spLocks xmlns:a="http://schemas.openxmlformats.org/drawingml/2006/main" noGrp="1"/>
          </p:cNvSpPr>
          <p:nvPr/>
        </p:nvSpPr>
        <p:spPr>
          <a:xfrm xmlns:a="http://schemas.openxmlformats.org/drawingml/2006/main">
            <a:off x="8811616" y="3785616"/>
            <a:ext cx="28314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02368"/>
                </a:solidFill>
                <a:latin typeface="Arial"/>
                <a:ea typeface="Arial"/>
                <a:cs typeface="Arial"/>
              </a:rPr>
              <a:t>Governance and transfers</a:t>
            </a:r>
            <a:endParaRPr sz="1300"/>
          </a:p>
        </p:txBody>
      </p:sp>
      <p:sp>
        <p:nvSpPr>
          <p:cNvPr id="26" name="Text 23">
            <a:extLst xmlns:a="http://schemas.openxmlformats.org/drawingml/2006/main">
              <a:ext uri="{FF2B5EF4-FFF2-40B4-BE49-F238E27FC236}">
                <a16:creationId xmlns:a16="http://schemas.microsoft.com/office/drawing/2014/main" id="{4348621D-AA80-42EA-8858-2D6C2B9BE5E1}"/>
              </a:ext>
            </a:extLst>
          </p:cNvPr>
          <p:cNvSpPr>
            <a:spLocks xmlns:a="http://schemas.openxmlformats.org/drawingml/2006/main" noGrp="1"/>
          </p:cNvSpPr>
          <p:nvPr/>
        </p:nvSpPr>
        <p:spPr>
          <a:xfrm xmlns:a="http://schemas.openxmlformats.org/drawingml/2006/main">
            <a:off x="8811616" y="4197096"/>
            <a:ext cx="275828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0000"/>
              </a:lnSpc>
              <a:buNone/>
            </a:pPr>
            <a:r>
              <a:rPr sz="1050">
                <a:solidFill>
                  <a:srgbClr val="000000"/>
                </a:solidFill>
                <a:latin typeface="Arial"/>
                <a:ea typeface="Arial"/>
                <a:cs typeface="Arial"/>
              </a:rPr>
              <a:t>Confirm registration, DPO ownership and Resend transborder requirements.</a:t>
            </a:r>
            <a:endParaRPr sz="1050"/>
          </a:p>
        </p:txBody>
      </p:sp>
      <p:sp>
        <p:nvSpPr>
          <p:cNvPr id="27" name="Shape 24">
            <a:extLst xmlns:a="http://schemas.openxmlformats.org/drawingml/2006/main">
              <a:ext uri="{FF2B5EF4-FFF2-40B4-BE49-F238E27FC236}">
                <a16:creationId xmlns:a16="http://schemas.microsoft.com/office/drawing/2014/main" id="{90C7DAD7-4F80-4358-AD4F-E7CEA610305F}"/>
              </a:ext>
            </a:extLst>
          </p:cNvPr>
          <p:cNvSpPr>
            <a:spLocks xmlns:a="http://schemas.openxmlformats.org/drawingml/2006/main" noGrp="1"/>
          </p:cNvSpPr>
          <p:nvPr/>
        </p:nvSpPr>
        <p:spPr>
          <a:xfrm xmlns:a="http://schemas.openxmlformats.org/drawingml/2006/main">
            <a:off x="4480560" y="5303520"/>
            <a:ext cx="7162495" cy="731520"/>
          </a:xfrm>
          <a:prstGeom xmlns:a="http://schemas.openxmlformats.org/drawingml/2006/main" prst="roundRect">
            <a:avLst>
              <a:gd name="adj" fmla="val 8750"/>
            </a:avLst>
          </a:prstGeom>
          <a:solidFill xmlns:a="http://schemas.openxmlformats.org/drawingml/2006/main">
            <a:srgbClr val="FFF7E5"/>
          </a:solidFill>
          <a:ln xmlns:a="http://schemas.openxmlformats.org/drawingml/2006/main" w="12700">
            <a:solidFill>
              <a:srgbClr val="FFF7E5"/>
            </a:solidFill>
            <a:prstDash val="solid"/>
          </a:ln>
        </p:spPr>
      </p:sp>
      <p:sp>
        <p:nvSpPr>
          <p:cNvPr id="28" name="Text 25">
            <a:extLst xmlns:a="http://schemas.openxmlformats.org/drawingml/2006/main">
              <a:ext uri="{FF2B5EF4-FFF2-40B4-BE49-F238E27FC236}">
                <a16:creationId xmlns:a16="http://schemas.microsoft.com/office/drawing/2014/main" id="{F4D2057C-3049-4671-B217-6D2E2CB45205}"/>
              </a:ext>
            </a:extLst>
          </p:cNvPr>
          <p:cNvSpPr>
            <a:spLocks xmlns:a="http://schemas.openxmlformats.org/drawingml/2006/main" noGrp="1"/>
          </p:cNvSpPr>
          <p:nvPr/>
        </p:nvSpPr>
        <p:spPr>
          <a:xfrm xmlns:a="http://schemas.openxmlformats.org/drawingml/2006/main">
            <a:off x="4754880" y="5486400"/>
            <a:ext cx="310896" cy="273588"/>
          </a:xfrm>
          <a:prstGeom xmlns:a="http://schemas.openxmlformats.org/drawingml/2006/main" prst="hexagon">
            <a:avLst/>
          </a:prstGeom>
          <a:solidFill xmlns:a="http://schemas.openxmlformats.org/drawingml/2006/main">
            <a:srgbClr val="FFC952"/>
          </a:solidFill>
          <a:ln xmlns:a="http://schemas.openxmlformats.org/drawingml/2006/main">
            <a:solidFill>
              <a:srgbClr val="FFC952"/>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02368"/>
                </a:solidFill>
                <a:latin typeface="Arial"/>
                <a:ea typeface="Arial"/>
                <a:cs typeface="Arial"/>
              </a:rPr>
              <a:t>!</a:t>
            </a:r>
            <a:endParaRPr sz="1100"/>
          </a:p>
        </p:txBody>
      </p:sp>
      <p:sp>
        <p:nvSpPr>
          <p:cNvPr id="29" name="Text 26">
            <a:extLst xmlns:a="http://schemas.openxmlformats.org/drawingml/2006/main">
              <a:ext uri="{FF2B5EF4-FFF2-40B4-BE49-F238E27FC236}">
                <a16:creationId xmlns:a16="http://schemas.microsoft.com/office/drawing/2014/main" id="{BA4087DD-981D-4325-953E-CDFB81932356}"/>
              </a:ext>
            </a:extLst>
          </p:cNvPr>
          <p:cNvSpPr>
            <a:spLocks xmlns:a="http://schemas.openxmlformats.org/drawingml/2006/main" noGrp="1"/>
          </p:cNvSpPr>
          <p:nvPr/>
        </p:nvSpPr>
        <p:spPr>
          <a:xfrm xmlns:a="http://schemas.openxmlformats.org/drawingml/2006/main">
            <a:off x="5212080" y="5303520"/>
            <a:ext cx="615665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02368"/>
                </a:solidFill>
                <a:latin typeface="Arial"/>
                <a:ea typeface="Arial"/>
                <a:cs typeface="Arial"/>
              </a:rPr>
              <a:t>Silverleaf’s responsible data-protection owner validates the form copy and Resend setup before launch.</a:t>
            </a:r>
            <a:endParaRPr sz="1050"/>
          </a:p>
        </p:txBody>
      </p:sp>
      <p:sp>
        <p:nvSpPr>
          <p:cNvPr id="30" name="Text 27">
            <a:extLst xmlns:a="http://schemas.openxmlformats.org/drawingml/2006/main">
              <a:ext uri="{FF2B5EF4-FFF2-40B4-BE49-F238E27FC236}">
                <a16:creationId xmlns:a16="http://schemas.microsoft.com/office/drawing/2014/main" id="{F8EB1D72-DA11-473D-A530-BDDA3EDD10E1}"/>
              </a:ext>
            </a:extLst>
          </p:cNvPr>
          <p:cNvSpPr>
            <a:spLocks xmlns:a="http://schemas.openxmlformats.org/drawingml/2006/main" noGrp="1"/>
          </p:cNvSpPr>
          <p:nvPr/>
        </p:nvSpPr>
        <p:spPr>
          <a:xfrm xmlns:a="http://schemas.openxmlformats.org/drawingml/2006/main">
            <a:off x="10911535" y="6254496"/>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002368"/>
                </a:solidFill>
                <a:latin typeface="Georgia"/>
                <a:ea typeface="Georgia"/>
                <a:cs typeface="Georgia"/>
              </a:rPr>
              <a:t>11</a:t>
            </a:r>
            <a:endParaRPr sz="1200"/>
          </a:p>
        </p:txBody>
      </p:sp>
    </p:spTree>
    <p:extLst>
      <p:ext uri="{BB962C8B-B14F-4D97-AF65-F5344CB8AC3E}">
        <p14:creationId xmlns:p14="http://schemas.microsoft.com/office/powerpoint/2010/main" val="23063802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5972E73-AEAF-41E1-8260-B51FD30A6B0C}"/>
              </a:ext>
            </a:extLst>
          </p:cNvPr>
          <p:cNvSpPr>
            <a:spLocks xmlns:a="http://schemas.openxmlformats.org/drawingml/2006/main" noGrp="1"/>
          </p:cNvSpPr>
          <p:nvPr/>
        </p:nvSpPr>
        <p:spPr>
          <a:xfrm xmlns:a="http://schemas.openxmlformats.org/drawingml/2006/main">
            <a:off x="548640" y="384048"/>
            <a:ext cx="8229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18283"/>
                </a:solidFill>
                <a:latin typeface="Arial"/>
                <a:ea typeface="Arial"/>
                <a:cs typeface="Arial"/>
              </a:rPr>
              <a:t>SYSTEM</a:t>
            </a:r>
            <a:endParaRPr sz="900"/>
          </a:p>
        </p:txBody>
      </p:sp>
      <p:sp>
        <p:nvSpPr>
          <p:cNvPr id="3" name="Text 1">
            <a:extLst xmlns:a="http://schemas.openxmlformats.org/drawingml/2006/main">
              <a:ext uri="{FF2B5EF4-FFF2-40B4-BE49-F238E27FC236}">
                <a16:creationId xmlns:a16="http://schemas.microsoft.com/office/drawing/2014/main" id="{856610CE-1D23-4E23-AD43-E0D429E60F1F}"/>
              </a:ext>
            </a:extLst>
          </p:cNvPr>
          <p:cNvSpPr>
            <a:spLocks xmlns:a="http://schemas.openxmlformats.org/drawingml/2006/main" noGrp="1"/>
          </p:cNvSpPr>
          <p:nvPr/>
        </p:nvSpPr>
        <p:spPr>
          <a:xfrm xmlns:a="http://schemas.openxmlformats.org/drawingml/2006/main">
            <a:off x="548640" y="603504"/>
            <a:ext cx="9601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002368"/>
                </a:solidFill>
                <a:latin typeface="Arial"/>
                <a:ea typeface="Arial"/>
                <a:cs typeface="Arial"/>
              </a:rPr>
              <a:t>Refreshable data and campaign architecture</a:t>
            </a:r>
            <a:endParaRPr sz="2600"/>
          </a:p>
        </p:txBody>
      </p:sp>
      <p:sp>
        <p:nvSpPr>
          <p:cNvPr id="4" name="Shape 2">
            <a:extLst xmlns:a="http://schemas.openxmlformats.org/drawingml/2006/main">
              <a:ext uri="{FF2B5EF4-FFF2-40B4-BE49-F238E27FC236}">
                <a16:creationId xmlns:a16="http://schemas.microsoft.com/office/drawing/2014/main" id="{0E00F402-1DEF-46F5-BAFF-CDD4E46D1300}"/>
              </a:ext>
            </a:extLst>
          </p:cNvPr>
          <p:cNvSpPr>
            <a:spLocks xmlns:a="http://schemas.openxmlformats.org/drawingml/2006/main" noGrp="1"/>
          </p:cNvSpPr>
          <p:nvPr/>
        </p:nvSpPr>
        <p:spPr>
          <a:xfrm xmlns:a="http://schemas.openxmlformats.org/drawingml/2006/main">
            <a:off x="548640" y="1463040"/>
            <a:ext cx="1965960" cy="914400"/>
          </a:xfrm>
          <a:prstGeom xmlns:a="http://schemas.openxmlformats.org/drawingml/2006/main" prst="roundRect">
            <a:avLst>
              <a:gd name="adj" fmla="val 7000"/>
            </a:avLst>
          </a:prstGeom>
          <a:solidFill xmlns:a="http://schemas.openxmlformats.org/drawingml/2006/main">
            <a:srgbClr val="D9ECF9"/>
          </a:solidFill>
          <a:ln xmlns:a="http://schemas.openxmlformats.org/drawingml/2006/main" w="12700">
            <a:solidFill>
              <a:srgbClr val="D9ECF9"/>
            </a:solidFill>
            <a:prstDash val="solid"/>
          </a:ln>
        </p:spPr>
      </p:sp>
      <p:sp>
        <p:nvSpPr>
          <p:cNvPr id="5" name="Text 3">
            <a:extLst xmlns:a="http://schemas.openxmlformats.org/drawingml/2006/main">
              <a:ext uri="{FF2B5EF4-FFF2-40B4-BE49-F238E27FC236}">
                <a16:creationId xmlns:a16="http://schemas.microsoft.com/office/drawing/2014/main" id="{2787153A-2F9F-40DC-A9A4-FE50C4254FBA}"/>
              </a:ext>
            </a:extLst>
          </p:cNvPr>
          <p:cNvSpPr>
            <a:spLocks xmlns:a="http://schemas.openxmlformats.org/drawingml/2006/main" noGrp="1"/>
          </p:cNvSpPr>
          <p:nvPr/>
        </p:nvSpPr>
        <p:spPr>
          <a:xfrm xmlns:a="http://schemas.openxmlformats.org/drawingml/2006/main">
            <a:off x="685800" y="1645920"/>
            <a:ext cx="1691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002368"/>
                </a:solidFill>
                <a:latin typeface="Arial"/>
                <a:ea typeface="Arial"/>
                <a:cs typeface="Arial"/>
              </a:rPr>
              <a:t>Raw evidence</a:t>
            </a:r>
            <a:endParaRPr sz="1200"/>
          </a:p>
        </p:txBody>
      </p:sp>
      <p:sp>
        <p:nvSpPr>
          <p:cNvPr id="6" name="Text 4">
            <a:extLst xmlns:a="http://schemas.openxmlformats.org/drawingml/2006/main">
              <a:ext uri="{FF2B5EF4-FFF2-40B4-BE49-F238E27FC236}">
                <a16:creationId xmlns:a16="http://schemas.microsoft.com/office/drawing/2014/main" id="{C1540828-9FA8-404C-ABFB-A87B34C49EC7}"/>
              </a:ext>
            </a:extLst>
          </p:cNvPr>
          <p:cNvSpPr>
            <a:spLocks xmlns:a="http://schemas.openxmlformats.org/drawingml/2006/main" noGrp="1"/>
          </p:cNvSpPr>
          <p:nvPr/>
        </p:nvSpPr>
        <p:spPr>
          <a:xfrm xmlns:a="http://schemas.openxmlformats.org/drawingml/2006/main">
            <a:off x="685800" y="1965960"/>
            <a:ext cx="16916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818283"/>
                </a:solidFill>
                <a:latin typeface="Arial"/>
                <a:ea typeface="Arial"/>
                <a:cs typeface="Arial"/>
              </a:rPr>
              <a:t>data/raw</a:t>
            </a:r>
            <a:endParaRPr sz="950"/>
          </a:p>
        </p:txBody>
      </p:sp>
      <p:sp>
        <p:nvSpPr>
          <p:cNvPr id="7" name="Shape 5">
            <a:extLst xmlns:a="http://schemas.openxmlformats.org/drawingml/2006/main">
              <a:ext uri="{FF2B5EF4-FFF2-40B4-BE49-F238E27FC236}">
                <a16:creationId xmlns:a16="http://schemas.microsoft.com/office/drawing/2014/main" id="{7D698F39-D6EC-4EAF-91F6-97D55ADA2C95}"/>
              </a:ext>
            </a:extLst>
          </p:cNvPr>
          <p:cNvSpPr>
            <a:spLocks xmlns:a="http://schemas.openxmlformats.org/drawingml/2006/main" noGrp="1"/>
          </p:cNvSpPr>
          <p:nvPr/>
        </p:nvSpPr>
        <p:spPr>
          <a:xfrm xmlns:a="http://schemas.openxmlformats.org/drawingml/2006/main">
            <a:off x="2590381" y="1810512"/>
            <a:ext cx="164592" cy="219456"/>
          </a:xfrm>
          <a:prstGeom xmlns:a="http://schemas.openxmlformats.org/drawingml/2006/main" prst="chevron">
            <a:avLst/>
          </a:prstGeom>
          <a:solidFill xmlns:a="http://schemas.openxmlformats.org/drawingml/2006/main">
            <a:srgbClr val="80BFEC"/>
          </a:solidFill>
          <a:ln xmlns:a="http://schemas.openxmlformats.org/drawingml/2006/main" w="12700">
            <a:solidFill>
              <a:srgbClr val="80BFEC"/>
            </a:solidFill>
            <a:prstDash val="solid"/>
          </a:ln>
        </p:spPr>
      </p:sp>
      <p:sp>
        <p:nvSpPr>
          <p:cNvPr id="8" name="Shape 6">
            <a:extLst xmlns:a="http://schemas.openxmlformats.org/drawingml/2006/main">
              <a:ext uri="{FF2B5EF4-FFF2-40B4-BE49-F238E27FC236}">
                <a16:creationId xmlns:a16="http://schemas.microsoft.com/office/drawing/2014/main" id="{C45E500C-10C2-438B-92C1-5E0C42A2C371}"/>
              </a:ext>
            </a:extLst>
          </p:cNvPr>
          <p:cNvSpPr>
            <a:spLocks xmlns:a="http://schemas.openxmlformats.org/drawingml/2006/main" noGrp="1"/>
          </p:cNvSpPr>
          <p:nvPr/>
        </p:nvSpPr>
        <p:spPr>
          <a:xfrm xmlns:a="http://schemas.openxmlformats.org/drawingml/2006/main">
            <a:off x="2830754" y="1463040"/>
            <a:ext cx="1965960" cy="914400"/>
          </a:xfrm>
          <a:prstGeom xmlns:a="http://schemas.openxmlformats.org/drawingml/2006/main" prst="roundRect">
            <a:avLst>
              <a:gd name="adj" fmla="val 7000"/>
            </a:avLst>
          </a:prstGeom>
          <a:solidFill xmlns:a="http://schemas.openxmlformats.org/drawingml/2006/main">
            <a:srgbClr val="D9ECF9"/>
          </a:solidFill>
          <a:ln xmlns:a="http://schemas.openxmlformats.org/drawingml/2006/main" w="12700">
            <a:solidFill>
              <a:srgbClr val="D9ECF9"/>
            </a:solidFill>
            <a:prstDash val="solid"/>
          </a:ln>
        </p:spPr>
      </p:sp>
      <p:sp>
        <p:nvSpPr>
          <p:cNvPr id="9" name="Text 7">
            <a:extLst xmlns:a="http://schemas.openxmlformats.org/drawingml/2006/main">
              <a:ext uri="{FF2B5EF4-FFF2-40B4-BE49-F238E27FC236}">
                <a16:creationId xmlns:a16="http://schemas.microsoft.com/office/drawing/2014/main" id="{60BFB8B0-C527-406F-8DC5-67E7A9936CD6}"/>
              </a:ext>
            </a:extLst>
          </p:cNvPr>
          <p:cNvSpPr>
            <a:spLocks xmlns:a="http://schemas.openxmlformats.org/drawingml/2006/main" noGrp="1"/>
          </p:cNvSpPr>
          <p:nvPr/>
        </p:nvSpPr>
        <p:spPr>
          <a:xfrm xmlns:a="http://schemas.openxmlformats.org/drawingml/2006/main">
            <a:off x="2967914" y="1645920"/>
            <a:ext cx="1691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002368"/>
                </a:solidFill>
                <a:latin typeface="Arial"/>
                <a:ea typeface="Arial"/>
                <a:cs typeface="Arial"/>
              </a:rPr>
              <a:t>Normalised files</a:t>
            </a:r>
            <a:endParaRPr sz="1200"/>
          </a:p>
        </p:txBody>
      </p:sp>
      <p:sp>
        <p:nvSpPr>
          <p:cNvPr id="10" name="Text 8">
            <a:extLst xmlns:a="http://schemas.openxmlformats.org/drawingml/2006/main">
              <a:ext uri="{FF2B5EF4-FFF2-40B4-BE49-F238E27FC236}">
                <a16:creationId xmlns:a16="http://schemas.microsoft.com/office/drawing/2014/main" id="{383782F5-830C-4C5C-B66F-0C85FE80ACC4}"/>
              </a:ext>
            </a:extLst>
          </p:cNvPr>
          <p:cNvSpPr>
            <a:spLocks xmlns:a="http://schemas.openxmlformats.org/drawingml/2006/main" noGrp="1"/>
          </p:cNvSpPr>
          <p:nvPr/>
        </p:nvSpPr>
        <p:spPr>
          <a:xfrm xmlns:a="http://schemas.openxmlformats.org/drawingml/2006/main">
            <a:off x="2967914" y="1965960"/>
            <a:ext cx="16916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818283"/>
                </a:solidFill>
                <a:latin typeface="Arial"/>
                <a:ea typeface="Arial"/>
                <a:cs typeface="Arial"/>
              </a:rPr>
              <a:t>data/interim</a:t>
            </a:r>
            <a:endParaRPr sz="950"/>
          </a:p>
        </p:txBody>
      </p:sp>
      <p:sp>
        <p:nvSpPr>
          <p:cNvPr id="11" name="Shape 9">
            <a:extLst xmlns:a="http://schemas.openxmlformats.org/drawingml/2006/main">
              <a:ext uri="{FF2B5EF4-FFF2-40B4-BE49-F238E27FC236}">
                <a16:creationId xmlns:a16="http://schemas.microsoft.com/office/drawing/2014/main" id="{E8CBBA0D-B51E-4F51-A909-7F8B59AD6016}"/>
              </a:ext>
            </a:extLst>
          </p:cNvPr>
          <p:cNvSpPr>
            <a:spLocks xmlns:a="http://schemas.openxmlformats.org/drawingml/2006/main" noGrp="1"/>
          </p:cNvSpPr>
          <p:nvPr/>
        </p:nvSpPr>
        <p:spPr>
          <a:xfrm xmlns:a="http://schemas.openxmlformats.org/drawingml/2006/main">
            <a:off x="4872495" y="1810512"/>
            <a:ext cx="164592" cy="219456"/>
          </a:xfrm>
          <a:prstGeom xmlns:a="http://schemas.openxmlformats.org/drawingml/2006/main" prst="chevron">
            <a:avLst/>
          </a:prstGeom>
          <a:solidFill xmlns:a="http://schemas.openxmlformats.org/drawingml/2006/main">
            <a:srgbClr val="80BFEC"/>
          </a:solidFill>
          <a:ln xmlns:a="http://schemas.openxmlformats.org/drawingml/2006/main" w="12700">
            <a:solidFill>
              <a:srgbClr val="80BFEC"/>
            </a:solidFill>
            <a:prstDash val="solid"/>
          </a:ln>
        </p:spPr>
      </p:sp>
      <p:sp>
        <p:nvSpPr>
          <p:cNvPr id="12" name="Shape 10">
            <a:extLst xmlns:a="http://schemas.openxmlformats.org/drawingml/2006/main">
              <a:ext uri="{FF2B5EF4-FFF2-40B4-BE49-F238E27FC236}">
                <a16:creationId xmlns:a16="http://schemas.microsoft.com/office/drawing/2014/main" id="{621A6A6F-1DC1-4B74-832B-DF503ECF3C0B}"/>
              </a:ext>
            </a:extLst>
          </p:cNvPr>
          <p:cNvSpPr>
            <a:spLocks xmlns:a="http://schemas.openxmlformats.org/drawingml/2006/main" noGrp="1"/>
          </p:cNvSpPr>
          <p:nvPr/>
        </p:nvSpPr>
        <p:spPr>
          <a:xfrm xmlns:a="http://schemas.openxmlformats.org/drawingml/2006/main">
            <a:off x="5112868" y="1463040"/>
            <a:ext cx="1965960" cy="914400"/>
          </a:xfrm>
          <a:prstGeom xmlns:a="http://schemas.openxmlformats.org/drawingml/2006/main" prst="roundRect">
            <a:avLst>
              <a:gd name="adj" fmla="val 7000"/>
            </a:avLst>
          </a:prstGeom>
          <a:solidFill xmlns:a="http://schemas.openxmlformats.org/drawingml/2006/main">
            <a:srgbClr val="002368"/>
          </a:solidFill>
          <a:ln xmlns:a="http://schemas.openxmlformats.org/drawingml/2006/main" w="12700">
            <a:solidFill>
              <a:srgbClr val="002368"/>
            </a:solidFill>
            <a:prstDash val="solid"/>
          </a:ln>
        </p:spPr>
      </p:sp>
      <p:sp>
        <p:nvSpPr>
          <p:cNvPr id="13" name="Text 11">
            <a:extLst xmlns:a="http://schemas.openxmlformats.org/drawingml/2006/main">
              <a:ext uri="{FF2B5EF4-FFF2-40B4-BE49-F238E27FC236}">
                <a16:creationId xmlns:a16="http://schemas.microsoft.com/office/drawing/2014/main" id="{E81E9650-C87A-47A8-B7B9-B38930890B68}"/>
              </a:ext>
            </a:extLst>
          </p:cNvPr>
          <p:cNvSpPr>
            <a:spLocks xmlns:a="http://schemas.openxmlformats.org/drawingml/2006/main" noGrp="1"/>
          </p:cNvSpPr>
          <p:nvPr/>
        </p:nvSpPr>
        <p:spPr>
          <a:xfrm xmlns:a="http://schemas.openxmlformats.org/drawingml/2006/main">
            <a:off x="5250028" y="1645920"/>
            <a:ext cx="1691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Local SQLite master</a:t>
            </a:r>
            <a:endParaRPr sz="1200"/>
          </a:p>
        </p:txBody>
      </p:sp>
      <p:sp>
        <p:nvSpPr>
          <p:cNvPr id="14" name="Text 12">
            <a:extLst xmlns:a="http://schemas.openxmlformats.org/drawingml/2006/main">
              <a:ext uri="{FF2B5EF4-FFF2-40B4-BE49-F238E27FC236}">
                <a16:creationId xmlns:a16="http://schemas.microsoft.com/office/drawing/2014/main" id="{8BB44F96-8D1B-4C67-A5DB-44189315FB5C}"/>
              </a:ext>
            </a:extLst>
          </p:cNvPr>
          <p:cNvSpPr>
            <a:spLocks xmlns:a="http://schemas.openxmlformats.org/drawingml/2006/main" noGrp="1"/>
          </p:cNvSpPr>
          <p:nvPr/>
        </p:nvSpPr>
        <p:spPr>
          <a:xfrm xmlns:a="http://schemas.openxmlformats.org/drawingml/2006/main">
            <a:off x="5250028" y="1965960"/>
            <a:ext cx="16916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80BFEC"/>
                </a:solidFill>
                <a:latin typeface="Arial"/>
                <a:ea typeface="Arial"/>
                <a:cs typeface="Arial"/>
              </a:rPr>
              <a:t>Canonical source</a:t>
            </a:r>
            <a:endParaRPr sz="950"/>
          </a:p>
        </p:txBody>
      </p:sp>
      <p:sp>
        <p:nvSpPr>
          <p:cNvPr id="15" name="Shape 13">
            <a:extLst xmlns:a="http://schemas.openxmlformats.org/drawingml/2006/main">
              <a:ext uri="{FF2B5EF4-FFF2-40B4-BE49-F238E27FC236}">
                <a16:creationId xmlns:a16="http://schemas.microsoft.com/office/drawing/2014/main" id="{6E02392C-D1E4-4B97-A21F-E008E3704C1D}"/>
              </a:ext>
            </a:extLst>
          </p:cNvPr>
          <p:cNvSpPr>
            <a:spLocks xmlns:a="http://schemas.openxmlformats.org/drawingml/2006/main" noGrp="1"/>
          </p:cNvSpPr>
          <p:nvPr/>
        </p:nvSpPr>
        <p:spPr>
          <a:xfrm xmlns:a="http://schemas.openxmlformats.org/drawingml/2006/main">
            <a:off x="7154609" y="1810512"/>
            <a:ext cx="164592" cy="219456"/>
          </a:xfrm>
          <a:prstGeom xmlns:a="http://schemas.openxmlformats.org/drawingml/2006/main" prst="chevron">
            <a:avLst/>
          </a:prstGeom>
          <a:solidFill xmlns:a="http://schemas.openxmlformats.org/drawingml/2006/main">
            <a:srgbClr val="80BFEC"/>
          </a:solidFill>
          <a:ln xmlns:a="http://schemas.openxmlformats.org/drawingml/2006/main" w="12700">
            <a:solidFill>
              <a:srgbClr val="80BFEC"/>
            </a:solidFill>
            <a:prstDash val="solid"/>
          </a:ln>
        </p:spPr>
      </p:sp>
      <p:sp>
        <p:nvSpPr>
          <p:cNvPr id="16" name="Shape 14">
            <a:extLst xmlns:a="http://schemas.openxmlformats.org/drawingml/2006/main">
              <a:ext uri="{FF2B5EF4-FFF2-40B4-BE49-F238E27FC236}">
                <a16:creationId xmlns:a16="http://schemas.microsoft.com/office/drawing/2014/main" id="{54AA2155-2E11-4BDB-8FA7-4FB75A504EE8}"/>
              </a:ext>
            </a:extLst>
          </p:cNvPr>
          <p:cNvSpPr>
            <a:spLocks xmlns:a="http://schemas.openxmlformats.org/drawingml/2006/main" noGrp="1"/>
          </p:cNvSpPr>
          <p:nvPr/>
        </p:nvSpPr>
        <p:spPr>
          <a:xfrm xmlns:a="http://schemas.openxmlformats.org/drawingml/2006/main">
            <a:off x="7394981" y="1463040"/>
            <a:ext cx="1965960" cy="914400"/>
          </a:xfrm>
          <a:prstGeom xmlns:a="http://schemas.openxmlformats.org/drawingml/2006/main" prst="roundRect">
            <a:avLst>
              <a:gd name="adj" fmla="val 7000"/>
            </a:avLst>
          </a:prstGeom>
          <a:solidFill xmlns:a="http://schemas.openxmlformats.org/drawingml/2006/main">
            <a:srgbClr val="FFF7E5"/>
          </a:solidFill>
          <a:ln xmlns:a="http://schemas.openxmlformats.org/drawingml/2006/main" w="12700">
            <a:solidFill>
              <a:srgbClr val="FFF7E5"/>
            </a:solidFill>
            <a:prstDash val="solid"/>
          </a:ln>
        </p:spPr>
      </p:sp>
      <p:sp>
        <p:nvSpPr>
          <p:cNvPr id="17" name="Text 15">
            <a:extLst xmlns:a="http://schemas.openxmlformats.org/drawingml/2006/main">
              <a:ext uri="{FF2B5EF4-FFF2-40B4-BE49-F238E27FC236}">
                <a16:creationId xmlns:a16="http://schemas.microsoft.com/office/drawing/2014/main" id="{8841D8B4-9BA4-4AA8-B75D-2CC03CA6BB43}"/>
              </a:ext>
            </a:extLst>
          </p:cNvPr>
          <p:cNvSpPr>
            <a:spLocks xmlns:a="http://schemas.openxmlformats.org/drawingml/2006/main" noGrp="1"/>
          </p:cNvSpPr>
          <p:nvPr/>
        </p:nvSpPr>
        <p:spPr>
          <a:xfrm xmlns:a="http://schemas.openxmlformats.org/drawingml/2006/main">
            <a:off x="7532141" y="1645920"/>
            <a:ext cx="1691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002368"/>
                </a:solidFill>
                <a:latin typeface="Arial"/>
                <a:ea typeface="Arial"/>
                <a:cs typeface="Arial"/>
              </a:rPr>
              <a:t>XLSX review</a:t>
            </a:r>
            <a:endParaRPr sz="1200"/>
          </a:p>
        </p:txBody>
      </p:sp>
      <p:sp>
        <p:nvSpPr>
          <p:cNvPr id="18" name="Text 16">
            <a:extLst xmlns:a="http://schemas.openxmlformats.org/drawingml/2006/main">
              <a:ext uri="{FF2B5EF4-FFF2-40B4-BE49-F238E27FC236}">
                <a16:creationId xmlns:a16="http://schemas.microsoft.com/office/drawing/2014/main" id="{A7650EF0-CBDD-4224-AF6D-C727289FD4B7}"/>
              </a:ext>
            </a:extLst>
          </p:cNvPr>
          <p:cNvSpPr>
            <a:spLocks xmlns:a="http://schemas.openxmlformats.org/drawingml/2006/main" noGrp="1"/>
          </p:cNvSpPr>
          <p:nvPr/>
        </p:nvSpPr>
        <p:spPr>
          <a:xfrm xmlns:a="http://schemas.openxmlformats.org/drawingml/2006/main">
            <a:off x="7532141" y="1965960"/>
            <a:ext cx="16916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818283"/>
                </a:solidFill>
                <a:latin typeface="Arial"/>
                <a:ea typeface="Arial"/>
                <a:cs typeface="Arial"/>
              </a:rPr>
              <a:t>Human approval</a:t>
            </a:r>
            <a:endParaRPr sz="950"/>
          </a:p>
        </p:txBody>
      </p:sp>
      <p:sp>
        <p:nvSpPr>
          <p:cNvPr id="19" name="Shape 17">
            <a:extLst xmlns:a="http://schemas.openxmlformats.org/drawingml/2006/main">
              <a:ext uri="{FF2B5EF4-FFF2-40B4-BE49-F238E27FC236}">
                <a16:creationId xmlns:a16="http://schemas.microsoft.com/office/drawing/2014/main" id="{7BCF9212-5311-4162-9EA6-0203B1EAF155}"/>
              </a:ext>
            </a:extLst>
          </p:cNvPr>
          <p:cNvSpPr>
            <a:spLocks xmlns:a="http://schemas.openxmlformats.org/drawingml/2006/main" noGrp="1"/>
          </p:cNvSpPr>
          <p:nvPr/>
        </p:nvSpPr>
        <p:spPr>
          <a:xfrm xmlns:a="http://schemas.openxmlformats.org/drawingml/2006/main">
            <a:off x="9436722" y="1810512"/>
            <a:ext cx="164592" cy="219456"/>
          </a:xfrm>
          <a:prstGeom xmlns:a="http://schemas.openxmlformats.org/drawingml/2006/main" prst="chevron">
            <a:avLst/>
          </a:prstGeom>
          <a:solidFill xmlns:a="http://schemas.openxmlformats.org/drawingml/2006/main">
            <a:srgbClr val="80BFEC"/>
          </a:solidFill>
          <a:ln xmlns:a="http://schemas.openxmlformats.org/drawingml/2006/main" w="12700">
            <a:solidFill>
              <a:srgbClr val="80BFEC"/>
            </a:solidFill>
            <a:prstDash val="solid"/>
          </a:ln>
        </p:spPr>
      </p:sp>
      <p:sp>
        <p:nvSpPr>
          <p:cNvPr id="20" name="Shape 18">
            <a:extLst xmlns:a="http://schemas.openxmlformats.org/drawingml/2006/main">
              <a:ext uri="{FF2B5EF4-FFF2-40B4-BE49-F238E27FC236}">
                <a16:creationId xmlns:a16="http://schemas.microsoft.com/office/drawing/2014/main" id="{B2226DBD-6C1E-418D-85BB-47A2320E93B2}"/>
              </a:ext>
            </a:extLst>
          </p:cNvPr>
          <p:cNvSpPr>
            <a:spLocks xmlns:a="http://schemas.openxmlformats.org/drawingml/2006/main" noGrp="1"/>
          </p:cNvSpPr>
          <p:nvPr/>
        </p:nvSpPr>
        <p:spPr>
          <a:xfrm xmlns:a="http://schemas.openxmlformats.org/drawingml/2006/main">
            <a:off x="9677095" y="1463040"/>
            <a:ext cx="1965960" cy="914400"/>
          </a:xfrm>
          <a:prstGeom xmlns:a="http://schemas.openxmlformats.org/drawingml/2006/main" prst="roundRect">
            <a:avLst>
              <a:gd name="adj" fmla="val 7000"/>
            </a:avLst>
          </a:prstGeom>
          <a:solidFill xmlns:a="http://schemas.openxmlformats.org/drawingml/2006/main">
            <a:srgbClr val="D9ECF9"/>
          </a:solidFill>
          <a:ln xmlns:a="http://schemas.openxmlformats.org/drawingml/2006/main" w="12700">
            <a:solidFill>
              <a:srgbClr val="D9ECF9"/>
            </a:solidFill>
            <a:prstDash val="solid"/>
          </a:ln>
        </p:spPr>
      </p:sp>
      <p:sp>
        <p:nvSpPr>
          <p:cNvPr id="21" name="Text 19">
            <a:extLst xmlns:a="http://schemas.openxmlformats.org/drawingml/2006/main">
              <a:ext uri="{FF2B5EF4-FFF2-40B4-BE49-F238E27FC236}">
                <a16:creationId xmlns:a16="http://schemas.microsoft.com/office/drawing/2014/main" id="{6DB49C8D-9CF6-46E9-934A-65D24E2563FB}"/>
              </a:ext>
            </a:extLst>
          </p:cNvPr>
          <p:cNvSpPr>
            <a:spLocks xmlns:a="http://schemas.openxmlformats.org/drawingml/2006/main" noGrp="1"/>
          </p:cNvSpPr>
          <p:nvPr/>
        </p:nvSpPr>
        <p:spPr>
          <a:xfrm xmlns:a="http://schemas.openxmlformats.org/drawingml/2006/main">
            <a:off x="9814255" y="1645920"/>
            <a:ext cx="1691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002368"/>
                </a:solidFill>
                <a:latin typeface="Arial"/>
                <a:ea typeface="Arial"/>
                <a:cs typeface="Arial"/>
              </a:rPr>
              <a:t>Resend export</a:t>
            </a:r>
            <a:endParaRPr sz="1200"/>
          </a:p>
        </p:txBody>
      </p:sp>
      <p:sp>
        <p:nvSpPr>
          <p:cNvPr id="22" name="Text 20">
            <a:extLst xmlns:a="http://schemas.openxmlformats.org/drawingml/2006/main">
              <a:ext uri="{FF2B5EF4-FFF2-40B4-BE49-F238E27FC236}">
                <a16:creationId xmlns:a16="http://schemas.microsoft.com/office/drawing/2014/main" id="{86249DA8-CE78-4DFD-87FB-A95665B81452}"/>
              </a:ext>
            </a:extLst>
          </p:cNvPr>
          <p:cNvSpPr>
            <a:spLocks xmlns:a="http://schemas.openxmlformats.org/drawingml/2006/main" noGrp="1"/>
          </p:cNvSpPr>
          <p:nvPr/>
        </p:nvSpPr>
        <p:spPr>
          <a:xfrm xmlns:a="http://schemas.openxmlformats.org/drawingml/2006/main">
            <a:off x="9814255" y="1965960"/>
            <a:ext cx="16916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818283"/>
                </a:solidFill>
                <a:latin typeface="Arial"/>
                <a:ea typeface="Arial"/>
                <a:cs typeface="Arial"/>
              </a:rPr>
              <a:t>Approved audience</a:t>
            </a:r>
            <a:endParaRPr sz="950"/>
          </a:p>
        </p:txBody>
      </p:sp>
      <p:sp>
        <p:nvSpPr>
          <p:cNvPr id="23" name="Text 21">
            <a:extLst xmlns:a="http://schemas.openxmlformats.org/drawingml/2006/main">
              <a:ext uri="{FF2B5EF4-FFF2-40B4-BE49-F238E27FC236}">
                <a16:creationId xmlns:a16="http://schemas.microsoft.com/office/drawing/2014/main" id="{F17FBCAA-6861-4DBF-B885-40C04FB46DCE}"/>
              </a:ext>
            </a:extLst>
          </p:cNvPr>
          <p:cNvSpPr>
            <a:spLocks xmlns:a="http://schemas.openxmlformats.org/drawingml/2006/main" noGrp="1"/>
          </p:cNvSpPr>
          <p:nvPr/>
        </p:nvSpPr>
        <p:spPr>
          <a:xfrm xmlns:a="http://schemas.openxmlformats.org/drawingml/2006/main">
            <a:off x="548640" y="2880360"/>
            <a:ext cx="3657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18283"/>
                </a:solidFill>
                <a:latin typeface="Arial"/>
                <a:ea typeface="Arial"/>
                <a:cs typeface="Arial"/>
              </a:rPr>
              <a:t>REFRESH OR RERUN</a:t>
            </a:r>
            <a:endParaRPr sz="900"/>
          </a:p>
        </p:txBody>
      </p:sp>
      <p:sp>
        <p:nvSpPr>
          <p:cNvPr id="24" name="Text 22">
            <a:extLst xmlns:a="http://schemas.openxmlformats.org/drawingml/2006/main">
              <a:ext uri="{FF2B5EF4-FFF2-40B4-BE49-F238E27FC236}">
                <a16:creationId xmlns:a16="http://schemas.microsoft.com/office/drawing/2014/main" id="{CC00BF07-7EB3-40CE-A33F-0C4C859377A4}"/>
              </a:ext>
            </a:extLst>
          </p:cNvPr>
          <p:cNvSpPr>
            <a:spLocks xmlns:a="http://schemas.openxmlformats.org/drawingml/2006/main" noGrp="1"/>
          </p:cNvSpPr>
          <p:nvPr/>
        </p:nvSpPr>
        <p:spPr>
          <a:xfrm xmlns:a="http://schemas.openxmlformats.org/drawingml/2006/main">
            <a:off x="548640" y="3227832"/>
            <a:ext cx="457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80BFEC"/>
                </a:solidFill>
                <a:latin typeface="Georgia"/>
                <a:ea typeface="Georgia"/>
                <a:cs typeface="Georgia"/>
              </a:rPr>
              <a:t>01</a:t>
            </a:r>
            <a:endParaRPr sz="1400"/>
          </a:p>
        </p:txBody>
      </p:sp>
      <p:sp>
        <p:nvSpPr>
          <p:cNvPr id="25" name="Text 23">
            <a:extLst xmlns:a="http://schemas.openxmlformats.org/drawingml/2006/main">
              <a:ext uri="{FF2B5EF4-FFF2-40B4-BE49-F238E27FC236}">
                <a16:creationId xmlns:a16="http://schemas.microsoft.com/office/drawing/2014/main" id="{F94EA935-9BE5-4F8B-93CF-02A384940FEB}"/>
              </a:ext>
            </a:extLst>
          </p:cNvPr>
          <p:cNvSpPr>
            <a:spLocks xmlns:a="http://schemas.openxmlformats.org/drawingml/2006/main" noGrp="1"/>
          </p:cNvSpPr>
          <p:nvPr/>
        </p:nvSpPr>
        <p:spPr>
          <a:xfrm xmlns:a="http://schemas.openxmlformats.org/drawingml/2006/main">
            <a:off x="1051560" y="3227832"/>
            <a:ext cx="4572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000000"/>
                </a:solidFill>
                <a:latin typeface="Arial"/>
                <a:ea typeface="Arial"/>
                <a:cs typeface="Arial"/>
              </a:rPr>
              <a:t>Preserve IDs, evidence and prior decisions when updating</a:t>
            </a:r>
            <a:endParaRPr sz="1100"/>
          </a:p>
        </p:txBody>
      </p:sp>
      <p:sp>
        <p:nvSpPr>
          <p:cNvPr id="26" name="Shape 24">
            <a:extLst xmlns:a="http://schemas.openxmlformats.org/drawingml/2006/main">
              <a:ext uri="{FF2B5EF4-FFF2-40B4-BE49-F238E27FC236}">
                <a16:creationId xmlns:a16="http://schemas.microsoft.com/office/drawing/2014/main" id="{99522FE0-60E8-4B9B-9625-43A65F85A9F7}"/>
              </a:ext>
            </a:extLst>
          </p:cNvPr>
          <p:cNvSpPr>
            <a:spLocks xmlns:a="http://schemas.openxmlformats.org/drawingml/2006/main" noGrp="1"/>
          </p:cNvSpPr>
          <p:nvPr/>
        </p:nvSpPr>
        <p:spPr>
          <a:xfrm xmlns:a="http://schemas.openxmlformats.org/drawingml/2006/main">
            <a:off x="548640" y="3703320"/>
            <a:ext cx="5074920" cy="0"/>
          </a:xfrm>
          <a:prstGeom xmlns:a="http://schemas.openxmlformats.org/drawingml/2006/main" prst="line">
            <a:avLst/>
          </a:prstGeom>
          <a:noFill xmlns:a="http://schemas.openxmlformats.org/drawingml/2006/main"/>
          <a:ln xmlns:a="http://schemas.openxmlformats.org/drawingml/2006/main" w="9525">
            <a:solidFill>
              <a:srgbClr val="ECECEC"/>
            </a:solidFill>
            <a:prstDash val="solid"/>
          </a:ln>
        </p:spPr>
      </p:sp>
      <p:sp>
        <p:nvSpPr>
          <p:cNvPr id="27" name="Text 25">
            <a:extLst xmlns:a="http://schemas.openxmlformats.org/drawingml/2006/main">
              <a:ext uri="{FF2B5EF4-FFF2-40B4-BE49-F238E27FC236}">
                <a16:creationId xmlns:a16="http://schemas.microsoft.com/office/drawing/2014/main" id="{63475B05-F91F-4675-800E-FC4873907F94}"/>
              </a:ext>
            </a:extLst>
          </p:cNvPr>
          <p:cNvSpPr>
            <a:spLocks xmlns:a="http://schemas.openxmlformats.org/drawingml/2006/main" noGrp="1"/>
          </p:cNvSpPr>
          <p:nvPr/>
        </p:nvSpPr>
        <p:spPr>
          <a:xfrm xmlns:a="http://schemas.openxmlformats.org/drawingml/2006/main">
            <a:off x="548640" y="3776472"/>
            <a:ext cx="457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80BFEC"/>
                </a:solidFill>
                <a:latin typeface="Georgia"/>
                <a:ea typeface="Georgia"/>
                <a:cs typeface="Georgia"/>
              </a:rPr>
              <a:t>02</a:t>
            </a:r>
            <a:endParaRPr sz="1400"/>
          </a:p>
        </p:txBody>
      </p:sp>
      <p:sp>
        <p:nvSpPr>
          <p:cNvPr id="28" name="Text 26">
            <a:extLst xmlns:a="http://schemas.openxmlformats.org/drawingml/2006/main">
              <a:ext uri="{FF2B5EF4-FFF2-40B4-BE49-F238E27FC236}">
                <a16:creationId xmlns:a16="http://schemas.microsoft.com/office/drawing/2014/main" id="{4C739F2D-7265-4E7F-97F4-8E0A6C1A8909}"/>
              </a:ext>
            </a:extLst>
          </p:cNvPr>
          <p:cNvSpPr>
            <a:spLocks xmlns:a="http://schemas.openxmlformats.org/drawingml/2006/main" noGrp="1"/>
          </p:cNvSpPr>
          <p:nvPr/>
        </p:nvSpPr>
        <p:spPr>
          <a:xfrm xmlns:a="http://schemas.openxmlformats.org/drawingml/2006/main">
            <a:off x="1051560" y="3776472"/>
            <a:ext cx="4572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000000"/>
                </a:solidFill>
                <a:latin typeface="Arial"/>
                <a:ea typeface="Arial"/>
                <a:cs typeface="Arial"/>
              </a:rPr>
              <a:t>Change sources, campus pins, radius bands or sectors</a:t>
            </a:r>
            <a:endParaRPr sz="1100"/>
          </a:p>
        </p:txBody>
      </p:sp>
      <p:sp>
        <p:nvSpPr>
          <p:cNvPr id="29" name="Shape 27">
            <a:extLst xmlns:a="http://schemas.openxmlformats.org/drawingml/2006/main">
              <a:ext uri="{FF2B5EF4-FFF2-40B4-BE49-F238E27FC236}">
                <a16:creationId xmlns:a16="http://schemas.microsoft.com/office/drawing/2014/main" id="{18F9931D-A643-4A63-99E8-99BEB1DBD746}"/>
              </a:ext>
            </a:extLst>
          </p:cNvPr>
          <p:cNvSpPr>
            <a:spLocks xmlns:a="http://schemas.openxmlformats.org/drawingml/2006/main" noGrp="1"/>
          </p:cNvSpPr>
          <p:nvPr/>
        </p:nvSpPr>
        <p:spPr>
          <a:xfrm xmlns:a="http://schemas.openxmlformats.org/drawingml/2006/main">
            <a:off x="548640" y="4251960"/>
            <a:ext cx="5074920" cy="0"/>
          </a:xfrm>
          <a:prstGeom xmlns:a="http://schemas.openxmlformats.org/drawingml/2006/main" prst="line">
            <a:avLst/>
          </a:prstGeom>
          <a:noFill xmlns:a="http://schemas.openxmlformats.org/drawingml/2006/main"/>
          <a:ln xmlns:a="http://schemas.openxmlformats.org/drawingml/2006/main" w="9525">
            <a:solidFill>
              <a:srgbClr val="ECECEC"/>
            </a:solidFill>
            <a:prstDash val="solid"/>
          </a:ln>
        </p:spPr>
      </p:sp>
      <p:sp>
        <p:nvSpPr>
          <p:cNvPr id="30" name="Text 28">
            <a:extLst xmlns:a="http://schemas.openxmlformats.org/drawingml/2006/main">
              <a:ext uri="{FF2B5EF4-FFF2-40B4-BE49-F238E27FC236}">
                <a16:creationId xmlns:a16="http://schemas.microsoft.com/office/drawing/2014/main" id="{CACD4ABE-20C7-4036-8D08-CA59F9C0708C}"/>
              </a:ext>
            </a:extLst>
          </p:cNvPr>
          <p:cNvSpPr>
            <a:spLocks xmlns:a="http://schemas.openxmlformats.org/drawingml/2006/main" noGrp="1"/>
          </p:cNvSpPr>
          <p:nvPr/>
        </p:nvSpPr>
        <p:spPr>
          <a:xfrm xmlns:a="http://schemas.openxmlformats.org/drawingml/2006/main">
            <a:off x="548640" y="4325112"/>
            <a:ext cx="457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80BFEC"/>
                </a:solidFill>
                <a:latin typeface="Georgia"/>
                <a:ea typeface="Georgia"/>
                <a:cs typeface="Georgia"/>
              </a:rPr>
              <a:t>03</a:t>
            </a:r>
            <a:endParaRPr sz="1400"/>
          </a:p>
        </p:txBody>
      </p:sp>
      <p:sp>
        <p:nvSpPr>
          <p:cNvPr id="31" name="Text 29">
            <a:extLst xmlns:a="http://schemas.openxmlformats.org/drawingml/2006/main">
              <a:ext uri="{FF2B5EF4-FFF2-40B4-BE49-F238E27FC236}">
                <a16:creationId xmlns:a16="http://schemas.microsoft.com/office/drawing/2014/main" id="{8B6C8FB5-C3A7-4888-A769-6A5AC2E24FFD}"/>
              </a:ext>
            </a:extLst>
          </p:cNvPr>
          <p:cNvSpPr>
            <a:spLocks xmlns:a="http://schemas.openxmlformats.org/drawingml/2006/main" noGrp="1"/>
          </p:cNvSpPr>
          <p:nvPr/>
        </p:nvSpPr>
        <p:spPr>
          <a:xfrm xmlns:a="http://schemas.openxmlformats.org/drawingml/2006/main">
            <a:off x="1051560" y="4325112"/>
            <a:ext cx="4572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000000"/>
                </a:solidFill>
                <a:latin typeface="Arial"/>
                <a:ea typeface="Arial"/>
                <a:cs typeface="Arial"/>
              </a:rPr>
              <a:t>Re-run enrichment, message generation and workbook export</a:t>
            </a:r>
            <a:endParaRPr sz="1100"/>
          </a:p>
        </p:txBody>
      </p:sp>
      <p:sp>
        <p:nvSpPr>
          <p:cNvPr id="32" name="Shape 30">
            <a:extLst xmlns:a="http://schemas.openxmlformats.org/drawingml/2006/main">
              <a:ext uri="{FF2B5EF4-FFF2-40B4-BE49-F238E27FC236}">
                <a16:creationId xmlns:a16="http://schemas.microsoft.com/office/drawing/2014/main" id="{308D48B1-F856-4E6D-A2E0-5F89AA350B71}"/>
              </a:ext>
            </a:extLst>
          </p:cNvPr>
          <p:cNvSpPr>
            <a:spLocks xmlns:a="http://schemas.openxmlformats.org/drawingml/2006/main" noGrp="1"/>
          </p:cNvSpPr>
          <p:nvPr/>
        </p:nvSpPr>
        <p:spPr>
          <a:xfrm xmlns:a="http://schemas.openxmlformats.org/drawingml/2006/main">
            <a:off x="548640" y="4800600"/>
            <a:ext cx="5074920" cy="0"/>
          </a:xfrm>
          <a:prstGeom xmlns:a="http://schemas.openxmlformats.org/drawingml/2006/main" prst="line">
            <a:avLst/>
          </a:prstGeom>
          <a:noFill xmlns:a="http://schemas.openxmlformats.org/drawingml/2006/main"/>
          <a:ln xmlns:a="http://schemas.openxmlformats.org/drawingml/2006/main" w="9525">
            <a:solidFill>
              <a:srgbClr val="ECECEC"/>
            </a:solidFill>
            <a:prstDash val="solid"/>
          </a:ln>
        </p:spPr>
      </p:sp>
      <p:sp>
        <p:nvSpPr>
          <p:cNvPr id="33" name="Text 31">
            <a:extLst xmlns:a="http://schemas.openxmlformats.org/drawingml/2006/main">
              <a:ext uri="{FF2B5EF4-FFF2-40B4-BE49-F238E27FC236}">
                <a16:creationId xmlns:a16="http://schemas.microsoft.com/office/drawing/2014/main" id="{271CCDC2-1A6D-4744-8C2A-C94B4151BE59}"/>
              </a:ext>
            </a:extLst>
          </p:cNvPr>
          <p:cNvSpPr>
            <a:spLocks xmlns:a="http://schemas.openxmlformats.org/drawingml/2006/main" noGrp="1"/>
          </p:cNvSpPr>
          <p:nvPr/>
        </p:nvSpPr>
        <p:spPr>
          <a:xfrm xmlns:a="http://schemas.openxmlformats.org/drawingml/2006/main">
            <a:off x="548640" y="4873752"/>
            <a:ext cx="457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80BFEC"/>
                </a:solidFill>
                <a:latin typeface="Georgia"/>
                <a:ea typeface="Georgia"/>
                <a:cs typeface="Georgia"/>
              </a:rPr>
              <a:t>04</a:t>
            </a:r>
            <a:endParaRPr sz="1400"/>
          </a:p>
        </p:txBody>
      </p:sp>
      <p:sp>
        <p:nvSpPr>
          <p:cNvPr id="34" name="Text 32">
            <a:extLst xmlns:a="http://schemas.openxmlformats.org/drawingml/2006/main">
              <a:ext uri="{FF2B5EF4-FFF2-40B4-BE49-F238E27FC236}">
                <a16:creationId xmlns:a16="http://schemas.microsoft.com/office/drawing/2014/main" id="{3301D15D-1AE9-4743-8641-0CE4D7D9AFDE}"/>
              </a:ext>
            </a:extLst>
          </p:cNvPr>
          <p:cNvSpPr>
            <a:spLocks xmlns:a="http://schemas.openxmlformats.org/drawingml/2006/main" noGrp="1"/>
          </p:cNvSpPr>
          <p:nvPr/>
        </p:nvSpPr>
        <p:spPr>
          <a:xfrm xmlns:a="http://schemas.openxmlformats.org/drawingml/2006/main">
            <a:off x="1051560" y="4873752"/>
            <a:ext cx="4572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000000"/>
                </a:solidFill>
                <a:latin typeface="Arial"/>
                <a:ea typeface="Arial"/>
                <a:cs typeface="Arial"/>
              </a:rPr>
              <a:t>Create a separate dataset for a new campaign when needed</a:t>
            </a:r>
            <a:endParaRPr sz="1100"/>
          </a:p>
        </p:txBody>
      </p:sp>
      <p:sp>
        <p:nvSpPr>
          <p:cNvPr id="35" name="Text 33">
            <a:extLst xmlns:a="http://schemas.openxmlformats.org/drawingml/2006/main">
              <a:ext uri="{FF2B5EF4-FFF2-40B4-BE49-F238E27FC236}">
                <a16:creationId xmlns:a16="http://schemas.microsoft.com/office/drawing/2014/main" id="{56144D61-2091-4477-BF9A-F1DDE0ABA545}"/>
              </a:ext>
            </a:extLst>
          </p:cNvPr>
          <p:cNvSpPr>
            <a:spLocks xmlns:a="http://schemas.openxmlformats.org/drawingml/2006/main" noGrp="1"/>
          </p:cNvSpPr>
          <p:nvPr/>
        </p:nvSpPr>
        <p:spPr>
          <a:xfrm xmlns:a="http://schemas.openxmlformats.org/drawingml/2006/main">
            <a:off x="6492240" y="2880360"/>
            <a:ext cx="3657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spc="200">
                <a:solidFill>
                  <a:srgbClr val="818283"/>
                </a:solidFill>
                <a:latin typeface="Arial"/>
                <a:ea typeface="Arial"/>
                <a:cs typeface="Arial"/>
              </a:rPr>
              <a:t>ACTIVATION PRIORITIES</a:t>
            </a:r>
            <a:endParaRPr sz="900"/>
          </a:p>
        </p:txBody>
      </p:sp>
      <p:sp>
        <p:nvSpPr>
          <p:cNvPr id="36" name="Text 34">
            <a:extLst xmlns:a="http://schemas.openxmlformats.org/drawingml/2006/main">
              <a:ext uri="{FF2B5EF4-FFF2-40B4-BE49-F238E27FC236}">
                <a16:creationId xmlns:a16="http://schemas.microsoft.com/office/drawing/2014/main" id="{0D85819B-D6BA-4DCD-AE81-502DDE1DD388}"/>
              </a:ext>
            </a:extLst>
          </p:cNvPr>
          <p:cNvSpPr>
            <a:spLocks xmlns:a="http://schemas.openxmlformats.org/drawingml/2006/main" noGrp="1"/>
          </p:cNvSpPr>
          <p:nvPr/>
        </p:nvSpPr>
        <p:spPr>
          <a:xfrm xmlns:a="http://schemas.openxmlformats.org/drawingml/2006/main">
            <a:off x="6492240" y="3264408"/>
            <a:ext cx="329184" cy="289682"/>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Arial"/>
                <a:ea typeface="Arial"/>
                <a:cs typeface="Arial"/>
              </a:rPr>
              <a:t>1</a:t>
            </a:r>
            <a:endParaRPr sz="1000"/>
          </a:p>
        </p:txBody>
      </p:sp>
      <p:sp>
        <p:nvSpPr>
          <p:cNvPr id="37" name="Text 35">
            <a:extLst xmlns:a="http://schemas.openxmlformats.org/drawingml/2006/main">
              <a:ext uri="{FF2B5EF4-FFF2-40B4-BE49-F238E27FC236}">
                <a16:creationId xmlns:a16="http://schemas.microsoft.com/office/drawing/2014/main" id="{C158CBE8-6097-4770-9A39-5CECAB71E197}"/>
              </a:ext>
            </a:extLst>
          </p:cNvPr>
          <p:cNvSpPr>
            <a:spLocks xmlns:a="http://schemas.openxmlformats.org/drawingml/2006/main" noGrp="1"/>
          </p:cNvSpPr>
          <p:nvPr/>
        </p:nvSpPr>
        <p:spPr>
          <a:xfrm xmlns:a="http://schemas.openxmlformats.org/drawingml/2006/main">
            <a:off x="6995160" y="3246120"/>
            <a:ext cx="45720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02368"/>
                </a:solidFill>
                <a:latin typeface="Arial"/>
                <a:ea typeface="Arial"/>
                <a:cs typeface="Arial"/>
              </a:rPr>
              <a:t>Confirm campus coordinates</a:t>
            </a:r>
            <a:endParaRPr sz="1150"/>
          </a:p>
        </p:txBody>
      </p:sp>
      <p:sp>
        <p:nvSpPr>
          <p:cNvPr id="38" name="Text 36">
            <a:extLst xmlns:a="http://schemas.openxmlformats.org/drawingml/2006/main">
              <a:ext uri="{FF2B5EF4-FFF2-40B4-BE49-F238E27FC236}">
                <a16:creationId xmlns:a16="http://schemas.microsoft.com/office/drawing/2014/main" id="{CEF547D2-F51C-45D7-849B-CF6A5D352EAE}"/>
              </a:ext>
            </a:extLst>
          </p:cNvPr>
          <p:cNvSpPr>
            <a:spLocks xmlns:a="http://schemas.openxmlformats.org/drawingml/2006/main" noGrp="1"/>
          </p:cNvSpPr>
          <p:nvPr/>
        </p:nvSpPr>
        <p:spPr>
          <a:xfrm xmlns:a="http://schemas.openxmlformats.org/drawingml/2006/main">
            <a:off x="6492240" y="3721608"/>
            <a:ext cx="329184" cy="289682"/>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Arial"/>
                <a:ea typeface="Arial"/>
                <a:cs typeface="Arial"/>
              </a:rPr>
              <a:t>2</a:t>
            </a:r>
            <a:endParaRPr sz="1000"/>
          </a:p>
        </p:txBody>
      </p:sp>
      <p:sp>
        <p:nvSpPr>
          <p:cNvPr id="39" name="Text 37">
            <a:extLst xmlns:a="http://schemas.openxmlformats.org/drawingml/2006/main">
              <a:ext uri="{FF2B5EF4-FFF2-40B4-BE49-F238E27FC236}">
                <a16:creationId xmlns:a16="http://schemas.microsoft.com/office/drawing/2014/main" id="{FE87FA55-2CEC-4FC4-B00C-C3E228870E8C}"/>
              </a:ext>
            </a:extLst>
          </p:cNvPr>
          <p:cNvSpPr>
            <a:spLocks xmlns:a="http://schemas.openxmlformats.org/drawingml/2006/main" noGrp="1"/>
          </p:cNvSpPr>
          <p:nvPr/>
        </p:nvSpPr>
        <p:spPr>
          <a:xfrm xmlns:a="http://schemas.openxmlformats.org/drawingml/2006/main">
            <a:off x="6995160" y="3703320"/>
            <a:ext cx="45720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02368"/>
                </a:solidFill>
                <a:latin typeface="Arial"/>
                <a:ea typeface="Arial"/>
                <a:cs typeface="Arial"/>
              </a:rPr>
              <a:t>Continue TCDC and OSM contact enrichment</a:t>
            </a:r>
            <a:endParaRPr sz="1150"/>
          </a:p>
        </p:txBody>
      </p:sp>
      <p:sp>
        <p:nvSpPr>
          <p:cNvPr id="40" name="Text 38">
            <a:extLst xmlns:a="http://schemas.openxmlformats.org/drawingml/2006/main">
              <a:ext uri="{FF2B5EF4-FFF2-40B4-BE49-F238E27FC236}">
                <a16:creationId xmlns:a16="http://schemas.microsoft.com/office/drawing/2014/main" id="{4F5902FC-A5CB-4FB0-99F1-63ED37EBAA4D}"/>
              </a:ext>
            </a:extLst>
          </p:cNvPr>
          <p:cNvSpPr>
            <a:spLocks xmlns:a="http://schemas.openxmlformats.org/drawingml/2006/main" noGrp="1"/>
          </p:cNvSpPr>
          <p:nvPr/>
        </p:nvSpPr>
        <p:spPr>
          <a:xfrm xmlns:a="http://schemas.openxmlformats.org/drawingml/2006/main">
            <a:off x="6492240" y="4178808"/>
            <a:ext cx="329184" cy="289682"/>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Arial"/>
                <a:ea typeface="Arial"/>
                <a:cs typeface="Arial"/>
              </a:rPr>
              <a:t>3</a:t>
            </a:r>
            <a:endParaRPr sz="1000"/>
          </a:p>
        </p:txBody>
      </p:sp>
      <p:sp>
        <p:nvSpPr>
          <p:cNvPr id="41" name="Text 39">
            <a:extLst xmlns:a="http://schemas.openxmlformats.org/drawingml/2006/main">
              <a:ext uri="{FF2B5EF4-FFF2-40B4-BE49-F238E27FC236}">
                <a16:creationId xmlns:a16="http://schemas.microsoft.com/office/drawing/2014/main" id="{07AB92C4-DE1A-4948-B2BA-8B3920760EF6}"/>
              </a:ext>
            </a:extLst>
          </p:cNvPr>
          <p:cNvSpPr>
            <a:spLocks xmlns:a="http://schemas.openxmlformats.org/drawingml/2006/main" noGrp="1"/>
          </p:cNvSpPr>
          <p:nvPr/>
        </p:nvSpPr>
        <p:spPr>
          <a:xfrm xmlns:a="http://schemas.openxmlformats.org/drawingml/2006/main">
            <a:off x="6995160" y="4160520"/>
            <a:ext cx="45720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02368"/>
                </a:solidFill>
                <a:latin typeface="Arial"/>
                <a:ea typeface="Arial"/>
                <a:cs typeface="Arial"/>
              </a:rPr>
              <a:t>Approve offers and parent form copy</a:t>
            </a:r>
            <a:endParaRPr sz="1150"/>
          </a:p>
        </p:txBody>
      </p:sp>
      <p:sp>
        <p:nvSpPr>
          <p:cNvPr id="42" name="Text 40">
            <a:extLst xmlns:a="http://schemas.openxmlformats.org/drawingml/2006/main">
              <a:ext uri="{FF2B5EF4-FFF2-40B4-BE49-F238E27FC236}">
                <a16:creationId xmlns:a16="http://schemas.microsoft.com/office/drawing/2014/main" id="{A2858730-BC7A-436A-9E84-59FCFAC1DAD7}"/>
              </a:ext>
            </a:extLst>
          </p:cNvPr>
          <p:cNvSpPr>
            <a:spLocks xmlns:a="http://schemas.openxmlformats.org/drawingml/2006/main" noGrp="1"/>
          </p:cNvSpPr>
          <p:nvPr/>
        </p:nvSpPr>
        <p:spPr>
          <a:xfrm xmlns:a="http://schemas.openxmlformats.org/drawingml/2006/main">
            <a:off x="6492240" y="4636008"/>
            <a:ext cx="329184" cy="289682"/>
          </a:xfrm>
          <a:prstGeom xmlns:a="http://schemas.openxmlformats.org/drawingml/2006/main" prst="hexagon">
            <a:avLst/>
          </a:prstGeom>
          <a:solidFill xmlns:a="http://schemas.openxmlformats.org/drawingml/2006/main">
            <a:srgbClr val="002368"/>
          </a:solidFill>
          <a:ln xmlns:a="http://schemas.openxmlformats.org/drawingml/2006/main">
            <a:solidFill>
              <a:srgbClr val="002368"/>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Arial"/>
                <a:ea typeface="Arial"/>
                <a:cs typeface="Arial"/>
              </a:rPr>
              <a:t>4</a:t>
            </a:r>
            <a:endParaRPr sz="1000"/>
          </a:p>
        </p:txBody>
      </p:sp>
      <p:sp>
        <p:nvSpPr>
          <p:cNvPr id="43" name="Text 41">
            <a:extLst xmlns:a="http://schemas.openxmlformats.org/drawingml/2006/main">
              <a:ext uri="{FF2B5EF4-FFF2-40B4-BE49-F238E27FC236}">
                <a16:creationId xmlns:a16="http://schemas.microsoft.com/office/drawing/2014/main" id="{54ED89B1-CDF5-489D-AAAC-C8EA2DA2FB77}"/>
              </a:ext>
            </a:extLst>
          </p:cNvPr>
          <p:cNvSpPr>
            <a:spLocks xmlns:a="http://schemas.openxmlformats.org/drawingml/2006/main" noGrp="1"/>
          </p:cNvSpPr>
          <p:nvPr/>
        </p:nvSpPr>
        <p:spPr>
          <a:xfrm xmlns:a="http://schemas.openxmlformats.org/drawingml/2006/main">
            <a:off x="6995160" y="4617720"/>
            <a:ext cx="45720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002368"/>
                </a:solidFill>
                <a:latin typeface="Arial"/>
                <a:ea typeface="Arial"/>
                <a:cs typeface="Arial"/>
              </a:rPr>
              <a:t>Configure Resend and suppression</a:t>
            </a:r>
            <a:endParaRPr sz="1150"/>
          </a:p>
        </p:txBody>
      </p:sp>
      <p:sp>
        <p:nvSpPr>
          <p:cNvPr id="44" name="Text 42">
            <a:extLst xmlns:a="http://schemas.openxmlformats.org/drawingml/2006/main">
              <a:ext uri="{FF2B5EF4-FFF2-40B4-BE49-F238E27FC236}">
                <a16:creationId xmlns:a16="http://schemas.microsoft.com/office/drawing/2014/main" id="{6BDD8E73-E0BB-4785-9732-65181E79D650}"/>
              </a:ext>
            </a:extLst>
          </p:cNvPr>
          <p:cNvSpPr>
            <a:spLocks xmlns:a="http://schemas.openxmlformats.org/drawingml/2006/main" noGrp="1"/>
          </p:cNvSpPr>
          <p:nvPr/>
        </p:nvSpPr>
        <p:spPr>
          <a:xfrm xmlns:a="http://schemas.openxmlformats.org/drawingml/2006/main">
            <a:off x="6492240" y="5093208"/>
            <a:ext cx="329184" cy="289682"/>
          </a:xfrm>
          <a:prstGeom xmlns:a="http://schemas.openxmlformats.org/drawingml/2006/main" prst="hexagon">
            <a:avLst/>
          </a:prstGeom>
          <a:solidFill xmlns:a="http://schemas.openxmlformats.org/drawingml/2006/main">
            <a:srgbClr val="FFC952"/>
          </a:solidFill>
          <a:ln xmlns:a="http://schemas.openxmlformats.org/drawingml/2006/main">
            <a:solidFill>
              <a:srgbClr val="FFC952"/>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002368"/>
                </a:solidFill>
                <a:latin typeface="Arial"/>
                <a:ea typeface="Arial"/>
                <a:cs typeface="Arial"/>
              </a:rPr>
              <a:t>5</a:t>
            </a:r>
            <a:endParaRPr sz="1000"/>
          </a:p>
        </p:txBody>
      </p:sp>
      <p:sp>
        <p:nvSpPr>
          <p:cNvPr id="45" name="Text 43">
            <a:extLst xmlns:a="http://schemas.openxmlformats.org/drawingml/2006/main">
              <a:ext uri="{FF2B5EF4-FFF2-40B4-BE49-F238E27FC236}">
                <a16:creationId xmlns:a16="http://schemas.microsoft.com/office/drawing/2014/main" id="{FB6C0B18-1559-44E5-916E-AB67E6F43ABE}"/>
              </a:ext>
            </a:extLst>
          </p:cNvPr>
          <p:cNvSpPr>
            <a:spLocks xmlns:a="http://schemas.openxmlformats.org/drawingml/2006/main" noGrp="1"/>
          </p:cNvSpPr>
          <p:nvPr/>
        </p:nvSpPr>
        <p:spPr>
          <a:xfrm xmlns:a="http://schemas.openxmlformats.org/drawingml/2006/main">
            <a:off x="6995160" y="5074920"/>
            <a:ext cx="45720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002368"/>
                </a:solidFill>
                <a:latin typeface="Arial"/>
                <a:ea typeface="Arial"/>
                <a:cs typeface="Arial"/>
              </a:rPr>
              <a:t>Run a reviewed pilot, then scale</a:t>
            </a:r>
            <a:endParaRPr sz="1150"/>
          </a:p>
        </p:txBody>
      </p:sp>
      <p:sp>
        <p:nvSpPr>
          <p:cNvPr id="46" name="Text 44">
            <a:extLst xmlns:a="http://schemas.openxmlformats.org/drawingml/2006/main">
              <a:ext uri="{FF2B5EF4-FFF2-40B4-BE49-F238E27FC236}">
                <a16:creationId xmlns:a16="http://schemas.microsoft.com/office/drawing/2014/main" id="{E8928D2E-A1ED-4265-B41B-91AF7CD4EAF5}"/>
              </a:ext>
            </a:extLst>
          </p:cNvPr>
          <p:cNvSpPr>
            <a:spLocks xmlns:a="http://schemas.openxmlformats.org/drawingml/2006/main" noGrp="1"/>
          </p:cNvSpPr>
          <p:nvPr/>
        </p:nvSpPr>
        <p:spPr>
          <a:xfrm xmlns:a="http://schemas.openxmlformats.org/drawingml/2006/main">
            <a:off x="548640" y="5715000"/>
            <a:ext cx="1109441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002368"/>
                </a:solidFill>
                <a:latin typeface="Georgia"/>
                <a:ea typeface="Georgia"/>
                <a:cs typeface="Georgia"/>
              </a:rPr>
              <a:t>Outcomes return to the master, improving the next run.</a:t>
            </a:r>
            <a:endParaRPr sz="1500"/>
          </a:p>
        </p:txBody>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02e3a35f219e4faa"/>
          <a:stretch xmlns:a="http://schemas.openxmlformats.org/drawingml/2006/main">
            <a:fillRect l="0" t="0" r="0" b="0"/>
          </a:stretch>
        </p:blipFill>
        <p:spPr>
          <a:xfrm xmlns:a="http://schemas.openxmlformats.org/drawingml/2006/main">
            <a:off x="548640" y="6272784"/>
            <a:ext cx="1143000" cy="272176"/>
          </a:xfrm>
          <a:prstGeom xmlns:a="http://schemas.openxmlformats.org/drawingml/2006/main" prst="rect">
            <a:avLst/>
          </a:prstGeom>
        </p:spPr>
      </p:pic>
      <p:sp>
        <p:nvSpPr>
          <p:cNvPr id="48" name="Text 45">
            <a:extLst xmlns:a="http://schemas.openxmlformats.org/drawingml/2006/main">
              <a:ext uri="{FF2B5EF4-FFF2-40B4-BE49-F238E27FC236}">
                <a16:creationId xmlns:a16="http://schemas.microsoft.com/office/drawing/2014/main" id="{3D0A5431-2517-4B0E-A465-B05E9980DCBE}"/>
              </a:ext>
            </a:extLst>
          </p:cNvPr>
          <p:cNvSpPr>
            <a:spLocks xmlns:a="http://schemas.openxmlformats.org/drawingml/2006/main" noGrp="1"/>
          </p:cNvSpPr>
          <p:nvPr/>
        </p:nvSpPr>
        <p:spPr>
          <a:xfrm xmlns:a="http://schemas.openxmlformats.org/drawingml/2006/main">
            <a:off x="1965960" y="6309360"/>
            <a:ext cx="85953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818283"/>
                </a:solidFill>
                <a:latin typeface="Arial"/>
                <a:ea typeface="Arial"/>
                <a:cs typeface="Arial"/>
              </a:rPr>
              <a:t>Source: repository README, architecture notes and create/update lead-list skills</a:t>
            </a:r>
            <a:endParaRPr sz="800"/>
          </a:p>
        </p:txBody>
      </p:sp>
      <p:sp>
        <p:nvSpPr>
          <p:cNvPr id="49" name="Text 46">
            <a:extLst xmlns:a="http://schemas.openxmlformats.org/drawingml/2006/main">
              <a:ext uri="{FF2B5EF4-FFF2-40B4-BE49-F238E27FC236}">
                <a16:creationId xmlns:a16="http://schemas.microsoft.com/office/drawing/2014/main" id="{76E5BA8A-F56B-44D3-9F02-C70742C3C89C}"/>
              </a:ext>
            </a:extLst>
          </p:cNvPr>
          <p:cNvSpPr>
            <a:spLocks xmlns:a="http://schemas.openxmlformats.org/drawingml/2006/main" noGrp="1"/>
          </p:cNvSpPr>
          <p:nvPr/>
        </p:nvSpPr>
        <p:spPr>
          <a:xfrm xmlns:a="http://schemas.openxmlformats.org/drawingml/2006/main">
            <a:off x="10911535" y="6254496"/>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002368"/>
                </a:solidFill>
                <a:latin typeface="Georgia"/>
                <a:ea typeface="Georgia"/>
                <a:cs typeface="Georgia"/>
              </a:rPr>
              <a:t>12</a:t>
            </a:r>
            <a:endParaRPr sz="1200"/>
          </a:p>
        </p:txBody>
      </p:sp>
    </p:spTree>
    <p:extLst>
      <p:ext uri="{BB962C8B-B14F-4D97-AF65-F5344CB8AC3E}">
        <p14:creationId xmlns:p14="http://schemas.microsoft.com/office/powerpoint/2010/main" val="1950363798"/>
      </p:ext>
    </p:extLst>
  </p:cSld>
</p:sld>
</file>

<file path=ppt/slides/slide13.xml><?xml version="1.0" encoding="utf-8"?>
<p:sld xmlns:p="http://schemas.openxmlformats.org/presentationml/2006/main">
  <p:cSld>
    <p:bg>
      <p:bgPr>
        <a:blipFill xmlns:a="http://schemas.openxmlformats.org/drawingml/2006/main" rotWithShape="1">
          <a:blip xmlns:r="http://schemas.openxmlformats.org/officeDocument/2006/relationships" r:embed="R6d51282b65054ebe">
            <a:lum/>
          </a:blip>
          <a:srcRect l="0" t="0" r="0" b="0"/>
          <a:stretch>
            <a:fillRect l="0" t="0" r="0" b="0"/>
          </a:stretch>
        </a:blipFill>
      </p:bgPr>
    </p:bg>
    <p:spTree>
      <p:nvGrpSpPr>
        <p:cNvPr id="1" name=""/>
        <p:cNvGrpSpPr/>
        <p:nvPr/>
      </p:nvGrpSpPr>
      <p:grpSpPr>
        <a:xfrm xmlns:a="http://schemas.openxmlformats.org/drawingml/2006/main"/>
      </p:grpSpPr>
      <p:pic>
        <p:nvPicPr>
          <p:cNvPr id="7" name="Image 0"/>
          <p:cNvPicPr>
            <a:picLocks xmlns:a="http://schemas.openxmlformats.org/drawingml/2006/main" noChangeAspect="1"/>
          </p:cNvPicPr>
          <p:nvPr/>
        </p:nvPicPr>
        <p:blipFill>
          <a:blip xmlns:r="http://schemas.openxmlformats.org/officeDocument/2006/relationships" xmlns:a="http://schemas.openxmlformats.org/drawingml/2006/main" r:embed="R95114d9425024ed2"/>
          <a:stretch xmlns:a="http://schemas.openxmlformats.org/drawingml/2006/main">
            <a:fillRect l="0" t="0" r="0" b="0"/>
          </a:stretch>
        </p:blipFill>
        <p:spPr>
          <a:xfrm xmlns:a="http://schemas.openxmlformats.org/drawingml/2006/main">
            <a:off x="5760720" y="2240280"/>
            <a:ext cx="3108960" cy="740318"/>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0CC1C023-794D-482D-ACCD-0D3488B17021}"/>
              </a:ext>
            </a:extLst>
          </p:cNvPr>
          <p:cNvSpPr>
            <a:spLocks xmlns:a="http://schemas.openxmlformats.org/drawingml/2006/main" noGrp="1"/>
          </p:cNvSpPr>
          <p:nvPr/>
        </p:nvSpPr>
        <p:spPr>
          <a:xfrm xmlns:a="http://schemas.openxmlformats.org/drawingml/2006/main">
            <a:off x="5760720" y="3200400"/>
            <a:ext cx="73152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80BFEC"/>
                </a:solidFill>
                <a:latin typeface="Arial"/>
                <a:ea typeface="Arial"/>
                <a:cs typeface="Arial"/>
              </a:rPr>
              <a:t>The Future Starts Here.</a:t>
            </a:r>
            <a:endParaRPr sz="3000"/>
          </a:p>
        </p:txBody>
      </p:sp>
      <p:sp>
        <p:nvSpPr>
          <p:cNvPr id="4" name="Text 1">
            <a:extLst xmlns:a="http://schemas.openxmlformats.org/drawingml/2006/main">
              <a:ext uri="{FF2B5EF4-FFF2-40B4-BE49-F238E27FC236}">
                <a16:creationId xmlns:a16="http://schemas.microsoft.com/office/drawing/2014/main" id="{0BF7F666-EFC6-48B6-AAA4-C366205059FF}"/>
              </a:ext>
            </a:extLst>
          </p:cNvPr>
          <p:cNvSpPr>
            <a:spLocks xmlns:a="http://schemas.openxmlformats.org/drawingml/2006/main" noGrp="1"/>
          </p:cNvSpPr>
          <p:nvPr/>
        </p:nvSpPr>
        <p:spPr>
          <a:xfrm xmlns:a="http://schemas.openxmlformats.org/drawingml/2006/main">
            <a:off x="5760720" y="3977640"/>
            <a:ext cx="57607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buNone/>
            </a:pPr>
            <a:r>
              <a:rPr sz="1200">
                <a:solidFill>
                  <a:srgbClr val="FFFFFF"/>
                </a:solidFill>
                <a:latin typeface="Georgia"/>
                <a:ea typeface="Georgia"/>
                <a:cs typeface="Georgia"/>
              </a:rPr>
              <a:t>Research, data consolidation, messages and automation designs are complete as drafts. Sending remains disabled until final review and implementation approval.</a:t>
            </a:r>
            <a:endParaRPr sz="1200"/>
          </a:p>
        </p:txBody>
      </p:sp>
      <p:sp>
        <p:nvSpPr>
          <p:cNvPr id="5" name="Text 2">
            <a:extLst xmlns:a="http://schemas.openxmlformats.org/drawingml/2006/main">
              <a:ext uri="{FF2B5EF4-FFF2-40B4-BE49-F238E27FC236}">
                <a16:creationId xmlns:a16="http://schemas.microsoft.com/office/drawing/2014/main" id="{D88E5283-1F87-42B0-B90A-CB67EFF4B394}"/>
              </a:ext>
            </a:extLst>
          </p:cNvPr>
          <p:cNvSpPr>
            <a:spLocks xmlns:a="http://schemas.openxmlformats.org/drawingml/2006/main" noGrp="1"/>
          </p:cNvSpPr>
          <p:nvPr/>
        </p:nvSpPr>
        <p:spPr>
          <a:xfrm xmlns:a="http://schemas.openxmlformats.org/drawingml/2006/main">
            <a:off x="5760720" y="6035040"/>
            <a:ext cx="594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8091B3"/>
                </a:solidFill>
                <a:latin typeface="Arial"/>
                <a:ea typeface="Arial"/>
                <a:cs typeface="Arial"/>
              </a:rPr>
              <a:t>Silverleaf Academy  ·  Marketing &amp; Partnerships  ·  10 September 2026</a:t>
            </a:r>
            <a:endParaRPr sz="1000"/>
          </a:p>
        </p:txBody>
      </p:sp>
    </p:spTree>
    <p:extLst>
      <p:ext uri="{BB962C8B-B14F-4D97-AF65-F5344CB8AC3E}">
        <p14:creationId xmlns:p14="http://schemas.microsoft.com/office/powerpoint/2010/main" val="207952793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2026-09-10T00:30:39.2670000Z</dcterms:created>
  <dcterms:modified xsi:type="dcterms:W3CDTF">2026-09-10T00:30:39.2670000Z</dcterms:modified>
</coreProperties>
</file>