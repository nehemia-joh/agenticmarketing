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8433a703b2cf495a" Type="http://schemas.openxmlformats.org/officeDocument/2006/relationships/extended-properties" Target="docProps/app.xml"/><Relationship Id="Rd40ef8c8e9af4631" Type="http://schemas.openxmlformats.org/officeDocument/2006/relationships/officeDocument" Target="ppt/presentation.xml"/><Relationship Id="Rdd8e5c467ef5499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5f2eafc1c3c436f"/>
  </p:sldMasterIdLst>
  <p:notesMasterIdLst>
    <p:notesMasterId xmlns:r="http://schemas.openxmlformats.org/officeDocument/2006/relationships" r:id="Re2246cf756d44e01"/>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 xmlns:ns0="http://schemas.openxmlformats.org/officeDocument/2006/relationships" id="278" ns0:id="rId29"/>
    <p:sldId xmlns:ns0="http://schemas.openxmlformats.org/officeDocument/2006/relationships" id="279" ns0:id="rId30"/>
    <p:sldId xmlns:ns0="http://schemas.openxmlformats.org/officeDocument/2006/relationships" id="280" ns0:id="rId31"/>
    <p:sldId xmlns:ns0="http://schemas.openxmlformats.org/officeDocument/2006/relationships" id="281" ns0:id="rId32"/>
    <p:sldId xmlns:ns0="http://schemas.openxmlformats.org/officeDocument/2006/relationships" id="282" ns0:id="rId33"/>
    <p:sldId xmlns:ns0="http://schemas.openxmlformats.org/officeDocument/2006/relationships" id="283" ns0:id="rId34"/>
    <p:sldId xmlns:ns0="http://schemas.openxmlformats.org/officeDocument/2006/relationships" id="284" ns0:id="rId35"/>
    <p:sldId xmlns:ns0="http://schemas.openxmlformats.org/officeDocument/2006/relationships" id="285" ns0:id="rId36"/>
    <p:sldId xmlns:ns0="http://schemas.openxmlformats.org/officeDocument/2006/relationships" id="286" ns0:id="rId37"/>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 xmlns:ns0="http://schemas.openxmlformats.org/officeDocument/2006/relationships" id="291" ns0:id="rId42"/>
    <p:sldId xmlns:ns0="http://schemas.openxmlformats.org/officeDocument/2006/relationships" id="292" ns0:id="rId43"/>
    <p:sldId xmlns:ns0="http://schemas.openxmlformats.org/officeDocument/2006/relationships" id="293" ns0:id="rId44"/>
    <p:sldId xmlns:ns0="http://schemas.openxmlformats.org/officeDocument/2006/relationships" id="294" ns0:id="rId45"/>
    <p:sldId xmlns:ns0="http://schemas.openxmlformats.org/officeDocument/2006/relationships" id="295" ns0:id="rId46"/>
    <p:sldId xmlns:ns0="http://schemas.openxmlformats.org/officeDocument/2006/relationships" id="296" ns0:id="rId47"/>
    <p:sldId xmlns:ns0="http://schemas.openxmlformats.org/officeDocument/2006/relationships" id="297" ns0:id="rId48"/>
    <p:sldId xmlns:ns0="http://schemas.openxmlformats.org/officeDocument/2006/relationships" id="298" ns0:id="rId49"/>
    <p:sldId xmlns:ns0="http://schemas.openxmlformats.org/officeDocument/2006/relationships" id="299" ns0:id="rId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f2eafc1c3c436f" Type="http://schemas.openxmlformats.org/officeDocument/2006/relationships/slideMaster" Target="slideMasters/slideMaster1.xml"/><Relationship Id="R383f8cbfc79a4d86" Type="http://schemas.openxmlformats.org/officeDocument/2006/relationships/theme" Target="theme/theme1.xml"/><Relationship Id="R8dd52c38e44e4341" Type="http://schemas.openxmlformats.org/officeDocument/2006/relationships/viewProps" Target="viewProps.xml"/><Relationship Id="Ra9d8f7c8a9324bff" Type="http://schemas.openxmlformats.org/officeDocument/2006/relationships/tableStyles" Target="tableStyles.xml"/><Relationship Id="Re2246cf756d44e01" Type="http://schemas.openxmlformats.org/officeDocument/2006/relationships/notesMaster" Target="notesMasters/notesMaster1.xml"/><Relationship Id="Rfab06bc7f14646de"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Employers</c:v>
                </c:pt>
              </c:strCache>
            </c:strRef>
          </c:tx>
          <c:spPr>
            <a:solidFill>
              <a:srgbClr val="002368"/>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ser>
        <c:ser>
          <c:idx val="1"/>
          <c:order val="1"/>
          <c:tx>
            <c:strRef>
              <c:f>Sheet1!$C$1</c:f>
              <c:strCache>
                <c:ptCount val="1"/>
                <c:pt idx="0">
                  <c:v>Introducers</c:v>
                </c:pt>
              </c:strCache>
            </c:strRef>
          </c:tx>
          <c:spPr>
            <a:solidFill>
              <a:srgbClr val="FFC952"/>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ser>
        <c:ser>
          <c:idx val="2"/>
          <c:order val="2"/>
          <c:tx>
            <c:strRef>
              <c:f>Sheet1!$D$1</c:f>
              <c:strCache>
                <c:ptCount val="1"/>
                <c:pt idx="0">
                  <c:v>Welfare</c:v>
                </c:pt>
              </c:strCache>
            </c:strRef>
          </c:tx>
          <c:spPr>
            <a:solidFill>
              <a:srgbClr val="80BFEC"/>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ser>
        <c:ser>
          <c:idx val="3"/>
          <c:order val="3"/>
          <c:tx>
            <c:strRef>
              <c:f>Sheet1!$E$1</c:f>
              <c:strCache>
                <c:ptCount val="1"/>
                <c:pt idx="0">
                  <c:v>Government</c:v>
                </c:pt>
              </c:strCache>
            </c:strRef>
          </c:tx>
          <c:spPr>
            <a:solidFill>
              <a:srgbClr val="8091B3"/>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ser>
        <c:dLbls>
          <c:numFmt formatCode="#,##0" sourceLinked="0"/>
          <c:txPr>
            <a:bodyPr/>
            <a:lstStyle/>
            <a:p>
              <a:pPr>
                <a:defRPr sz="900" b="1">
                  <a:solidFill>
                    <a:srgbClr val="FFFFFF"/>
                  </a:solidFill>
                  <a:latin typeface="Aria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Leads</c:v>
                </c:pt>
              </c:strCache>
            </c:strRef>
          </c:tx>
          <c:spPr>
            <a:solidFill>
              <a:srgbClr val="002368"/>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ser>
        <c:ser>
          <c:idx val="1"/>
          <c:order val="1"/>
          <c:tx>
            <c:strRef>
              <c:f>Sheet1!$C$1</c:f>
              <c:strCache>
                <c:ptCount val="1"/>
                <c:pt idx="0">
                  <c:v>Ready for review</c:v>
                </c:pt>
              </c:strCache>
            </c:strRef>
          </c:tx>
          <c:spPr>
            <a:solidFill>
              <a:srgbClr val="80BFEC"/>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ser>
        <c:dLbls>
          <c:numFmt formatCode="#,##0" sourceLinked="0"/>
          <c:txPr>
            <a:bodyPr/>
            <a:lstStyle/>
            <a:p>
              <a:pPr>
                <a:defRPr sz="900" b="1">
                  <a:solidFill>
                    <a:srgbClr val="002368"/>
                  </a:solidFill>
                  <a:latin typeface="Arial"/>
                </a:defRPr>
              </a:pPr>
            </a:p>
          </c:txPr>
          <c:showLegendKey val="0"/>
          <c:showVal val="1"/>
          <c:showCatName val="0"/>
          <c:showSerName val="0"/>
          <c:showPercent val="0"/>
          <c:showBubbleSize val="0"/>
          <c:showLeaderLines val="1"/>
        </c:dLbls>
        <c:gapWidth val="40"/>
        <c:overlap val="-1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High direct</c:v>
                </c:pt>
              </c:strCache>
            </c:strRef>
          </c:tx>
          <c:spPr>
            <a:solidFill>
              <a:srgbClr val="002368"/>
            </a:solidFill>
            <a:ln>
              <a:noFill/>
            </a:ln>
          </c:spPr>
          <c:invertIfNegative val="0"/>
          <c:dLbls>
            <c:numFmt formatCode="[&lt;10]&quot;&quot;;#,##0" sourceLinked="0"/>
            <c:txPr>
              <a:bodyPr/>
              <a:lstStyle/>
              <a:p>
                <a:pPr>
                  <a:defRPr sz="1100" b="1">
                    <a:solidFill>
                      <a:srgbClr val="FFFFFF"/>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Sheet1!$B$2:$B$4</c:f>
              <c:numCache>
                <c:formatCode>General</c:formatCode>
                <c:ptCount val="3"/>
                <c:pt idx="0">
                  <c:v>36</c:v>
                </c:pt>
                <c:pt idx="1">
                  <c:v>4</c:v>
                </c:pt>
                <c:pt idx="2">
                  <c:v>14</c:v>
                </c:pt>
              </c:numCache>
            </c:numRef>
          </c:val>
        </c:ser>
        <c:ser>
          <c:idx val="1"/>
          <c:order val="1"/>
          <c:tx>
            <c:strRef>
              <c:f>Sheet1!$C$1</c:f>
              <c:strCache>
                <c:ptCount val="1"/>
                <c:pt idx="0">
                  <c:v>High indirect</c:v>
                </c:pt>
              </c:strCache>
            </c:strRef>
          </c:tx>
          <c:spPr>
            <a:solidFill>
              <a:srgbClr val="80BFEC"/>
            </a:solidFill>
            <a:ln>
              <a:noFill/>
            </a:ln>
          </c:spPr>
          <c:invertIfNegative val="0"/>
          <c:dLbls>
            <c:numFmt formatCode="[&lt;10]&quot;&quot;;#,##0" sourceLinked="0"/>
            <c:txPr>
              <a:bodyPr/>
              <a:lstStyle/>
              <a:p>
                <a:pPr>
                  <a:defRPr sz="1100" b="1">
                    <a:solidFill>
                      <a:srgbClr val="002368"/>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Sheet1!$C$2:$C$4</c:f>
              <c:numCache>
                <c:formatCode>General</c:formatCode>
                <c:ptCount val="3"/>
                <c:pt idx="0">
                  <c:v>228</c:v>
                </c:pt>
                <c:pt idx="1">
                  <c:v>8</c:v>
                </c:pt>
                <c:pt idx="2">
                  <c:v>55</c:v>
                </c:pt>
              </c:numCache>
            </c:numRef>
          </c:val>
        </c:ser>
        <c:dLbls>
          <c:numFmt formatCode="#,##0" sourceLinked="0"/>
          <c:txPr>
            <a:bodyPr/>
            <a:lstStyle/>
            <a:p>
              <a:pPr>
                <a:defRPr sz="1100" b="1">
                  <a:solidFill>
                    <a:srgbClr val="FFFFFF"/>
                  </a:solidFill>
                  <a:latin typeface="Arial"/>
                </a:defRPr>
              </a:pPr>
            </a:p>
          </c:txPr>
          <c:dLblPos val="ctr"/>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38e489a839d452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Distances are straight-line (great-circle), rounded to 0.1 km, not road distance. Location precision is recorded for every point (point/address under 0.5 km; locality 1–3 km; town up to 8 km; estimated ward points 1–5 km). Plausibility box for welfare and government research: latitude -3.62 to -3.10, longitude 36.42 to 37.40; the NGO register is read to 30 km so places just over the line are seen.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status: Finance confirms that each term applies to the 2027 school year before any message that states it is sent (2027 enrolment plan tasks A1 and A2). OF05 referral package has expired; no referral rewards until a 2027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d1688d4ee064f44"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918ad14f994acd" Type="http://schemas.openxmlformats.org/officeDocument/2006/relationships/slideLayout" Target="../slideLayouts/slideLayout1.xml"/><Relationship Id="R74cd2e922e854c38"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918ad14f994ac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 Id="rId5"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 Id="rId4"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 Id="rId4"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maps/Silverleaf%20Lead%20Map.html" TargetMode="External"/><Relationship Id="rId3" Type="http://schemas.openxmlformats.org/officeDocument/2006/relationships/hyperlink" Target="../strategy/Silverleaf%20Partnership%20Pipelines.html" TargetMode="External"/><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 Id="rId6" Type="http://schemas.openxmlformats.org/officeDocument/2006/relationships/hyperlink" Target="file:///C:/Work/silverleaf-agentic-marketing/outputs/strategy/Silverleaf%20Partnership%20Pipelines.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a:solidFill>
                  <a:srgbClr val="FFFFFF"/>
                </a:solidFill>
                <a:latin typeface="Arial"/>
              </a:rPr>
              <a:t>Partnership Lead</a:t>
            </a:r>
          </a:p>
          <a:p>
            <a:pPr algn="l"/>
            <a:r>
              <a:rPr sz="5200" b="1" i="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  ·  a person sends every message</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the gaps, and how 1,924 leads were collected</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05</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11</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offers, hooks, calls and the fallout thread</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27</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and an appendix: the segment funnels, fallout, data protection, decisions and sources.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50876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1</a:t>
            </a:r>
          </a:p>
        </p:txBody>
      </p:sp>
      <p:sp>
        <p:nvSpPr>
          <p:cNvPr id="22" name="TextBox 21"/>
          <p:cNvSpPr txBox="1"/>
          <p:nvPr/>
        </p:nvSpPr>
        <p:spPr>
          <a:xfrm>
            <a:off x="6949440" y="1463040"/>
            <a:ext cx="4663440" cy="310896"/>
          </a:xfrm>
          <a:prstGeom prst="rect">
            <a:avLst/>
          </a:prstGeom>
          <a:noFill/>
        </p:spPr>
        <p:txBody>
          <a:bodyPr wrap="square" lIns="0" tIns="0" rIns="0" bIns="0" anchor="t">
            <a:spAutoFit/>
          </a:bodyPr>
          <a:lstStyle/>
          <a:p>
            <a:pPr algn="l"/>
            <a:r>
              <a:rPr sz="1400" b="1" i="0">
                <a:solidFill>
                  <a:srgbClr val="002368"/>
                </a:solidFill>
                <a:latin typeface="Arial"/>
              </a:rPr>
              <a:t>On the map</a:t>
            </a:r>
          </a:p>
        </p:txBody>
      </p:sp>
      <p:sp>
        <p:nvSpPr>
          <p:cNvPr id="23" name="TextBox 22"/>
          <p:cNvSpPr txBox="1"/>
          <p:nvPr/>
        </p:nvSpPr>
        <p:spPr>
          <a:xfrm>
            <a:off x="6949440" y="1828800"/>
            <a:ext cx="4663440" cy="1005840"/>
          </a:xfrm>
          <a:prstGeom prst="rect">
            <a:avLst/>
          </a:prstGeom>
          <a:noFill/>
        </p:spPr>
        <p:txBody>
          <a:bodyPr wrap="square" lIns="0" tIns="0" rIns="0" bIns="0" anchor="t">
            <a:spAutoFit/>
          </a:bodyPr>
          <a:lstStyle/>
          <a:p>
            <a:pPr algn="l"/>
            <a:r>
              <a:rPr sz="12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30175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2</a:t>
            </a:r>
          </a:p>
        </p:txBody>
      </p:sp>
      <p:sp>
        <p:nvSpPr>
          <p:cNvPr id="25" name="TextBox 24"/>
          <p:cNvSpPr txBox="1"/>
          <p:nvPr/>
        </p:nvSpPr>
        <p:spPr>
          <a:xfrm>
            <a:off x="6949440" y="2971800"/>
            <a:ext cx="4663440" cy="310896"/>
          </a:xfrm>
          <a:prstGeom prst="rect">
            <a:avLst/>
          </a:prstGeom>
          <a:noFill/>
        </p:spPr>
        <p:txBody>
          <a:bodyPr wrap="square" lIns="0" tIns="0" rIns="0" bIns="0" anchor="t">
            <a:spAutoFit/>
          </a:bodyPr>
          <a:lstStyle/>
          <a:p>
            <a:pPr algn="l"/>
            <a:r>
              <a:rPr sz="1400" b="1" i="0">
                <a:solidFill>
                  <a:srgbClr val="002368"/>
                </a:solidFill>
                <a:latin typeface="Arial"/>
              </a:rPr>
              <a:t>Reach</a:t>
            </a:r>
          </a:p>
        </p:txBody>
      </p:sp>
      <p:sp>
        <p:nvSpPr>
          <p:cNvPr id="26" name="TextBox 25"/>
          <p:cNvSpPr txBox="1"/>
          <p:nvPr/>
        </p:nvSpPr>
        <p:spPr>
          <a:xfrm>
            <a:off x="6949440" y="3337560"/>
            <a:ext cx="4663440" cy="1005840"/>
          </a:xfrm>
          <a:prstGeom prst="rect">
            <a:avLst/>
          </a:prstGeom>
          <a:noFill/>
        </p:spPr>
        <p:txBody>
          <a:bodyPr wrap="square" lIns="0" tIns="0" rIns="0" bIns="0" anchor="t">
            <a:spAutoFit/>
          </a:bodyPr>
          <a:lstStyle/>
          <a:p>
            <a:pPr algn="l"/>
            <a:r>
              <a:rPr sz="12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3</a:t>
            </a:r>
          </a:p>
        </p:txBody>
      </p:sp>
      <p:sp>
        <p:nvSpPr>
          <p:cNvPr id="28" name="TextBox 27"/>
          <p:cNvSpPr txBox="1"/>
          <p:nvPr/>
        </p:nvSpPr>
        <p:spPr>
          <a:xfrm>
            <a:off x="6949440" y="4480560"/>
            <a:ext cx="4663440" cy="310896"/>
          </a:xfrm>
          <a:prstGeom prst="rect">
            <a:avLst/>
          </a:prstGeom>
          <a:noFill/>
        </p:spPr>
        <p:txBody>
          <a:bodyPr wrap="square" lIns="0" tIns="0" rIns="0" bIns="0" anchor="t">
            <a:spAutoFit/>
          </a:bodyPr>
          <a:lstStyle/>
          <a:p>
            <a:pPr algn="l"/>
            <a:r>
              <a:rPr sz="1400" b="1" i="0">
                <a:solidFill>
                  <a:srgbClr val="002368"/>
                </a:solidFill>
                <a:latin typeface="Arial"/>
              </a:rPr>
              <a:t>Drafts</a:t>
            </a:r>
          </a:p>
        </p:txBody>
      </p:sp>
      <p:sp>
        <p:nvSpPr>
          <p:cNvPr id="29" name="TextBox 28"/>
          <p:cNvSpPr txBox="1"/>
          <p:nvPr/>
        </p:nvSpPr>
        <p:spPr>
          <a:xfrm>
            <a:off x="6949440" y="4846320"/>
            <a:ext cx="4663440" cy="1005840"/>
          </a:xfrm>
          <a:prstGeom prst="rect">
            <a:avLst/>
          </a:prstGeom>
          <a:noFill/>
        </p:spPr>
        <p:txBody>
          <a:bodyPr wrap="square" lIns="0" tIns="0" rIns="0" bIns="0" anchor="t">
            <a:spAutoFit/>
          </a:bodyPr>
          <a:lstStyle/>
          <a:p>
            <a:pPr algn="l"/>
            <a:r>
              <a:rPr sz="1200" b="0" i="0">
                <a:solidFill>
                  <a:srgbClr val="000000"/>
                </a:solidFill>
                <a:latin typeface="Arial"/>
              </a:rPr>
              <a:t>Every first message asks for a meeting: 63 go direct (case A), 408 in the Attn format (case B) and 423 as redirect requests (case C). 802 leads without email go on the call sheets, and 228 government letters go by hand.</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2"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01</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ONE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Catchment and lead capture</a:t>
            </a:r>
          </a:p>
        </p:txBody>
      </p:sp>
      <p:sp>
        <p:nvSpPr>
          <p:cNvPr id="6" name="TextBox 5"/>
          <p:cNvSpPr txBox="1"/>
          <p:nvPr/>
        </p:nvSpPr>
        <p:spPr>
          <a:xfrm>
            <a:off x="640080" y="4114800"/>
            <a:ext cx="5760720" cy="640080"/>
          </a:xfrm>
          <a:prstGeom prst="rect">
            <a:avLst/>
          </a:prstGeom>
          <a:noFill/>
        </p:spPr>
        <p:txBody>
          <a:bodyPr wrap="square" lIns="0" tIns="0" rIns="0" bIns="0" anchor="t">
            <a:spAutoFit/>
          </a:bodyPr>
          <a:lstStyle/>
          <a:p>
            <a:pPr algn="l"/>
            <a:r>
              <a:rPr sz="1600" b="0" i="0">
                <a:solidFill>
                  <a:srgbClr val="80BFEC"/>
                </a:solidFill>
                <a:latin typeface="Georgia"/>
              </a:rPr>
              <a:t>How close is close enough, and where the leads came from.</a:t>
            </a:r>
          </a:p>
        </p:txBody>
      </p:sp>
      <p:sp>
        <p:nvSpPr>
          <p:cNvPr id="7" name="TextBox 6"/>
          <p:cNvSpPr txBox="1"/>
          <p:nvPr/>
        </p:nvSpPr>
        <p:spPr>
          <a:xfrm>
            <a:off x="640080" y="4892040"/>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Five campuses and the 25 km line</a:t>
            </a:r>
          </a:p>
          <a:p>
            <a:pPr algn="l" marL="155448" indent="-155448">
              <a:spcAft>
                <a:spcPts val="400"/>
              </a:spcAft>
              <a:buFont typeface="Arial"/>
              <a:buChar char="•"/>
            </a:pPr>
            <a:r>
              <a:rPr sz="1100" b="0" i="0">
                <a:solidFill>
                  <a:srgbClr val="FFFFFF"/>
                </a:solidFill>
                <a:latin typeface="Arial"/>
              </a:rPr>
              <a:t>Distance bands, segment by segment</a:t>
            </a:r>
          </a:p>
          <a:p>
            <a:pPr algn="l" marL="155448" indent="-155448">
              <a:spcAft>
                <a:spcPts val="400"/>
              </a:spcAft>
              <a:buFont typeface="Arial"/>
              <a:buChar char="•"/>
            </a:pPr>
            <a:r>
              <a:rPr sz="1100" b="0" i="0">
                <a:solidFill>
                  <a:srgbClr val="FFFFFF"/>
                </a:solidFill>
                <a:latin typeface="Arial"/>
              </a:rPr>
              <a:t>Corrections never remove a lead</a:t>
            </a:r>
          </a:p>
          <a:p>
            <a:pPr algn="l" marL="155448" indent="-155448">
              <a:spcAft>
                <a:spcPts val="400"/>
              </a:spcAft>
              <a:buFont typeface="Arial"/>
              <a:buChar char="•"/>
            </a:pPr>
            <a:r>
              <a:rPr sz="1100" b="0" i="0">
                <a:solidFill>
                  <a:srgbClr val="FFFFFF"/>
                </a:solidFill>
                <a:latin typeface="Arial"/>
              </a:rPr>
              <a:t>Gaps and take-aways for the Silverleaf team</a:t>
            </a:r>
          </a:p>
          <a:p>
            <a:pPr algn="l" marL="155448" indent="-155448">
              <a:spcAft>
                <a:spcPts val="400"/>
              </a:spcAft>
              <a:buFont typeface="Arial"/>
              <a:buChar char="•"/>
            </a:pPr>
            <a:r>
              <a:rPr sz="1100" b="0" i="0">
                <a:solidFill>
                  <a:srgbClr val="FFFFFF"/>
                </a:solidFill>
                <a:latin typeface="Arial"/>
              </a:rPr>
              <a:t>How the leads were captured</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2"/>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3"/>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Straight-line distance to the nearest campus sorts every lead into one of six bands. Each segment applies the line differently.</a:t>
            </a:r>
          </a:p>
        </p:txBody>
      </p:sp>
      <p:sp>
        <p:nvSpPr>
          <p:cNvPr id="5" name="Rounded Rectangle 4"/>
          <p:cNvSpPr/>
          <p:nvPr/>
        </p:nvSpPr>
        <p:spPr>
          <a:xfrm>
            <a:off x="548640" y="1828800"/>
            <a:ext cx="1737360" cy="960120"/>
          </a:xfrm>
          <a:prstGeom prst="roundRect">
            <a:avLst>
              <a:gd name="adj" fmla="val 6666"/>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685800"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0–5 km</a:t>
            </a:r>
          </a:p>
        </p:txBody>
      </p:sp>
      <p:sp>
        <p:nvSpPr>
          <p:cNvPr id="7" name="TextBox 6"/>
          <p:cNvSpPr txBox="1"/>
          <p:nvPr/>
        </p:nvSpPr>
        <p:spPr>
          <a:xfrm>
            <a:off x="685800"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First wave everywhere: a daily commute</a:t>
            </a:r>
          </a:p>
        </p:txBody>
      </p:sp>
      <p:sp>
        <p:nvSpPr>
          <p:cNvPr id="8" name="Rounded Rectangle 7"/>
          <p:cNvSpPr/>
          <p:nvPr/>
        </p:nvSpPr>
        <p:spPr>
          <a:xfrm>
            <a:off x="2414016" y="1828800"/>
            <a:ext cx="1737360" cy="960120"/>
          </a:xfrm>
          <a:prstGeom prst="roundRect">
            <a:avLst>
              <a:gd name="adj" fmla="val 6666"/>
            </a:avLst>
          </a:prstGeom>
          <a:solidFill>
            <a:srgbClr val="1C4A8A"/>
          </a:solidFill>
          <a:ln w="12700">
            <a:solidFill>
              <a:srgbClr val="1C4A8A"/>
            </a:solidFill>
          </a:ln>
        </p:spPr>
        <p:txBody>
          <a:bodyPr rtlCol="0" anchor="ctr"/>
          <a:lstStyle/>
          <a:p>
            <a:pPr algn="ctr"/>
          </a:p>
        </p:txBody>
      </p:sp>
      <p:sp>
        <p:nvSpPr>
          <p:cNvPr id="9" name="TextBox 8"/>
          <p:cNvSpPr txBox="1"/>
          <p:nvPr/>
        </p:nvSpPr>
        <p:spPr>
          <a:xfrm>
            <a:off x="2551176"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6–10 km</a:t>
            </a:r>
          </a:p>
        </p:txBody>
      </p:sp>
      <p:sp>
        <p:nvSpPr>
          <p:cNvPr id="10" name="TextBox 9"/>
          <p:cNvSpPr txBox="1"/>
          <p:nvPr/>
        </p:nvSpPr>
        <p:spPr>
          <a:xfrm>
            <a:off x="2551176"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Still close: first wave for employers and wards</a:t>
            </a:r>
          </a:p>
        </p:txBody>
      </p:sp>
      <p:sp>
        <p:nvSpPr>
          <p:cNvPr id="11" name="Rounded Rectangle 10"/>
          <p:cNvSpPr/>
          <p:nvPr/>
        </p:nvSpPr>
        <p:spPr>
          <a:xfrm>
            <a:off x="4279392" y="1828800"/>
            <a:ext cx="1737360" cy="960120"/>
          </a:xfrm>
          <a:prstGeom prst="roundRect">
            <a:avLst>
              <a:gd name="adj" fmla="val 6666"/>
            </a:avLst>
          </a:prstGeom>
          <a:solidFill>
            <a:srgbClr val="3E7BBE"/>
          </a:solidFill>
          <a:ln w="12700">
            <a:solidFill>
              <a:srgbClr val="3E7BBE"/>
            </a:solidFill>
          </a:ln>
        </p:spPr>
        <p:txBody>
          <a:bodyPr rtlCol="0" anchor="ctr"/>
          <a:lstStyle/>
          <a:p>
            <a:pPr algn="ctr"/>
          </a:p>
        </p:txBody>
      </p:sp>
      <p:sp>
        <p:nvSpPr>
          <p:cNvPr id="12" name="TextBox 11"/>
          <p:cNvSpPr txBox="1"/>
          <p:nvPr/>
        </p:nvSpPr>
        <p:spPr>
          <a:xfrm>
            <a:off x="4416552"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11–15 km</a:t>
            </a:r>
          </a:p>
        </p:txBody>
      </p:sp>
      <p:sp>
        <p:nvSpPr>
          <p:cNvPr id="13" name="TextBox 12"/>
          <p:cNvSpPr txBox="1"/>
          <p:nvPr/>
        </p:nvSpPr>
        <p:spPr>
          <a:xfrm>
            <a:off x="4416552"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Reachable with school transport</a:t>
            </a:r>
          </a:p>
        </p:txBody>
      </p:sp>
      <p:sp>
        <p:nvSpPr>
          <p:cNvPr id="14" name="Rounded Rectangle 13"/>
          <p:cNvSpPr/>
          <p:nvPr/>
        </p:nvSpPr>
        <p:spPr>
          <a:xfrm>
            <a:off x="6144768" y="1828800"/>
            <a:ext cx="1737360" cy="960120"/>
          </a:xfrm>
          <a:prstGeom prst="roundRect">
            <a:avLst>
              <a:gd name="adj" fmla="val 6666"/>
            </a:avLst>
          </a:prstGeom>
          <a:solidFill>
            <a:srgbClr val="80BFEC"/>
          </a:solidFill>
          <a:ln w="12700">
            <a:solidFill>
              <a:srgbClr val="80BFEC"/>
            </a:solidFill>
          </a:ln>
        </p:spPr>
        <p:txBody>
          <a:bodyPr rtlCol="0" anchor="ctr"/>
          <a:lstStyle/>
          <a:p>
            <a:pPr algn="ctr"/>
          </a:p>
        </p:txBody>
      </p:sp>
      <p:sp>
        <p:nvSpPr>
          <p:cNvPr id="15" name="TextBox 14"/>
          <p:cNvSpPr txBox="1"/>
          <p:nvPr/>
        </p:nvSpPr>
        <p:spPr>
          <a:xfrm>
            <a:off x="6281928"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16–20 km</a:t>
            </a:r>
          </a:p>
        </p:txBody>
      </p:sp>
      <p:sp>
        <p:nvSpPr>
          <p:cNvPr id="16" name="TextBox 15"/>
          <p:cNvSpPr txBox="1"/>
          <p:nvPr/>
        </p:nvSpPr>
        <p:spPr>
          <a:xfrm>
            <a:off x="6281928"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Transport; a later wave for wards</a:t>
            </a:r>
          </a:p>
        </p:txBody>
      </p:sp>
      <p:sp>
        <p:nvSpPr>
          <p:cNvPr id="17" name="Rounded Rectangle 16"/>
          <p:cNvSpPr/>
          <p:nvPr/>
        </p:nvSpPr>
        <p:spPr>
          <a:xfrm>
            <a:off x="8010144" y="1828800"/>
            <a:ext cx="1737360" cy="960120"/>
          </a:xfrm>
          <a:prstGeom prst="roundRect">
            <a:avLst>
              <a:gd name="adj" fmla="val 6666"/>
            </a:avLst>
          </a:prstGeom>
          <a:solidFill>
            <a:srgbClr val="D9ECF9"/>
          </a:solidFill>
          <a:ln w="12700">
            <a:solidFill>
              <a:srgbClr val="D9ECF9"/>
            </a:solidFill>
          </a:ln>
        </p:spPr>
        <p:txBody>
          <a:bodyPr rtlCol="0" anchor="ctr"/>
          <a:lstStyle/>
          <a:p>
            <a:pPr algn="ctr"/>
          </a:p>
        </p:txBody>
      </p:sp>
      <p:sp>
        <p:nvSpPr>
          <p:cNvPr id="18" name="TextBox 17"/>
          <p:cNvSpPr txBox="1"/>
          <p:nvPr/>
        </p:nvSpPr>
        <p:spPr>
          <a:xfrm>
            <a:off x="8147304"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21–25 km</a:t>
            </a:r>
          </a:p>
        </p:txBody>
      </p:sp>
      <p:sp>
        <p:nvSpPr>
          <p:cNvPr id="19" name="TextBox 18"/>
          <p:cNvSpPr txBox="1"/>
          <p:nvPr/>
        </p:nvSpPr>
        <p:spPr>
          <a:xfrm>
            <a:off x="8147304"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Edge of the transport area; lowest priority</a:t>
            </a:r>
          </a:p>
        </p:txBody>
      </p:sp>
      <p:sp>
        <p:nvSpPr>
          <p:cNvPr id="20" name="Rounded Rectangle 19"/>
          <p:cNvSpPr/>
          <p:nvPr/>
        </p:nvSpPr>
        <p:spPr>
          <a:xfrm>
            <a:off x="9875519" y="1828800"/>
            <a:ext cx="1737360" cy="960120"/>
          </a:xfrm>
          <a:prstGeom prst="roundRect">
            <a:avLst>
              <a:gd name="adj" fmla="val 6666"/>
            </a:avLst>
          </a:prstGeom>
          <a:solidFill>
            <a:srgbClr val="ECECEC"/>
          </a:solidFill>
          <a:ln w="12700">
            <a:solidFill>
              <a:srgbClr val="ECECEC"/>
            </a:solidFill>
          </a:ln>
        </p:spPr>
        <p:txBody>
          <a:bodyPr rtlCol="0" anchor="ctr"/>
          <a:lstStyle/>
          <a:p>
            <a:pPr algn="ctr"/>
          </a:p>
        </p:txBody>
      </p:sp>
      <p:sp>
        <p:nvSpPr>
          <p:cNvPr id="21" name="TextBox 20"/>
          <p:cNvSpPr txBox="1"/>
          <p:nvPr/>
        </p:nvSpPr>
        <p:spPr>
          <a:xfrm>
            <a:off x="10012680"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Beyond 25 km</a:t>
            </a:r>
          </a:p>
        </p:txBody>
      </p:sp>
      <p:sp>
        <p:nvSpPr>
          <p:cNvPr id="22" name="TextBox 21"/>
          <p:cNvSpPr txBox="1"/>
          <p:nvPr/>
        </p:nvSpPr>
        <p:spPr>
          <a:xfrm>
            <a:off x="10012680"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Outside the catchment</a:t>
            </a:r>
          </a:p>
        </p:txBody>
      </p:sp>
      <p:sp>
        <p:nvSpPr>
          <p:cNvPr id="23" name="Rounded Rectangle 22"/>
          <p:cNvSpPr/>
          <p:nvPr/>
        </p:nvSpPr>
        <p:spPr>
          <a:xfrm>
            <a:off x="548640" y="301752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24" name="TextBox 23"/>
          <p:cNvSpPr txBox="1"/>
          <p:nvPr/>
        </p:nvSpPr>
        <p:spPr>
          <a:xfrm>
            <a:off x="777240" y="3127248"/>
            <a:ext cx="5029200" cy="274320"/>
          </a:xfrm>
          <a:prstGeom prst="rect">
            <a:avLst/>
          </a:prstGeom>
          <a:noFill/>
        </p:spPr>
        <p:txBody>
          <a:bodyPr wrap="square" lIns="0" tIns="0" rIns="0" bIns="0" anchor="t">
            <a:spAutoFit/>
          </a:bodyPr>
          <a:lstStyle/>
          <a:p>
            <a:pPr algn="l"/>
            <a:r>
              <a:rPr sz="1300" b="1" i="0">
                <a:solidFill>
                  <a:srgbClr val="002368"/>
                </a:solidFill>
                <a:latin typeface="Arial"/>
              </a:rPr>
              <a:t>Employers</a:t>
            </a:r>
          </a:p>
        </p:txBody>
      </p:sp>
      <p:sp>
        <p:nvSpPr>
          <p:cNvPr id="25" name="TextBox 24"/>
          <p:cNvSpPr txBox="1"/>
          <p:nvPr/>
        </p:nvSpPr>
        <p:spPr>
          <a:xfrm>
            <a:off x="777240" y="3419856"/>
            <a:ext cx="5029200" cy="1024128"/>
          </a:xfrm>
          <a:prstGeom prst="rect">
            <a:avLst/>
          </a:prstGeom>
          <a:noFill/>
        </p:spPr>
        <p:txBody>
          <a:bodyPr wrap="square" lIns="0" tIns="0" rIns="0" bIns="0" anchor="t">
            <a:spAutoFit/>
          </a:bodyPr>
          <a:lstStyle/>
          <a:p>
            <a:pPr algn="l"/>
            <a:r>
              <a:rPr sz="1000" b="0" i="0">
                <a:solidFill>
                  <a:srgbClr val="000000"/>
                </a:solidFill>
                <a:latin typeface="Arial"/>
              </a:rPr>
              <a:t>Distance ranks a company but never rules it out, because staff live in many places. It is one part of the reach score that sets the waves (P1, P2, P3): a company within 5 km of a campus gains most, one within 10 km a little, and one more than 40 km away drops to the end. A business operating outside Arusha–Kilimanjaro is held (39 businesses).</a:t>
            </a:r>
          </a:p>
        </p:txBody>
      </p:sp>
      <p:sp>
        <p:nvSpPr>
          <p:cNvPr id="26" name="Rounded Rectangle 25"/>
          <p:cNvSpPr/>
          <p:nvPr/>
        </p:nvSpPr>
        <p:spPr>
          <a:xfrm>
            <a:off x="6190488" y="301752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27" name="TextBox 26"/>
          <p:cNvSpPr txBox="1"/>
          <p:nvPr/>
        </p:nvSpPr>
        <p:spPr>
          <a:xfrm>
            <a:off x="6419088" y="3127248"/>
            <a:ext cx="5029200" cy="274320"/>
          </a:xfrm>
          <a:prstGeom prst="rect">
            <a:avLst/>
          </a:prstGeom>
          <a:noFill/>
        </p:spPr>
        <p:txBody>
          <a:bodyPr wrap="square" lIns="0" tIns="0" rIns="0" bIns="0" anchor="t">
            <a:spAutoFit/>
          </a:bodyPr>
          <a:lstStyle/>
          <a:p>
            <a:pPr algn="l"/>
            <a:r>
              <a:rPr sz="1300" b="1" i="0">
                <a:solidFill>
                  <a:srgbClr val="002368"/>
                </a:solidFill>
                <a:latin typeface="Arial"/>
              </a:rPr>
              <a:t>Introducers</a:t>
            </a:r>
          </a:p>
        </p:txBody>
      </p:sp>
      <p:sp>
        <p:nvSpPr>
          <p:cNvPr id="28" name="TextBox 27"/>
          <p:cNvSpPr txBox="1"/>
          <p:nvPr/>
        </p:nvSpPr>
        <p:spPr>
          <a:xfrm>
            <a:off x="6419088" y="3419856"/>
            <a:ext cx="5029200" cy="1024128"/>
          </a:xfrm>
          <a:prstGeom prst="rect">
            <a:avLst/>
          </a:prstGeom>
          <a:noFill/>
        </p:spPr>
        <p:txBody>
          <a:bodyPr wrap="square" lIns="0" tIns="0" rIns="0" bIns="0" anchor="t">
            <a:spAutoFit/>
          </a:bodyPr>
          <a:lstStyle/>
          <a:p>
            <a:pPr algn="l"/>
            <a:r>
              <a:rPr sz="1000" b="0" i="0">
                <a:solidFill>
                  <a:srgbClr val="000000"/>
                </a:solidFill>
                <a:latin typeface="Arial"/>
              </a:rPr>
              <a:t>No distance rule. A chamber or association counts for its members who employ staff near the campuses, so national bodies are in scope.</a:t>
            </a:r>
          </a:p>
        </p:txBody>
      </p:sp>
      <p:sp>
        <p:nvSpPr>
          <p:cNvPr id="29" name="Rounded Rectangle 28"/>
          <p:cNvSpPr/>
          <p:nvPr/>
        </p:nvSpPr>
        <p:spPr>
          <a:xfrm>
            <a:off x="548640" y="457200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30" name="TextBox 29"/>
          <p:cNvSpPr txBox="1"/>
          <p:nvPr/>
        </p:nvSpPr>
        <p:spPr>
          <a:xfrm>
            <a:off x="777240" y="4681728"/>
            <a:ext cx="5029200" cy="274320"/>
          </a:xfrm>
          <a:prstGeom prst="rect">
            <a:avLst/>
          </a:prstGeom>
          <a:noFill/>
        </p:spPr>
        <p:txBody>
          <a:bodyPr wrap="square" lIns="0" tIns="0" rIns="0" bIns="0" anchor="t">
            <a:spAutoFit/>
          </a:bodyPr>
          <a:lstStyle/>
          <a:p>
            <a:pPr algn="l"/>
            <a:r>
              <a:rPr sz="1300" b="1" i="0">
                <a:solidFill>
                  <a:srgbClr val="002368"/>
                </a:solidFill>
                <a:latin typeface="Arial"/>
              </a:rPr>
              <a:t>Welfare</a:t>
            </a:r>
          </a:p>
        </p:txBody>
      </p:sp>
      <p:sp>
        <p:nvSpPr>
          <p:cNvPr id="31" name="TextBox 30"/>
          <p:cNvSpPr txBox="1"/>
          <p:nvPr/>
        </p:nvSpPr>
        <p:spPr>
          <a:xfrm>
            <a:off x="777240" y="4974336"/>
            <a:ext cx="5029200" cy="1024128"/>
          </a:xfrm>
          <a:prstGeom prst="rect">
            <a:avLst/>
          </a:prstGeom>
          <a:noFill/>
        </p:spPr>
        <p:txBody>
          <a:bodyPr wrap="square" lIns="0" tIns="0" rIns="0" bIns="0" anchor="t">
            <a:spAutoFit/>
          </a:bodyPr>
          <a:lstStyle/>
          <a:p>
            <a:pPr algn="l"/>
            <a:r>
              <a:rPr sz="1000" b="0" i="0">
                <a:solidFill>
                  <a:srgbClr val="000000"/>
                </a:solidFill>
                <a:latin typeface="Arial"/>
              </a:rPr>
              <a:t>Homes, programmes and centres are in scope within 25 km of a campus, and are held until their location is known. A funder needs a verified link to a home within 25 km. Welfare networks (umbrella bodies) have no distance rule, because they refer member homes from anywhere. Nearer homes rank higher: 15 priority points within 5 km, then 12, 9, 6 and 3 points band by band to 25 km.</a:t>
            </a:r>
          </a:p>
        </p:txBody>
      </p:sp>
      <p:sp>
        <p:nvSpPr>
          <p:cNvPr id="32" name="Rounded Rectangle 31"/>
          <p:cNvSpPr/>
          <p:nvPr/>
        </p:nvSpPr>
        <p:spPr>
          <a:xfrm>
            <a:off x="6190488" y="457200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33" name="TextBox 32"/>
          <p:cNvSpPr txBox="1"/>
          <p:nvPr/>
        </p:nvSpPr>
        <p:spPr>
          <a:xfrm>
            <a:off x="6419088" y="4681728"/>
            <a:ext cx="5029200" cy="274320"/>
          </a:xfrm>
          <a:prstGeom prst="rect">
            <a:avLst/>
          </a:prstGeom>
          <a:noFill/>
        </p:spPr>
        <p:txBody>
          <a:bodyPr wrap="square" lIns="0" tIns="0" rIns="0" bIns="0" anchor="t">
            <a:spAutoFit/>
          </a:bodyPr>
          <a:lstStyle/>
          <a:p>
            <a:pPr algn="l"/>
            <a:r>
              <a:rPr sz="1300" b="1" i="0">
                <a:solidFill>
                  <a:srgbClr val="002368"/>
                </a:solidFill>
                <a:latin typeface="Arial"/>
              </a:rPr>
              <a:t>Government</a:t>
            </a:r>
          </a:p>
        </p:txBody>
      </p:sp>
      <p:sp>
        <p:nvSpPr>
          <p:cNvPr id="34" name="TextBox 33"/>
          <p:cNvSpPr txBox="1"/>
          <p:nvPr/>
        </p:nvSpPr>
        <p:spPr>
          <a:xfrm>
            <a:off x="6419088" y="4974336"/>
            <a:ext cx="5029200" cy="1024128"/>
          </a:xfrm>
          <a:prstGeom prst="rect">
            <a:avLst/>
          </a:prstGeom>
          <a:noFill/>
        </p:spPr>
        <p:txBody>
          <a:bodyPr wrap="square" lIns="0" tIns="0" rIns="0" bIns="0" anchor="t">
            <a:spAutoFit/>
          </a:bodyPr>
          <a:lstStyle/>
          <a:p>
            <a:pPr algn="l"/>
            <a:r>
              <a:rPr sz="1000" b="0" i="0">
                <a:solidFill>
                  <a:srgbClr val="000000"/>
                </a:solidFill>
                <a:latin typeface="Arial"/>
              </a:rPr>
              <a:t>A ward is in scope when its point lies within 25 km of a campus. Wards close to a campus, and to a campus that teaches primary, rank highest, and that order sets the waves: wards within 10 km first, then 10–20 km, then beyond 20 km.</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offer register</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WHERE THE LEADS SIT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Most leads sit within 5 km of a campus</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DISTANCE BAND AND SEGMENT</a:t>
            </a:r>
          </a:p>
        </p:txBody>
      </p:sp>
      <p:graphicFrame>
        <p:nvGraphicFramePr>
          <p:cNvPr id="5" name="Chart 4"/>
          <p:cNvGraphicFramePr>
            <a:graphicFrameLocks noGrp="1"/>
          </p:cNvGraphicFramePr>
          <p:nvPr/>
        </p:nvGraphicFramePr>
        <p:xfrm>
          <a:off x="411480" y="1508760"/>
          <a:ext cx="6766560" cy="3749039"/>
        </p:xfrm>
        <a:graphic>
          <a:graphicData uri="http://schemas.openxmlformats.org/drawingml/2006/chart">
            <c:chart xmlns:c="http://schemas.openxmlformats.org/drawingml/2006/chart" r:id="rId2"/>
          </a:graphicData>
        </a:graphic>
      </p:graphicFrame>
      <p:sp>
        <p:nvSpPr>
          <p:cNvPr id="6" name="TextBox 5"/>
          <p:cNvSpPr txBox="1"/>
          <p:nvPr/>
        </p:nvSpPr>
        <p:spPr>
          <a:xfrm>
            <a:off x="548640" y="5349240"/>
            <a:ext cx="6583680" cy="548640"/>
          </a:xfrm>
          <a:prstGeom prst="rect">
            <a:avLst/>
          </a:prstGeom>
          <a:noFill/>
        </p:spPr>
        <p:txBody>
          <a:bodyPr wrap="square" lIns="0" tIns="0" rIns="0" bIns="0" anchor="t">
            <a:spAutoFit/>
          </a:bodyPr>
          <a:lstStyle/>
          <a:p>
            <a:pPr algn="l"/>
            <a:r>
              <a:rPr sz="1000" b="0" i="0">
                <a:solidFill>
                  <a:srgbClr val="818283"/>
                </a:solidFill>
                <a:latin typeface="Arial"/>
              </a:rPr>
              <a:t>Labels shown for 25 or more. 1,864 leads drawn; 1,805 within 25 km. The 21–25 km bulge is mostly Moshi, inside Boma Ng'ombe's circle. 60 leads have no usable point (30 of them funders abroad).</a:t>
            </a:r>
          </a:p>
        </p:txBody>
      </p:sp>
      <p:sp>
        <p:nvSpPr>
          <p:cNvPr id="7" name="Rounded Rectangle 6"/>
          <p:cNvSpPr/>
          <p:nvPr/>
        </p:nvSpPr>
        <p:spPr>
          <a:xfrm>
            <a:off x="7406640" y="1325880"/>
            <a:ext cx="4233672" cy="4617720"/>
          </a:xfrm>
          <a:prstGeom prst="roundRect">
            <a:avLst>
              <a:gd name="adj" fmla="val 1511"/>
            </a:avLst>
          </a:prstGeom>
          <a:solidFill>
            <a:srgbClr val="D9ECF9"/>
          </a:solidFill>
          <a:ln w="12700">
            <a:solidFill>
              <a:srgbClr val="D9ECF9"/>
            </a:solidFill>
          </a:ln>
        </p:spPr>
        <p:txBody>
          <a:bodyPr rtlCol="0" anchor="ctr"/>
          <a:lstStyle/>
          <a:p>
            <a:pPr algn="ctr"/>
          </a:p>
        </p:txBody>
      </p:sp>
      <p:pic>
        <p:nvPicPr>
          <p:cNvPr id="8" name="Picture 7" descr="image4.png"/>
          <p:cNvPicPr>
            <a:picLocks noChangeAspect="1"/>
          </p:cNvPicPr>
          <p:nvPr/>
        </p:nvPicPr>
        <p:blipFill>
          <a:blip r:embed="rId3"/>
          <a:stretch>
            <a:fillRect/>
          </a:stretch>
        </p:blipFill>
        <p:spPr>
          <a:xfrm>
            <a:off x="10744200" y="1508760"/>
            <a:ext cx="594360" cy="774469"/>
          </a:xfrm>
          <a:prstGeom prst="rect">
            <a:avLst/>
          </a:prstGeom>
        </p:spPr>
      </p:pic>
      <p:sp>
        <p:nvSpPr>
          <p:cNvPr id="9" name="TextBox 8"/>
          <p:cNvSpPr txBox="1"/>
          <p:nvPr/>
        </p:nvSpPr>
        <p:spPr>
          <a:xfrm>
            <a:off x="7680960" y="1554480"/>
            <a:ext cx="2926080" cy="822960"/>
          </a:xfrm>
          <a:prstGeom prst="rect">
            <a:avLst/>
          </a:prstGeom>
          <a:noFill/>
        </p:spPr>
        <p:txBody>
          <a:bodyPr wrap="square" lIns="0" tIns="0" rIns="0" bIns="0" anchor="t">
            <a:spAutoFit/>
          </a:bodyPr>
          <a:lstStyle/>
          <a:p>
            <a:pPr algn="l"/>
            <a:r>
              <a:rPr sz="2000" b="0" i="0">
                <a:solidFill>
                  <a:srgbClr val="002368"/>
                </a:solidFill>
                <a:latin typeface="Georgia"/>
              </a:rPr>
              <a:t>Corrections never remove a lead.</a:t>
            </a:r>
          </a:p>
        </p:txBody>
      </p:sp>
      <p:sp>
        <p:nvSpPr>
          <p:cNvPr id="10" name="TextBox 9"/>
          <p:cNvSpPr txBox="1"/>
          <p:nvPr/>
        </p:nvSpPr>
        <p:spPr>
          <a:xfrm>
            <a:off x="7680960" y="2450592"/>
            <a:ext cx="3749039" cy="685800"/>
          </a:xfrm>
          <a:prstGeom prst="rect">
            <a:avLst/>
          </a:prstGeom>
          <a:noFill/>
        </p:spPr>
        <p:txBody>
          <a:bodyPr wrap="square" lIns="0" tIns="0" rIns="0" bIns="0" anchor="t">
            <a:spAutoFit/>
          </a:bodyPr>
          <a:lstStyle/>
          <a:p>
            <a:pPr algn="l"/>
            <a:r>
              <a:rPr sz="1050" b="0" i="0">
                <a:solidFill>
                  <a:srgbClr val="000000"/>
                </a:solidFill>
                <a:latin typeface="Arial"/>
              </a:rPr>
              <a:t>When a campus pin is corrected, a lead may move nearer another campus, but a lead inside the catchment or its bands is never dropped.</a:t>
            </a:r>
          </a:p>
        </p:txBody>
      </p:sp>
      <p:sp>
        <p:nvSpPr>
          <p:cNvPr id="11" name="TextBox 10"/>
          <p:cNvSpPr txBox="1"/>
          <p:nvPr/>
        </p:nvSpPr>
        <p:spPr>
          <a:xfrm>
            <a:off x="7680960" y="3310128"/>
            <a:ext cx="3749039" cy="237744"/>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2" name="TextBox 11"/>
          <p:cNvSpPr txBox="1"/>
          <p:nvPr/>
        </p:nvSpPr>
        <p:spPr>
          <a:xfrm>
            <a:off x="7680960" y="3557016"/>
            <a:ext cx="3749039" cy="594360"/>
          </a:xfrm>
          <a:prstGeom prst="rect">
            <a:avLst/>
          </a:prstGeom>
          <a:noFill/>
        </p:spPr>
        <p:txBody>
          <a:bodyPr wrap="square" lIns="0" tIns="0" rIns="0" bIns="0" anchor="t">
            <a:spAutoFit/>
          </a:bodyPr>
          <a:lstStyle/>
          <a:p>
            <a:pPr algn="l"/>
            <a:r>
              <a:rPr sz="1000" b="0" i="0">
                <a:solidFill>
                  <a:srgbClr val="000000"/>
                </a:solidFill>
                <a:latin typeface="Arial"/>
              </a:rPr>
              <a:t>None crossed 25 km outward; two moved inside (24.9 km); 19 now nearer a different campus.</a:t>
            </a:r>
          </a:p>
        </p:txBody>
      </p:sp>
      <p:sp>
        <p:nvSpPr>
          <p:cNvPr id="13" name="TextBox 12"/>
          <p:cNvSpPr txBox="1"/>
          <p:nvPr/>
        </p:nvSpPr>
        <p:spPr>
          <a:xfrm>
            <a:off x="7680960" y="4178808"/>
            <a:ext cx="3749039" cy="237744"/>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14" name="TextBox 13"/>
          <p:cNvSpPr txBox="1"/>
          <p:nvPr/>
        </p:nvSpPr>
        <p:spPr>
          <a:xfrm>
            <a:off x="7680960" y="4425696"/>
            <a:ext cx="3749039" cy="594360"/>
          </a:xfrm>
          <a:prstGeom prst="rect">
            <a:avLst/>
          </a:prstGeom>
          <a:noFill/>
        </p:spPr>
        <p:txBody>
          <a:bodyPr wrap="square" lIns="0" tIns="0" rIns="0" bIns="0" anchor="t">
            <a:spAutoFit/>
          </a:bodyPr>
          <a:lstStyle/>
          <a:p>
            <a:pPr algn="l"/>
            <a:r>
              <a:rPr sz="1000" b="0" i="0">
                <a:solidFill>
                  <a:srgbClr val="000000"/>
                </a:solidFill>
                <a:latin typeface="Arial"/>
              </a:rPr>
              <a:t>Gararagua ward moved from 24.2 to 25.4 km and stays in scope; Msaranga ward came into scope.</a:t>
            </a:r>
          </a:p>
        </p:txBody>
      </p:sp>
      <p:sp>
        <p:nvSpPr>
          <p:cNvPr id="15" name="TextBox 14"/>
          <p:cNvSpPr txBox="1"/>
          <p:nvPr/>
        </p:nvSpPr>
        <p:spPr>
          <a:xfrm>
            <a:off x="7680960" y="5047488"/>
            <a:ext cx="3749039" cy="237744"/>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6" name="TextBox 15"/>
          <p:cNvSpPr txBox="1"/>
          <p:nvPr/>
        </p:nvSpPr>
        <p:spPr>
          <a:xfrm>
            <a:off x="7680960" y="5294375"/>
            <a:ext cx="3749039" cy="594360"/>
          </a:xfrm>
          <a:prstGeom prst="rect">
            <a:avLst/>
          </a:prstGeom>
          <a:noFill/>
        </p:spPr>
        <p:txBody>
          <a:bodyPr wrap="square" lIns="0" tIns="0" rIns="0" bIns="0" anchor="t">
            <a:spAutoFit/>
          </a:bodyPr>
          <a:lstStyle/>
          <a:p>
            <a:pPr algn="l"/>
            <a:r>
              <a:rPr sz="1000" b="0" i="0">
                <a:solidFill>
                  <a:srgbClr val="000000"/>
                </a:solidFill>
                <a:latin typeface="Arial"/>
              </a:rPr>
              <a:t>Distance never removes a company. 51 now nearer another campus; 32 changed reach tier.</a:t>
            </a:r>
          </a:p>
        </p:txBody>
      </p:sp>
      <p:pic>
        <p:nvPicPr>
          <p:cNvPr id="17" name="Picture 16" descr="image3.png"/>
          <p:cNvPicPr>
            <a:picLocks noChangeAspect="1"/>
          </p:cNvPicPr>
          <p:nvPr/>
        </p:nvPicPr>
        <p:blipFill>
          <a:blip r:embed="rId4"/>
          <a:stretch>
            <a:fillRect/>
          </a:stretch>
        </p:blipFill>
        <p:spPr>
          <a:xfrm>
            <a:off x="548640" y="6272784"/>
            <a:ext cx="1143000" cy="274320"/>
          </a:xfrm>
          <a:prstGeom prst="rect">
            <a:avLst/>
          </a:prstGeom>
        </p:spPr>
      </p:pic>
      <p:sp>
        <p:nvSpPr>
          <p:cNvPr id="1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1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GAPS AND TAKE-AWAYS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Fix the Google Maps listings parents find</a:t>
            </a:r>
          </a:p>
        </p:txBody>
      </p:sp>
      <p:sp>
        <p:nvSpPr>
          <p:cNvPr id="4" name="Rounded Rectangle 3"/>
          <p:cNvSpPr/>
          <p:nvPr/>
        </p:nvSpPr>
        <p:spPr>
          <a:xfrm>
            <a:off x="548640" y="1325880"/>
            <a:ext cx="603504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 y="1554480"/>
            <a:ext cx="5486400" cy="274320"/>
          </a:xfrm>
          <a:prstGeom prst="rect">
            <a:avLst/>
          </a:prstGeom>
          <a:noFill/>
        </p:spPr>
        <p:txBody>
          <a:bodyPr wrap="square" lIns="0" tIns="0" rIns="0" bIns="0" anchor="t">
            <a:spAutoFit/>
          </a:bodyPr>
          <a:lstStyle/>
          <a:p>
            <a:pPr algn="l"/>
            <a:r>
              <a:rPr sz="900" b="1" i="0" spc="200">
                <a:solidFill>
                  <a:srgbClr val="80BFEC"/>
                </a:solidFill>
                <a:latin typeface="Arial"/>
              </a:rPr>
              <a:t>TAKE-AWAYS FOR THE SILVERLEAF TEAM</a:t>
            </a:r>
          </a:p>
        </p:txBody>
      </p:sp>
      <p:sp>
        <p:nvSpPr>
          <p:cNvPr id="6" name="TextBox 5"/>
          <p:cNvSpPr txBox="1"/>
          <p:nvPr/>
        </p:nvSpPr>
        <p:spPr>
          <a:xfrm>
            <a:off x="868680" y="1874519"/>
            <a:ext cx="5486400" cy="457200"/>
          </a:xfrm>
          <a:prstGeom prst="rect">
            <a:avLst/>
          </a:prstGeom>
          <a:noFill/>
        </p:spPr>
        <p:txBody>
          <a:bodyPr wrap="square" lIns="0" tIns="0" rIns="0" bIns="0" anchor="t">
            <a:spAutoFit/>
          </a:bodyPr>
          <a:lstStyle/>
          <a:p>
            <a:pPr algn="l"/>
            <a:r>
              <a:rPr sz="1500" b="0" i="0">
                <a:solidFill>
                  <a:srgbClr val="FFFFFF"/>
                </a:solidFill>
                <a:latin typeface="Georgia"/>
              </a:rPr>
              <a:t>For whoever manages Silverleaf's Google profile</a:t>
            </a:r>
          </a:p>
        </p:txBody>
      </p:sp>
      <p:sp>
        <p:nvSpPr>
          <p:cNvPr id="7" name="Hexagon 6"/>
          <p:cNvSpPr/>
          <p:nvPr/>
        </p:nvSpPr>
        <p:spPr>
          <a:xfrm>
            <a:off x="868680" y="2487168"/>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1</a:t>
            </a:r>
          </a:p>
        </p:txBody>
      </p:sp>
      <p:sp>
        <p:nvSpPr>
          <p:cNvPr id="8" name="TextBox 7"/>
          <p:cNvSpPr txBox="1"/>
          <p:nvPr/>
        </p:nvSpPr>
        <p:spPr>
          <a:xfrm>
            <a:off x="1371600" y="2468880"/>
            <a:ext cx="4983480" cy="256032"/>
          </a:xfrm>
          <a:prstGeom prst="rect">
            <a:avLst/>
          </a:prstGeom>
          <a:noFill/>
        </p:spPr>
        <p:txBody>
          <a:bodyPr wrap="square" lIns="0" tIns="0" rIns="0" bIns="0" anchor="t">
            <a:spAutoFit/>
          </a:bodyPr>
          <a:lstStyle/>
          <a:p>
            <a:pPr algn="l"/>
            <a:r>
              <a:rPr sz="1200" b="1" i="0">
                <a:solidFill>
                  <a:srgbClr val="FFFFFF"/>
                </a:solidFill>
                <a:latin typeface="Arial"/>
              </a:rPr>
              <a:t>Kijenge Campus is pinned about 70 km away</a:t>
            </a:r>
          </a:p>
        </p:txBody>
      </p:sp>
      <p:sp>
        <p:nvSpPr>
          <p:cNvPr id="9" name="TextBox 8"/>
          <p:cNvSpPr txBox="1"/>
          <p:nvPr/>
        </p:nvSpPr>
        <p:spPr>
          <a:xfrm>
            <a:off x="1371600" y="2743200"/>
            <a:ext cx="4983480" cy="548640"/>
          </a:xfrm>
          <a:prstGeom prst="rect">
            <a:avLst/>
          </a:prstGeom>
          <a:noFill/>
        </p:spPr>
        <p:txBody>
          <a:bodyPr wrap="square" lIns="0" tIns="0" rIns="0" bIns="0" anchor="t">
            <a:spAutoFit/>
          </a:bodyPr>
          <a:lstStyle/>
          <a:p>
            <a:pPr algn="l"/>
            <a:r>
              <a:rPr sz="1050" b="0" i="0">
                <a:solidFill>
                  <a:srgbClr val="D9ECF9"/>
                </a:solidFill>
                <a:latin typeface="Arial"/>
              </a:rPr>
              <a:t>Parents who search for it get wrong directions. Move the pin to the website's point.</a:t>
            </a:r>
          </a:p>
        </p:txBody>
      </p:sp>
      <p:sp>
        <p:nvSpPr>
          <p:cNvPr id="10" name="Hexagon 9"/>
          <p:cNvSpPr/>
          <p:nvPr/>
        </p:nvSpPr>
        <p:spPr>
          <a:xfrm>
            <a:off x="868680" y="3337560"/>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2</a:t>
            </a:r>
          </a:p>
        </p:txBody>
      </p:sp>
      <p:sp>
        <p:nvSpPr>
          <p:cNvPr id="11" name="TextBox 10"/>
          <p:cNvSpPr txBox="1"/>
          <p:nvPr/>
        </p:nvSpPr>
        <p:spPr>
          <a:xfrm>
            <a:off x="1371600" y="3319272"/>
            <a:ext cx="4983480" cy="256032"/>
          </a:xfrm>
          <a:prstGeom prst="rect">
            <a:avLst/>
          </a:prstGeom>
          <a:noFill/>
        </p:spPr>
        <p:txBody>
          <a:bodyPr wrap="square" lIns="0" tIns="0" rIns="0" bIns="0" anchor="t">
            <a:spAutoFit/>
          </a:bodyPr>
          <a:lstStyle/>
          <a:p>
            <a:pPr algn="l"/>
            <a:r>
              <a:rPr sz="1200" b="1" i="0">
                <a:solidFill>
                  <a:srgbClr val="FFFFFF"/>
                </a:solidFill>
                <a:latin typeface="Arial"/>
              </a:rPr>
              <a:t>Two listings match no campus</a:t>
            </a:r>
          </a:p>
        </p:txBody>
      </p:sp>
      <p:sp>
        <p:nvSpPr>
          <p:cNvPr id="12" name="TextBox 11"/>
          <p:cNvSpPr txBox="1"/>
          <p:nvPr/>
        </p:nvSpPr>
        <p:spPr>
          <a:xfrm>
            <a:off x="1371600" y="3593592"/>
            <a:ext cx="4983480" cy="548640"/>
          </a:xfrm>
          <a:prstGeom prst="rect">
            <a:avLst/>
          </a:prstGeom>
          <a:noFill/>
        </p:spPr>
        <p:txBody>
          <a:bodyPr wrap="square" lIns="0" tIns="0" rIns="0" bIns="0" anchor="t">
            <a:spAutoFit/>
          </a:bodyPr>
          <a:lstStyle/>
          <a:p>
            <a:pPr algn="l"/>
            <a:r>
              <a:rPr sz="1050" b="0" i="0">
                <a:solidFill>
                  <a:srgbClr val="D9ECF9"/>
                </a:solidFill>
                <a:latin typeface="Arial"/>
              </a:rPr>
              <a:t>"Silverleaf Primary School" near Usa River and "Silverleaf Academy Office" in Moshi: correct or remove them.</a:t>
            </a:r>
          </a:p>
        </p:txBody>
      </p:sp>
      <p:sp>
        <p:nvSpPr>
          <p:cNvPr id="13" name="Hexagon 12"/>
          <p:cNvSpPr/>
          <p:nvPr/>
        </p:nvSpPr>
        <p:spPr>
          <a:xfrm>
            <a:off x="868680" y="4187952"/>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3</a:t>
            </a:r>
          </a:p>
        </p:txBody>
      </p:sp>
      <p:sp>
        <p:nvSpPr>
          <p:cNvPr id="14" name="TextBox 13"/>
          <p:cNvSpPr txBox="1"/>
          <p:nvPr/>
        </p:nvSpPr>
        <p:spPr>
          <a:xfrm>
            <a:off x="1371600" y="4169664"/>
            <a:ext cx="4983480" cy="256032"/>
          </a:xfrm>
          <a:prstGeom prst="rect">
            <a:avLst/>
          </a:prstGeom>
          <a:noFill/>
        </p:spPr>
        <p:txBody>
          <a:bodyPr wrap="square" lIns="0" tIns="0" rIns="0" bIns="0" anchor="t">
            <a:spAutoFit/>
          </a:bodyPr>
          <a:lstStyle/>
          <a:p>
            <a:pPr algn="l"/>
            <a:r>
              <a:rPr sz="1200" b="1" i="0">
                <a:solidFill>
                  <a:srgbClr val="FFFFFF"/>
                </a:solidFill>
                <a:latin typeface="Arial"/>
              </a:rPr>
              <a:t>Two campuses have no listing</a:t>
            </a:r>
          </a:p>
        </p:txBody>
      </p:sp>
      <p:sp>
        <p:nvSpPr>
          <p:cNvPr id="15" name="TextBox 14"/>
          <p:cNvSpPr txBox="1"/>
          <p:nvPr/>
        </p:nvSpPr>
        <p:spPr>
          <a:xfrm>
            <a:off x="1371600" y="4443984"/>
            <a:ext cx="4983480" cy="548640"/>
          </a:xfrm>
          <a:prstGeom prst="rect">
            <a:avLst/>
          </a:prstGeom>
          <a:noFill/>
        </p:spPr>
        <p:txBody>
          <a:bodyPr wrap="square" lIns="0" tIns="0" rIns="0" bIns="0" anchor="t">
            <a:spAutoFit/>
          </a:bodyPr>
          <a:lstStyle/>
          <a:p>
            <a:pPr algn="l"/>
            <a:r>
              <a:rPr sz="1050" b="0" i="0">
                <a:solidFill>
                  <a:srgbClr val="D9ECF9"/>
                </a:solidFill>
                <a:latin typeface="Arial"/>
              </a:rPr>
              <a:t>Add Arusha City (Sakina) and Boma Ng'ombe, using the pins on the website's campus pages.</a:t>
            </a:r>
          </a:p>
        </p:txBody>
      </p:sp>
      <p:sp>
        <p:nvSpPr>
          <p:cNvPr id="16" name="Hexagon 15"/>
          <p:cNvSpPr/>
          <p:nvPr/>
        </p:nvSpPr>
        <p:spPr>
          <a:xfrm>
            <a:off x="868680" y="5038344"/>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4</a:t>
            </a:r>
          </a:p>
        </p:txBody>
      </p:sp>
      <p:sp>
        <p:nvSpPr>
          <p:cNvPr id="17" name="TextBox 16"/>
          <p:cNvSpPr txBox="1"/>
          <p:nvPr/>
        </p:nvSpPr>
        <p:spPr>
          <a:xfrm>
            <a:off x="1371600" y="5020056"/>
            <a:ext cx="4983480" cy="256032"/>
          </a:xfrm>
          <a:prstGeom prst="rect">
            <a:avLst/>
          </a:prstGeom>
          <a:noFill/>
        </p:spPr>
        <p:txBody>
          <a:bodyPr wrap="square" lIns="0" tIns="0" rIns="0" bIns="0" anchor="t">
            <a:spAutoFit/>
          </a:bodyPr>
          <a:lstStyle/>
          <a:p>
            <a:pPr algn="l"/>
            <a:r>
              <a:rPr sz="1200" b="1" i="0">
                <a:solidFill>
                  <a:srgbClr val="FFFFFF"/>
                </a:solidFill>
                <a:latin typeface="Arial"/>
              </a:rPr>
              <a:t>Keep the website pins accurate</a:t>
            </a:r>
          </a:p>
        </p:txBody>
      </p:sp>
      <p:sp>
        <p:nvSpPr>
          <p:cNvPr id="18" name="TextBox 17"/>
          <p:cNvSpPr txBox="1"/>
          <p:nvPr/>
        </p:nvSpPr>
        <p:spPr>
          <a:xfrm>
            <a:off x="1371600" y="5294376"/>
            <a:ext cx="4983480" cy="548640"/>
          </a:xfrm>
          <a:prstGeom prst="rect">
            <a:avLst/>
          </a:prstGeom>
          <a:noFill/>
        </p:spPr>
        <p:txBody>
          <a:bodyPr wrap="square" lIns="0" tIns="0" rIns="0" bIns="0" anchor="t">
            <a:spAutoFit/>
          </a:bodyPr>
          <a:lstStyle/>
          <a:p>
            <a:pPr algn="l"/>
            <a:r>
              <a:rPr sz="1050" b="0" i="0">
                <a:solidFill>
                  <a:srgbClr val="D9ECF9"/>
                </a:solidFill>
                <a:latin typeface="Arial"/>
              </a:rPr>
              <a:t>They are the reference for every distance. If a campus moves, correct the page and tell the lead team so distances are recomputed.</a:t>
            </a:r>
          </a:p>
        </p:txBody>
      </p:sp>
      <p:sp>
        <p:nvSpPr>
          <p:cNvPr id="19" name="TextBox 18"/>
          <p:cNvSpPr txBox="1"/>
          <p:nvPr/>
        </p:nvSpPr>
        <p:spPr>
          <a:xfrm>
            <a:off x="6903720" y="137160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KNOWN GAPS AND PROPOSED FIXES</a:t>
            </a:r>
          </a:p>
        </p:txBody>
      </p:sp>
      <p:sp>
        <p:nvSpPr>
          <p:cNvPr id="20" name="TextBox 19"/>
          <p:cNvSpPr txBox="1"/>
          <p:nvPr/>
        </p:nvSpPr>
        <p:spPr>
          <a:xfrm>
            <a:off x="6903720" y="1664208"/>
            <a:ext cx="914400" cy="457200"/>
          </a:xfrm>
          <a:prstGeom prst="rect">
            <a:avLst/>
          </a:prstGeom>
          <a:noFill/>
        </p:spPr>
        <p:txBody>
          <a:bodyPr wrap="square" lIns="0" tIns="0" rIns="0" bIns="0" anchor="t">
            <a:spAutoFit/>
          </a:bodyPr>
          <a:lstStyle/>
          <a:p>
            <a:pPr algn="l"/>
            <a:r>
              <a:rPr sz="1600" b="0" i="0">
                <a:solidFill>
                  <a:srgbClr val="80BFEC"/>
                </a:solidFill>
                <a:latin typeface="Georgia"/>
              </a:rPr>
              <a:t>01</a:t>
            </a:r>
          </a:p>
        </p:txBody>
      </p:sp>
      <p:sp>
        <p:nvSpPr>
          <p:cNvPr id="21" name="TextBox 20"/>
          <p:cNvSpPr txBox="1"/>
          <p:nvPr/>
        </p:nvSpPr>
        <p:spPr>
          <a:xfrm>
            <a:off x="7452360" y="1682496"/>
            <a:ext cx="4160520" cy="256032"/>
          </a:xfrm>
          <a:prstGeom prst="rect">
            <a:avLst/>
          </a:prstGeom>
          <a:noFill/>
        </p:spPr>
        <p:txBody>
          <a:bodyPr wrap="square" lIns="0" tIns="0" rIns="0" bIns="0" anchor="t">
            <a:spAutoFit/>
          </a:bodyPr>
          <a:lstStyle/>
          <a:p>
            <a:pPr algn="l"/>
            <a:r>
              <a:rPr sz="1200" b="1" i="0">
                <a:solidFill>
                  <a:srgbClr val="002368"/>
                </a:solidFill>
                <a:latin typeface="Arial"/>
              </a:rPr>
              <a:t>Distances are straight lines</a:t>
            </a:r>
          </a:p>
        </p:txBody>
      </p:sp>
      <p:sp>
        <p:nvSpPr>
          <p:cNvPr id="22" name="TextBox 21"/>
          <p:cNvSpPr txBox="1"/>
          <p:nvPr/>
        </p:nvSpPr>
        <p:spPr>
          <a:xfrm>
            <a:off x="7452360" y="1956816"/>
            <a:ext cx="4160520" cy="731520"/>
          </a:xfrm>
          <a:prstGeom prst="rect">
            <a:avLst/>
          </a:prstGeom>
          <a:noFill/>
        </p:spPr>
        <p:txBody>
          <a:bodyPr wrap="square" lIns="0" tIns="0" rIns="0" bIns="0" anchor="t">
            <a:spAutoFit/>
          </a:bodyPr>
          <a:lstStyle/>
          <a:p>
            <a:pPr algn="l"/>
            <a:r>
              <a:rPr sz="1000" b="0" i="0">
                <a:solidFill>
                  <a:srgbClr val="000000"/>
                </a:solidFill>
                <a:latin typeface="Arial"/>
              </a:rPr>
              <a:t>A lead 12 km away across Mount Meru's slopes can be a longer drive than one 15 km along the main road. Fix: add road distance or drive time for leads at 11–25 km.</a:t>
            </a:r>
          </a:p>
        </p:txBody>
      </p:sp>
      <p:cxnSp>
        <p:nvCxnSpPr>
          <p:cNvPr id="23" name="Connector 22"/>
          <p:cNvCxnSpPr/>
          <p:nvPr/>
        </p:nvCxnSpPr>
        <p:spPr>
          <a:xfrm>
            <a:off x="6903720" y="2670048"/>
            <a:ext cx="4736592" cy="0"/>
          </a:xfrm>
          <a:prstGeom prst="line">
            <a:avLst/>
          </a:prstGeom>
          <a:ln w="9525">
            <a:solidFill>
              <a:srgbClr val="ECECEC"/>
            </a:solidFill>
          </a:ln>
        </p:spPr>
      </p:cxnSp>
      <p:sp>
        <p:nvSpPr>
          <p:cNvPr id="24" name="TextBox 23"/>
          <p:cNvSpPr txBox="1"/>
          <p:nvPr/>
        </p:nvSpPr>
        <p:spPr>
          <a:xfrm>
            <a:off x="6903720" y="2734056"/>
            <a:ext cx="914400" cy="457200"/>
          </a:xfrm>
          <a:prstGeom prst="rect">
            <a:avLst/>
          </a:prstGeom>
          <a:noFill/>
        </p:spPr>
        <p:txBody>
          <a:bodyPr wrap="square" lIns="0" tIns="0" rIns="0" bIns="0" anchor="t">
            <a:spAutoFit/>
          </a:bodyPr>
          <a:lstStyle/>
          <a:p>
            <a:pPr algn="l"/>
            <a:r>
              <a:rPr sz="1600" b="0" i="0">
                <a:solidFill>
                  <a:srgbClr val="80BFEC"/>
                </a:solidFill>
                <a:latin typeface="Georgia"/>
              </a:rPr>
              <a:t>02</a:t>
            </a:r>
          </a:p>
        </p:txBody>
      </p:sp>
      <p:sp>
        <p:nvSpPr>
          <p:cNvPr id="25" name="TextBox 24"/>
          <p:cNvSpPr txBox="1"/>
          <p:nvPr/>
        </p:nvSpPr>
        <p:spPr>
          <a:xfrm>
            <a:off x="7452360" y="2752344"/>
            <a:ext cx="4160520" cy="256032"/>
          </a:xfrm>
          <a:prstGeom prst="rect">
            <a:avLst/>
          </a:prstGeom>
          <a:noFill/>
        </p:spPr>
        <p:txBody>
          <a:bodyPr wrap="square" lIns="0" tIns="0" rIns="0" bIns="0" anchor="t">
            <a:spAutoFit/>
          </a:bodyPr>
          <a:lstStyle/>
          <a:p>
            <a:pPr algn="l"/>
            <a:r>
              <a:rPr sz="1200" b="1" i="0">
                <a:solidFill>
                  <a:srgbClr val="002368"/>
                </a:solidFill>
                <a:latin typeface="Arial"/>
              </a:rPr>
              <a:t>Some distances are approximate</a:t>
            </a:r>
          </a:p>
        </p:txBody>
      </p:sp>
      <p:sp>
        <p:nvSpPr>
          <p:cNvPr id="26" name="TextBox 25"/>
          <p:cNvSpPr txBox="1"/>
          <p:nvPr/>
        </p:nvSpPr>
        <p:spPr>
          <a:xfrm>
            <a:off x="7452360" y="3026664"/>
            <a:ext cx="4160520" cy="731520"/>
          </a:xfrm>
          <a:prstGeom prst="rect">
            <a:avLst/>
          </a:prstGeom>
          <a:noFill/>
        </p:spPr>
        <p:txBody>
          <a:bodyPr wrap="square" lIns="0" tIns="0" rIns="0" bIns="0" anchor="t">
            <a:spAutoFit/>
          </a:bodyPr>
          <a:lstStyle/>
          <a:p>
            <a:pPr algn="l"/>
            <a:r>
              <a:rPr sz="1000" b="0" i="0">
                <a:solidFill>
                  <a:srgbClr val="000000"/>
                </a:solidFill>
                <a:latin typeface="Arial"/>
              </a:rPr>
              <a:t>About 225 companies are placed only to a town or city centre, and some distances still use the earlier campus points, so a band can be a few kilometres off. Fix: place each company from its own address.</a:t>
            </a:r>
          </a:p>
        </p:txBody>
      </p:sp>
      <p:cxnSp>
        <p:nvCxnSpPr>
          <p:cNvPr id="27" name="Connector 26"/>
          <p:cNvCxnSpPr/>
          <p:nvPr/>
        </p:nvCxnSpPr>
        <p:spPr>
          <a:xfrm>
            <a:off x="6903720" y="3739896"/>
            <a:ext cx="4736592" cy="0"/>
          </a:xfrm>
          <a:prstGeom prst="line">
            <a:avLst/>
          </a:prstGeom>
          <a:ln w="9525">
            <a:solidFill>
              <a:srgbClr val="ECECEC"/>
            </a:solidFill>
          </a:ln>
        </p:spPr>
      </p:cxnSp>
      <p:sp>
        <p:nvSpPr>
          <p:cNvPr id="28" name="TextBox 27"/>
          <p:cNvSpPr txBox="1"/>
          <p:nvPr/>
        </p:nvSpPr>
        <p:spPr>
          <a:xfrm>
            <a:off x="6903720" y="3803904"/>
            <a:ext cx="914400" cy="457200"/>
          </a:xfrm>
          <a:prstGeom prst="rect">
            <a:avLst/>
          </a:prstGeom>
          <a:noFill/>
        </p:spPr>
        <p:txBody>
          <a:bodyPr wrap="square" lIns="0" tIns="0" rIns="0" bIns="0" anchor="t">
            <a:spAutoFit/>
          </a:bodyPr>
          <a:lstStyle/>
          <a:p>
            <a:pPr algn="l"/>
            <a:r>
              <a:rPr sz="1600" b="0" i="0">
                <a:solidFill>
                  <a:srgbClr val="80BFEC"/>
                </a:solidFill>
                <a:latin typeface="Georgia"/>
              </a:rPr>
              <a:t>03</a:t>
            </a:r>
          </a:p>
        </p:txBody>
      </p:sp>
      <p:sp>
        <p:nvSpPr>
          <p:cNvPr id="29" name="TextBox 28"/>
          <p:cNvSpPr txBox="1"/>
          <p:nvPr/>
        </p:nvSpPr>
        <p:spPr>
          <a:xfrm>
            <a:off x="7452360" y="3822191"/>
            <a:ext cx="4160520" cy="256032"/>
          </a:xfrm>
          <a:prstGeom prst="rect">
            <a:avLst/>
          </a:prstGeom>
          <a:noFill/>
        </p:spPr>
        <p:txBody>
          <a:bodyPr wrap="square" lIns="0" tIns="0" rIns="0" bIns="0" anchor="t">
            <a:spAutoFit/>
          </a:bodyPr>
          <a:lstStyle/>
          <a:p>
            <a:pPr algn="l"/>
            <a:r>
              <a:rPr sz="1200" b="1" i="0">
                <a:solidFill>
                  <a:srgbClr val="002368"/>
                </a:solidFill>
                <a:latin typeface="Arial"/>
              </a:rPr>
              <a:t>30 leads have no nearest campus yet</a:t>
            </a:r>
          </a:p>
        </p:txBody>
      </p:sp>
      <p:sp>
        <p:nvSpPr>
          <p:cNvPr id="30" name="TextBox 29"/>
          <p:cNvSpPr txBox="1"/>
          <p:nvPr/>
        </p:nvSpPr>
        <p:spPr>
          <a:xfrm>
            <a:off x="7452360" y="4096512"/>
            <a:ext cx="4160520" cy="731520"/>
          </a:xfrm>
          <a:prstGeom prst="rect">
            <a:avLst/>
          </a:prstGeom>
          <a:noFill/>
        </p:spPr>
        <p:txBody>
          <a:bodyPr wrap="square" lIns="0" tIns="0" rIns="0" bIns="0" anchor="t">
            <a:spAutoFit/>
          </a:bodyPr>
          <a:lstStyle/>
          <a:p>
            <a:pPr algn="l"/>
            <a:r>
              <a:rPr sz="1000" b="0" i="0">
                <a:solidFill>
                  <a:srgbClr val="000000"/>
                </a:solidFill>
                <a:latin typeface="Arial"/>
              </a:rPr>
              <a:t>30 companies and savings groups have a town or address on file but no campus recorded, 11 of them no map point, so they sit in no band. Fix: place them by town.</a:t>
            </a:r>
          </a:p>
        </p:txBody>
      </p:sp>
      <p:cxnSp>
        <p:nvCxnSpPr>
          <p:cNvPr id="31" name="Connector 30"/>
          <p:cNvCxnSpPr/>
          <p:nvPr/>
        </p:nvCxnSpPr>
        <p:spPr>
          <a:xfrm>
            <a:off x="6903720" y="4809744"/>
            <a:ext cx="4736592" cy="0"/>
          </a:xfrm>
          <a:prstGeom prst="line">
            <a:avLst/>
          </a:prstGeom>
          <a:ln w="9525">
            <a:solidFill>
              <a:srgbClr val="ECECEC"/>
            </a:solidFill>
          </a:ln>
        </p:spPr>
      </p:cxnSp>
      <p:sp>
        <p:nvSpPr>
          <p:cNvPr id="32" name="TextBox 31"/>
          <p:cNvSpPr txBox="1"/>
          <p:nvPr/>
        </p:nvSpPr>
        <p:spPr>
          <a:xfrm>
            <a:off x="6903720" y="4873752"/>
            <a:ext cx="914400" cy="457200"/>
          </a:xfrm>
          <a:prstGeom prst="rect">
            <a:avLst/>
          </a:prstGeom>
          <a:noFill/>
        </p:spPr>
        <p:txBody>
          <a:bodyPr wrap="square" lIns="0" tIns="0" rIns="0" bIns="0" anchor="t">
            <a:spAutoFit/>
          </a:bodyPr>
          <a:lstStyle/>
          <a:p>
            <a:pPr algn="l"/>
            <a:r>
              <a:rPr sz="1600" b="0" i="0">
                <a:solidFill>
                  <a:srgbClr val="80BFEC"/>
                </a:solidFill>
                <a:latin typeface="Georgia"/>
              </a:rPr>
              <a:t>04</a:t>
            </a:r>
          </a:p>
        </p:txBody>
      </p:sp>
      <p:sp>
        <p:nvSpPr>
          <p:cNvPr id="33" name="TextBox 32"/>
          <p:cNvSpPr txBox="1"/>
          <p:nvPr/>
        </p:nvSpPr>
        <p:spPr>
          <a:xfrm>
            <a:off x="7452360" y="4892040"/>
            <a:ext cx="4160520" cy="256032"/>
          </a:xfrm>
          <a:prstGeom prst="rect">
            <a:avLst/>
          </a:prstGeom>
          <a:noFill/>
        </p:spPr>
        <p:txBody>
          <a:bodyPr wrap="square" lIns="0" tIns="0" rIns="0" bIns="0" anchor="t">
            <a:spAutoFit/>
          </a:bodyPr>
          <a:lstStyle/>
          <a:p>
            <a:pPr algn="l"/>
            <a:r>
              <a:rPr sz="1200" b="1" i="0">
                <a:solidFill>
                  <a:srgbClr val="002368"/>
                </a:solidFill>
                <a:latin typeface="Arial"/>
              </a:rPr>
              <a:t>Ward locations are estimates</a:t>
            </a:r>
          </a:p>
        </p:txBody>
      </p:sp>
      <p:sp>
        <p:nvSpPr>
          <p:cNvPr id="34" name="TextBox 33"/>
          <p:cNvSpPr txBox="1"/>
          <p:nvPr/>
        </p:nvSpPr>
        <p:spPr>
          <a:xfrm>
            <a:off x="7452360" y="5166360"/>
            <a:ext cx="4160520" cy="731520"/>
          </a:xfrm>
          <a:prstGeom prst="rect">
            <a:avLst/>
          </a:prstGeom>
          <a:noFill/>
        </p:spPr>
        <p:txBody>
          <a:bodyPr wrap="square" lIns="0" tIns="0" rIns="0" bIns="0" anchor="t">
            <a:spAutoFit/>
          </a:bodyPr>
          <a:lstStyle/>
          <a:p>
            <a:pPr algn="l"/>
            <a:r>
              <a:rPr sz="1000" b="0" i="0">
                <a:solidFill>
                  <a:srgbClr val="000000"/>
                </a:solidFill>
                <a:latin typeface="Arial"/>
              </a:rPr>
              <a:t>Each ward is one reference point, because no ward boundaries are mapped here, so its distance can be 1–5 km off. Fix: use the official ward boundaries.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Google Maps listings, October 2026</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Eight sources feed the three lead lists</a:t>
            </a:r>
          </a:p>
        </p:txBody>
      </p:sp>
      <p:sp>
        <p:nvSpPr>
          <p:cNvPr id="4" name="Rounded Rectangle 3"/>
          <p:cNvSpPr/>
          <p:nvPr/>
        </p:nvSpPr>
        <p:spPr>
          <a:xfrm>
            <a:off x="8686800" y="1261872"/>
            <a:ext cx="941832" cy="841248"/>
          </a:xfrm>
          <a:prstGeom prst="roundRect">
            <a:avLst>
              <a:gd name="adj" fmla="val 760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0" y="1325880"/>
            <a:ext cx="941832" cy="256032"/>
          </a:xfrm>
          <a:prstGeom prst="rect">
            <a:avLst/>
          </a:prstGeom>
          <a:noFill/>
        </p:spPr>
        <p:txBody>
          <a:bodyPr wrap="square" lIns="0" tIns="0" rIns="0" bIns="0" anchor="t">
            <a:spAutoFit/>
          </a:bodyPr>
          <a:lstStyle/>
          <a:p>
            <a:pPr algn="ctr"/>
            <a:r>
              <a:rPr sz="1000" b="1" i="0">
                <a:solidFill>
                  <a:srgbClr val="FFFFFF"/>
                </a:solidFill>
                <a:latin typeface="Arial"/>
              </a:rPr>
              <a:t>Companies</a:t>
            </a:r>
          </a:p>
        </p:txBody>
      </p:sp>
      <p:sp>
        <p:nvSpPr>
          <p:cNvPr id="6" name="TextBox 5"/>
          <p:cNvSpPr txBox="1"/>
          <p:nvPr/>
        </p:nvSpPr>
        <p:spPr>
          <a:xfrm>
            <a:off x="8686800" y="1572768"/>
            <a:ext cx="941832" cy="457200"/>
          </a:xfrm>
          <a:prstGeom prst="rect">
            <a:avLst/>
          </a:prstGeom>
          <a:noFill/>
        </p:spPr>
        <p:txBody>
          <a:bodyPr wrap="square" lIns="0" tIns="0" rIns="0" bIns="0" anchor="t">
            <a:spAutoFit/>
          </a:bodyPr>
          <a:lstStyle/>
          <a:p>
            <a:pPr algn="ctr"/>
            <a:r>
              <a:rPr sz="2000" b="0" i="0">
                <a:solidFill>
                  <a:srgbClr val="FFC952"/>
                </a:solidFill>
                <a:latin typeface="Georgia"/>
              </a:rPr>
              <a:t>1,251</a:t>
            </a:r>
          </a:p>
        </p:txBody>
      </p:sp>
      <p:sp>
        <p:nvSpPr>
          <p:cNvPr id="7" name="Rounded Rectangle 6"/>
          <p:cNvSpPr/>
          <p:nvPr/>
        </p:nvSpPr>
        <p:spPr>
          <a:xfrm>
            <a:off x="9692640" y="1261872"/>
            <a:ext cx="941832" cy="841248"/>
          </a:xfrm>
          <a:prstGeom prst="roundRect">
            <a:avLst>
              <a:gd name="adj" fmla="val 7608"/>
            </a:avLst>
          </a:prstGeom>
          <a:solidFill>
            <a:srgbClr val="80BFEC"/>
          </a:solidFill>
          <a:ln w="12700">
            <a:solidFill>
              <a:srgbClr val="80BFEC"/>
            </a:solidFill>
          </a:ln>
        </p:spPr>
        <p:txBody>
          <a:bodyPr rtlCol="0" anchor="ctr"/>
          <a:lstStyle/>
          <a:p>
            <a:pPr algn="ctr"/>
          </a:p>
        </p:txBody>
      </p:sp>
      <p:sp>
        <p:nvSpPr>
          <p:cNvPr id="8" name="TextBox 7"/>
          <p:cNvSpPr txBox="1"/>
          <p:nvPr/>
        </p:nvSpPr>
        <p:spPr>
          <a:xfrm>
            <a:off x="969264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Welfare</a:t>
            </a:r>
          </a:p>
        </p:txBody>
      </p:sp>
      <p:sp>
        <p:nvSpPr>
          <p:cNvPr id="9" name="TextBox 8"/>
          <p:cNvSpPr txBox="1"/>
          <p:nvPr/>
        </p:nvSpPr>
        <p:spPr>
          <a:xfrm>
            <a:off x="969264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445</a:t>
            </a:r>
          </a:p>
        </p:txBody>
      </p:sp>
      <p:sp>
        <p:nvSpPr>
          <p:cNvPr id="10" name="Rounded Rectangle 9"/>
          <p:cNvSpPr/>
          <p:nvPr/>
        </p:nvSpPr>
        <p:spPr>
          <a:xfrm>
            <a:off x="10698480" y="1261872"/>
            <a:ext cx="941832" cy="841248"/>
          </a:xfrm>
          <a:prstGeom prst="roundRect">
            <a:avLst>
              <a:gd name="adj" fmla="val 7608"/>
            </a:avLst>
          </a:prstGeom>
          <a:solidFill>
            <a:srgbClr val="D9ECF9"/>
          </a:solidFill>
          <a:ln w="12700">
            <a:solidFill>
              <a:srgbClr val="D9ECF9"/>
            </a:solidFill>
          </a:ln>
        </p:spPr>
        <p:txBody>
          <a:bodyPr rtlCol="0" anchor="ctr"/>
          <a:lstStyle/>
          <a:p>
            <a:pPr algn="ctr"/>
          </a:p>
        </p:txBody>
      </p:sp>
      <p:sp>
        <p:nvSpPr>
          <p:cNvPr id="11" name="TextBox 10"/>
          <p:cNvSpPr txBox="1"/>
          <p:nvPr/>
        </p:nvSpPr>
        <p:spPr>
          <a:xfrm>
            <a:off x="1069848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Government</a:t>
            </a:r>
          </a:p>
        </p:txBody>
      </p:sp>
      <p:sp>
        <p:nvSpPr>
          <p:cNvPr id="12" name="TextBox 11"/>
          <p:cNvSpPr txBox="1"/>
          <p:nvPr/>
        </p:nvSpPr>
        <p:spPr>
          <a:xfrm>
            <a:off x="1069848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228</a:t>
            </a:r>
          </a:p>
        </p:txBody>
      </p:sp>
      <p:sp>
        <p:nvSpPr>
          <p:cNvPr id="13" name="TextBox 12"/>
          <p:cNvSpPr txBox="1"/>
          <p:nvPr/>
        </p:nvSpPr>
        <p:spPr>
          <a:xfrm>
            <a:off x="54864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SOURCE</a:t>
            </a:r>
          </a:p>
        </p:txBody>
      </p:sp>
      <p:sp>
        <p:nvSpPr>
          <p:cNvPr id="14" name="TextBox 13"/>
          <p:cNvSpPr txBox="1"/>
          <p:nvPr/>
        </p:nvSpPr>
        <p:spPr>
          <a:xfrm>
            <a:off x="3520440" y="1481328"/>
            <a:ext cx="1188720" cy="274320"/>
          </a:xfrm>
          <a:prstGeom prst="rect">
            <a:avLst/>
          </a:prstGeom>
          <a:noFill/>
        </p:spPr>
        <p:txBody>
          <a:bodyPr wrap="square" lIns="0" tIns="0" rIns="0" bIns="0" anchor="t">
            <a:spAutoFit/>
          </a:bodyPr>
          <a:lstStyle/>
          <a:p>
            <a:pPr algn="l"/>
            <a:r>
              <a:rPr sz="900" b="1" i="0" spc="200">
                <a:solidFill>
                  <a:srgbClr val="818283"/>
                </a:solidFill>
                <a:latin typeface="Arial"/>
              </a:rPr>
              <a:t>FOUND</a:t>
            </a:r>
          </a:p>
        </p:txBody>
      </p:sp>
      <p:sp>
        <p:nvSpPr>
          <p:cNvPr id="15" name="TextBox 14"/>
          <p:cNvSpPr txBox="1"/>
          <p:nvPr/>
        </p:nvSpPr>
        <p:spPr>
          <a:xfrm>
            <a:off x="48463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WHAT IT CONTRIBUTED</a:t>
            </a:r>
          </a:p>
        </p:txBody>
      </p:sp>
      <p:cxnSp>
        <p:nvCxnSpPr>
          <p:cNvPr id="16" name="Connector 15"/>
          <p:cNvCxnSpPr/>
          <p:nvPr/>
        </p:nvCxnSpPr>
        <p:spPr>
          <a:xfrm>
            <a:off x="548640" y="2130552"/>
            <a:ext cx="11091672" cy="0"/>
          </a:xfrm>
          <a:prstGeom prst="line">
            <a:avLst/>
          </a:prstGeom>
          <a:ln w="12700">
            <a:solidFill>
              <a:srgbClr val="80BFEC"/>
            </a:solidFill>
          </a:ln>
        </p:spPr>
      </p:cxnSp>
      <p:sp>
        <p:nvSpPr>
          <p:cNvPr id="17" name="Hexagon 16"/>
          <p:cNvSpPr/>
          <p:nvPr/>
        </p:nvSpPr>
        <p:spPr>
          <a:xfrm>
            <a:off x="548640" y="2276856"/>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8" name="TextBox 17"/>
          <p:cNvSpPr txBox="1"/>
          <p:nvPr/>
        </p:nvSpPr>
        <p:spPr>
          <a:xfrm>
            <a:off x="1051560" y="2240280"/>
            <a:ext cx="2423160" cy="237744"/>
          </a:xfrm>
          <a:prstGeom prst="rect">
            <a:avLst/>
          </a:prstGeom>
          <a:noFill/>
        </p:spPr>
        <p:txBody>
          <a:bodyPr wrap="square" lIns="0" tIns="0" rIns="0" bIns="0" anchor="t">
            <a:spAutoFit/>
          </a:bodyPr>
          <a:lstStyle/>
          <a:p>
            <a:pPr algn="l"/>
            <a:r>
              <a:rPr sz="1200" b="1" i="0">
                <a:solidFill>
                  <a:srgbClr val="002368"/>
                </a:solidFill>
                <a:latin typeface="Arial"/>
              </a:rPr>
              <a:t>TATO</a:t>
            </a:r>
          </a:p>
        </p:txBody>
      </p:sp>
      <p:sp>
        <p:nvSpPr>
          <p:cNvPr id="19" name="TextBox 18"/>
          <p:cNvSpPr txBox="1"/>
          <p:nvPr/>
        </p:nvSpPr>
        <p:spPr>
          <a:xfrm>
            <a:off x="1051560" y="2468880"/>
            <a:ext cx="2423160" cy="201168"/>
          </a:xfrm>
          <a:prstGeom prst="rect">
            <a:avLst/>
          </a:prstGeom>
          <a:noFill/>
        </p:spPr>
        <p:txBody>
          <a:bodyPr wrap="square" lIns="0" tIns="0" rIns="0" bIns="0" anchor="t">
            <a:spAutoFit/>
          </a:bodyPr>
          <a:lstStyle/>
          <a:p>
            <a:pPr algn="l"/>
            <a:r>
              <a:rPr sz="850" b="0" i="0">
                <a:solidFill>
                  <a:srgbClr val="818283"/>
                </a:solidFill>
                <a:latin typeface="Arial"/>
              </a:rPr>
              <a:t>tour operators' association</a:t>
            </a:r>
          </a:p>
        </p:txBody>
      </p:sp>
      <p:sp>
        <p:nvSpPr>
          <p:cNvPr id="20" name="TextBox 19"/>
          <p:cNvSpPr txBox="1"/>
          <p:nvPr/>
        </p:nvSpPr>
        <p:spPr>
          <a:xfrm>
            <a:off x="3520440" y="2240280"/>
            <a:ext cx="1280160" cy="411480"/>
          </a:xfrm>
          <a:prstGeom prst="rect">
            <a:avLst/>
          </a:prstGeom>
          <a:noFill/>
        </p:spPr>
        <p:txBody>
          <a:bodyPr wrap="square" lIns="0" tIns="0" rIns="0" bIns="0" anchor="ctr">
            <a:spAutoFit/>
          </a:bodyPr>
          <a:lstStyle/>
          <a:p>
            <a:pPr algn="l"/>
            <a:r>
              <a:rPr sz="2000" b="0" i="0">
                <a:solidFill>
                  <a:srgbClr val="002368"/>
                </a:solidFill>
                <a:latin typeface="Georgia"/>
              </a:rPr>
              <a:t>467</a:t>
            </a:r>
          </a:p>
        </p:txBody>
      </p:sp>
      <p:sp>
        <p:nvSpPr>
          <p:cNvPr id="21" name="TextBox 20"/>
          <p:cNvSpPr txBox="1"/>
          <p:nvPr/>
        </p:nvSpPr>
        <p:spPr>
          <a:xfrm>
            <a:off x="4846320" y="2240280"/>
            <a:ext cx="3703320" cy="411480"/>
          </a:xfrm>
          <a:prstGeom prst="rect">
            <a:avLst/>
          </a:prstGeom>
          <a:noFill/>
        </p:spPr>
        <p:txBody>
          <a:bodyPr wrap="square" lIns="0" tIns="0" rIns="0" bIns="0" anchor="ctr">
            <a:spAutoFit/>
          </a:bodyPr>
          <a:lstStyle/>
          <a:p>
            <a:pPr algn="l"/>
            <a:r>
              <a:rPr sz="1000" b="0" i="0">
                <a:solidFill>
                  <a:srgbClr val="000000"/>
                </a:solidFill>
                <a:latin typeface="Arial"/>
              </a:rPr>
              <a:t>member companies in the company list; TATO is also an introducer</a:t>
            </a:r>
          </a:p>
        </p:txBody>
      </p:sp>
      <p:sp>
        <p:nvSpPr>
          <p:cNvPr id="22" name="Hexagon 21"/>
          <p:cNvSpPr/>
          <p:nvPr/>
        </p:nvSpPr>
        <p:spPr>
          <a:xfrm>
            <a:off x="9025128" y="2313432"/>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cxnSp>
        <p:nvCxnSpPr>
          <p:cNvPr id="23" name="Connector 22"/>
          <p:cNvCxnSpPr/>
          <p:nvPr/>
        </p:nvCxnSpPr>
        <p:spPr>
          <a:xfrm>
            <a:off x="548640" y="2697480"/>
            <a:ext cx="11091672" cy="0"/>
          </a:xfrm>
          <a:prstGeom prst="line">
            <a:avLst/>
          </a:prstGeom>
          <a:ln w="9525">
            <a:solidFill>
              <a:srgbClr val="ECECEC"/>
            </a:solidFill>
          </a:ln>
        </p:spPr>
      </p:cxnSp>
      <p:sp>
        <p:nvSpPr>
          <p:cNvPr id="24" name="Hexagon 23"/>
          <p:cNvSpPr/>
          <p:nvPr/>
        </p:nvSpPr>
        <p:spPr>
          <a:xfrm>
            <a:off x="548640" y="276606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25" name="TextBox 24"/>
          <p:cNvSpPr txBox="1"/>
          <p:nvPr/>
        </p:nvSpPr>
        <p:spPr>
          <a:xfrm>
            <a:off x="1051560" y="2729484"/>
            <a:ext cx="2423160" cy="237744"/>
          </a:xfrm>
          <a:prstGeom prst="rect">
            <a:avLst/>
          </a:prstGeom>
          <a:noFill/>
        </p:spPr>
        <p:txBody>
          <a:bodyPr wrap="square" lIns="0" tIns="0" rIns="0" bIns="0" anchor="t">
            <a:spAutoFit/>
          </a:bodyPr>
          <a:lstStyle/>
          <a:p>
            <a:pPr algn="l"/>
            <a:r>
              <a:rPr sz="1200" b="1" i="0">
                <a:solidFill>
                  <a:srgbClr val="002368"/>
                </a:solidFill>
                <a:latin typeface="Arial"/>
              </a:rPr>
              <a:t>TCDC</a:t>
            </a:r>
          </a:p>
        </p:txBody>
      </p:sp>
      <p:sp>
        <p:nvSpPr>
          <p:cNvPr id="26" name="TextBox 25"/>
          <p:cNvSpPr txBox="1"/>
          <p:nvPr/>
        </p:nvSpPr>
        <p:spPr>
          <a:xfrm>
            <a:off x="1051560" y="2958084"/>
            <a:ext cx="2423160" cy="201168"/>
          </a:xfrm>
          <a:prstGeom prst="rect">
            <a:avLst/>
          </a:prstGeom>
          <a:noFill/>
        </p:spPr>
        <p:txBody>
          <a:bodyPr wrap="square" lIns="0" tIns="0" rIns="0" bIns="0" anchor="t">
            <a:spAutoFit/>
          </a:bodyPr>
          <a:lstStyle/>
          <a:p>
            <a:pPr algn="l"/>
            <a:r>
              <a:rPr sz="850" b="0" i="0">
                <a:solidFill>
                  <a:srgbClr val="818283"/>
                </a:solidFill>
                <a:latin typeface="Arial"/>
              </a:rPr>
              <a:t>Tanzania Cooperative Development Commission</a:t>
            </a:r>
          </a:p>
        </p:txBody>
      </p:sp>
      <p:sp>
        <p:nvSpPr>
          <p:cNvPr id="27" name="TextBox 26"/>
          <p:cNvSpPr txBox="1"/>
          <p:nvPr/>
        </p:nvSpPr>
        <p:spPr>
          <a:xfrm>
            <a:off x="3520440" y="2729484"/>
            <a:ext cx="1280160" cy="411480"/>
          </a:xfrm>
          <a:prstGeom prst="rect">
            <a:avLst/>
          </a:prstGeom>
          <a:noFill/>
        </p:spPr>
        <p:txBody>
          <a:bodyPr wrap="square" lIns="0" tIns="0" rIns="0" bIns="0" anchor="ctr">
            <a:spAutoFit/>
          </a:bodyPr>
          <a:lstStyle/>
          <a:p>
            <a:pPr algn="l"/>
            <a:r>
              <a:rPr sz="2000" b="0" i="0">
                <a:solidFill>
                  <a:srgbClr val="002368"/>
                </a:solidFill>
                <a:latin typeface="Georgia"/>
              </a:rPr>
              <a:t>115</a:t>
            </a:r>
          </a:p>
        </p:txBody>
      </p:sp>
      <p:sp>
        <p:nvSpPr>
          <p:cNvPr id="28" name="TextBox 27"/>
          <p:cNvSpPr txBox="1"/>
          <p:nvPr/>
        </p:nvSpPr>
        <p:spPr>
          <a:xfrm>
            <a:off x="4846320" y="2729484"/>
            <a:ext cx="3703320" cy="411480"/>
          </a:xfrm>
          <a:prstGeom prst="rect">
            <a:avLst/>
          </a:prstGeom>
          <a:noFill/>
        </p:spPr>
        <p:txBody>
          <a:bodyPr wrap="square" lIns="0" tIns="0" rIns="0" bIns="0" anchor="ctr">
            <a:spAutoFit/>
          </a:bodyPr>
          <a:lstStyle/>
          <a:p>
            <a:pPr algn="l"/>
            <a:r>
              <a:rPr sz="1000" b="0" i="0">
                <a:solidFill>
                  <a:srgbClr val="000000"/>
                </a:solidFill>
                <a:latin typeface="Arial"/>
              </a:rPr>
              <a:t>licensed savings groups (SACCOS) around the campuses</a:t>
            </a:r>
          </a:p>
        </p:txBody>
      </p:sp>
      <p:sp>
        <p:nvSpPr>
          <p:cNvPr id="29" name="Hexagon 28"/>
          <p:cNvSpPr/>
          <p:nvPr/>
        </p:nvSpPr>
        <p:spPr>
          <a:xfrm>
            <a:off x="9025128" y="2802636"/>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cxnSp>
        <p:nvCxnSpPr>
          <p:cNvPr id="30" name="Connector 29"/>
          <p:cNvCxnSpPr/>
          <p:nvPr/>
        </p:nvCxnSpPr>
        <p:spPr>
          <a:xfrm>
            <a:off x="548640" y="3186684"/>
            <a:ext cx="11091672" cy="0"/>
          </a:xfrm>
          <a:prstGeom prst="line">
            <a:avLst/>
          </a:prstGeom>
          <a:ln w="9525">
            <a:solidFill>
              <a:srgbClr val="ECECEC"/>
            </a:solidFill>
          </a:ln>
        </p:spPr>
      </p:cxnSp>
      <p:sp>
        <p:nvSpPr>
          <p:cNvPr id="31" name="Hexagon 30"/>
          <p:cNvSpPr/>
          <p:nvPr/>
        </p:nvSpPr>
        <p:spPr>
          <a:xfrm>
            <a:off x="548640" y="3255264"/>
            <a:ext cx="384048" cy="338328"/>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32" name="TextBox 31"/>
          <p:cNvSpPr txBox="1"/>
          <p:nvPr/>
        </p:nvSpPr>
        <p:spPr>
          <a:xfrm>
            <a:off x="1051560" y="3218688"/>
            <a:ext cx="2423160" cy="237744"/>
          </a:xfrm>
          <a:prstGeom prst="rect">
            <a:avLst/>
          </a:prstGeom>
          <a:noFill/>
        </p:spPr>
        <p:txBody>
          <a:bodyPr wrap="square" lIns="0" tIns="0" rIns="0" bIns="0" anchor="t">
            <a:spAutoFit/>
          </a:bodyPr>
          <a:lstStyle/>
          <a:p>
            <a:pPr algn="l"/>
            <a:r>
              <a:rPr sz="1200" b="1" i="0">
                <a:solidFill>
                  <a:srgbClr val="002368"/>
                </a:solidFill>
                <a:latin typeface="Arial"/>
              </a:rPr>
              <a:t>OpenStreetMap</a:t>
            </a:r>
          </a:p>
        </p:txBody>
      </p:sp>
      <p:sp>
        <p:nvSpPr>
          <p:cNvPr id="33" name="TextBox 32"/>
          <p:cNvSpPr txBox="1"/>
          <p:nvPr/>
        </p:nvSpPr>
        <p:spPr>
          <a:xfrm>
            <a:off x="1051560" y="3447288"/>
            <a:ext cx="2423160" cy="201168"/>
          </a:xfrm>
          <a:prstGeom prst="rect">
            <a:avLst/>
          </a:prstGeom>
          <a:noFill/>
        </p:spPr>
        <p:txBody>
          <a:bodyPr wrap="square" lIns="0" tIns="0" rIns="0" bIns="0" anchor="t">
            <a:spAutoFit/>
          </a:bodyPr>
          <a:lstStyle/>
          <a:p>
            <a:pPr algn="l"/>
            <a:r>
              <a:rPr sz="850" b="0" i="0">
                <a:solidFill>
                  <a:srgbClr val="818283"/>
                </a:solidFill>
                <a:latin typeface="Arial"/>
              </a:rPr>
              <a:t>mapped places around each campus</a:t>
            </a:r>
          </a:p>
        </p:txBody>
      </p:sp>
      <p:sp>
        <p:nvSpPr>
          <p:cNvPr id="34" name="TextBox 33"/>
          <p:cNvSpPr txBox="1"/>
          <p:nvPr/>
        </p:nvSpPr>
        <p:spPr>
          <a:xfrm>
            <a:off x="3520440" y="3218688"/>
            <a:ext cx="1280160" cy="411480"/>
          </a:xfrm>
          <a:prstGeom prst="rect">
            <a:avLst/>
          </a:prstGeom>
          <a:noFill/>
        </p:spPr>
        <p:txBody>
          <a:bodyPr wrap="square" lIns="0" tIns="0" rIns="0" bIns="0" anchor="ctr">
            <a:spAutoFit/>
          </a:bodyPr>
          <a:lstStyle/>
          <a:p>
            <a:pPr algn="l"/>
            <a:r>
              <a:rPr sz="2000" b="0" i="0">
                <a:solidFill>
                  <a:srgbClr val="002368"/>
                </a:solidFill>
                <a:latin typeface="Georgia"/>
              </a:rPr>
              <a:t>406</a:t>
            </a:r>
          </a:p>
        </p:txBody>
      </p:sp>
      <p:sp>
        <p:nvSpPr>
          <p:cNvPr id="35" name="TextBox 34"/>
          <p:cNvSpPr txBox="1"/>
          <p:nvPr/>
        </p:nvSpPr>
        <p:spPr>
          <a:xfrm>
            <a:off x="4846320" y="3218688"/>
            <a:ext cx="3703320" cy="411480"/>
          </a:xfrm>
          <a:prstGeom prst="rect">
            <a:avLst/>
          </a:prstGeom>
          <a:noFill/>
        </p:spPr>
        <p:txBody>
          <a:bodyPr wrap="square" lIns="0" tIns="0" rIns="0" bIns="0" anchor="ctr">
            <a:spAutoFit/>
          </a:bodyPr>
          <a:lstStyle/>
          <a:p>
            <a:pPr algn="l"/>
            <a:r>
              <a:rPr sz="1000" b="0" i="0">
                <a:solidFill>
                  <a:srgbClr val="000000"/>
                </a:solidFill>
                <a:latin typeface="Arial"/>
              </a:rPr>
              <a:t>employers placed on the map, plus 85 village and office points</a:t>
            </a:r>
          </a:p>
        </p:txBody>
      </p:sp>
      <p:sp>
        <p:nvSpPr>
          <p:cNvPr id="36" name="Hexagon 35"/>
          <p:cNvSpPr/>
          <p:nvPr/>
        </p:nvSpPr>
        <p:spPr>
          <a:xfrm>
            <a:off x="9025128" y="3291840"/>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37" name="Hexagon 36"/>
          <p:cNvSpPr/>
          <p:nvPr/>
        </p:nvSpPr>
        <p:spPr>
          <a:xfrm>
            <a:off x="11036807" y="3291840"/>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38" name="Connector 37"/>
          <p:cNvCxnSpPr/>
          <p:nvPr/>
        </p:nvCxnSpPr>
        <p:spPr>
          <a:xfrm>
            <a:off x="548640" y="3675887"/>
            <a:ext cx="11091672" cy="0"/>
          </a:xfrm>
          <a:prstGeom prst="line">
            <a:avLst/>
          </a:prstGeom>
          <a:ln w="9525">
            <a:solidFill>
              <a:srgbClr val="ECECEC"/>
            </a:solidFill>
          </a:ln>
        </p:spPr>
      </p:cxnSp>
      <p:sp>
        <p:nvSpPr>
          <p:cNvPr id="39" name="Hexagon 38"/>
          <p:cNvSpPr/>
          <p:nvPr/>
        </p:nvSpPr>
        <p:spPr>
          <a:xfrm>
            <a:off x="548640" y="3744468"/>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40" name="TextBox 39"/>
          <p:cNvSpPr txBox="1"/>
          <p:nvPr/>
        </p:nvSpPr>
        <p:spPr>
          <a:xfrm>
            <a:off x="1051560" y="3707891"/>
            <a:ext cx="2423160" cy="237744"/>
          </a:xfrm>
          <a:prstGeom prst="rect">
            <a:avLst/>
          </a:prstGeom>
          <a:noFill/>
        </p:spPr>
        <p:txBody>
          <a:bodyPr wrap="square" lIns="0" tIns="0" rIns="0" bIns="0" anchor="t">
            <a:spAutoFit/>
          </a:bodyPr>
          <a:lstStyle/>
          <a:p>
            <a:pPr algn="l"/>
            <a:r>
              <a:rPr sz="1200" b="1" i="0">
                <a:solidFill>
                  <a:srgbClr val="002368"/>
                </a:solidFill>
                <a:latin typeface="Arial"/>
              </a:rPr>
              <a:t>Website deep crawl</a:t>
            </a:r>
          </a:p>
        </p:txBody>
      </p:sp>
      <p:sp>
        <p:nvSpPr>
          <p:cNvPr id="41" name="TextBox 40"/>
          <p:cNvSpPr txBox="1"/>
          <p:nvPr/>
        </p:nvSpPr>
        <p:spPr>
          <a:xfrm>
            <a:off x="1051560" y="3936491"/>
            <a:ext cx="2423160" cy="201168"/>
          </a:xfrm>
          <a:prstGeom prst="rect">
            <a:avLst/>
          </a:prstGeom>
          <a:noFill/>
        </p:spPr>
        <p:txBody>
          <a:bodyPr wrap="square" lIns="0" tIns="0" rIns="0" bIns="0" anchor="t">
            <a:spAutoFit/>
          </a:bodyPr>
          <a:lstStyle/>
          <a:p>
            <a:pPr algn="l"/>
            <a:r>
              <a:rPr sz="850" b="0" i="0">
                <a:solidFill>
                  <a:srgbClr val="818283"/>
                </a:solidFill>
                <a:latin typeface="Arial"/>
              </a:rPr>
              <a:t>each organisation's own site</a:t>
            </a:r>
          </a:p>
        </p:txBody>
      </p:sp>
      <p:sp>
        <p:nvSpPr>
          <p:cNvPr id="42" name="TextBox 41"/>
          <p:cNvSpPr txBox="1"/>
          <p:nvPr/>
        </p:nvSpPr>
        <p:spPr>
          <a:xfrm>
            <a:off x="3520440" y="3707891"/>
            <a:ext cx="1280160" cy="411480"/>
          </a:xfrm>
          <a:prstGeom prst="rect">
            <a:avLst/>
          </a:prstGeom>
          <a:noFill/>
        </p:spPr>
        <p:txBody>
          <a:bodyPr wrap="square" lIns="0" tIns="0" rIns="0" bIns="0" anchor="ctr">
            <a:spAutoFit/>
          </a:bodyPr>
          <a:lstStyle/>
          <a:p>
            <a:pPr algn="l"/>
            <a:r>
              <a:rPr sz="2000" b="0" i="0">
                <a:solidFill>
                  <a:srgbClr val="002368"/>
                </a:solidFill>
                <a:latin typeface="Georgia"/>
              </a:rPr>
              <a:t>507</a:t>
            </a:r>
          </a:p>
        </p:txBody>
      </p:sp>
      <p:sp>
        <p:nvSpPr>
          <p:cNvPr id="43" name="TextBox 42"/>
          <p:cNvSpPr txBox="1"/>
          <p:nvPr/>
        </p:nvSpPr>
        <p:spPr>
          <a:xfrm>
            <a:off x="4846320" y="3707891"/>
            <a:ext cx="3703320" cy="411480"/>
          </a:xfrm>
          <a:prstGeom prst="rect">
            <a:avLst/>
          </a:prstGeom>
          <a:noFill/>
        </p:spPr>
        <p:txBody>
          <a:bodyPr wrap="square" lIns="0" tIns="0" rIns="0" bIns="0" anchor="ctr">
            <a:spAutoFit/>
          </a:bodyPr>
          <a:lstStyle/>
          <a:p>
            <a:pPr algn="l"/>
            <a:r>
              <a:rPr sz="1000" b="0" i="0">
                <a:solidFill>
                  <a:srgbClr val="000000"/>
                </a:solidFill>
                <a:latin typeface="Arial"/>
              </a:rPr>
              <a:t>of 627 websites gave an email address; 217 named their people</a:t>
            </a:r>
          </a:p>
        </p:txBody>
      </p:sp>
      <p:sp>
        <p:nvSpPr>
          <p:cNvPr id="44" name="Hexagon 43"/>
          <p:cNvSpPr/>
          <p:nvPr/>
        </p:nvSpPr>
        <p:spPr>
          <a:xfrm>
            <a:off x="9025128" y="3781044"/>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45" name="Hexagon 44"/>
          <p:cNvSpPr/>
          <p:nvPr/>
        </p:nvSpPr>
        <p:spPr>
          <a:xfrm>
            <a:off x="10030967" y="3781044"/>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cxnSp>
        <p:nvCxnSpPr>
          <p:cNvPr id="46" name="Connector 45"/>
          <p:cNvCxnSpPr/>
          <p:nvPr/>
        </p:nvCxnSpPr>
        <p:spPr>
          <a:xfrm>
            <a:off x="548640" y="4165091"/>
            <a:ext cx="11091672" cy="0"/>
          </a:xfrm>
          <a:prstGeom prst="line">
            <a:avLst/>
          </a:prstGeom>
          <a:ln w="9525">
            <a:solidFill>
              <a:srgbClr val="ECECEC"/>
            </a:solidFill>
          </a:ln>
        </p:spPr>
      </p:cxnSp>
      <p:sp>
        <p:nvSpPr>
          <p:cNvPr id="47" name="Hexagon 46"/>
          <p:cNvSpPr/>
          <p:nvPr/>
        </p:nvSpPr>
        <p:spPr>
          <a:xfrm>
            <a:off x="548640" y="4233672"/>
            <a:ext cx="384048" cy="338328"/>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5</a:t>
            </a:r>
          </a:p>
        </p:txBody>
      </p:sp>
      <p:sp>
        <p:nvSpPr>
          <p:cNvPr id="48" name="TextBox 47"/>
          <p:cNvSpPr txBox="1"/>
          <p:nvPr/>
        </p:nvSpPr>
        <p:spPr>
          <a:xfrm>
            <a:off x="1051560" y="4197096"/>
            <a:ext cx="2423160" cy="237744"/>
          </a:xfrm>
          <a:prstGeom prst="rect">
            <a:avLst/>
          </a:prstGeom>
          <a:noFill/>
        </p:spPr>
        <p:txBody>
          <a:bodyPr wrap="square" lIns="0" tIns="0" rIns="0" bIns="0" anchor="t">
            <a:spAutoFit/>
          </a:bodyPr>
          <a:lstStyle/>
          <a:p>
            <a:pPr algn="l"/>
            <a:r>
              <a:rPr sz="1200" b="1" i="0">
                <a:solidFill>
                  <a:srgbClr val="002368"/>
                </a:solidFill>
                <a:latin typeface="Arial"/>
              </a:rPr>
              <a:t>Google Maps</a:t>
            </a:r>
          </a:p>
        </p:txBody>
      </p:sp>
      <p:sp>
        <p:nvSpPr>
          <p:cNvPr id="49" name="TextBox 48"/>
          <p:cNvSpPr txBox="1"/>
          <p:nvPr/>
        </p:nvSpPr>
        <p:spPr>
          <a:xfrm>
            <a:off x="1051560" y="4425696"/>
            <a:ext cx="2423160" cy="201168"/>
          </a:xfrm>
          <a:prstGeom prst="rect">
            <a:avLst/>
          </a:prstGeom>
          <a:noFill/>
        </p:spPr>
        <p:txBody>
          <a:bodyPr wrap="square" lIns="0" tIns="0" rIns="0" bIns="0" anchor="t">
            <a:spAutoFit/>
          </a:bodyPr>
          <a:lstStyle/>
          <a:p>
            <a:pPr algn="l"/>
            <a:r>
              <a:rPr sz="850" b="0" i="0">
                <a:solidFill>
                  <a:srgbClr val="818283"/>
                </a:solidFill>
                <a:latin typeface="Arial"/>
              </a:rPr>
              <a:t>listing lookups</a:t>
            </a:r>
          </a:p>
        </p:txBody>
      </p:sp>
      <p:sp>
        <p:nvSpPr>
          <p:cNvPr id="50" name="TextBox 49"/>
          <p:cNvSpPr txBox="1"/>
          <p:nvPr/>
        </p:nvSpPr>
        <p:spPr>
          <a:xfrm>
            <a:off x="3520440" y="4197096"/>
            <a:ext cx="1280160" cy="411480"/>
          </a:xfrm>
          <a:prstGeom prst="rect">
            <a:avLst/>
          </a:prstGeom>
          <a:noFill/>
        </p:spPr>
        <p:txBody>
          <a:bodyPr wrap="square" lIns="0" tIns="0" rIns="0" bIns="0" anchor="ctr">
            <a:spAutoFit/>
          </a:bodyPr>
          <a:lstStyle/>
          <a:p>
            <a:pPr algn="l"/>
            <a:r>
              <a:rPr sz="2000" b="0" i="0">
                <a:solidFill>
                  <a:srgbClr val="002368"/>
                </a:solidFill>
                <a:latin typeface="Georgia"/>
              </a:rPr>
              <a:t>333</a:t>
            </a:r>
          </a:p>
        </p:txBody>
      </p:sp>
      <p:sp>
        <p:nvSpPr>
          <p:cNvPr id="51" name="TextBox 50"/>
          <p:cNvSpPr txBox="1"/>
          <p:nvPr/>
        </p:nvSpPr>
        <p:spPr>
          <a:xfrm>
            <a:off x="4846320" y="4197096"/>
            <a:ext cx="3703320" cy="411480"/>
          </a:xfrm>
          <a:prstGeom prst="rect">
            <a:avLst/>
          </a:prstGeom>
          <a:noFill/>
        </p:spPr>
        <p:txBody>
          <a:bodyPr wrap="square" lIns="0" tIns="0" rIns="0" bIns="0" anchor="ctr">
            <a:spAutoFit/>
          </a:bodyPr>
          <a:lstStyle/>
          <a:p>
            <a:pPr algn="l"/>
            <a:r>
              <a:rPr sz="1000" b="0" i="0">
                <a:solidFill>
                  <a:srgbClr val="000000"/>
                </a:solidFill>
                <a:latin typeface="Arial"/>
              </a:rPr>
              <a:t>of 497 lookups confirmed a map pin, street address or phone</a:t>
            </a:r>
          </a:p>
        </p:txBody>
      </p:sp>
      <p:sp>
        <p:nvSpPr>
          <p:cNvPr id="52" name="Hexagon 51"/>
          <p:cNvSpPr/>
          <p:nvPr/>
        </p:nvSpPr>
        <p:spPr>
          <a:xfrm>
            <a:off x="9025128" y="4270248"/>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53" name="Hexagon 52"/>
          <p:cNvSpPr/>
          <p:nvPr/>
        </p:nvSpPr>
        <p:spPr>
          <a:xfrm>
            <a:off x="10030967" y="4270248"/>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sp>
        <p:nvSpPr>
          <p:cNvPr id="54" name="Hexagon 53"/>
          <p:cNvSpPr/>
          <p:nvPr/>
        </p:nvSpPr>
        <p:spPr>
          <a:xfrm>
            <a:off x="11036807" y="4270248"/>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55" name="Connector 54"/>
          <p:cNvCxnSpPr/>
          <p:nvPr/>
        </p:nvCxnSpPr>
        <p:spPr>
          <a:xfrm>
            <a:off x="548640" y="4654296"/>
            <a:ext cx="11091672" cy="0"/>
          </a:xfrm>
          <a:prstGeom prst="line">
            <a:avLst/>
          </a:prstGeom>
          <a:ln w="9525">
            <a:solidFill>
              <a:srgbClr val="ECECEC"/>
            </a:solidFill>
          </a:ln>
        </p:spPr>
      </p:cxnSp>
      <p:sp>
        <p:nvSpPr>
          <p:cNvPr id="56" name="Hexagon 55"/>
          <p:cNvSpPr/>
          <p:nvPr/>
        </p:nvSpPr>
        <p:spPr>
          <a:xfrm>
            <a:off x="548640" y="4722876"/>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57" name="TextBox 56"/>
          <p:cNvSpPr txBox="1"/>
          <p:nvPr/>
        </p:nvSpPr>
        <p:spPr>
          <a:xfrm>
            <a:off x="1051560" y="4686300"/>
            <a:ext cx="2423160" cy="237744"/>
          </a:xfrm>
          <a:prstGeom prst="rect">
            <a:avLst/>
          </a:prstGeom>
          <a:noFill/>
        </p:spPr>
        <p:txBody>
          <a:bodyPr wrap="square" lIns="0" tIns="0" rIns="0" bIns="0" anchor="t">
            <a:spAutoFit/>
          </a:bodyPr>
          <a:lstStyle/>
          <a:p>
            <a:pPr algn="l"/>
            <a:r>
              <a:rPr sz="1200" b="1" i="0">
                <a:solidFill>
                  <a:srgbClr val="002368"/>
                </a:solidFill>
                <a:latin typeface="Arial"/>
              </a:rPr>
              <a:t>NGO register</a:t>
            </a:r>
          </a:p>
        </p:txBody>
      </p:sp>
      <p:sp>
        <p:nvSpPr>
          <p:cNvPr id="58" name="TextBox 57"/>
          <p:cNvSpPr txBox="1"/>
          <p:nvPr/>
        </p:nvSpPr>
        <p:spPr>
          <a:xfrm>
            <a:off x="1051560" y="4914900"/>
            <a:ext cx="2423160" cy="201168"/>
          </a:xfrm>
          <a:prstGeom prst="rect">
            <a:avLst/>
          </a:prstGeom>
          <a:noFill/>
        </p:spPr>
        <p:txBody>
          <a:bodyPr wrap="square" lIns="0" tIns="0" rIns="0" bIns="0" anchor="t">
            <a:spAutoFit/>
          </a:bodyPr>
          <a:lstStyle/>
          <a:p>
            <a:pPr algn="l"/>
            <a:r>
              <a:rPr sz="850" b="0" i="0">
                <a:solidFill>
                  <a:srgbClr val="818283"/>
                </a:solidFill>
                <a:latin typeface="Arial"/>
              </a:rPr>
              <a:t>national NGO information system</a:t>
            </a:r>
          </a:p>
        </p:txBody>
      </p:sp>
      <p:sp>
        <p:nvSpPr>
          <p:cNvPr id="59" name="TextBox 58"/>
          <p:cNvSpPr txBox="1"/>
          <p:nvPr/>
        </p:nvSpPr>
        <p:spPr>
          <a:xfrm>
            <a:off x="3520440" y="4686300"/>
            <a:ext cx="1280160" cy="411480"/>
          </a:xfrm>
          <a:prstGeom prst="rect">
            <a:avLst/>
          </a:prstGeom>
          <a:noFill/>
        </p:spPr>
        <p:txBody>
          <a:bodyPr wrap="square" lIns="0" tIns="0" rIns="0" bIns="0" anchor="ctr">
            <a:spAutoFit/>
          </a:bodyPr>
          <a:lstStyle/>
          <a:p>
            <a:pPr algn="l"/>
            <a:r>
              <a:rPr sz="2000" b="0" i="0">
                <a:solidFill>
                  <a:srgbClr val="002368"/>
                </a:solidFill>
                <a:latin typeface="Georgia"/>
              </a:rPr>
              <a:t>898</a:t>
            </a:r>
          </a:p>
        </p:txBody>
      </p:sp>
      <p:sp>
        <p:nvSpPr>
          <p:cNvPr id="60" name="TextBox 59"/>
          <p:cNvSpPr txBox="1"/>
          <p:nvPr/>
        </p:nvSpPr>
        <p:spPr>
          <a:xfrm>
            <a:off x="4846320" y="4686300"/>
            <a:ext cx="3703320" cy="411480"/>
          </a:xfrm>
          <a:prstGeom prst="rect">
            <a:avLst/>
          </a:prstGeom>
          <a:noFill/>
        </p:spPr>
        <p:txBody>
          <a:bodyPr wrap="square" lIns="0" tIns="0" rIns="0" bIns="0" anchor="ctr">
            <a:spAutoFit/>
          </a:bodyPr>
          <a:lstStyle/>
          <a:p>
            <a:pPr algn="l"/>
            <a:r>
              <a:rPr sz="1000" b="0" i="0">
                <a:solidFill>
                  <a:srgbClr val="000000"/>
                </a:solidFill>
                <a:latin typeface="Arial"/>
              </a:rPr>
              <a:t>register entries read; 285 match a welfare lead</a:t>
            </a:r>
          </a:p>
        </p:txBody>
      </p:sp>
      <p:sp>
        <p:nvSpPr>
          <p:cNvPr id="61" name="Hexagon 60"/>
          <p:cNvSpPr/>
          <p:nvPr/>
        </p:nvSpPr>
        <p:spPr>
          <a:xfrm>
            <a:off x="10030967" y="4759452"/>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cxnSp>
        <p:nvCxnSpPr>
          <p:cNvPr id="62" name="Connector 61"/>
          <p:cNvCxnSpPr/>
          <p:nvPr/>
        </p:nvCxnSpPr>
        <p:spPr>
          <a:xfrm>
            <a:off x="548640" y="5143500"/>
            <a:ext cx="11091672" cy="0"/>
          </a:xfrm>
          <a:prstGeom prst="line">
            <a:avLst/>
          </a:prstGeom>
          <a:ln w="9525">
            <a:solidFill>
              <a:srgbClr val="ECECEC"/>
            </a:solidFill>
          </a:ln>
        </p:spPr>
      </p:cxnSp>
      <p:sp>
        <p:nvSpPr>
          <p:cNvPr id="63" name="Hexagon 62"/>
          <p:cNvSpPr/>
          <p:nvPr/>
        </p:nvSpPr>
        <p:spPr>
          <a:xfrm>
            <a:off x="548640" y="521208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7</a:t>
            </a:r>
          </a:p>
        </p:txBody>
      </p:sp>
      <p:sp>
        <p:nvSpPr>
          <p:cNvPr id="64" name="TextBox 63"/>
          <p:cNvSpPr txBox="1"/>
          <p:nvPr/>
        </p:nvSpPr>
        <p:spPr>
          <a:xfrm>
            <a:off x="1051560" y="5175504"/>
            <a:ext cx="2423160" cy="237744"/>
          </a:xfrm>
          <a:prstGeom prst="rect">
            <a:avLst/>
          </a:prstGeom>
          <a:noFill/>
        </p:spPr>
        <p:txBody>
          <a:bodyPr wrap="square" lIns="0" tIns="0" rIns="0" bIns="0" anchor="t">
            <a:spAutoFit/>
          </a:bodyPr>
          <a:lstStyle/>
          <a:p>
            <a:pPr algn="l"/>
            <a:r>
              <a:rPr sz="1200" b="1" i="0">
                <a:solidFill>
                  <a:srgbClr val="002368"/>
                </a:solidFill>
                <a:latin typeface="Arial"/>
              </a:rPr>
              <a:t>Council data</a:t>
            </a:r>
          </a:p>
        </p:txBody>
      </p:sp>
      <p:sp>
        <p:nvSpPr>
          <p:cNvPr id="65" name="TextBox 64"/>
          <p:cNvSpPr txBox="1"/>
          <p:nvPr/>
        </p:nvSpPr>
        <p:spPr>
          <a:xfrm>
            <a:off x="1051560" y="5404104"/>
            <a:ext cx="2423160" cy="201168"/>
          </a:xfrm>
          <a:prstGeom prst="rect">
            <a:avLst/>
          </a:prstGeom>
          <a:noFill/>
        </p:spPr>
        <p:txBody>
          <a:bodyPr wrap="square" lIns="0" tIns="0" rIns="0" bIns="0" anchor="t">
            <a:spAutoFit/>
          </a:bodyPr>
          <a:lstStyle/>
          <a:p>
            <a:pPr algn="l"/>
            <a:r>
              <a:rPr sz="850" b="0" i="0">
                <a:solidFill>
                  <a:srgbClr val="818283"/>
                </a:solidFill>
                <a:latin typeface="Arial"/>
              </a:rPr>
              <a:t>council websites and official sources</a:t>
            </a:r>
          </a:p>
        </p:txBody>
      </p:sp>
      <p:sp>
        <p:nvSpPr>
          <p:cNvPr id="66" name="TextBox 65"/>
          <p:cNvSpPr txBox="1"/>
          <p:nvPr/>
        </p:nvSpPr>
        <p:spPr>
          <a:xfrm>
            <a:off x="3520440" y="5175504"/>
            <a:ext cx="1280160" cy="411480"/>
          </a:xfrm>
          <a:prstGeom prst="rect">
            <a:avLst/>
          </a:prstGeom>
          <a:noFill/>
        </p:spPr>
        <p:txBody>
          <a:bodyPr wrap="square" lIns="0" tIns="0" rIns="0" bIns="0" anchor="ctr">
            <a:spAutoFit/>
          </a:bodyPr>
          <a:lstStyle/>
          <a:p>
            <a:pPr algn="l"/>
            <a:r>
              <a:rPr sz="2000" b="0" i="0">
                <a:solidFill>
                  <a:srgbClr val="002368"/>
                </a:solidFill>
                <a:latin typeface="Georgia"/>
              </a:rPr>
              <a:t>148</a:t>
            </a:r>
          </a:p>
        </p:txBody>
      </p:sp>
      <p:sp>
        <p:nvSpPr>
          <p:cNvPr id="67" name="TextBox 66"/>
          <p:cNvSpPr txBox="1"/>
          <p:nvPr/>
        </p:nvSpPr>
        <p:spPr>
          <a:xfrm>
            <a:off x="4846320" y="5175504"/>
            <a:ext cx="3703320" cy="411480"/>
          </a:xfrm>
          <a:prstGeom prst="rect">
            <a:avLst/>
          </a:prstGeom>
          <a:noFill/>
        </p:spPr>
        <p:txBody>
          <a:bodyPr wrap="square" lIns="0" tIns="0" rIns="0" bIns="0" anchor="ctr">
            <a:spAutoFit/>
          </a:bodyPr>
          <a:lstStyle/>
          <a:p>
            <a:pPr algn="l"/>
            <a:r>
              <a:rPr sz="1000" b="0" i="0">
                <a:solidFill>
                  <a:srgbClr val="000000"/>
                </a:solidFill>
                <a:latin typeface="Arial"/>
              </a:rPr>
              <a:t>offices: 9 councils, 7 districts, 3 regions and 129 wards</a:t>
            </a:r>
          </a:p>
        </p:txBody>
      </p:sp>
      <p:sp>
        <p:nvSpPr>
          <p:cNvPr id="68" name="Hexagon 67"/>
          <p:cNvSpPr/>
          <p:nvPr/>
        </p:nvSpPr>
        <p:spPr>
          <a:xfrm>
            <a:off x="11036807" y="5248656"/>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69" name="Connector 68"/>
          <p:cNvCxnSpPr/>
          <p:nvPr/>
        </p:nvCxnSpPr>
        <p:spPr>
          <a:xfrm>
            <a:off x="548640" y="5632704"/>
            <a:ext cx="11091672" cy="0"/>
          </a:xfrm>
          <a:prstGeom prst="line">
            <a:avLst/>
          </a:prstGeom>
          <a:ln w="9525">
            <a:solidFill>
              <a:srgbClr val="ECECEC"/>
            </a:solidFill>
          </a:ln>
        </p:spPr>
      </p:cxnSp>
      <p:sp>
        <p:nvSpPr>
          <p:cNvPr id="70" name="Hexagon 69"/>
          <p:cNvSpPr/>
          <p:nvPr/>
        </p:nvSpPr>
        <p:spPr>
          <a:xfrm>
            <a:off x="548640" y="5701284"/>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8</a:t>
            </a:r>
          </a:p>
        </p:txBody>
      </p:sp>
      <p:sp>
        <p:nvSpPr>
          <p:cNvPr id="71" name="TextBox 70"/>
          <p:cNvSpPr txBox="1"/>
          <p:nvPr/>
        </p:nvSpPr>
        <p:spPr>
          <a:xfrm>
            <a:off x="1051560" y="5664708"/>
            <a:ext cx="2423160" cy="237744"/>
          </a:xfrm>
          <a:prstGeom prst="rect">
            <a:avLst/>
          </a:prstGeom>
          <a:noFill/>
        </p:spPr>
        <p:txBody>
          <a:bodyPr wrap="square" lIns="0" tIns="0" rIns="0" bIns="0" anchor="t">
            <a:spAutoFit/>
          </a:bodyPr>
          <a:lstStyle/>
          <a:p>
            <a:pPr algn="l"/>
            <a:r>
              <a:rPr sz="1200" b="1" i="0">
                <a:solidFill>
                  <a:srgbClr val="002368"/>
                </a:solidFill>
                <a:latin typeface="Arial"/>
              </a:rPr>
              <a:t>Searches</a:t>
            </a:r>
          </a:p>
        </p:txBody>
      </p:sp>
      <p:sp>
        <p:nvSpPr>
          <p:cNvPr id="72" name="TextBox 71"/>
          <p:cNvSpPr txBox="1"/>
          <p:nvPr/>
        </p:nvSpPr>
        <p:spPr>
          <a:xfrm>
            <a:off x="1051560" y="5893308"/>
            <a:ext cx="2423160" cy="201168"/>
          </a:xfrm>
          <a:prstGeom prst="rect">
            <a:avLst/>
          </a:prstGeom>
          <a:noFill/>
        </p:spPr>
        <p:txBody>
          <a:bodyPr wrap="square" lIns="0" tIns="0" rIns="0" bIns="0" anchor="t">
            <a:spAutoFit/>
          </a:bodyPr>
          <a:lstStyle/>
          <a:p>
            <a:pPr algn="l"/>
            <a:r>
              <a:rPr sz="850" b="0" i="0">
                <a:solidFill>
                  <a:srgbClr val="818283"/>
                </a:solidFill>
                <a:latin typeface="Arial"/>
              </a:rPr>
              <a:t>automated and manual lookups</a:t>
            </a:r>
          </a:p>
        </p:txBody>
      </p:sp>
      <p:sp>
        <p:nvSpPr>
          <p:cNvPr id="73" name="TextBox 72"/>
          <p:cNvSpPr txBox="1"/>
          <p:nvPr/>
        </p:nvSpPr>
        <p:spPr>
          <a:xfrm>
            <a:off x="3520440" y="5664708"/>
            <a:ext cx="1280160" cy="411480"/>
          </a:xfrm>
          <a:prstGeom prst="rect">
            <a:avLst/>
          </a:prstGeom>
          <a:noFill/>
        </p:spPr>
        <p:txBody>
          <a:bodyPr wrap="square" lIns="0" tIns="0" rIns="0" bIns="0" anchor="ctr">
            <a:spAutoFit/>
          </a:bodyPr>
          <a:lstStyle/>
          <a:p>
            <a:pPr algn="l"/>
            <a:r>
              <a:rPr sz="2000" b="0" i="0">
                <a:solidFill>
                  <a:srgbClr val="002368"/>
                </a:solidFill>
                <a:latin typeface="Georgia"/>
              </a:rPr>
              <a:t>1,960</a:t>
            </a:r>
          </a:p>
        </p:txBody>
      </p:sp>
      <p:sp>
        <p:nvSpPr>
          <p:cNvPr id="74" name="TextBox 73"/>
          <p:cNvSpPr txBox="1"/>
          <p:nvPr/>
        </p:nvSpPr>
        <p:spPr>
          <a:xfrm>
            <a:off x="4846320" y="5664708"/>
            <a:ext cx="3703320" cy="411480"/>
          </a:xfrm>
          <a:prstGeom prst="rect">
            <a:avLst/>
          </a:prstGeom>
          <a:noFill/>
        </p:spPr>
        <p:txBody>
          <a:bodyPr wrap="square" lIns="0" tIns="0" rIns="0" bIns="0" anchor="ctr">
            <a:spAutoFit/>
          </a:bodyPr>
          <a:lstStyle/>
          <a:p>
            <a:pPr algn="l"/>
            <a:r>
              <a:rPr sz="1000" b="0" i="0">
                <a:solidFill>
                  <a:srgbClr val="000000"/>
                </a:solidFill>
                <a:latin typeface="Arial"/>
              </a:rPr>
              <a:t>web searches across 1,002 organisations, including the companies the team named</a:t>
            </a:r>
          </a:p>
        </p:txBody>
      </p:sp>
      <p:sp>
        <p:nvSpPr>
          <p:cNvPr id="75" name="Hexagon 74"/>
          <p:cNvSpPr/>
          <p:nvPr/>
        </p:nvSpPr>
        <p:spPr>
          <a:xfrm>
            <a:off x="9025128" y="5737860"/>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76" name="Hexagon 75"/>
          <p:cNvSpPr/>
          <p:nvPr/>
        </p:nvSpPr>
        <p:spPr>
          <a:xfrm>
            <a:off x="10030967" y="5737860"/>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sp>
        <p:nvSpPr>
          <p:cNvPr id="77" name="Hexagon 76"/>
          <p:cNvSpPr/>
          <p:nvPr/>
        </p:nvSpPr>
        <p:spPr>
          <a:xfrm>
            <a:off x="11036807" y="5737860"/>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pic>
        <p:nvPicPr>
          <p:cNvPr id="78" name="Picture 77" descr="image3.png"/>
          <p:cNvPicPr>
            <a:picLocks noChangeAspect="1"/>
          </p:cNvPicPr>
          <p:nvPr/>
        </p:nvPicPr>
        <p:blipFill>
          <a:blip r:embed="rId2"/>
          <a:stretch>
            <a:fillRect/>
          </a:stretch>
        </p:blipFill>
        <p:spPr>
          <a:xfrm>
            <a:off x="548640" y="6272784"/>
            <a:ext cx="1143000" cy="274320"/>
          </a:xfrm>
          <a:prstGeom prst="rect">
            <a:avLst/>
          </a:prstGeom>
        </p:spPr>
      </p:pic>
      <p:sp>
        <p:nvSpPr>
          <p:cNvPr id="7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8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research records, October 2026</a:t>
            </a:r>
          </a:p>
        </p:txBody>
      </p:sp>
      <p:sp>
        <p:nvSpPr>
          <p:cNvPr id="8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02</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TWO</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Segments and confidence</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Who we write to, what we ask, and how sure we are it reaches the decision-maker.</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Four core segments</a:t>
            </a:r>
          </a:p>
          <a:p>
            <a:pPr algn="l" marL="155448" indent="-155448">
              <a:spcAft>
                <a:spcPts val="400"/>
              </a:spcAft>
              <a:buFont typeface="Arial"/>
              <a:buChar char="•"/>
            </a:pPr>
            <a:r>
              <a:rPr sz="1100" b="0" i="0">
                <a:solidFill>
                  <a:srgbClr val="FFFFFF"/>
                </a:solidFill>
                <a:latin typeface="Arial"/>
              </a:rPr>
              <a:t>Employer subsegments: kind, variant, reach tier</a:t>
            </a:r>
          </a:p>
          <a:p>
            <a:pPr algn="l" marL="155448" indent="-155448">
              <a:spcAft>
                <a:spcPts val="400"/>
              </a:spcAft>
              <a:buFont typeface="Arial"/>
              <a:buChar char="•"/>
            </a:pPr>
            <a:r>
              <a:rPr sz="1100" b="0" i="0">
                <a:solidFill>
                  <a:srgbClr val="FFFFFF"/>
                </a:solidFill>
                <a:latin typeface="Arial"/>
              </a:rPr>
              <a:t>Introducers, savings groups, welfare and government</a:t>
            </a:r>
          </a:p>
          <a:p>
            <a:pPr algn="l" marL="155448" indent="-155448">
              <a:spcAft>
                <a:spcPts val="400"/>
              </a:spcAft>
              <a:buFont typeface="Arial"/>
              <a:buChar char="•"/>
            </a:pPr>
            <a:r>
              <a:rPr sz="1100" b="0" i="0">
                <a:solidFill>
                  <a:srgbClr val="FFFFFF"/>
                </a:solidFill>
                <a:latin typeface="Arial"/>
              </a:rPr>
              <a:t>The confidence layer and the contact segments</a:t>
            </a:r>
          </a:p>
          <a:p>
            <a:pPr algn="l" marL="155448" indent="-155448">
              <a:spcAft>
                <a:spcPts val="400"/>
              </a:spcAft>
              <a:buFont typeface="Arial"/>
              <a:buChar char="•"/>
            </a:pPr>
            <a:r>
              <a:rPr sz="1100" b="0" i="0">
                <a:solidFill>
                  <a:srgbClr val="FFFFFF"/>
                </a:solidFill>
                <a:latin typeface="Arial"/>
              </a:rPr>
              <a:t>The on-the-ground recipient rule</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partnership on a staff education benefit; sponsorship for the 14 that fund education</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 employers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partnership on the children's education, or student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15–20 minute Kiswahili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1051560"/>
          </a:xfrm>
          <a:prstGeom prst="roundRect">
            <a:avLst>
              <a:gd name="adj" fmla="val 6086"/>
            </a:avLst>
          </a:prstGeom>
          <a:solidFill>
            <a:srgbClr val="FFF7E5"/>
          </a:solidFill>
          <a:ln w="12700">
            <a:solidFill>
              <a:srgbClr val="FFF7E5"/>
            </a:solidFill>
          </a:ln>
        </p:spPr>
        <p:txBody>
          <a:bodyPr rtlCol="0" anchor="ctr"/>
          <a:lstStyle/>
          <a:p>
            <a:pPr algn="ct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 ready, 116 without email. </a:t>
            </a:r>
            <a:r>
              <a:rPr sz="1000" b="0" i="0">
                <a:solidFill>
                  <a:srgbClr val="000000"/>
                </a:solidFill>
                <a:latin typeface="Arial"/>
              </a:rPr>
              <a:t>Gates before S1: a native-speaker Kiswahili review, and Finance agreeing to extend the member rate (OF07, documented for KINEFA only).</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BY KIND AND PRIORITY</a:t>
            </a:r>
          </a:p>
        </p:txBody>
      </p:sp>
      <p:sp>
        <p:nvSpPr>
          <p:cNvPr id="5" name="TextBox 4"/>
          <p:cNvSpPr txBox="1"/>
          <p:nvPr/>
        </p:nvSpPr>
        <p:spPr>
          <a:xfrm>
            <a:off x="5440680" y="1572768"/>
            <a:ext cx="685800" cy="228600"/>
          </a:xfrm>
          <a:prstGeom prst="rect">
            <a:avLst/>
          </a:prstGeom>
          <a:noFill/>
        </p:spPr>
        <p:txBody>
          <a:bodyPr wrap="square" lIns="0" tIns="0" rIns="0" bIns="0" anchor="t">
            <a:spAutoFit/>
          </a:bodyPr>
          <a:lstStyle/>
          <a:p>
            <a:pPr algn="ctr"/>
            <a:r>
              <a:rPr sz="850" b="1" i="0" spc="150">
                <a:solidFill>
                  <a:srgbClr val="818283"/>
                </a:solidFill>
                <a:latin typeface="Arial"/>
              </a:rPr>
              <a:t>READY</a:t>
            </a:r>
          </a:p>
        </p:txBody>
      </p:sp>
      <p:sp>
        <p:nvSpPr>
          <p:cNvPr id="6" name="TextBox 5"/>
          <p:cNvSpPr txBox="1"/>
          <p:nvPr/>
        </p:nvSpPr>
        <p:spPr>
          <a:xfrm>
            <a:off x="548640" y="1874519"/>
            <a:ext cx="2011680" cy="384048"/>
          </a:xfrm>
          <a:prstGeom prst="rect">
            <a:avLst/>
          </a:prstGeom>
          <a:noFill/>
        </p:spPr>
        <p:txBody>
          <a:bodyPr wrap="square" lIns="0" tIns="0" rIns="0" bIns="0" anchor="ctr">
            <a:spAutoFit/>
          </a:bodyPr>
          <a:lstStyle/>
          <a:p>
            <a:pPr algn="l"/>
            <a:r>
              <a:rPr sz="1050" b="1" i="0">
                <a:solidFill>
                  <a:srgbClr val="002368"/>
                </a:solidFill>
                <a:latin typeface="Arial"/>
              </a:rPr>
              <a:t>Residential care</a:t>
            </a:r>
          </a:p>
        </p:txBody>
      </p:sp>
      <p:sp>
        <p:nvSpPr>
          <p:cNvPr id="7" name="Rectangle 6"/>
          <p:cNvSpPr/>
          <p:nvPr/>
        </p:nvSpPr>
        <p:spPr>
          <a:xfrm>
            <a:off x="2606040" y="1911095"/>
            <a:ext cx="314185" cy="310896"/>
          </a:xfrm>
          <a:prstGeom prst="rect">
            <a:avLst/>
          </a:prstGeom>
          <a:solidFill>
            <a:srgbClr val="002368"/>
          </a:solidFill>
          <a:ln>
            <a:noFill/>
          </a:ln>
        </p:spPr>
        <p:txBody>
          <a:bodyPr rtlCol="0" anchor="ctr"/>
          <a:lstStyle/>
          <a:p>
            <a:pPr algn="ctr"/>
          </a:p>
        </p:txBody>
      </p:sp>
      <p:sp>
        <p:nvSpPr>
          <p:cNvPr id="8" name="TextBox 7"/>
          <p:cNvSpPr txBox="1"/>
          <p:nvPr/>
        </p:nvSpPr>
        <p:spPr>
          <a:xfrm>
            <a:off x="2606040" y="1911095"/>
            <a:ext cx="314185" cy="310896"/>
          </a:xfrm>
          <a:prstGeom prst="rect">
            <a:avLst/>
          </a:prstGeom>
          <a:noFill/>
        </p:spPr>
        <p:txBody>
          <a:bodyPr wrap="square" lIns="0" tIns="0" rIns="0" bIns="0" anchor="ctr">
            <a:spAutoFit/>
          </a:bodyPr>
          <a:lstStyle/>
          <a:p>
            <a:pPr algn="ctr"/>
            <a:r>
              <a:rPr sz="900" b="1" i="0">
                <a:solidFill>
                  <a:srgbClr val="FFFFFF"/>
                </a:solidFill>
                <a:latin typeface="Arial"/>
              </a:rPr>
              <a:t>23</a:t>
            </a:r>
          </a:p>
        </p:txBody>
      </p:sp>
      <p:sp>
        <p:nvSpPr>
          <p:cNvPr id="9" name="Rectangle 8"/>
          <p:cNvSpPr/>
          <p:nvPr/>
        </p:nvSpPr>
        <p:spPr>
          <a:xfrm>
            <a:off x="2920225" y="1911095"/>
            <a:ext cx="273204" cy="310896"/>
          </a:xfrm>
          <a:prstGeom prst="rect">
            <a:avLst/>
          </a:prstGeom>
          <a:solidFill>
            <a:srgbClr val="80BFEC"/>
          </a:solidFill>
          <a:ln>
            <a:noFill/>
          </a:ln>
        </p:spPr>
        <p:txBody>
          <a:bodyPr rtlCol="0" anchor="ctr"/>
          <a:lstStyle/>
          <a:p>
            <a:pPr algn="ctr"/>
          </a:p>
        </p:txBody>
      </p:sp>
      <p:sp>
        <p:nvSpPr>
          <p:cNvPr id="10" name="Rectangle 9"/>
          <p:cNvSpPr/>
          <p:nvPr/>
        </p:nvSpPr>
        <p:spPr>
          <a:xfrm>
            <a:off x="3193430" y="1911095"/>
            <a:ext cx="778633" cy="310896"/>
          </a:xfrm>
          <a:prstGeom prst="rect">
            <a:avLst/>
          </a:prstGeom>
          <a:solidFill>
            <a:srgbClr val="D9ECF9"/>
          </a:solidFill>
          <a:ln>
            <a:noFill/>
          </a:ln>
        </p:spPr>
        <p:txBody>
          <a:bodyPr rtlCol="0" anchor="ctr"/>
          <a:lstStyle/>
          <a:p>
            <a:pPr algn="ctr"/>
          </a:p>
        </p:txBody>
      </p:sp>
      <p:sp>
        <p:nvSpPr>
          <p:cNvPr id="11" name="TextBox 10"/>
          <p:cNvSpPr txBox="1"/>
          <p:nvPr/>
        </p:nvSpPr>
        <p:spPr>
          <a:xfrm>
            <a:off x="3193430" y="1911095"/>
            <a:ext cx="778633" cy="310896"/>
          </a:xfrm>
          <a:prstGeom prst="rect">
            <a:avLst/>
          </a:prstGeom>
          <a:noFill/>
        </p:spPr>
        <p:txBody>
          <a:bodyPr wrap="square" lIns="0" tIns="0" rIns="0" bIns="0" anchor="ctr">
            <a:spAutoFit/>
          </a:bodyPr>
          <a:lstStyle/>
          <a:p>
            <a:pPr algn="ctr"/>
            <a:r>
              <a:rPr sz="900" b="1" i="0">
                <a:solidFill>
                  <a:srgbClr val="002368"/>
                </a:solidFill>
                <a:latin typeface="Arial"/>
              </a:rPr>
              <a:t>57</a:t>
            </a:r>
          </a:p>
        </p:txBody>
      </p:sp>
      <p:sp>
        <p:nvSpPr>
          <p:cNvPr id="12" name="TextBox 11"/>
          <p:cNvSpPr txBox="1"/>
          <p:nvPr/>
        </p:nvSpPr>
        <p:spPr>
          <a:xfrm>
            <a:off x="4026928" y="1874519"/>
            <a:ext cx="548640" cy="384048"/>
          </a:xfrm>
          <a:prstGeom prst="rect">
            <a:avLst/>
          </a:prstGeom>
          <a:noFill/>
        </p:spPr>
        <p:txBody>
          <a:bodyPr wrap="square" lIns="0" tIns="0" rIns="0" bIns="0" anchor="ctr">
            <a:spAutoFit/>
          </a:bodyPr>
          <a:lstStyle/>
          <a:p>
            <a:pPr algn="l"/>
            <a:r>
              <a:rPr sz="1300" b="0" i="0">
                <a:solidFill>
                  <a:srgbClr val="002368"/>
                </a:solidFill>
                <a:latin typeface="Georgia"/>
              </a:rPr>
              <a:t>100</a:t>
            </a:r>
          </a:p>
        </p:txBody>
      </p:sp>
      <p:sp>
        <p:nvSpPr>
          <p:cNvPr id="13" name="Rounded Rectangle 12"/>
          <p:cNvSpPr/>
          <p:nvPr/>
        </p:nvSpPr>
        <p:spPr>
          <a:xfrm>
            <a:off x="5486400" y="1929384"/>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17</a:t>
            </a:r>
          </a:p>
        </p:txBody>
      </p:sp>
      <p:sp>
        <p:nvSpPr>
          <p:cNvPr id="14" name="TextBox 13"/>
          <p:cNvSpPr txBox="1"/>
          <p:nvPr/>
        </p:nvSpPr>
        <p:spPr>
          <a:xfrm>
            <a:off x="548640" y="2478024"/>
            <a:ext cx="2011680" cy="384048"/>
          </a:xfrm>
          <a:prstGeom prst="rect">
            <a:avLst/>
          </a:prstGeom>
          <a:noFill/>
        </p:spPr>
        <p:txBody>
          <a:bodyPr wrap="square" lIns="0" tIns="0" rIns="0" bIns="0" anchor="ctr">
            <a:spAutoFit/>
          </a:bodyPr>
          <a:lstStyle/>
          <a:p>
            <a:pPr algn="l"/>
            <a:r>
              <a:rPr sz="1050" b="1" i="0">
                <a:solidFill>
                  <a:srgbClr val="002368"/>
                </a:solidFill>
                <a:latin typeface="Arial"/>
              </a:rPr>
              <a:t>Family-based programmes</a:t>
            </a:r>
          </a:p>
        </p:txBody>
      </p:sp>
      <p:sp>
        <p:nvSpPr>
          <p:cNvPr id="15" name="Rectangle 14"/>
          <p:cNvSpPr/>
          <p:nvPr/>
        </p:nvSpPr>
        <p:spPr>
          <a:xfrm>
            <a:off x="2606040" y="2514600"/>
            <a:ext cx="163922" cy="310896"/>
          </a:xfrm>
          <a:prstGeom prst="rect">
            <a:avLst/>
          </a:prstGeom>
          <a:solidFill>
            <a:srgbClr val="002368"/>
          </a:solidFill>
          <a:ln>
            <a:noFill/>
          </a:ln>
        </p:spPr>
        <p:txBody>
          <a:bodyPr rtlCol="0" anchor="ctr"/>
          <a:lstStyle/>
          <a:p>
            <a:pPr algn="ctr"/>
          </a:p>
        </p:txBody>
      </p:sp>
      <p:sp>
        <p:nvSpPr>
          <p:cNvPr id="16" name="Rectangle 15"/>
          <p:cNvSpPr/>
          <p:nvPr/>
        </p:nvSpPr>
        <p:spPr>
          <a:xfrm>
            <a:off x="2769962" y="2514600"/>
            <a:ext cx="191243" cy="310896"/>
          </a:xfrm>
          <a:prstGeom prst="rect">
            <a:avLst/>
          </a:prstGeom>
          <a:solidFill>
            <a:srgbClr val="80BFEC"/>
          </a:solidFill>
          <a:ln>
            <a:noFill/>
          </a:ln>
        </p:spPr>
        <p:txBody>
          <a:bodyPr rtlCol="0" anchor="ctr"/>
          <a:lstStyle/>
          <a:p>
            <a:pPr algn="ctr"/>
          </a:p>
        </p:txBody>
      </p:sp>
      <p:sp>
        <p:nvSpPr>
          <p:cNvPr id="17" name="Rectangle 16"/>
          <p:cNvSpPr/>
          <p:nvPr/>
        </p:nvSpPr>
        <p:spPr>
          <a:xfrm>
            <a:off x="2961206" y="2514600"/>
            <a:ext cx="1885113" cy="310896"/>
          </a:xfrm>
          <a:prstGeom prst="rect">
            <a:avLst/>
          </a:prstGeom>
          <a:solidFill>
            <a:srgbClr val="D9ECF9"/>
          </a:solidFill>
          <a:ln>
            <a:noFill/>
          </a:ln>
        </p:spPr>
        <p:txBody>
          <a:bodyPr rtlCol="0" anchor="ctr"/>
          <a:lstStyle/>
          <a:p>
            <a:pPr algn="ctr"/>
          </a:p>
        </p:txBody>
      </p:sp>
      <p:sp>
        <p:nvSpPr>
          <p:cNvPr id="18" name="TextBox 17"/>
          <p:cNvSpPr txBox="1"/>
          <p:nvPr/>
        </p:nvSpPr>
        <p:spPr>
          <a:xfrm>
            <a:off x="2961206" y="2514600"/>
            <a:ext cx="1885113" cy="310896"/>
          </a:xfrm>
          <a:prstGeom prst="rect">
            <a:avLst/>
          </a:prstGeom>
          <a:noFill/>
        </p:spPr>
        <p:txBody>
          <a:bodyPr wrap="square" lIns="0" tIns="0" rIns="0" bIns="0" anchor="ctr">
            <a:spAutoFit/>
          </a:bodyPr>
          <a:lstStyle/>
          <a:p>
            <a:pPr algn="ctr"/>
            <a:r>
              <a:rPr sz="900" b="1" i="0">
                <a:solidFill>
                  <a:srgbClr val="002368"/>
                </a:solidFill>
                <a:latin typeface="Arial"/>
              </a:rPr>
              <a:t>138</a:t>
            </a:r>
          </a:p>
        </p:txBody>
      </p:sp>
      <p:sp>
        <p:nvSpPr>
          <p:cNvPr id="19" name="TextBox 18"/>
          <p:cNvSpPr txBox="1"/>
          <p:nvPr/>
        </p:nvSpPr>
        <p:spPr>
          <a:xfrm>
            <a:off x="4901183" y="2478024"/>
            <a:ext cx="548640" cy="384048"/>
          </a:xfrm>
          <a:prstGeom prst="rect">
            <a:avLst/>
          </a:prstGeom>
          <a:noFill/>
        </p:spPr>
        <p:txBody>
          <a:bodyPr wrap="square" lIns="0" tIns="0" rIns="0" bIns="0" anchor="ctr">
            <a:spAutoFit/>
          </a:bodyPr>
          <a:lstStyle/>
          <a:p>
            <a:pPr algn="l"/>
            <a:r>
              <a:rPr sz="1300" b="0" i="0">
                <a:solidFill>
                  <a:srgbClr val="002368"/>
                </a:solidFill>
                <a:latin typeface="Georgia"/>
              </a:rPr>
              <a:t>164</a:t>
            </a:r>
          </a:p>
        </p:txBody>
      </p:sp>
      <p:sp>
        <p:nvSpPr>
          <p:cNvPr id="20" name="Rounded Rectangle 19"/>
          <p:cNvSpPr/>
          <p:nvPr/>
        </p:nvSpPr>
        <p:spPr>
          <a:xfrm>
            <a:off x="5486400" y="2532888"/>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25</a:t>
            </a:r>
          </a:p>
        </p:txBody>
      </p:sp>
      <p:sp>
        <p:nvSpPr>
          <p:cNvPr id="21" name="TextBox 20"/>
          <p:cNvSpPr txBox="1"/>
          <p:nvPr/>
        </p:nvSpPr>
        <p:spPr>
          <a:xfrm>
            <a:off x="548640" y="3081528"/>
            <a:ext cx="2011680" cy="384048"/>
          </a:xfrm>
          <a:prstGeom prst="rect">
            <a:avLst/>
          </a:prstGeom>
          <a:noFill/>
        </p:spPr>
        <p:txBody>
          <a:bodyPr wrap="square" lIns="0" tIns="0" rIns="0" bIns="0" anchor="ctr">
            <a:spAutoFit/>
          </a:bodyPr>
          <a:lstStyle/>
          <a:p>
            <a:pPr algn="l"/>
            <a:r>
              <a:rPr sz="1050" b="1" i="0">
                <a:solidFill>
                  <a:srgbClr val="002368"/>
                </a:solidFill>
                <a:latin typeface="Arial"/>
              </a:rPr>
              <a:t>Specialised centres</a:t>
            </a:r>
          </a:p>
        </p:txBody>
      </p:sp>
      <p:sp>
        <p:nvSpPr>
          <p:cNvPr id="22" name="Rectangle 21"/>
          <p:cNvSpPr/>
          <p:nvPr/>
        </p:nvSpPr>
        <p:spPr>
          <a:xfrm>
            <a:off x="2606040" y="3118104"/>
            <a:ext cx="40980" cy="310896"/>
          </a:xfrm>
          <a:prstGeom prst="rect">
            <a:avLst/>
          </a:prstGeom>
          <a:solidFill>
            <a:srgbClr val="002368"/>
          </a:solidFill>
          <a:ln>
            <a:noFill/>
          </a:ln>
        </p:spPr>
        <p:txBody>
          <a:bodyPr rtlCol="0" anchor="ctr"/>
          <a:lstStyle/>
          <a:p>
            <a:pPr algn="ctr"/>
          </a:p>
        </p:txBody>
      </p:sp>
      <p:sp>
        <p:nvSpPr>
          <p:cNvPr id="23" name="Rectangle 22"/>
          <p:cNvSpPr/>
          <p:nvPr/>
        </p:nvSpPr>
        <p:spPr>
          <a:xfrm>
            <a:off x="2647020" y="3118104"/>
            <a:ext cx="81961" cy="310896"/>
          </a:xfrm>
          <a:prstGeom prst="rect">
            <a:avLst/>
          </a:prstGeom>
          <a:solidFill>
            <a:srgbClr val="80BFEC"/>
          </a:solidFill>
          <a:ln>
            <a:noFill/>
          </a:ln>
        </p:spPr>
        <p:txBody>
          <a:bodyPr rtlCol="0" anchor="ctr"/>
          <a:lstStyle/>
          <a:p>
            <a:pPr algn="ctr"/>
          </a:p>
        </p:txBody>
      </p:sp>
      <p:sp>
        <p:nvSpPr>
          <p:cNvPr id="24" name="Rectangle 23"/>
          <p:cNvSpPr/>
          <p:nvPr/>
        </p:nvSpPr>
        <p:spPr>
          <a:xfrm>
            <a:off x="2728982" y="3118104"/>
            <a:ext cx="833274" cy="310896"/>
          </a:xfrm>
          <a:prstGeom prst="rect">
            <a:avLst/>
          </a:prstGeom>
          <a:solidFill>
            <a:srgbClr val="D9ECF9"/>
          </a:solidFill>
          <a:ln>
            <a:noFill/>
          </a:ln>
        </p:spPr>
        <p:txBody>
          <a:bodyPr rtlCol="0" anchor="ctr"/>
          <a:lstStyle/>
          <a:p>
            <a:pPr algn="ctr"/>
          </a:p>
        </p:txBody>
      </p:sp>
      <p:sp>
        <p:nvSpPr>
          <p:cNvPr id="25" name="TextBox 24"/>
          <p:cNvSpPr txBox="1"/>
          <p:nvPr/>
        </p:nvSpPr>
        <p:spPr>
          <a:xfrm>
            <a:off x="2728982" y="3118104"/>
            <a:ext cx="833274" cy="310896"/>
          </a:xfrm>
          <a:prstGeom prst="rect">
            <a:avLst/>
          </a:prstGeom>
          <a:noFill/>
        </p:spPr>
        <p:txBody>
          <a:bodyPr wrap="square" lIns="0" tIns="0" rIns="0" bIns="0" anchor="ctr">
            <a:spAutoFit/>
          </a:bodyPr>
          <a:lstStyle/>
          <a:p>
            <a:pPr algn="ctr"/>
            <a:r>
              <a:rPr sz="900" b="1" i="0">
                <a:solidFill>
                  <a:srgbClr val="002368"/>
                </a:solidFill>
                <a:latin typeface="Arial"/>
              </a:rPr>
              <a:t>61</a:t>
            </a:r>
          </a:p>
        </p:txBody>
      </p:sp>
      <p:sp>
        <p:nvSpPr>
          <p:cNvPr id="26" name="TextBox 25"/>
          <p:cNvSpPr txBox="1"/>
          <p:nvPr/>
        </p:nvSpPr>
        <p:spPr>
          <a:xfrm>
            <a:off x="3617121" y="3081528"/>
            <a:ext cx="548640" cy="384048"/>
          </a:xfrm>
          <a:prstGeom prst="rect">
            <a:avLst/>
          </a:prstGeom>
          <a:noFill/>
        </p:spPr>
        <p:txBody>
          <a:bodyPr wrap="square" lIns="0" tIns="0" rIns="0" bIns="0" anchor="ctr">
            <a:spAutoFit/>
          </a:bodyPr>
          <a:lstStyle/>
          <a:p>
            <a:pPr algn="l"/>
            <a:r>
              <a:rPr sz="1300" b="0" i="0">
                <a:solidFill>
                  <a:srgbClr val="002368"/>
                </a:solidFill>
                <a:latin typeface="Georgia"/>
              </a:rPr>
              <a:t>70</a:t>
            </a:r>
          </a:p>
        </p:txBody>
      </p:sp>
      <p:sp>
        <p:nvSpPr>
          <p:cNvPr id="27" name="Rounded Rectangle 26"/>
          <p:cNvSpPr/>
          <p:nvPr/>
        </p:nvSpPr>
        <p:spPr>
          <a:xfrm>
            <a:off x="5486400" y="3136392"/>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5</a:t>
            </a:r>
          </a:p>
        </p:txBody>
      </p:sp>
      <p:sp>
        <p:nvSpPr>
          <p:cNvPr id="28" name="TextBox 27"/>
          <p:cNvSpPr txBox="1"/>
          <p:nvPr/>
        </p:nvSpPr>
        <p:spPr>
          <a:xfrm>
            <a:off x="548640" y="3685031"/>
            <a:ext cx="2011680" cy="384048"/>
          </a:xfrm>
          <a:prstGeom prst="rect">
            <a:avLst/>
          </a:prstGeom>
          <a:noFill/>
        </p:spPr>
        <p:txBody>
          <a:bodyPr wrap="square" lIns="0" tIns="0" rIns="0" bIns="0" anchor="ctr">
            <a:spAutoFit/>
          </a:bodyPr>
          <a:lstStyle/>
          <a:p>
            <a:pPr algn="l"/>
            <a:r>
              <a:rPr sz="1050" b="1" i="0">
                <a:solidFill>
                  <a:srgbClr val="002368"/>
                </a:solidFill>
                <a:latin typeface="Arial"/>
              </a:rPr>
              <a:t>Funders</a:t>
            </a:r>
          </a:p>
        </p:txBody>
      </p:sp>
      <p:sp>
        <p:nvSpPr>
          <p:cNvPr id="29" name="Rectangle 28"/>
          <p:cNvSpPr/>
          <p:nvPr/>
        </p:nvSpPr>
        <p:spPr>
          <a:xfrm>
            <a:off x="2606040" y="3721607"/>
            <a:ext cx="40980" cy="310896"/>
          </a:xfrm>
          <a:prstGeom prst="rect">
            <a:avLst/>
          </a:prstGeom>
          <a:solidFill>
            <a:srgbClr val="002368"/>
          </a:solidFill>
          <a:ln>
            <a:noFill/>
          </a:ln>
        </p:spPr>
        <p:txBody>
          <a:bodyPr rtlCol="0" anchor="ctr"/>
          <a:lstStyle/>
          <a:p>
            <a:pPr algn="ctr"/>
          </a:p>
        </p:txBody>
      </p:sp>
      <p:sp>
        <p:nvSpPr>
          <p:cNvPr id="30" name="Rectangle 29"/>
          <p:cNvSpPr/>
          <p:nvPr/>
        </p:nvSpPr>
        <p:spPr>
          <a:xfrm>
            <a:off x="2647020" y="3721607"/>
            <a:ext cx="95621" cy="310896"/>
          </a:xfrm>
          <a:prstGeom prst="rect">
            <a:avLst/>
          </a:prstGeom>
          <a:solidFill>
            <a:srgbClr val="80BFEC"/>
          </a:solidFill>
          <a:ln>
            <a:noFill/>
          </a:ln>
        </p:spPr>
        <p:txBody>
          <a:bodyPr rtlCol="0" anchor="ctr"/>
          <a:lstStyle/>
          <a:p>
            <a:pPr algn="ctr"/>
          </a:p>
        </p:txBody>
      </p:sp>
      <p:sp>
        <p:nvSpPr>
          <p:cNvPr id="31" name="Rectangle 30"/>
          <p:cNvSpPr/>
          <p:nvPr/>
        </p:nvSpPr>
        <p:spPr>
          <a:xfrm>
            <a:off x="2742642" y="3721607"/>
            <a:ext cx="1284062" cy="310896"/>
          </a:xfrm>
          <a:prstGeom prst="rect">
            <a:avLst/>
          </a:prstGeom>
          <a:solidFill>
            <a:srgbClr val="D9ECF9"/>
          </a:solidFill>
          <a:ln>
            <a:noFill/>
          </a:ln>
        </p:spPr>
        <p:txBody>
          <a:bodyPr rtlCol="0" anchor="ctr"/>
          <a:lstStyle/>
          <a:p>
            <a:pPr algn="ctr"/>
          </a:p>
        </p:txBody>
      </p:sp>
      <p:sp>
        <p:nvSpPr>
          <p:cNvPr id="32" name="TextBox 31"/>
          <p:cNvSpPr txBox="1"/>
          <p:nvPr/>
        </p:nvSpPr>
        <p:spPr>
          <a:xfrm>
            <a:off x="2742642" y="3721607"/>
            <a:ext cx="1284062" cy="310896"/>
          </a:xfrm>
          <a:prstGeom prst="rect">
            <a:avLst/>
          </a:prstGeom>
          <a:noFill/>
        </p:spPr>
        <p:txBody>
          <a:bodyPr wrap="square" lIns="0" tIns="0" rIns="0" bIns="0" anchor="ctr">
            <a:spAutoFit/>
          </a:bodyPr>
          <a:lstStyle/>
          <a:p>
            <a:pPr algn="ctr"/>
            <a:r>
              <a:rPr sz="900" b="1" i="0">
                <a:solidFill>
                  <a:srgbClr val="002368"/>
                </a:solidFill>
                <a:latin typeface="Arial"/>
              </a:rPr>
              <a:t>94</a:t>
            </a:r>
          </a:p>
        </p:txBody>
      </p:sp>
      <p:sp>
        <p:nvSpPr>
          <p:cNvPr id="33" name="TextBox 32"/>
          <p:cNvSpPr txBox="1"/>
          <p:nvPr/>
        </p:nvSpPr>
        <p:spPr>
          <a:xfrm>
            <a:off x="4081569" y="3685031"/>
            <a:ext cx="548640" cy="384048"/>
          </a:xfrm>
          <a:prstGeom prst="rect">
            <a:avLst/>
          </a:prstGeom>
          <a:noFill/>
        </p:spPr>
        <p:txBody>
          <a:bodyPr wrap="square" lIns="0" tIns="0" rIns="0" bIns="0" anchor="ctr">
            <a:spAutoFit/>
          </a:bodyPr>
          <a:lstStyle/>
          <a:p>
            <a:pPr algn="l"/>
            <a:r>
              <a:rPr sz="1300" b="0" i="0">
                <a:solidFill>
                  <a:srgbClr val="002368"/>
                </a:solidFill>
                <a:latin typeface="Georgia"/>
              </a:rPr>
              <a:t>104</a:t>
            </a:r>
          </a:p>
        </p:txBody>
      </p:sp>
      <p:sp>
        <p:nvSpPr>
          <p:cNvPr id="34" name="Rounded Rectangle 33"/>
          <p:cNvSpPr/>
          <p:nvPr/>
        </p:nvSpPr>
        <p:spPr>
          <a:xfrm>
            <a:off x="5486400" y="3739895"/>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34</a:t>
            </a:r>
          </a:p>
        </p:txBody>
      </p:sp>
      <p:sp>
        <p:nvSpPr>
          <p:cNvPr id="35" name="TextBox 34"/>
          <p:cNvSpPr txBox="1"/>
          <p:nvPr/>
        </p:nvSpPr>
        <p:spPr>
          <a:xfrm>
            <a:off x="548640" y="4288536"/>
            <a:ext cx="2011680" cy="384048"/>
          </a:xfrm>
          <a:prstGeom prst="rect">
            <a:avLst/>
          </a:prstGeom>
          <a:noFill/>
        </p:spPr>
        <p:txBody>
          <a:bodyPr wrap="square" lIns="0" tIns="0" rIns="0" bIns="0" anchor="ctr">
            <a:spAutoFit/>
          </a:bodyPr>
          <a:lstStyle/>
          <a:p>
            <a:pPr algn="l"/>
            <a:r>
              <a:rPr sz="1050" b="1" i="0">
                <a:solidFill>
                  <a:srgbClr val="002368"/>
                </a:solidFill>
                <a:latin typeface="Arial"/>
              </a:rPr>
              <a:t>Welfare networks</a:t>
            </a:r>
          </a:p>
        </p:txBody>
      </p:sp>
      <p:sp>
        <p:nvSpPr>
          <p:cNvPr id="36" name="Rectangle 35"/>
          <p:cNvSpPr/>
          <p:nvPr/>
        </p:nvSpPr>
        <p:spPr>
          <a:xfrm>
            <a:off x="2606040" y="4325112"/>
            <a:ext cx="95621" cy="310896"/>
          </a:xfrm>
          <a:prstGeom prst="rect">
            <a:avLst/>
          </a:prstGeom>
          <a:solidFill>
            <a:srgbClr val="D9ECF9"/>
          </a:solidFill>
          <a:ln>
            <a:noFill/>
          </a:ln>
        </p:spPr>
        <p:txBody>
          <a:bodyPr rtlCol="0" anchor="ctr"/>
          <a:lstStyle/>
          <a:p>
            <a:pPr algn="ctr"/>
          </a:p>
        </p:txBody>
      </p:sp>
      <p:sp>
        <p:nvSpPr>
          <p:cNvPr id="37" name="TextBox 36"/>
          <p:cNvSpPr txBox="1"/>
          <p:nvPr/>
        </p:nvSpPr>
        <p:spPr>
          <a:xfrm>
            <a:off x="2756525" y="4288536"/>
            <a:ext cx="548640" cy="384048"/>
          </a:xfrm>
          <a:prstGeom prst="rect">
            <a:avLst/>
          </a:prstGeom>
          <a:noFill/>
        </p:spPr>
        <p:txBody>
          <a:bodyPr wrap="square" lIns="0" tIns="0" rIns="0" bIns="0" anchor="ctr">
            <a:spAutoFit/>
          </a:bodyPr>
          <a:lstStyle/>
          <a:p>
            <a:pPr algn="l"/>
            <a:r>
              <a:rPr sz="1300" b="0" i="0">
                <a:solidFill>
                  <a:srgbClr val="002368"/>
                </a:solidFill>
                <a:latin typeface="Georgia"/>
              </a:rPr>
              <a:t>7</a:t>
            </a:r>
          </a:p>
        </p:txBody>
      </p:sp>
      <p:sp>
        <p:nvSpPr>
          <p:cNvPr id="38" name="Rounded Rectangle 37"/>
          <p:cNvSpPr/>
          <p:nvPr/>
        </p:nvSpPr>
        <p:spPr>
          <a:xfrm>
            <a:off x="5486400" y="4343399"/>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5</a:t>
            </a:r>
          </a:p>
        </p:txBody>
      </p:sp>
      <p:sp>
        <p:nvSpPr>
          <p:cNvPr id="39" name="Rectangle 38"/>
          <p:cNvSpPr/>
          <p:nvPr/>
        </p:nvSpPr>
        <p:spPr>
          <a:xfrm>
            <a:off x="548640" y="4956048"/>
            <a:ext cx="201168" cy="146304"/>
          </a:xfrm>
          <a:prstGeom prst="rect">
            <a:avLst/>
          </a:prstGeom>
          <a:solidFill>
            <a:srgbClr val="002368"/>
          </a:solidFill>
          <a:ln>
            <a:noFill/>
          </a:ln>
        </p:spPr>
        <p:txBody>
          <a:bodyPr rtlCol="0" anchor="ctr"/>
          <a:lstStyle/>
          <a:p>
            <a:pPr algn="ctr"/>
          </a:p>
        </p:txBody>
      </p:sp>
      <p:sp>
        <p:nvSpPr>
          <p:cNvPr id="40" name="TextBox 39"/>
          <p:cNvSpPr txBox="1"/>
          <p:nvPr/>
        </p:nvSpPr>
        <p:spPr>
          <a:xfrm>
            <a:off x="822959"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High priority</a:t>
            </a:r>
          </a:p>
        </p:txBody>
      </p:sp>
      <p:sp>
        <p:nvSpPr>
          <p:cNvPr id="41" name="Rectangle 40"/>
          <p:cNvSpPr/>
          <p:nvPr/>
        </p:nvSpPr>
        <p:spPr>
          <a:xfrm>
            <a:off x="1783080" y="4956048"/>
            <a:ext cx="201168" cy="146304"/>
          </a:xfrm>
          <a:prstGeom prst="rect">
            <a:avLst/>
          </a:prstGeom>
          <a:solidFill>
            <a:srgbClr val="80BFEC"/>
          </a:solidFill>
          <a:ln>
            <a:noFill/>
          </a:ln>
        </p:spPr>
        <p:txBody>
          <a:bodyPr rtlCol="0" anchor="ctr"/>
          <a:lstStyle/>
          <a:p>
            <a:pPr algn="ctr"/>
          </a:p>
        </p:txBody>
      </p:sp>
      <p:sp>
        <p:nvSpPr>
          <p:cNvPr id="42" name="TextBox 41"/>
          <p:cNvSpPr txBox="1"/>
          <p:nvPr/>
        </p:nvSpPr>
        <p:spPr>
          <a:xfrm>
            <a:off x="205740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Medium</a:t>
            </a:r>
          </a:p>
        </p:txBody>
      </p:sp>
      <p:sp>
        <p:nvSpPr>
          <p:cNvPr id="43" name="Rectangle 42"/>
          <p:cNvSpPr/>
          <p:nvPr/>
        </p:nvSpPr>
        <p:spPr>
          <a:xfrm>
            <a:off x="3017520" y="4956048"/>
            <a:ext cx="201168" cy="146304"/>
          </a:xfrm>
          <a:prstGeom prst="rect">
            <a:avLst/>
          </a:prstGeom>
          <a:solidFill>
            <a:srgbClr val="D9ECF9"/>
          </a:solidFill>
          <a:ln>
            <a:noFill/>
          </a:ln>
        </p:spPr>
        <p:txBody>
          <a:bodyPr rtlCol="0" anchor="ctr"/>
          <a:lstStyle/>
          <a:p>
            <a:pPr algn="ctr"/>
          </a:p>
        </p:txBody>
      </p:sp>
      <p:sp>
        <p:nvSpPr>
          <p:cNvPr id="44" name="TextBox 43"/>
          <p:cNvSpPr txBox="1"/>
          <p:nvPr/>
        </p:nvSpPr>
        <p:spPr>
          <a:xfrm>
            <a:off x="329184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Low</a:t>
            </a:r>
          </a:p>
        </p:txBody>
      </p:sp>
      <p:sp>
        <p:nvSpPr>
          <p:cNvPr id="45" name="TextBox 44"/>
          <p:cNvSpPr txBox="1"/>
          <p:nvPr/>
        </p:nvSpPr>
        <p:spPr>
          <a:xfrm>
            <a:off x="548640" y="5303520"/>
            <a:ext cx="5577840" cy="640080"/>
          </a:xfrm>
          <a:prstGeom prst="rect">
            <a:avLst/>
          </a:prstGeom>
          <a:noFill/>
        </p:spPr>
        <p:txBody>
          <a:bodyPr wrap="square" lIns="0" tIns="0" rIns="0" bIns="0" anchor="t">
            <a:spAutoFit/>
          </a:bodyPr>
          <a:lstStyle/>
          <a:p>
            <a:pPr algn="l"/>
            <a:r>
              <a:rPr sz="1000" b="0" i="0">
                <a:solidFill>
                  <a:srgbClr val="000000"/>
                </a:solidFill>
                <a:latin typeface="Arial"/>
              </a:rPr>
              <a:t>Homes, programmes and centres are asked for a partnership on the children's education; funders for sponsorship, only with a verified link to a home near a campus.</a:t>
            </a:r>
          </a:p>
        </p:txBody>
      </p:sp>
      <p:sp>
        <p:nvSpPr>
          <p:cNvPr id="46" name="TextBox 45"/>
          <p:cNvSpPr txBox="1"/>
          <p:nvPr/>
        </p:nvSpPr>
        <p:spPr>
          <a:xfrm>
            <a:off x="644652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sp>
        <p:nvSpPr>
          <p:cNvPr id="47" name="Rounded Rectangle 46"/>
          <p:cNvSpPr/>
          <p:nvPr/>
        </p:nvSpPr>
        <p:spPr>
          <a:xfrm>
            <a:off x="6446520" y="1572768"/>
            <a:ext cx="1417320" cy="621792"/>
          </a:xfrm>
          <a:prstGeom prst="roundRect">
            <a:avLst>
              <a:gd name="adj" fmla="val 10294"/>
            </a:avLst>
          </a:prstGeom>
          <a:solidFill>
            <a:srgbClr val="002368"/>
          </a:solidFill>
          <a:ln w="12700">
            <a:solidFill>
              <a:srgbClr val="002368"/>
            </a:solidFill>
          </a:ln>
        </p:spPr>
        <p:txBody>
          <a:bodyPr rtlCol="0" anchor="ctr"/>
          <a:lstStyle/>
          <a:p>
            <a:pPr algn="ctr"/>
          </a:p>
        </p:txBody>
      </p:sp>
      <p:sp>
        <p:nvSpPr>
          <p:cNvPr id="48" name="TextBox 47"/>
          <p:cNvSpPr txBox="1"/>
          <p:nvPr/>
        </p:nvSpPr>
        <p:spPr>
          <a:xfrm>
            <a:off x="6583680" y="1609344"/>
            <a:ext cx="1188720" cy="274320"/>
          </a:xfrm>
          <a:prstGeom prst="rect">
            <a:avLst/>
          </a:prstGeom>
          <a:noFill/>
        </p:spPr>
        <p:txBody>
          <a:bodyPr wrap="square" lIns="0" tIns="0" rIns="0" bIns="0" anchor="t">
            <a:spAutoFit/>
          </a:bodyPr>
          <a:lstStyle/>
          <a:p>
            <a:pPr algn="l"/>
            <a:r>
              <a:rPr sz="1050" b="1" i="0">
                <a:solidFill>
                  <a:srgbClr val="FFFFFF"/>
                </a:solidFill>
                <a:latin typeface="Arial"/>
              </a:rPr>
              <a:t>Councils</a:t>
            </a:r>
          </a:p>
        </p:txBody>
      </p:sp>
      <p:sp>
        <p:nvSpPr>
          <p:cNvPr id="49" name="TextBox 48"/>
          <p:cNvSpPr txBox="1"/>
          <p:nvPr/>
        </p:nvSpPr>
        <p:spPr>
          <a:xfrm>
            <a:off x="6583680" y="1847088"/>
            <a:ext cx="1188720" cy="329184"/>
          </a:xfrm>
          <a:prstGeom prst="rect">
            <a:avLst/>
          </a:prstGeom>
          <a:noFill/>
        </p:spPr>
        <p:txBody>
          <a:bodyPr wrap="square" lIns="0" tIns="0" rIns="0" bIns="0" anchor="t">
            <a:spAutoFit/>
          </a:bodyPr>
          <a:lstStyle/>
          <a:p>
            <a:pPr algn="l"/>
            <a:r>
              <a:rPr sz="1600" b="0" i="0">
                <a:solidFill>
                  <a:srgbClr val="FFC952"/>
                </a:solidFill>
                <a:latin typeface="Georgia"/>
              </a:rPr>
              <a:t>9</a:t>
            </a:r>
          </a:p>
        </p:txBody>
      </p:sp>
      <p:sp>
        <p:nvSpPr>
          <p:cNvPr id="50" name="TextBox 49"/>
          <p:cNvSpPr txBox="1"/>
          <p:nvPr/>
        </p:nvSpPr>
        <p:spPr>
          <a:xfrm>
            <a:off x="8001000" y="1572768"/>
            <a:ext cx="3639312" cy="621792"/>
          </a:xfrm>
          <a:prstGeom prst="rect">
            <a:avLst/>
          </a:prstGeom>
          <a:noFill/>
        </p:spPr>
        <p:txBody>
          <a:bodyPr wrap="square" lIns="0" tIns="0" rIns="0" bIns="0" anchor="ctr">
            <a:spAutoFit/>
          </a:bodyPr>
          <a:lstStyle/>
          <a:p>
            <a:pPr algn="l"/>
            <a:r>
              <a:rPr sz="1000" b="0" i="0">
                <a:solidFill>
                  <a:srgbClr val="000000"/>
                </a:solidFill>
                <a:latin typeface="Arial"/>
              </a:rPr>
              <a:t>4 pilot councils first (Arusha City, Arusha District, Hai, Meru): a protocol introduction to the ward officers</a:t>
            </a:r>
          </a:p>
        </p:txBody>
      </p:sp>
      <p:sp>
        <p:nvSpPr>
          <p:cNvPr id="51" name="Rounded Rectangle 50"/>
          <p:cNvSpPr/>
          <p:nvPr/>
        </p:nvSpPr>
        <p:spPr>
          <a:xfrm>
            <a:off x="6446520" y="2304288"/>
            <a:ext cx="1691640" cy="621792"/>
          </a:xfrm>
          <a:prstGeom prst="roundRect">
            <a:avLst>
              <a:gd name="adj" fmla="val 10294"/>
            </a:avLst>
          </a:prstGeom>
          <a:solidFill>
            <a:srgbClr val="1C4A8A"/>
          </a:solidFill>
          <a:ln w="12700">
            <a:solidFill>
              <a:srgbClr val="1C4A8A"/>
            </a:solidFill>
          </a:ln>
        </p:spPr>
        <p:txBody>
          <a:bodyPr rtlCol="0" anchor="ctr"/>
          <a:lstStyle/>
          <a:p>
            <a:pPr algn="ctr"/>
          </a:p>
        </p:txBody>
      </p:sp>
      <p:sp>
        <p:nvSpPr>
          <p:cNvPr id="52" name="TextBox 51"/>
          <p:cNvSpPr txBox="1"/>
          <p:nvPr/>
        </p:nvSpPr>
        <p:spPr>
          <a:xfrm>
            <a:off x="6583680" y="2340864"/>
            <a:ext cx="1463040" cy="274320"/>
          </a:xfrm>
          <a:prstGeom prst="rect">
            <a:avLst/>
          </a:prstGeom>
          <a:noFill/>
        </p:spPr>
        <p:txBody>
          <a:bodyPr wrap="square" lIns="0" tIns="0" rIns="0" bIns="0" anchor="t">
            <a:spAutoFit/>
          </a:bodyPr>
          <a:lstStyle/>
          <a:p>
            <a:pPr algn="l"/>
            <a:r>
              <a:rPr sz="1050" b="1" i="0">
                <a:solidFill>
                  <a:srgbClr val="FFFFFF"/>
                </a:solidFill>
                <a:latin typeface="Arial"/>
              </a:rPr>
              <a:t>District and regional</a:t>
            </a:r>
          </a:p>
        </p:txBody>
      </p:sp>
      <p:sp>
        <p:nvSpPr>
          <p:cNvPr id="53" name="TextBox 52"/>
          <p:cNvSpPr txBox="1"/>
          <p:nvPr/>
        </p:nvSpPr>
        <p:spPr>
          <a:xfrm>
            <a:off x="6583680" y="2578608"/>
            <a:ext cx="1463040" cy="329184"/>
          </a:xfrm>
          <a:prstGeom prst="rect">
            <a:avLst/>
          </a:prstGeom>
          <a:noFill/>
        </p:spPr>
        <p:txBody>
          <a:bodyPr wrap="square" lIns="0" tIns="0" rIns="0" bIns="0" anchor="t">
            <a:spAutoFit/>
          </a:bodyPr>
          <a:lstStyle/>
          <a:p>
            <a:pPr algn="l"/>
            <a:r>
              <a:rPr sz="1600" b="0" i="0">
                <a:solidFill>
                  <a:srgbClr val="FFFFFF"/>
                </a:solidFill>
                <a:latin typeface="Georgia"/>
              </a:rPr>
              <a:t>10</a:t>
            </a:r>
          </a:p>
        </p:txBody>
      </p:sp>
      <p:sp>
        <p:nvSpPr>
          <p:cNvPr id="54" name="TextBox 53"/>
          <p:cNvSpPr txBox="1"/>
          <p:nvPr/>
        </p:nvSpPr>
        <p:spPr>
          <a:xfrm>
            <a:off x="8275320" y="2304288"/>
            <a:ext cx="3364991" cy="621792"/>
          </a:xfrm>
          <a:prstGeom prst="rect">
            <a:avLst/>
          </a:prstGeom>
          <a:noFill/>
        </p:spPr>
        <p:txBody>
          <a:bodyPr wrap="square" lIns="0" tIns="0" rIns="0" bIns="0" anchor="ctr">
            <a:spAutoFit/>
          </a:bodyPr>
          <a:lstStyle/>
          <a:p>
            <a:pPr algn="l"/>
            <a:r>
              <a:rPr sz="1000" b="0" i="0">
                <a:solidFill>
                  <a:srgbClr val="000000"/>
                </a:solidFill>
                <a:latin typeface="Arial"/>
              </a:rPr>
              <a:t>A courtesy notice once the pilot introductions are done</a:t>
            </a:r>
          </a:p>
        </p:txBody>
      </p:sp>
      <p:sp>
        <p:nvSpPr>
          <p:cNvPr id="55" name="Rounded Rectangle 54"/>
          <p:cNvSpPr/>
          <p:nvPr/>
        </p:nvSpPr>
        <p:spPr>
          <a:xfrm>
            <a:off x="6446520" y="3035808"/>
            <a:ext cx="1965960" cy="621792"/>
          </a:xfrm>
          <a:prstGeom prst="roundRect">
            <a:avLst>
              <a:gd name="adj" fmla="val 10294"/>
            </a:avLst>
          </a:prstGeom>
          <a:solidFill>
            <a:srgbClr val="80BFEC"/>
          </a:solidFill>
          <a:ln w="12700">
            <a:solidFill>
              <a:srgbClr val="80BFEC"/>
            </a:solidFill>
          </a:ln>
        </p:spPr>
        <p:txBody>
          <a:bodyPr rtlCol="0" anchor="ctr"/>
          <a:lstStyle/>
          <a:p>
            <a:pPr algn="ctr"/>
          </a:p>
        </p:txBody>
      </p:sp>
      <p:sp>
        <p:nvSpPr>
          <p:cNvPr id="56" name="TextBox 55"/>
          <p:cNvSpPr txBox="1"/>
          <p:nvPr/>
        </p:nvSpPr>
        <p:spPr>
          <a:xfrm>
            <a:off x="6583680" y="3072384"/>
            <a:ext cx="1737360" cy="274320"/>
          </a:xfrm>
          <a:prstGeom prst="rect">
            <a:avLst/>
          </a:prstGeom>
          <a:noFill/>
        </p:spPr>
        <p:txBody>
          <a:bodyPr wrap="square" lIns="0" tIns="0" rIns="0" bIns="0" anchor="t">
            <a:spAutoFit/>
          </a:bodyPr>
          <a:lstStyle/>
          <a:p>
            <a:pPr algn="l"/>
            <a:r>
              <a:rPr sz="1050" b="1" i="0">
                <a:solidFill>
                  <a:srgbClr val="002368"/>
                </a:solidFill>
                <a:latin typeface="Arial"/>
              </a:rPr>
              <a:t>Ward offices</a:t>
            </a:r>
          </a:p>
        </p:txBody>
      </p:sp>
      <p:sp>
        <p:nvSpPr>
          <p:cNvPr id="57" name="TextBox 56"/>
          <p:cNvSpPr txBox="1"/>
          <p:nvPr/>
        </p:nvSpPr>
        <p:spPr>
          <a:xfrm>
            <a:off x="6583680" y="3310128"/>
            <a:ext cx="1737360" cy="329184"/>
          </a:xfrm>
          <a:prstGeom prst="rect">
            <a:avLst/>
          </a:prstGeom>
          <a:noFill/>
        </p:spPr>
        <p:txBody>
          <a:bodyPr wrap="square" lIns="0" tIns="0" rIns="0" bIns="0" anchor="t">
            <a:spAutoFit/>
          </a:bodyPr>
          <a:lstStyle/>
          <a:p>
            <a:pPr algn="l"/>
            <a:r>
              <a:rPr sz="1600" b="0" i="0">
                <a:solidFill>
                  <a:srgbClr val="002368"/>
                </a:solidFill>
                <a:latin typeface="Georgia"/>
              </a:rPr>
              <a:t>129</a:t>
            </a:r>
          </a:p>
        </p:txBody>
      </p:sp>
      <p:sp>
        <p:nvSpPr>
          <p:cNvPr id="58" name="TextBox 57"/>
          <p:cNvSpPr txBox="1"/>
          <p:nvPr/>
        </p:nvSpPr>
        <p:spPr>
          <a:xfrm>
            <a:off x="8549640" y="3035808"/>
            <a:ext cx="3090672" cy="621792"/>
          </a:xfrm>
          <a:prstGeom prst="rect">
            <a:avLst/>
          </a:prstGeom>
          <a:noFill/>
        </p:spPr>
        <p:txBody>
          <a:bodyPr wrap="square" lIns="0" tIns="0" rIns="0" bIns="0" anchor="ctr">
            <a:spAutoFit/>
          </a:bodyPr>
          <a:lstStyle/>
          <a:p>
            <a:pPr algn="l"/>
            <a:r>
              <a:rPr sz="1000" b="0" i="0">
                <a:solidFill>
                  <a:srgbClr val="000000"/>
                </a:solidFill>
                <a:latin typeface="Arial"/>
              </a:rPr>
              <a:t>A request for a slot at the next community meeting, after the council's introduction</a:t>
            </a:r>
          </a:p>
        </p:txBody>
      </p:sp>
      <p:sp>
        <p:nvSpPr>
          <p:cNvPr id="59" name="Rounded Rectangle 58"/>
          <p:cNvSpPr/>
          <p:nvPr/>
        </p:nvSpPr>
        <p:spPr>
          <a:xfrm>
            <a:off x="6446520" y="3767328"/>
            <a:ext cx="2240280" cy="621792"/>
          </a:xfrm>
          <a:prstGeom prst="roundRect">
            <a:avLst>
              <a:gd name="adj" fmla="val 10294"/>
            </a:avLst>
          </a:prstGeom>
          <a:solidFill>
            <a:srgbClr val="D9ECF9"/>
          </a:solidFill>
          <a:ln w="12700">
            <a:solidFill>
              <a:srgbClr val="D9ECF9"/>
            </a:solidFill>
          </a:ln>
        </p:spPr>
        <p:txBody>
          <a:bodyPr rtlCol="0" anchor="ctr"/>
          <a:lstStyle/>
          <a:p>
            <a:pPr algn="ctr"/>
          </a:p>
        </p:txBody>
      </p:sp>
      <p:sp>
        <p:nvSpPr>
          <p:cNvPr id="60" name="TextBox 59"/>
          <p:cNvSpPr txBox="1"/>
          <p:nvPr/>
        </p:nvSpPr>
        <p:spPr>
          <a:xfrm>
            <a:off x="6583680" y="3803904"/>
            <a:ext cx="2011680" cy="274320"/>
          </a:xfrm>
          <a:prstGeom prst="rect">
            <a:avLst/>
          </a:prstGeom>
          <a:noFill/>
        </p:spPr>
        <p:txBody>
          <a:bodyPr wrap="square" lIns="0" tIns="0" rIns="0" bIns="0" anchor="t">
            <a:spAutoFit/>
          </a:bodyPr>
          <a:lstStyle/>
          <a:p>
            <a:pPr algn="l"/>
            <a:r>
              <a:rPr sz="1050" b="1" i="0">
                <a:solidFill>
                  <a:srgbClr val="002368"/>
                </a:solidFill>
                <a:latin typeface="Arial"/>
              </a:rPr>
              <a:t>Village offices</a:t>
            </a:r>
          </a:p>
        </p:txBody>
      </p:sp>
      <p:sp>
        <p:nvSpPr>
          <p:cNvPr id="61" name="TextBox 60"/>
          <p:cNvSpPr txBox="1"/>
          <p:nvPr/>
        </p:nvSpPr>
        <p:spPr>
          <a:xfrm>
            <a:off x="6583680" y="4041648"/>
            <a:ext cx="2011680" cy="329184"/>
          </a:xfrm>
          <a:prstGeom prst="rect">
            <a:avLst/>
          </a:prstGeom>
          <a:noFill/>
        </p:spPr>
        <p:txBody>
          <a:bodyPr wrap="square" lIns="0" tIns="0" rIns="0" bIns="0" anchor="t">
            <a:spAutoFit/>
          </a:bodyPr>
          <a:lstStyle/>
          <a:p>
            <a:pPr algn="l"/>
            <a:r>
              <a:rPr sz="1600" b="0" i="0">
                <a:solidFill>
                  <a:srgbClr val="002368"/>
                </a:solidFill>
                <a:latin typeface="Georgia"/>
              </a:rPr>
              <a:t>80</a:t>
            </a:r>
          </a:p>
        </p:txBody>
      </p:sp>
      <p:sp>
        <p:nvSpPr>
          <p:cNvPr id="62" name="TextBox 61"/>
          <p:cNvSpPr txBox="1"/>
          <p:nvPr/>
        </p:nvSpPr>
        <p:spPr>
          <a:xfrm>
            <a:off x="8823960" y="3767328"/>
            <a:ext cx="2816352" cy="621792"/>
          </a:xfrm>
          <a:prstGeom prst="rect">
            <a:avLst/>
          </a:prstGeom>
          <a:noFill/>
        </p:spPr>
        <p:txBody>
          <a:bodyPr wrap="square" lIns="0" tIns="0" rIns="0" bIns="0" anchor="ctr">
            <a:spAutoFit/>
          </a:bodyPr>
          <a:lstStyle/>
          <a:p>
            <a:pPr algn="l"/>
            <a:r>
              <a:rPr sz="1000" b="0" i="0">
                <a:solidFill>
                  <a:srgbClr val="000000"/>
                </a:solidFill>
                <a:latin typeface="Arial"/>
              </a:rPr>
              <a:t>The same request, at the village assembly</a:t>
            </a:r>
          </a:p>
        </p:txBody>
      </p:sp>
      <p:sp>
        <p:nvSpPr>
          <p:cNvPr id="63" name="TextBox 62"/>
          <p:cNvSpPr txBox="1"/>
          <p:nvPr/>
        </p:nvSpPr>
        <p:spPr>
          <a:xfrm>
            <a:off x="6446520" y="461772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WARDS BY DISTANCE: THE ORDER OF APPROACH</a:t>
            </a:r>
          </a:p>
        </p:txBody>
      </p:sp>
      <p:sp>
        <p:nvSpPr>
          <p:cNvPr id="64" name="Rounded Rectangle 63"/>
          <p:cNvSpPr/>
          <p:nvPr/>
        </p:nvSpPr>
        <p:spPr>
          <a:xfrm>
            <a:off x="6446520"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65" name="TextBox 64"/>
          <p:cNvSpPr txBox="1"/>
          <p:nvPr/>
        </p:nvSpPr>
        <p:spPr>
          <a:xfrm>
            <a:off x="6446520"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58</a:t>
            </a:r>
          </a:p>
        </p:txBody>
      </p:sp>
      <p:sp>
        <p:nvSpPr>
          <p:cNvPr id="66" name="TextBox 65"/>
          <p:cNvSpPr txBox="1"/>
          <p:nvPr/>
        </p:nvSpPr>
        <p:spPr>
          <a:xfrm>
            <a:off x="6446520"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within 10 km</a:t>
            </a:r>
          </a:p>
        </p:txBody>
      </p:sp>
      <p:sp>
        <p:nvSpPr>
          <p:cNvPr id="67" name="Rounded Rectangle 66"/>
          <p:cNvSpPr/>
          <p:nvPr/>
        </p:nvSpPr>
        <p:spPr>
          <a:xfrm>
            <a:off x="7763256"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68" name="TextBox 67"/>
          <p:cNvSpPr txBox="1"/>
          <p:nvPr/>
        </p:nvSpPr>
        <p:spPr>
          <a:xfrm>
            <a:off x="7763256"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35</a:t>
            </a:r>
          </a:p>
        </p:txBody>
      </p:sp>
      <p:sp>
        <p:nvSpPr>
          <p:cNvPr id="69" name="TextBox 68"/>
          <p:cNvSpPr txBox="1"/>
          <p:nvPr/>
        </p:nvSpPr>
        <p:spPr>
          <a:xfrm>
            <a:off x="7763256"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10–20 km</a:t>
            </a:r>
          </a:p>
        </p:txBody>
      </p:sp>
      <p:sp>
        <p:nvSpPr>
          <p:cNvPr id="70" name="Rounded Rectangle 69"/>
          <p:cNvSpPr/>
          <p:nvPr/>
        </p:nvSpPr>
        <p:spPr>
          <a:xfrm>
            <a:off x="9079992"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71" name="TextBox 70"/>
          <p:cNvSpPr txBox="1"/>
          <p:nvPr/>
        </p:nvSpPr>
        <p:spPr>
          <a:xfrm>
            <a:off x="9079992"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32</a:t>
            </a:r>
          </a:p>
        </p:txBody>
      </p:sp>
      <p:sp>
        <p:nvSpPr>
          <p:cNvPr id="72" name="TextBox 71"/>
          <p:cNvSpPr txBox="1"/>
          <p:nvPr/>
        </p:nvSpPr>
        <p:spPr>
          <a:xfrm>
            <a:off x="9079992"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beyond 20 km</a:t>
            </a:r>
          </a:p>
        </p:txBody>
      </p:sp>
      <p:sp>
        <p:nvSpPr>
          <p:cNvPr id="73" name="Rounded Rectangle 72"/>
          <p:cNvSpPr/>
          <p:nvPr/>
        </p:nvSpPr>
        <p:spPr>
          <a:xfrm>
            <a:off x="10396728" y="4892040"/>
            <a:ext cx="1207008" cy="1024128"/>
          </a:xfrm>
          <a:prstGeom prst="roundRect">
            <a:avLst>
              <a:gd name="adj" fmla="val 6250"/>
            </a:avLst>
          </a:prstGeom>
          <a:solidFill>
            <a:srgbClr val="ECECEC"/>
          </a:solidFill>
          <a:ln w="12700">
            <a:solidFill>
              <a:srgbClr val="ECECEC"/>
            </a:solidFill>
          </a:ln>
        </p:spPr>
        <p:txBody>
          <a:bodyPr rtlCol="0" anchor="ctr"/>
          <a:lstStyle/>
          <a:p>
            <a:pPr algn="ctr"/>
          </a:p>
        </p:txBody>
      </p:sp>
      <p:sp>
        <p:nvSpPr>
          <p:cNvPr id="74" name="TextBox 73"/>
          <p:cNvSpPr txBox="1"/>
          <p:nvPr/>
        </p:nvSpPr>
        <p:spPr>
          <a:xfrm>
            <a:off x="10396728"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4</a:t>
            </a:r>
          </a:p>
        </p:txBody>
      </p:sp>
      <p:sp>
        <p:nvSpPr>
          <p:cNvPr id="75" name="TextBox 74"/>
          <p:cNvSpPr txBox="1"/>
          <p:nvPr/>
        </p:nvSpPr>
        <p:spPr>
          <a:xfrm>
            <a:off x="10396728"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to locate</a:t>
            </a:r>
          </a:p>
        </p:txBody>
      </p:sp>
      <p:pic>
        <p:nvPicPr>
          <p:cNvPr id="76" name="Picture 75" descr="image3.png"/>
          <p:cNvPicPr>
            <a:picLocks noChangeAspect="1"/>
          </p:cNvPicPr>
          <p:nvPr/>
        </p:nvPicPr>
        <p:blipFill>
          <a:blip r:embed="rId2"/>
          <a:stretch>
            <a:fillRect/>
          </a:stretch>
        </p:blipFill>
        <p:spPr>
          <a:xfrm>
            <a:off x="548640" y="6272784"/>
            <a:ext cx="1143000" cy="274320"/>
          </a:xfrm>
          <a:prstGeom prst="rect">
            <a:avLst/>
          </a:prstGeom>
        </p:spPr>
      </p:pic>
      <p:sp>
        <p:nvSpPr>
          <p:cNvPr id="77"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7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sp>
        <p:nvSpPr>
          <p:cNvPr id="4" name="Rounded Rectangle 3"/>
          <p:cNvSpPr/>
          <p:nvPr/>
        </p:nvSpPr>
        <p:spPr>
          <a:xfrm>
            <a:off x="548640" y="1371600"/>
            <a:ext cx="3931920" cy="530352"/>
          </a:xfrm>
          <a:prstGeom prst="roundRect">
            <a:avLst>
              <a:gd name="adj" fmla="val 1206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31520" y="1408176"/>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direct</a:t>
            </a:r>
          </a:p>
        </p:txBody>
      </p:sp>
      <p:sp>
        <p:nvSpPr>
          <p:cNvPr id="6" name="TextBox 5"/>
          <p:cNvSpPr txBox="1"/>
          <p:nvPr/>
        </p:nvSpPr>
        <p:spPr>
          <a:xfrm>
            <a:off x="2194560" y="1408176"/>
            <a:ext cx="2194560" cy="457200"/>
          </a:xfrm>
          <a:prstGeom prst="rect">
            <a:avLst/>
          </a:prstGeom>
          <a:noFill/>
        </p:spPr>
        <p:txBody>
          <a:bodyPr wrap="square" lIns="0" tIns="0" rIns="0" bIns="0" anchor="ctr">
            <a:spAutoFit/>
          </a:bodyPr>
          <a:lstStyle/>
          <a:p>
            <a:pPr algn="l"/>
            <a:r>
              <a:rPr sz="850" b="0" i="0">
                <a:solidFill>
                  <a:srgbClr val="FFFFFF"/>
                </a:solidFill>
                <a:latin typeface="Arial"/>
              </a:rPr>
              <a:t>The person's own address, or the inbox for their role (hr@, md@, dg@)</a:t>
            </a:r>
          </a:p>
        </p:txBody>
      </p:sp>
      <p:sp>
        <p:nvSpPr>
          <p:cNvPr id="7" name="Rounded Rectangle 6"/>
          <p:cNvSpPr/>
          <p:nvPr/>
        </p:nvSpPr>
        <p:spPr>
          <a:xfrm>
            <a:off x="548640" y="1993392"/>
            <a:ext cx="3931920" cy="530352"/>
          </a:xfrm>
          <a:prstGeom prst="roundRect">
            <a:avLst>
              <a:gd name="adj" fmla="val 12068"/>
            </a:avLst>
          </a:prstGeom>
          <a:solidFill>
            <a:srgbClr val="1C4A8A"/>
          </a:solidFill>
          <a:ln w="12700">
            <a:solidFill>
              <a:srgbClr val="1C4A8A"/>
            </a:solidFill>
          </a:ln>
        </p:spPr>
        <p:txBody>
          <a:bodyPr rtlCol="0" anchor="ctr"/>
          <a:lstStyle/>
          <a:p>
            <a:pPr algn="ctr"/>
          </a:p>
        </p:txBody>
      </p:sp>
      <p:sp>
        <p:nvSpPr>
          <p:cNvPr id="8" name="TextBox 7"/>
          <p:cNvSpPr txBox="1"/>
          <p:nvPr/>
        </p:nvSpPr>
        <p:spPr>
          <a:xfrm>
            <a:off x="731520" y="2029968"/>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indirect</a:t>
            </a:r>
          </a:p>
        </p:txBody>
      </p:sp>
      <p:sp>
        <p:nvSpPr>
          <p:cNvPr id="9" name="TextBox 8"/>
          <p:cNvSpPr txBox="1"/>
          <p:nvPr/>
        </p:nvSpPr>
        <p:spPr>
          <a:xfrm>
            <a:off x="2194560" y="2029968"/>
            <a:ext cx="2194560" cy="457200"/>
          </a:xfrm>
          <a:prstGeom prst="rect">
            <a:avLst/>
          </a:prstGeom>
          <a:noFill/>
        </p:spPr>
        <p:txBody>
          <a:bodyPr wrap="square" lIns="0" tIns="0" rIns="0" bIns="0" anchor="ctr">
            <a:spAutoFit/>
          </a:bodyPr>
          <a:lstStyle/>
          <a:p>
            <a:pPr algn="l"/>
            <a:r>
              <a:rPr sz="850" b="0" i="0">
                <a:solidFill>
                  <a:srgbClr val="FFFFFF"/>
                </a:solidFill>
                <a:latin typeface="Arial"/>
              </a:rPr>
              <a:t>A general inbox (info@, reservations@) addressed to the named person</a:t>
            </a:r>
          </a:p>
        </p:txBody>
      </p:sp>
      <p:sp>
        <p:nvSpPr>
          <p:cNvPr id="10" name="Rounded Rectangle 9"/>
          <p:cNvSpPr/>
          <p:nvPr/>
        </p:nvSpPr>
        <p:spPr>
          <a:xfrm>
            <a:off x="548640" y="2615184"/>
            <a:ext cx="3931920" cy="530352"/>
          </a:xfrm>
          <a:prstGeom prst="roundRect">
            <a:avLst>
              <a:gd name="adj" fmla="val 1206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731520" y="2651760"/>
            <a:ext cx="1463040" cy="457200"/>
          </a:xfrm>
          <a:prstGeom prst="rect">
            <a:avLst/>
          </a:prstGeom>
          <a:noFill/>
        </p:spPr>
        <p:txBody>
          <a:bodyPr wrap="square" lIns="0" tIns="0" rIns="0" bIns="0" anchor="ctr">
            <a:spAutoFit/>
          </a:bodyPr>
          <a:lstStyle/>
          <a:p>
            <a:pPr algn="l"/>
            <a:r>
              <a:rPr sz="1150" b="1" i="0">
                <a:solidFill>
                  <a:srgbClr val="002368"/>
                </a:solidFill>
                <a:latin typeface="Arial"/>
              </a:rPr>
              <a:t>Medium</a:t>
            </a:r>
          </a:p>
        </p:txBody>
      </p:sp>
      <p:sp>
        <p:nvSpPr>
          <p:cNvPr id="12" name="TextBox 11"/>
          <p:cNvSpPr txBox="1"/>
          <p:nvPr/>
        </p:nvSpPr>
        <p:spPr>
          <a:xfrm>
            <a:off x="2194560" y="2651760"/>
            <a:ext cx="2194560" cy="457200"/>
          </a:xfrm>
          <a:prstGeom prst="rect">
            <a:avLst/>
          </a:prstGeom>
          <a:noFill/>
        </p:spPr>
        <p:txBody>
          <a:bodyPr wrap="square" lIns="0" tIns="0" rIns="0" bIns="0" anchor="ctr">
            <a:spAutoFit/>
          </a:bodyPr>
          <a:lstStyle/>
          <a:p>
            <a:pPr algn="l"/>
            <a:r>
              <a:rPr sz="850" b="0" i="0">
                <a:solidFill>
                  <a:srgbClr val="002368"/>
                </a:solidFill>
                <a:latin typeface="Arial"/>
              </a:rPr>
              <a:t>Ready, but to the organisation's inbox and needs routing, or a free-mail inbox it publishes</a:t>
            </a:r>
          </a:p>
        </p:txBody>
      </p:sp>
      <p:sp>
        <p:nvSpPr>
          <p:cNvPr id="13" name="Rounded Rectangle 12"/>
          <p:cNvSpPr/>
          <p:nvPr/>
        </p:nvSpPr>
        <p:spPr>
          <a:xfrm>
            <a:off x="548640" y="3236976"/>
            <a:ext cx="3931920" cy="530352"/>
          </a:xfrm>
          <a:prstGeom prst="roundRect">
            <a:avLst>
              <a:gd name="adj" fmla="val 12068"/>
            </a:avLst>
          </a:prstGeom>
          <a:solidFill>
            <a:srgbClr val="D9ECF9"/>
          </a:solidFill>
          <a:ln w="12700">
            <a:solidFill>
              <a:srgbClr val="D9ECF9"/>
            </a:solidFill>
          </a:ln>
        </p:spPr>
        <p:txBody>
          <a:bodyPr rtlCol="0" anchor="ctr"/>
          <a:lstStyle/>
          <a:p>
            <a:pPr algn="ctr"/>
          </a:p>
        </p:txBody>
      </p:sp>
      <p:sp>
        <p:nvSpPr>
          <p:cNvPr id="14" name="TextBox 13"/>
          <p:cNvSpPr txBox="1"/>
          <p:nvPr/>
        </p:nvSpPr>
        <p:spPr>
          <a:xfrm>
            <a:off x="731520" y="3273552"/>
            <a:ext cx="1463040" cy="457200"/>
          </a:xfrm>
          <a:prstGeom prst="rect">
            <a:avLst/>
          </a:prstGeom>
          <a:noFill/>
        </p:spPr>
        <p:txBody>
          <a:bodyPr wrap="square" lIns="0" tIns="0" rIns="0" bIns="0" anchor="ctr">
            <a:spAutoFit/>
          </a:bodyPr>
          <a:lstStyle/>
          <a:p>
            <a:pPr algn="l"/>
            <a:r>
              <a:rPr sz="1150" b="1" i="0">
                <a:solidFill>
                  <a:srgbClr val="002368"/>
                </a:solidFill>
                <a:latin typeface="Arial"/>
              </a:rPr>
              <a:t>Low</a:t>
            </a:r>
          </a:p>
        </p:txBody>
      </p:sp>
      <p:sp>
        <p:nvSpPr>
          <p:cNvPr id="15" name="TextBox 14"/>
          <p:cNvSpPr txBox="1"/>
          <p:nvPr/>
        </p:nvSpPr>
        <p:spPr>
          <a:xfrm>
            <a:off x="2194560" y="3273552"/>
            <a:ext cx="2194560" cy="457200"/>
          </a:xfrm>
          <a:prstGeom prst="rect">
            <a:avLst/>
          </a:prstGeom>
          <a:noFill/>
        </p:spPr>
        <p:txBody>
          <a:bodyPr wrap="square" lIns="0" tIns="0" rIns="0" bIns="0" anchor="ctr">
            <a:spAutoFit/>
          </a:bodyPr>
          <a:lstStyle/>
          <a:p>
            <a:pPr algn="l"/>
            <a:r>
              <a:rPr sz="850" b="0" i="0">
                <a:solidFill>
                  <a:srgbClr val="002368"/>
                </a:solidFill>
                <a:latin typeface="Arial"/>
              </a:rPr>
              <a:t>Held or needs research: red flags, closure, unconfirmed role or inbox, unlinked funder, checks</a:t>
            </a:r>
          </a:p>
        </p:txBody>
      </p:sp>
      <p:sp>
        <p:nvSpPr>
          <p:cNvPr id="16" name="Rounded Rectangle 15"/>
          <p:cNvSpPr/>
          <p:nvPr/>
        </p:nvSpPr>
        <p:spPr>
          <a:xfrm>
            <a:off x="548640" y="3858768"/>
            <a:ext cx="3931920" cy="530352"/>
          </a:xfrm>
          <a:prstGeom prst="roundRect">
            <a:avLst>
              <a:gd name="adj" fmla="val 12068"/>
            </a:avLst>
          </a:prstGeom>
          <a:solidFill>
            <a:srgbClr val="ECECEC"/>
          </a:solidFill>
          <a:ln w="12700">
            <a:solidFill>
              <a:srgbClr val="ECECEC"/>
            </a:solidFill>
          </a:ln>
        </p:spPr>
        <p:txBody>
          <a:bodyPr rtlCol="0" anchor="ctr"/>
          <a:lstStyle/>
          <a:p>
            <a:pPr algn="ctr"/>
          </a:p>
        </p:txBody>
      </p:sp>
      <p:sp>
        <p:nvSpPr>
          <p:cNvPr id="17" name="TextBox 16"/>
          <p:cNvSpPr txBox="1"/>
          <p:nvPr/>
        </p:nvSpPr>
        <p:spPr>
          <a:xfrm>
            <a:off x="731520" y="3895344"/>
            <a:ext cx="1463040" cy="457200"/>
          </a:xfrm>
          <a:prstGeom prst="rect">
            <a:avLst/>
          </a:prstGeom>
          <a:noFill/>
        </p:spPr>
        <p:txBody>
          <a:bodyPr wrap="square" lIns="0" tIns="0" rIns="0" bIns="0" anchor="ctr">
            <a:spAutoFit/>
          </a:bodyPr>
          <a:lstStyle/>
          <a:p>
            <a:pPr algn="l"/>
            <a:r>
              <a:rPr sz="1150" b="1" i="0">
                <a:solidFill>
                  <a:srgbClr val="002368"/>
                </a:solidFill>
                <a:latin typeface="Arial"/>
              </a:rPr>
              <a:t>No email</a:t>
            </a:r>
          </a:p>
        </p:txBody>
      </p:sp>
      <p:sp>
        <p:nvSpPr>
          <p:cNvPr id="18" name="TextBox 17"/>
          <p:cNvSpPr txBox="1"/>
          <p:nvPr/>
        </p:nvSpPr>
        <p:spPr>
          <a:xfrm>
            <a:off x="2194560" y="3895344"/>
            <a:ext cx="2194560" cy="457200"/>
          </a:xfrm>
          <a:prstGeom prst="rect">
            <a:avLst/>
          </a:prstGeom>
          <a:noFill/>
        </p:spPr>
        <p:txBody>
          <a:bodyPr wrap="square" lIns="0" tIns="0" rIns="0" bIns="0" anchor="ctr">
            <a:spAutoFit/>
          </a:bodyPr>
          <a:lstStyle/>
          <a:p>
            <a:pPr algn="l"/>
            <a:r>
              <a:rPr sz="850" b="0" i="0">
                <a:solidFill>
                  <a:srgbClr val="002368"/>
                </a:solidFill>
                <a:latin typeface="Arial"/>
              </a:rPr>
              <a:t>A phone only, or no route: the call sheets</a:t>
            </a:r>
          </a:p>
        </p:txBody>
      </p:sp>
      <p:graphicFrame>
        <p:nvGraphicFramePr>
          <p:cNvPr id="19" name="Table 18"/>
          <p:cNvGraphicFramePr>
            <a:graphicFrameLocks noGrp="1"/>
          </p:cNvGraphicFramePr>
          <p:nvPr/>
        </p:nvGraphicFramePr>
        <p:xfrm>
          <a:off x="4754880" y="1371600"/>
          <a:ext cx="6885432" cy="2057400"/>
        </p:xfrm>
        <a:graphic>
          <a:graphicData uri="http://schemas.openxmlformats.org/drawingml/2006/table">
            <a:tbl>
              <a:tblPr firstRow="0" bandRow="0">
                <a:tableStyleId>{2D5ABB26-0587-4C30-8999-92F81FD0307C}</a:tableStyleId>
              </a:tblPr>
              <a:tblGrid>
                <a:gridCol w="1463040"/>
                <a:gridCol w="1051560"/>
                <a:gridCol w="1051560"/>
                <a:gridCol w="914400"/>
                <a:gridCol w="822960"/>
                <a:gridCol w="1581912"/>
              </a:tblGrid>
              <a:tr h="411480">
                <a:tc>
                  <a:txBody>
                    <a:bodyPr wrap="square"/>
                    <a:lstStyle/>
                    <a:p>
                      <a:r>
                        <a:rPr sz="900" b="1" i="0" spc="100">
                          <a:solidFill>
                            <a:srgbClr val="818283"/>
                          </a:solidFill>
                          <a:latin typeface="Arial"/>
                        </a:rPr>
                        <a:t>TRACK</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INDIRECT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NO EMAIL</a:t>
                      </a:r>
                    </a:p>
                  </a:txBody>
                  <a:tcPr marL="54864" marR="54864" marT="36576" marB="36576" anchor="ctr">
                    <a:lnL w="0">
                      <a:noFill/>
                    </a:lnL>
                    <a:lnR w="0">
                      <a:noFill/>
                    </a:lnR>
                    <a:lnT w="0">
                      <a:noFill/>
                    </a:lnT>
                    <a:lnB w="12700">
                      <a:solidFill>
                        <a:srgbClr val="80BFEC"/>
                      </a:solidFill>
                    </a:lnB>
                    <a:noFill/>
                  </a:tcPr>
                </a:tc>
              </a:tr>
              <a:tr h="411480">
                <a:tc>
                  <a:txBody>
                    <a:bodyPr wrap="square"/>
                    <a:lstStyle/>
                    <a:p>
                      <a:r>
                        <a:rPr sz="1100" b="1" i="0">
                          <a:solidFill>
                            <a:srgbClr val="002368"/>
                          </a:solidFill>
                          <a:latin typeface="Arial"/>
                        </a:rPr>
                        <a:t>Companies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36</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349</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52</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569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Welfare</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55</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117</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233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 pilot councils</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224 held</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All 228 by hand</a:t>
                      </a:r>
                    </a:p>
                  </a:txBody>
                  <a:tcPr marL="54864" marR="54864" marT="36576" marB="36576" anchor="ctr">
                    <a:lnL w="0">
                      <a:noFill/>
                    </a:lnL>
                    <a:lnR w="0">
                      <a:noFill/>
                    </a:lnR>
                    <a:lnT w="0">
                      <a:noFill/>
                    </a:lnT>
                    <a:lnB w="9525">
                      <a:solidFill>
                        <a:srgbClr val="ECECEC"/>
                      </a:solidFill>
                    </a:lnB>
                    <a:noFill/>
                  </a:tcPr>
                </a:tc>
              </a:tr>
            </a:tbl>
          </a:graphicData>
        </a:graphic>
      </p:graphicFrame>
      <p:sp>
        <p:nvSpPr>
          <p:cNvPr id="20" name="TextBox 19"/>
          <p:cNvSpPr txBox="1"/>
          <p:nvPr/>
        </p:nvSpPr>
        <p:spPr>
          <a:xfrm>
            <a:off x="4754880" y="3611880"/>
            <a:ext cx="6858000" cy="502920"/>
          </a:xfrm>
          <a:prstGeom prst="rect">
            <a:avLst/>
          </a:prstGeom>
          <a:noFill/>
        </p:spPr>
        <p:txBody>
          <a:bodyPr wrap="square" lIns="0" tIns="0" rIns="0" bIns="0" anchor="t">
            <a:spAutoFit/>
          </a:bodyPr>
          <a:lstStyle/>
          <a:p>
            <a:pPr algn="l"/>
            <a:r>
              <a:rPr sz="1000" b="0" i="0">
                <a:solidFill>
                  <a:srgbClr val="818283"/>
                </a:solidFill>
                <a:latin typeface="Arial"/>
              </a:rPr>
              <a:t>Each segment is a separate contact list for the email tool. An address that two organisations share is used once (18 addresses).</a:t>
            </a:r>
          </a:p>
        </p:txBody>
      </p:sp>
      <p:sp>
        <p:nvSpPr>
          <p:cNvPr id="21" name="Rounded Rectangle 20"/>
          <p:cNvSpPr/>
          <p:nvPr/>
        </p:nvSpPr>
        <p:spPr>
          <a:xfrm>
            <a:off x="4754880" y="4206240"/>
            <a:ext cx="6885432" cy="1463040"/>
          </a:xfrm>
          <a:prstGeom prst="roundRect">
            <a:avLst>
              <a:gd name="adj" fmla="val 4375"/>
            </a:avLst>
          </a:prstGeom>
          <a:solidFill>
            <a:srgbClr val="FFF7E5"/>
          </a:solidFill>
          <a:ln w="12700">
            <a:solidFill>
              <a:srgbClr val="FFF7E5"/>
            </a:solidFill>
          </a:ln>
        </p:spPr>
        <p:txBody>
          <a:bodyPr rtlCol="0" anchor="ctr"/>
          <a:lstStyle/>
          <a:p>
            <a:pPr algn="ctr"/>
          </a:p>
        </p:txBody>
      </p:sp>
      <p:sp>
        <p:nvSpPr>
          <p:cNvPr id="22" name="TextBox 21"/>
          <p:cNvSpPr txBox="1"/>
          <p:nvPr/>
        </p:nvSpPr>
        <p:spPr>
          <a:xfrm>
            <a:off x="4983480" y="4343400"/>
            <a:ext cx="6492240" cy="274320"/>
          </a:xfrm>
          <a:prstGeom prst="rect">
            <a:avLst/>
          </a:prstGeom>
          <a:noFill/>
        </p:spPr>
        <p:txBody>
          <a:bodyPr wrap="square" lIns="0" tIns="0" rIns="0" bIns="0" anchor="t">
            <a:spAutoFit/>
          </a:bodyPr>
          <a:lstStyle/>
          <a:p>
            <a:pPr algn="l"/>
            <a:r>
              <a:rPr sz="1200" b="1" i="0">
                <a:solidFill>
                  <a:srgbClr val="002368"/>
                </a:solidFill>
                <a:latin typeface="Arial"/>
              </a:rPr>
              <a:t>Government delivery lists</a:t>
            </a:r>
          </a:p>
        </p:txBody>
      </p:sp>
      <p:sp>
        <p:nvSpPr>
          <p:cNvPr id="23" name="TextBox 22"/>
          <p:cNvSpPr txBox="1"/>
          <p:nvPr/>
        </p:nvSpPr>
        <p:spPr>
          <a:xfrm>
            <a:off x="4983480" y="4645152"/>
            <a:ext cx="6492240" cy="123444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Every office is segmented whatever the channel: letter addressee, who decides, who can decide quickly, postal and physical address, office phone, official email, release order.</a:t>
            </a:r>
          </a:p>
          <a:p>
            <a:pPr algn="l" marL="155448" indent="-155448">
              <a:spcAft>
                <a:spcPts val="300"/>
              </a:spcAft>
              <a:buFont typeface="Arial"/>
              <a:buChar char="•"/>
            </a:pPr>
            <a:r>
              <a:rPr sz="1000" b="0" i="0">
                <a:solidFill>
                  <a:srgbClr val="000000"/>
                </a:solidFill>
                <a:latin typeface="Arial"/>
              </a:rPr>
              <a:t>High: a pilot council letter is ready and the post holder is named by an official source within 180 days. Low: held until the pilot (councils), the B2G owner (districts, regions) or the council's introduction (wards, villages).</a:t>
            </a:r>
          </a:p>
        </p:txBody>
      </p:sp>
      <p:pic>
        <p:nvPicPr>
          <p:cNvPr id="24" name="Picture 23" descr="image3.png"/>
          <p:cNvPicPr>
            <a:picLocks noChangeAspect="1"/>
          </p:cNvPicPr>
          <p:nvPr/>
        </p:nvPicPr>
        <p:blipFill>
          <a:blip r:embed="rId2"/>
          <a:stretch>
            <a:fillRect/>
          </a:stretch>
        </p:blipFill>
        <p:spPr>
          <a:xfrm>
            <a:off x="548640" y="6272784"/>
            <a:ext cx="1143000" cy="274320"/>
          </a:xfrm>
          <a:prstGeom prst="rect">
            <a:avLst/>
          </a:prstGeom>
        </p:spPr>
      </p:pic>
      <p:sp>
        <p:nvSpPr>
          <p:cNvPr id="25"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REACH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54 leads reach the decision-maker directly</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HIGH-CONFIDENCE EMAIL ROUTES BY TRACK</a:t>
            </a:r>
          </a:p>
        </p:txBody>
      </p:sp>
      <p:graphicFrame>
        <p:nvGraphicFramePr>
          <p:cNvPr id="5" name="Chart 4"/>
          <p:cNvGraphicFramePr>
            <a:graphicFrameLocks noGrp="1"/>
          </p:cNvGraphicFramePr>
          <p:nvPr/>
        </p:nvGraphicFramePr>
        <p:xfrm>
          <a:off x="411480" y="1508760"/>
          <a:ext cx="5852160" cy="3291840"/>
        </p:xfrm>
        <a:graphic>
          <a:graphicData uri="http://schemas.openxmlformats.org/drawingml/2006/chart">
            <c:chart xmlns:c="http://schemas.openxmlformats.org/drawingml/2006/chart" r:id="rId2"/>
          </a:graphicData>
        </a:graphic>
      </p:graphicFrame>
      <p:sp>
        <p:nvSpPr>
          <p:cNvPr id="6" name="TextBox 5"/>
          <p:cNvSpPr txBox="1"/>
          <p:nvPr/>
        </p:nvSpPr>
        <p:spPr>
          <a:xfrm>
            <a:off x="2743200" y="4069080"/>
            <a:ext cx="1463040" cy="274320"/>
          </a:xfrm>
          <a:prstGeom prst="rect">
            <a:avLst/>
          </a:prstGeom>
          <a:noFill/>
        </p:spPr>
        <p:txBody>
          <a:bodyPr wrap="square" lIns="0" tIns="0" rIns="0" bIns="0" anchor="t">
            <a:spAutoFit/>
          </a:bodyPr>
          <a:lstStyle/>
          <a:p>
            <a:pPr algn="ctr"/>
            <a:r>
              <a:rPr sz="950" b="1" i="0">
                <a:solidFill>
                  <a:srgbClr val="002368"/>
                </a:solidFill>
                <a:latin typeface="Arial"/>
              </a:rPr>
              <a:t>4 direct · 8 indirect</a:t>
            </a:r>
          </a:p>
        </p:txBody>
      </p:sp>
      <p:sp>
        <p:nvSpPr>
          <p:cNvPr id="7" name="TextBox 6"/>
          <p:cNvSpPr txBox="1"/>
          <p:nvPr/>
        </p:nvSpPr>
        <p:spPr>
          <a:xfrm>
            <a:off x="548640" y="4846320"/>
            <a:ext cx="5577840" cy="1097280"/>
          </a:xfrm>
          <a:prstGeom prst="rect">
            <a:avLst/>
          </a:prstGeom>
          <a:noFill/>
        </p:spPr>
        <p:txBody>
          <a:bodyPr wrap="square" lIns="0" tIns="0" rIns="0" bIns="0" anchor="t">
            <a:spAutoFit/>
          </a:bodyPr>
          <a:lstStyle/>
          <a:p>
            <a:pPr algn="l"/>
            <a:r>
              <a:rPr sz="1000" b="0" i="0">
                <a:solidFill>
                  <a:srgbClr val="818283"/>
                </a:solidFill>
                <a:latin typeface="Arial"/>
              </a:rPr>
              <a:t>54 routes reach the decision-maker at their own or their role's inbox; 291 reach them through a general inbox addressed to them by name. The routes come from each organisation's own website, published directories and targeted searches.</a:t>
            </a:r>
          </a:p>
        </p:txBody>
      </p:sp>
      <p:sp>
        <p:nvSpPr>
          <p:cNvPr id="8" name="Rounded Rectangle 7"/>
          <p:cNvSpPr/>
          <p:nvPr/>
        </p:nvSpPr>
        <p:spPr>
          <a:xfrm>
            <a:off x="6537960" y="1325880"/>
            <a:ext cx="5102352"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9" name="TextBox 8"/>
          <p:cNvSpPr txBox="1"/>
          <p:nvPr/>
        </p:nvSpPr>
        <p:spPr>
          <a:xfrm>
            <a:off x="6812280" y="1508760"/>
            <a:ext cx="45720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 EVERYWHERE</a:t>
            </a:r>
          </a:p>
        </p:txBody>
      </p:sp>
      <p:sp>
        <p:nvSpPr>
          <p:cNvPr id="10" name="TextBox 9"/>
          <p:cNvSpPr txBox="1"/>
          <p:nvPr/>
        </p:nvSpPr>
        <p:spPr>
          <a:xfrm>
            <a:off x="6812280" y="1810512"/>
            <a:ext cx="4572000" cy="731520"/>
          </a:xfrm>
          <a:prstGeom prst="rect">
            <a:avLst/>
          </a:prstGeom>
          <a:noFill/>
        </p:spPr>
        <p:txBody>
          <a:bodyPr wrap="square" lIns="0" tIns="0" rIns="0" bIns="0" anchor="t">
            <a:spAutoFit/>
          </a:bodyPr>
          <a:lstStyle/>
          <a:p>
            <a:pPr algn="l"/>
            <a:r>
              <a:rPr sz="1700" b="0" i="0">
                <a:solidFill>
                  <a:srgbClr val="002368"/>
                </a:solidFill>
                <a:latin typeface="Georgia"/>
              </a:rPr>
              <a:t>The first message goes to the in-country person who can decide.</a:t>
            </a:r>
          </a:p>
        </p:txBody>
      </p:sp>
      <p:sp>
        <p:nvSpPr>
          <p:cNvPr id="11" name="TextBox 10"/>
          <p:cNvSpPr txBox="1"/>
          <p:nvPr/>
        </p:nvSpPr>
        <p:spPr>
          <a:xfrm>
            <a:off x="6812280" y="2697480"/>
            <a:ext cx="123444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2" name="TextBox 11"/>
          <p:cNvSpPr txBox="1"/>
          <p:nvPr/>
        </p:nvSpPr>
        <p:spPr>
          <a:xfrm>
            <a:off x="8046720" y="2697480"/>
            <a:ext cx="3429000" cy="731520"/>
          </a:xfrm>
          <a:prstGeom prst="rect">
            <a:avLst/>
          </a:prstGeom>
          <a:noFill/>
        </p:spPr>
        <p:txBody>
          <a:bodyPr wrap="square" lIns="0" tIns="0" rIns="0" bIns="0" anchor="t">
            <a:spAutoFit/>
          </a:bodyPr>
          <a:lstStyle/>
          <a:p>
            <a:pPr algn="l"/>
            <a:r>
              <a:rPr sz="1000" b="0" i="0">
                <a:solidFill>
                  <a:srgbClr val="000000"/>
                </a:solidFill>
                <a:latin typeface="Arial"/>
              </a:rPr>
              <a:t>The most senior person running the Tanzania or Arusha operation: owner, founder, MD, GM or HR head.</a:t>
            </a:r>
          </a:p>
        </p:txBody>
      </p:sp>
      <p:sp>
        <p:nvSpPr>
          <p:cNvPr id="13" name="TextBox 12"/>
          <p:cNvSpPr txBox="1"/>
          <p:nvPr/>
        </p:nvSpPr>
        <p:spPr>
          <a:xfrm>
            <a:off x="6812280" y="3483864"/>
            <a:ext cx="123444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4" name="TextBox 13"/>
          <p:cNvSpPr txBox="1"/>
          <p:nvPr/>
        </p:nvSpPr>
        <p:spPr>
          <a:xfrm>
            <a:off x="8046720" y="3483864"/>
            <a:ext cx="3429000" cy="731520"/>
          </a:xfrm>
          <a:prstGeom prst="rect">
            <a:avLst/>
          </a:prstGeom>
          <a:noFill/>
        </p:spPr>
        <p:txBody>
          <a:bodyPr wrap="square" lIns="0" tIns="0" rIns="0" bIns="0" anchor="t">
            <a:spAutoFit/>
          </a:bodyPr>
          <a:lstStyle/>
          <a:p>
            <a:pPr algn="l"/>
            <a:r>
              <a:rPr sz="100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6812280" y="4270248"/>
            <a:ext cx="1234440" cy="274320"/>
          </a:xfrm>
          <a:prstGeom prst="rect">
            <a:avLst/>
          </a:prstGeom>
          <a:noFill/>
        </p:spPr>
        <p:txBody>
          <a:bodyPr wrap="square" lIns="0" tIns="0" rIns="0" bIns="0" anchor="t">
            <a:spAutoFit/>
          </a:bodyPr>
          <a:lstStyle/>
          <a:p>
            <a:pPr algn="l"/>
            <a:r>
              <a:rPr sz="1100" b="1" i="0">
                <a:solidFill>
                  <a:srgbClr val="002368"/>
                </a:solidFill>
                <a:latin typeface="Arial"/>
              </a:rPr>
              <a:t>Escalation</a:t>
            </a:r>
          </a:p>
        </p:txBody>
      </p:sp>
      <p:sp>
        <p:nvSpPr>
          <p:cNvPr id="16" name="TextBox 15"/>
          <p:cNvSpPr txBox="1"/>
          <p:nvPr/>
        </p:nvSpPr>
        <p:spPr>
          <a:xfrm>
            <a:off x="8046720" y="4270248"/>
            <a:ext cx="3429000" cy="731520"/>
          </a:xfrm>
          <a:prstGeom prst="rect">
            <a:avLst/>
          </a:prstGeom>
          <a:noFill/>
        </p:spPr>
        <p:txBody>
          <a:bodyPr wrap="square" lIns="0" tIns="0" rIns="0" bIns="0" anchor="t">
            <a:spAutoFit/>
          </a:bodyPr>
          <a:lstStyle/>
          <a:p>
            <a:pPr algn="l"/>
            <a:r>
              <a:rPr sz="1000" b="0" i="0">
                <a:solidFill>
                  <a:srgbClr val="000000"/>
                </a:solidFill>
                <a:latin typeface="Arial"/>
              </a:rPr>
              <a:t>A group, regional or global executive is recorded, never copied, and gets no draft. Used only if the local office is silent after the follow-up, declines, or defers to head office.</a:t>
            </a:r>
          </a:p>
        </p:txBody>
      </p:sp>
      <p:sp>
        <p:nvSpPr>
          <p:cNvPr id="17" name="TextBox 16"/>
          <p:cNvSpPr txBox="1"/>
          <p:nvPr/>
        </p:nvSpPr>
        <p:spPr>
          <a:xfrm>
            <a:off x="6812280" y="5056632"/>
            <a:ext cx="1234440" cy="274320"/>
          </a:xfrm>
          <a:prstGeom prst="rect">
            <a:avLst/>
          </a:prstGeom>
          <a:noFill/>
        </p:spPr>
        <p:txBody>
          <a:bodyPr wrap="square" lIns="0" tIns="0" rIns="0" bIns="0" anchor="t">
            <a:spAutoFit/>
          </a:bodyPr>
          <a:lstStyle/>
          <a:p>
            <a:pPr algn="l"/>
            <a:r>
              <a:rPr sz="1100" b="1" i="0">
                <a:solidFill>
                  <a:srgbClr val="002368"/>
                </a:solidFill>
                <a:latin typeface="Arial"/>
              </a:rPr>
              <a:t>Never chosen</a:t>
            </a:r>
          </a:p>
        </p:txBody>
      </p:sp>
      <p:sp>
        <p:nvSpPr>
          <p:cNvPr id="18" name="TextBox 17"/>
          <p:cNvSpPr txBox="1"/>
          <p:nvPr/>
        </p:nvSpPr>
        <p:spPr>
          <a:xfrm>
            <a:off x="8046720" y="5056632"/>
            <a:ext cx="3429000" cy="731520"/>
          </a:xfrm>
          <a:prstGeom prst="rect">
            <a:avLst/>
          </a:prstGeom>
          <a:noFill/>
        </p:spPr>
        <p:txBody>
          <a:bodyPr wrap="square" lIns="0" tIns="0" rIns="0" bIns="0" anchor="t">
            <a:spAutoFit/>
          </a:bodyPr>
          <a:lstStyle/>
          <a:p>
            <a:pPr algn="l"/>
            <a:r>
              <a:rPr sz="1000" b="0" i="0">
                <a:solidFill>
                  <a:srgbClr val="000000"/>
                </a:solidFill>
                <a:latin typeface="Arial"/>
              </a:rPr>
              <a:t>Vice chairs, treasurers and secretaries.</a:t>
            </a:r>
          </a:p>
        </p:txBody>
      </p:sp>
      <p:pic>
        <p:nvPicPr>
          <p:cNvPr id="19" name="Picture 18" descr="image3.png"/>
          <p:cNvPicPr>
            <a:picLocks noChangeAspect="1"/>
          </p:cNvPicPr>
          <p:nvPr/>
        </p:nvPicPr>
        <p:blipFill>
          <a:blip r:embed="rId3"/>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03</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THREE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Drafting the first touch</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Ask for a meeting first; the offer follows. Reach the person who decides.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Why request-first, direct versus indirect</a:t>
            </a:r>
          </a:p>
          <a:p>
            <a:pPr algn="l" marL="155448" indent="-155448">
              <a:spcAft>
                <a:spcPts val="400"/>
              </a:spcAft>
              <a:buFont typeface="Arial"/>
              <a:buChar char="•"/>
            </a:pPr>
            <a:r>
              <a:rPr sz="1100" b="0" i="0">
                <a:solidFill>
                  <a:srgbClr val="FFFFFF"/>
                </a:solidFill>
                <a:latin typeface="Arial"/>
              </a:rPr>
              <a:t>The three first-touch cases, with counts</a:t>
            </a:r>
          </a:p>
          <a:p>
            <a:pPr algn="l" marL="155448" indent="-155448">
              <a:spcAft>
                <a:spcPts val="400"/>
              </a:spcAft>
              <a:buFont typeface="Arial"/>
              <a:buChar char="•"/>
            </a:pPr>
            <a:r>
              <a:rPr sz="1100" b="0" i="0">
                <a:solidFill>
                  <a:srgbClr val="FFFFFF"/>
                </a:solidFill>
                <a:latin typeface="Arial"/>
              </a:rPr>
              <a:t>Templates and redirect wording</a:t>
            </a:r>
          </a:p>
          <a:p>
            <a:pPr algn="l" marL="155448" indent="-155448">
              <a:spcAft>
                <a:spcPts val="400"/>
              </a:spcAft>
              <a:buFont typeface="Arial"/>
              <a:buChar char="•"/>
            </a:pPr>
            <a:r>
              <a:rPr sz="1100" b="0" i="0">
                <a:solidFill>
                  <a:srgbClr val="FFFFFF"/>
                </a:solidFill>
                <a:latin typeface="Arial"/>
              </a:rPr>
              <a:t>Offers and verified hooks by segment</a:t>
            </a:r>
          </a:p>
          <a:p>
            <a:pPr algn="l" marL="155448" indent="-155448">
              <a:spcAft>
                <a:spcPts val="400"/>
              </a:spcAft>
              <a:buFont typeface="Arial"/>
              <a:buChar char="•"/>
            </a:pPr>
            <a:r>
              <a:rPr sz="1100" b="0" i="0">
                <a:solidFill>
                  <a:srgbClr val="FFFFFF"/>
                </a:solidFill>
                <a:latin typeface="Arial"/>
              </a:rPr>
              <a:t>Calls, letters, the fallout thread and incentives</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PRINCIPLE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325880"/>
            <a:ext cx="11091672" cy="1417320"/>
          </a:xfrm>
          <a:prstGeom prst="roundRect">
            <a:avLst>
              <a:gd name="adj" fmla="val 4516"/>
            </a:avLst>
          </a:prstGeom>
          <a:solidFill>
            <a:srgbClr val="D9ECF9"/>
          </a:solidFill>
          <a:ln w="12700">
            <a:solidFill>
              <a:srgbClr val="D9ECF9"/>
            </a:solidFill>
          </a:ln>
        </p:spPr>
        <p:txBody>
          <a:bodyPr rtlCol="0" anchor="ctr"/>
          <a:lstStyle/>
          <a:p>
            <a:pPr algn="ctr"/>
          </a:p>
        </p:txBody>
      </p:sp>
      <p:pic>
        <p:nvPicPr>
          <p:cNvPr id="5" name="Picture 4" descr="image4.png"/>
          <p:cNvPicPr>
            <a:picLocks noChangeAspect="1"/>
          </p:cNvPicPr>
          <p:nvPr/>
        </p:nvPicPr>
        <p:blipFill>
          <a:blip r:embed="rId2"/>
          <a:stretch>
            <a:fillRect/>
          </a:stretch>
        </p:blipFill>
        <p:spPr>
          <a:xfrm>
            <a:off x="10561320" y="1444752"/>
            <a:ext cx="868680" cy="1131916"/>
          </a:xfrm>
          <a:prstGeom prst="rect">
            <a:avLst/>
          </a:prstGeom>
        </p:spPr>
      </p:pic>
      <p:sp>
        <p:nvSpPr>
          <p:cNvPr id="6" name="TextBox 5"/>
          <p:cNvSpPr txBox="1"/>
          <p:nvPr/>
        </p:nvSpPr>
        <p:spPr>
          <a:xfrm>
            <a:off x="914400" y="1508760"/>
            <a:ext cx="4389120" cy="1097280"/>
          </a:xfrm>
          <a:prstGeom prst="rect">
            <a:avLst/>
          </a:prstGeom>
          <a:noFill/>
        </p:spPr>
        <p:txBody>
          <a:bodyPr wrap="square" lIns="0" tIns="0" rIns="0" bIns="0" anchor="t">
            <a:spAutoFit/>
          </a:bodyPr>
          <a:lstStyle/>
          <a:p>
            <a:pPr algn="l"/>
            <a:r>
              <a:rPr sz="2600" b="0" i="0">
                <a:solidFill>
                  <a:srgbClr val="002368"/>
                </a:solidFill>
                <a:latin typeface="Georgia"/>
              </a:rPr>
              <a:t>Ask first. Offer second.</a:t>
            </a:r>
          </a:p>
        </p:txBody>
      </p:sp>
      <p:sp>
        <p:nvSpPr>
          <p:cNvPr id="7" name="TextBox 6"/>
          <p:cNvSpPr txBox="1"/>
          <p:nvPr/>
        </p:nvSpPr>
        <p:spPr>
          <a:xfrm>
            <a:off x="5394960" y="1481328"/>
            <a:ext cx="4937760" cy="1188720"/>
          </a:xfrm>
          <a:prstGeom prst="rect">
            <a:avLst/>
          </a:prstGeom>
          <a:noFill/>
        </p:spPr>
        <p:txBody>
          <a:bodyPr wrap="square" lIns="0" tIns="0" rIns="0" bIns="0" anchor="t">
            <a:spAutoFit/>
          </a:bodyPr>
          <a:lstStyle/>
          <a:p>
            <a:pPr algn="l"/>
            <a:r>
              <a:rPr sz="1200" b="1" i="0">
                <a:solidFill>
                  <a:srgbClr val="002368"/>
                </a:solidFill>
                <a:latin typeface="Arial"/>
              </a:rPr>
              <a:t>The first message asks for a short meeting, in person or by phone, and states no offer terms. </a:t>
            </a:r>
            <a:r>
              <a:rPr sz="1200" b="0" i="0">
                <a:solidFill>
                  <a:srgbClr val="000000"/>
                </a:solidFill>
                <a:latin typeface="Arial"/>
              </a:rPr>
              <a:t>The offer follows in the next message, once the conversation is open.</a:t>
            </a:r>
          </a:p>
        </p:txBody>
      </p:sp>
      <p:sp>
        <p:nvSpPr>
          <p:cNvPr id="8" name="TextBox 7"/>
          <p:cNvSpPr txBox="1"/>
          <p:nvPr/>
        </p:nvSpPr>
        <p:spPr>
          <a:xfrm>
            <a:off x="548640"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REQUEST-FIRST</a:t>
            </a:r>
          </a:p>
        </p:txBody>
      </p:sp>
      <p:sp>
        <p:nvSpPr>
          <p:cNvPr id="9" name="Hexagon 8"/>
          <p:cNvSpPr/>
          <p:nvPr/>
        </p:nvSpPr>
        <p:spPr>
          <a:xfrm>
            <a:off x="548640" y="33375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0" name="TextBox 9"/>
          <p:cNvSpPr txBox="1"/>
          <p:nvPr/>
        </p:nvSpPr>
        <p:spPr>
          <a:xfrm>
            <a:off x="1051560"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 first message that leads with discounts reads as a sales pitch and is easy to ignore.</a:t>
            </a:r>
          </a:p>
        </p:txBody>
      </p:sp>
      <p:sp>
        <p:nvSpPr>
          <p:cNvPr id="11" name="Hexagon 10"/>
          <p:cNvSpPr/>
          <p:nvPr/>
        </p:nvSpPr>
        <p:spPr>
          <a:xfrm>
            <a:off x="548640" y="417880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2" name="TextBox 11"/>
          <p:cNvSpPr txBox="1"/>
          <p:nvPr/>
        </p:nvSpPr>
        <p:spPr>
          <a:xfrm>
            <a:off x="1051560"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The meeting is a small, relevant ask the recipient can say yes to.</a:t>
            </a:r>
          </a:p>
        </p:txBody>
      </p:sp>
      <p:sp>
        <p:nvSpPr>
          <p:cNvPr id="13" name="Hexagon 12"/>
          <p:cNvSpPr/>
          <p:nvPr/>
        </p:nvSpPr>
        <p:spPr>
          <a:xfrm>
            <a:off x="548640" y="502005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1051560"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Terms need Finance's 2027 confirmation; keeping them out of the first touch avoids promising early.</a:t>
            </a:r>
          </a:p>
        </p:txBody>
      </p:sp>
      <p:sp>
        <p:nvSpPr>
          <p:cNvPr id="15" name="TextBox 14"/>
          <p:cNvSpPr txBox="1"/>
          <p:nvPr/>
        </p:nvSpPr>
        <p:spPr>
          <a:xfrm>
            <a:off x="6190488"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DIRECT VERSUS INDIRECT</a:t>
            </a:r>
          </a:p>
        </p:txBody>
      </p:sp>
      <p:sp>
        <p:nvSpPr>
          <p:cNvPr id="16" name="Hexagon 15"/>
          <p:cNvSpPr/>
          <p:nvPr/>
        </p:nvSpPr>
        <p:spPr>
          <a:xfrm>
            <a:off x="6190488" y="3337560"/>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1</a:t>
            </a:r>
          </a:p>
        </p:txBody>
      </p:sp>
      <p:sp>
        <p:nvSpPr>
          <p:cNvPr id="17" name="TextBox 16"/>
          <p:cNvSpPr txBox="1"/>
          <p:nvPr/>
        </p:nvSpPr>
        <p:spPr>
          <a:xfrm>
            <a:off x="6693407"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An ambiguous request to a general inbox (info@, admin@) is likelier to be ignored, and may never reach the person who can decide.</a:t>
            </a:r>
          </a:p>
        </p:txBody>
      </p:sp>
      <p:sp>
        <p:nvSpPr>
          <p:cNvPr id="18" name="Hexagon 17"/>
          <p:cNvSpPr/>
          <p:nvPr/>
        </p:nvSpPr>
        <p:spPr>
          <a:xfrm>
            <a:off x="6190488" y="4178808"/>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2</a:t>
            </a:r>
          </a:p>
        </p:txBody>
      </p:sp>
      <p:sp>
        <p:nvSpPr>
          <p:cNvPr id="19" name="TextBox 18"/>
          <p:cNvSpPr txBox="1"/>
          <p:nvPr/>
        </p:nvSpPr>
        <p:spPr>
          <a:xfrm>
            <a:off x="6693407"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So the first job is to reach the decision-maker for staff benefits: HR, the welfare officer, the COO.</a:t>
            </a:r>
          </a:p>
        </p:txBody>
      </p:sp>
      <p:sp>
        <p:nvSpPr>
          <p:cNvPr id="20" name="Hexagon 19"/>
          <p:cNvSpPr/>
          <p:nvPr/>
        </p:nvSpPr>
        <p:spPr>
          <a:xfrm>
            <a:off x="6190488" y="5020056"/>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21" name="TextBox 20"/>
          <p:cNvSpPr txBox="1"/>
          <p:nvPr/>
        </p:nvSpPr>
        <p:spPr>
          <a:xfrm>
            <a:off x="6693407"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How we reach them depends on what we know: their own address, a name behind a general inbox, or no name.</a:t>
            </a:r>
          </a:p>
        </p:txBody>
      </p:sp>
      <p:pic>
        <p:nvPicPr>
          <p:cNvPr id="22" name="Picture 21" descr="image3.png"/>
          <p:cNvPicPr>
            <a:picLocks noChangeAspect="1"/>
          </p:cNvPicPr>
          <p:nvPr/>
        </p:nvPicPr>
        <p:blipFill>
          <a:blip r:embed="rId3"/>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partnership pipelines</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Three first-touch cases, set by who we can reach</a:t>
            </a:r>
          </a:p>
        </p:txBody>
      </p:sp>
      <p:sp>
        <p:nvSpPr>
          <p:cNvPr id="4" name="Rounded Rectangle 3"/>
          <p:cNvSpPr/>
          <p:nvPr/>
        </p:nvSpPr>
        <p:spPr>
          <a:xfrm>
            <a:off x="548640" y="1325880"/>
            <a:ext cx="3593592" cy="379476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59" y="146304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6" name="TextBox 5"/>
          <p:cNvSpPr txBox="1"/>
          <p:nvPr/>
        </p:nvSpPr>
        <p:spPr>
          <a:xfrm>
            <a:off x="1645919" y="166420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7" name="TextBox 6"/>
          <p:cNvSpPr txBox="1"/>
          <p:nvPr/>
        </p:nvSpPr>
        <p:spPr>
          <a:xfrm>
            <a:off x="822959" y="228600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8" name="TextBox 7"/>
          <p:cNvSpPr txBox="1"/>
          <p:nvPr/>
        </p:nvSpPr>
        <p:spPr>
          <a:xfrm>
            <a:off x="822959" y="2880360"/>
            <a:ext cx="3108960" cy="91440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cxnSp>
        <p:nvCxnSpPr>
          <p:cNvPr id="9" name="Connector 8"/>
          <p:cNvCxnSpPr/>
          <p:nvPr/>
        </p:nvCxnSpPr>
        <p:spPr>
          <a:xfrm>
            <a:off x="822959" y="3931920"/>
            <a:ext cx="3044952" cy="0"/>
          </a:xfrm>
          <a:prstGeom prst="line">
            <a:avLst/>
          </a:prstGeom>
          <a:ln w="9525">
            <a:solidFill>
              <a:srgbClr val="8091B3"/>
            </a:solidFill>
          </a:ln>
        </p:spPr>
      </p:cxnSp>
      <p:sp>
        <p:nvSpPr>
          <p:cNvPr id="10" name="TextBox 9"/>
          <p:cNvSpPr txBox="1"/>
          <p:nvPr/>
        </p:nvSpPr>
        <p:spPr>
          <a:xfrm>
            <a:off x="822959" y="4023360"/>
            <a:ext cx="1463040" cy="640080"/>
          </a:xfrm>
          <a:prstGeom prst="rect">
            <a:avLst/>
          </a:prstGeom>
          <a:noFill/>
        </p:spPr>
        <p:txBody>
          <a:bodyPr wrap="square" lIns="0" tIns="0" rIns="0" bIns="0" anchor="t">
            <a:spAutoFit/>
          </a:bodyPr>
          <a:lstStyle/>
          <a:p>
            <a:pPr algn="l"/>
            <a:r>
              <a:rPr sz="3200" b="0" i="0">
                <a:solidFill>
                  <a:srgbClr val="FFC952"/>
                </a:solidFill>
                <a:latin typeface="Georgia"/>
              </a:rPr>
              <a:t>63</a:t>
            </a:r>
          </a:p>
        </p:txBody>
      </p:sp>
      <p:sp>
        <p:nvSpPr>
          <p:cNvPr id="11" name="TextBox 10"/>
          <p:cNvSpPr txBox="1"/>
          <p:nvPr/>
        </p:nvSpPr>
        <p:spPr>
          <a:xfrm>
            <a:off x="2057400" y="4114800"/>
            <a:ext cx="1920240" cy="822960"/>
          </a:xfrm>
          <a:prstGeom prst="rect">
            <a:avLst/>
          </a:prstGeom>
          <a:noFill/>
        </p:spPr>
        <p:txBody>
          <a:bodyPr wrap="square" lIns="0" tIns="0" rIns="0" bIns="0" anchor="t">
            <a:spAutoFit/>
          </a:bodyPr>
          <a:lstStyle/>
          <a:p>
            <a:pPr algn="l"/>
            <a:r>
              <a:rPr sz="950" b="0" i="0">
                <a:solidFill>
                  <a:srgbClr val="FFFFFF"/>
                </a:solidFill>
                <a:latin typeface="Arial"/>
              </a:rPr>
              <a:t>drafts: companies 40, introducers 4, welfare 19</a:t>
            </a:r>
          </a:p>
        </p:txBody>
      </p:sp>
      <p:sp>
        <p:nvSpPr>
          <p:cNvPr id="12" name="Rounded Rectangle 11"/>
          <p:cNvSpPr/>
          <p:nvPr/>
        </p:nvSpPr>
        <p:spPr>
          <a:xfrm>
            <a:off x="4297679" y="1325880"/>
            <a:ext cx="3593592" cy="3794760"/>
          </a:xfrm>
          <a:prstGeom prst="roundRect">
            <a:avLst>
              <a:gd name="adj" fmla="val 1781"/>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4571999"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The full letter to the inbox, explicitly addressed to them, with a routing line at the top.</a:t>
            </a:r>
          </a:p>
        </p:txBody>
      </p:sp>
      <p:cxnSp>
        <p:nvCxnSpPr>
          <p:cNvPr id="17" name="Connector 16"/>
          <p:cNvCxnSpPr/>
          <p:nvPr/>
        </p:nvCxnSpPr>
        <p:spPr>
          <a:xfrm>
            <a:off x="4571999" y="3931920"/>
            <a:ext cx="3044952" cy="0"/>
          </a:xfrm>
          <a:prstGeom prst="line">
            <a:avLst/>
          </a:prstGeom>
          <a:ln w="9525">
            <a:solidFill>
              <a:srgbClr val="80BFEC"/>
            </a:solidFill>
          </a:ln>
        </p:spPr>
      </p:cxnSp>
      <p:sp>
        <p:nvSpPr>
          <p:cNvPr id="18" name="TextBox 17"/>
          <p:cNvSpPr txBox="1"/>
          <p:nvPr/>
        </p:nvSpPr>
        <p:spPr>
          <a:xfrm>
            <a:off x="4571999"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408</a:t>
            </a:r>
          </a:p>
        </p:txBody>
      </p:sp>
      <p:sp>
        <p:nvSpPr>
          <p:cNvPr id="19" name="TextBox 18"/>
          <p:cNvSpPr txBox="1"/>
          <p:nvPr/>
        </p:nvSpPr>
        <p:spPr>
          <a:xfrm>
            <a:off x="580644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246, introducers 8, welfare 154</a:t>
            </a:r>
          </a:p>
        </p:txBody>
      </p:sp>
      <p:sp>
        <p:nvSpPr>
          <p:cNvPr id="20" name="Rounded Rectangle 19"/>
          <p:cNvSpPr/>
          <p:nvPr/>
        </p:nvSpPr>
        <p:spPr>
          <a:xfrm>
            <a:off x="8046719" y="1325880"/>
            <a:ext cx="3593592" cy="379476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8321040"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22" name="TextBox 21"/>
          <p:cNvSpPr txBox="1"/>
          <p:nvPr/>
        </p:nvSpPr>
        <p:spPr>
          <a:xfrm>
            <a:off x="914399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3" name="TextBox 22"/>
          <p:cNvSpPr txBox="1"/>
          <p:nvPr/>
        </p:nvSpPr>
        <p:spPr>
          <a:xfrm>
            <a:off x="8321040"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4" name="TextBox 23"/>
          <p:cNvSpPr txBox="1"/>
          <p:nvPr/>
        </p:nvSpPr>
        <p:spPr>
          <a:xfrm>
            <a:off x="8321040"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cxnSp>
        <p:nvCxnSpPr>
          <p:cNvPr id="25" name="Connector 24"/>
          <p:cNvCxnSpPr/>
          <p:nvPr/>
        </p:nvCxnSpPr>
        <p:spPr>
          <a:xfrm>
            <a:off x="8321040" y="3931920"/>
            <a:ext cx="3044952" cy="0"/>
          </a:xfrm>
          <a:prstGeom prst="line">
            <a:avLst/>
          </a:prstGeom>
          <a:ln w="9525">
            <a:solidFill>
              <a:srgbClr val="80BFEC"/>
            </a:solidFill>
          </a:ln>
        </p:spPr>
      </p:cxnSp>
      <p:sp>
        <p:nvSpPr>
          <p:cNvPr id="26" name="TextBox 25"/>
          <p:cNvSpPr txBox="1"/>
          <p:nvPr/>
        </p:nvSpPr>
        <p:spPr>
          <a:xfrm>
            <a:off x="8321040"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423</a:t>
            </a:r>
          </a:p>
        </p:txBody>
      </p:sp>
      <p:sp>
        <p:nvSpPr>
          <p:cNvPr id="27" name="TextBox 26"/>
          <p:cNvSpPr txBox="1"/>
          <p:nvPr/>
        </p:nvSpPr>
        <p:spPr>
          <a:xfrm>
            <a:off x="955548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380, introducers 4, welfare 39</a:t>
            </a:r>
          </a:p>
        </p:txBody>
      </p:sp>
      <p:sp>
        <p:nvSpPr>
          <p:cNvPr id="28" name="TextBox 27"/>
          <p:cNvSpPr txBox="1"/>
          <p:nvPr/>
        </p:nvSpPr>
        <p:spPr>
          <a:xfrm>
            <a:off x="548640" y="5285232"/>
            <a:ext cx="11064240" cy="329184"/>
          </a:xfrm>
          <a:prstGeom prst="rect">
            <a:avLst/>
          </a:prstGeom>
          <a:noFill/>
        </p:spPr>
        <p:txBody>
          <a:bodyPr wrap="square" lIns="0" tIns="0" rIns="0" bIns="0" anchor="t">
            <a:spAutoFit/>
          </a:bodyPr>
          <a:lstStyle/>
          <a:p>
            <a:pPr algn="l"/>
            <a:r>
              <a:rPr sz="1300" b="0" i="0">
                <a:solidFill>
                  <a:srgbClr val="002368"/>
                </a:solidFill>
                <a:latin typeface="Georgia"/>
              </a:rPr>
              <a:t>Plus 802 leads with no email (569 master, 233 welfare): case C by phone. Government: does not apply; letters go by hand, addressed by title.</a:t>
            </a:r>
          </a:p>
        </p:txBody>
      </p:sp>
      <p:sp>
        <p:nvSpPr>
          <p:cNvPr id="29" name="TextBox 28"/>
          <p:cNvSpPr txBox="1"/>
          <p:nvPr/>
        </p:nvSpPr>
        <p:spPr>
          <a:xfrm>
            <a:off x="548640" y="5715000"/>
            <a:ext cx="11064240" cy="365760"/>
          </a:xfrm>
          <a:prstGeom prst="rect">
            <a:avLst/>
          </a:prstGeom>
          <a:noFill/>
        </p:spPr>
        <p:txBody>
          <a:bodyPr wrap="square" lIns="0" tIns="0" rIns="0" bIns="0" anchor="t">
            <a:spAutoFit/>
          </a:bodyPr>
          <a:lstStyle/>
          <a:p>
            <a:pPr algn="l"/>
            <a:r>
              <a:rPr sz="950" b="0" i="0">
                <a:solidFill>
                  <a:srgbClr val="818283"/>
                </a:solidFill>
                <a:latin typeface="Arial"/>
              </a:rPr>
              <a:t>Counts are email drafts. High and medium drafts go first; low drafts are held until their checks are done.</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drafts, October 2026</a:t>
            </a:r>
          </a:p>
        </p:txBody>
      </p:sp>
      <p:sp>
        <p:nvSpPr>
          <p:cNvPr id="3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My name is &lt;Sender name&gt;, &lt;Sender role&gt; at Silverleaf Academy in Arusha.</a:t>
            </a:r>
          </a:p>
          <a:p>
            <a:pPr algn="l"/>
            <a:r>
              <a:rPr sz="1000" b="0" i="0">
                <a:solidFill>
                  <a:srgbClr val="000000"/>
                </a:solidFill>
                <a:latin typeface="Arial"/>
              </a:rPr>
              <a:t/>
            </a: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r>
              <a:rPr sz="1000" b="0" i="0">
                <a:solidFill>
                  <a:srgbClr val="000000"/>
                </a:solidFill>
                <a:latin typeface="Arial"/>
              </a:rPr>
              <a:t/>
            </a:r>
          </a:p>
          <a:p>
            <a:pPr algn="l"/>
            <a:r>
              <a:rPr sz="1000" b="0" i="0">
                <a:solidFill>
                  <a:srgbClr val="000000"/>
                </a:solidFill>
                <a:latin typeface="Arial"/>
              </a:rPr>
              <a:t>Would it be possible to arrange a short meeting, either in person or by phone, to discuss this further?</a:t>
            </a:r>
          </a:p>
          <a:p>
            <a:pPr algn="l"/>
            <a:r>
              <a:rPr sz="1000" b="0" i="0">
                <a:solidFill>
                  <a:srgbClr val="000000"/>
                </a:solidFill>
                <a:latin typeface="Arial"/>
              </a:rPr>
              <a:t/>
            </a: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r>
              <a:rPr sz="1000" b="0" i="0">
                <a:solidFill>
                  <a:srgbClr val="000000"/>
                </a:solidFill>
                <a:latin typeface="Arial"/>
              </a:rPr>
              <a:t/>
            </a:r>
          </a:p>
          <a:p>
            <a:pPr algn="l"/>
            <a:r>
              <a:rPr sz="1000" b="1" i="0">
                <a:solidFill>
                  <a:srgbClr val="002368"/>
                </a:solidFill>
                <a:latin typeface="Arial"/>
              </a:rPr>
              <a:t>For the attention of &lt;Full Name&gt;, &lt;Role&gt;. If this inbox does not reach them, we would be grateful if it could be forwarded.</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algn="l" marL="155448" indent="-155448">
              <a:spcAft>
                <a:spcPts val="200"/>
              </a:spcAft>
              <a:buFont typeface="Arial"/>
              <a:buChar char="•"/>
            </a:pPr>
            <a:r>
              <a:rPr sz="950" b="0" i="0">
                <a:solidFill>
                  <a:srgbClr val="000000"/>
                </a:solidFill>
                <a:latin typeface="Arial"/>
              </a:rPr>
              <a:t>The person's name, not 'he' or 'him'; no honorific (Mr, Dr) unless a source states it.</a:t>
            </a:r>
          </a:p>
          <a:p>
            <a:pPr algn="l" marL="155448" indent="-155448">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r>
              <a:rPr sz="1050" b="0" i="0">
                <a:solidFill>
                  <a:srgbClr val="FFFFFF"/>
                </a:solidFill>
                <a:latin typeface="Arial"/>
              </a:rPr>
              <a:t/>
            </a:r>
          </a:p>
          <a:p>
            <a:pPr algn="l"/>
            <a:r>
              <a:rPr sz="1050" b="0" i="0">
                <a:solidFill>
                  <a:srgbClr val="FFFFFF"/>
                </a:solidFill>
                <a:latin typeface="Arial"/>
              </a:rPr>
              <a:t>Hello,</a:t>
            </a:r>
          </a:p>
          <a:p>
            <a:pPr algn="l"/>
            <a:r>
              <a:rPr sz="1050" b="0" i="0">
                <a:solidFill>
                  <a:srgbClr val="FFFFFF"/>
                </a:solidFill>
                <a:latin typeface="Arial"/>
              </a:rPr>
              <a:t/>
            </a:r>
          </a:p>
          <a:p>
            <a:pPr algn="l"/>
            <a:r>
              <a:rPr sz="1050" b="0" i="0">
                <a:solidFill>
                  <a:srgbClr val="FFFFFF"/>
                </a:solidFill>
                <a:latin typeface="Arial"/>
              </a:rPr>
              <a:t>I am writing from Silverleaf Academy in Arusha about a staff education benefit for the children of &lt;Organisation&gt;'s employees.</a:t>
            </a:r>
          </a:p>
          <a:p>
            <a:pPr algn="l"/>
            <a:r>
              <a:rPr sz="1050" b="0" i="0">
                <a:solidFill>
                  <a:srgbClr val="FFFFFF"/>
                </a:solidFill>
                <a:latin typeface="Arial"/>
              </a:rPr>
              <a:t/>
            </a:r>
          </a:p>
          <a:p>
            <a:pPr algn="l"/>
            <a:r>
              <a:rPr sz="1050" b="0" i="0">
                <a:solidFill>
                  <a:srgbClr val="FFFFFF"/>
                </a:solidFill>
                <a:latin typeface="Arial"/>
              </a:rPr>
              <a:t>Who looks after staff welfare and benefits (HR, the welfare officer or the COO)? We would like to send them a short note.</a:t>
            </a:r>
          </a:p>
          <a:p>
            <a:pPr algn="l"/>
            <a:r>
              <a:rPr sz="1050" b="0" i="0">
                <a:solidFill>
                  <a:srgbClr val="FFFFFF"/>
                </a:solidFill>
                <a:latin typeface="Arial"/>
              </a:rPr>
              <a:t/>
            </a: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firstRow="0" bandRow="0">
                <a:tableStyleId>{2D5ABB26-0587-4C30-8999-92F81FD0307C}</a:tableStyleId>
              </a:tblPr>
              <a:tblGrid>
                <a:gridCol w="1417320"/>
                <a:gridCol w="2148840"/>
                <a:gridCol w="3090672"/>
              </a:tblGrid>
              <a:tr h="566928">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Employers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Public bodies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same as employers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heads human resources?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the company's community giving?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is the programme officer for your work in Tanzania?</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Homes and programmes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education of the children in &lt;Organisation&gt;'s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an education benefit for &lt;Organisation&gt;'s members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0">
                      <a:noFill/>
                    </a:lnT>
                    <a:lnB w="9525">
                      <a:solidFill>
                        <a:srgbClr val="ECECEC"/>
                      </a:solidFill>
                    </a:lnB>
                    <a:noFill/>
                  </a:tcPr>
                </a:tc>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2"/>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389120"/>
        </p:xfrm>
        <a:graphic>
          <a:graphicData uri="http://schemas.openxmlformats.org/drawingml/2006/table">
            <a:tbl>
              <a:tblPr firstRow="0" bandRow="0">
                <a:tableStyleId>{2D5ABB26-0587-4C30-8999-92F81FD0307C}</a:tableStyleId>
              </a:tblPr>
              <a:tblGrid>
                <a:gridCol w="1828800"/>
                <a:gridCol w="3246120"/>
                <a:gridCol w="4069080"/>
                <a:gridCol w="1947672"/>
              </a:tblGrid>
              <a:tr h="54864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until it replies; sponsorship follow-up copy awaits approval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offer before a reply</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Savings groups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Family offer, plus the member-association group rate (OF07): 7% per student at 50, 12% at 100, 17% at 150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must extend OF07; Kiswahili review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All primary-age children; Finance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partner rate as a way to stretch sponsorship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Held without a verified link</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Register rule 5</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868680"/>
          </a:xfrm>
          <a:prstGeom prst="rect">
            <a:avLst/>
          </a:prstGeom>
          <a:noFill/>
        </p:spPr>
        <p:txBody>
          <a:bodyPr wrap="square" lIns="0" tIns="0" rIns="0" bIns="0" anchor="t">
            <a:spAutoFit/>
          </a:bodyPr>
          <a:lstStyle/>
          <a:p>
            <a:pPr algn="l"/>
            <a:r>
              <a:rPr sz="1050" b="0" i="0">
                <a:solidFill>
                  <a:srgbClr val="000000"/>
                </a:solidFill>
                <a:latin typeface="Arial"/>
              </a:rPr>
              <a:t>Kept only when the exact claim has a source URL and a verification date; otherwise the hook is left blank and the message opens directly with the request. No flattery, no personal details, no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algn="l" marL="155448" indent="-155448">
              <a:spcAft>
                <a:spcPts val="300"/>
              </a:spcAft>
              <a:buFont typeface="Arial"/>
              <a:buChar char="•"/>
            </a:pPr>
            <a:r>
              <a:rPr sz="1000" b="0" i="0">
                <a:solidFill>
                  <a:srgbClr val="000000"/>
                </a:solidFill>
                <a:latin typeface="Arial"/>
              </a:rPr>
              <a:t>Hook types on file: workforce 33, staff welfare 20, community programme 20, education programme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4069080"/>
          </a:xfrm>
          <a:prstGeom prst="rect">
            <a:avLst/>
          </a:prstGeom>
          <a:noFill/>
        </p:spPr>
        <p:txBody>
          <a:bodyPr wrap="square" lIns="0" tIns="0" rIns="0" bIns="0" anchor="t">
            <a:spAutoFit/>
          </a:bodyPr>
          <a:lstStyle/>
          <a:p>
            <a:pPr algn="l"/>
            <a:r>
              <a:rPr sz="1100" b="1" i="0">
                <a:solidFill>
                  <a:srgbClr val="FFC952"/>
                </a:solidFill>
                <a:latin typeface="Arial"/>
              </a:rPr>
              <a:t>RE: Request for an introduction to give parents information on preparing children to start school</a:t>
            </a:r>
          </a:p>
          <a:p>
            <a:pPr algn="l"/>
            <a:r>
              <a:rPr sz="1100" b="0" i="0">
                <a:solidFill>
                  <a:srgbClr val="FFFFFF"/>
                </a:solidFill>
                <a:latin typeface="Arial"/>
              </a:rPr>
              <a:t/>
            </a:r>
          </a:p>
          <a:p>
            <a:pPr algn="l"/>
            <a:r>
              <a:rPr sz="1100" b="0" i="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r>
              <a:rPr sz="1100" b="0" i="0">
                <a:solidFill>
                  <a:srgbClr val="FFFFFF"/>
                </a:solidFill>
                <a:latin typeface="Arial"/>
              </a:rPr>
              <a:t/>
            </a:r>
          </a:p>
          <a:p>
            <a:pPr algn="l"/>
            <a:r>
              <a:rPr sz="1100" b="0" i="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r>
              <a:rPr sz="1100" b="0" i="0">
                <a:solidFill>
                  <a:srgbClr val="FFFFFF"/>
                </a:solidFill>
                <a:latin typeface="Arial"/>
              </a:rPr>
              <a:t/>
            </a:r>
          </a:p>
          <a:p>
            <a:pPr algn="l"/>
            <a:r>
              <a:rPr sz="1100" b="0" i="0">
                <a:solidFill>
                  <a:srgbClr val="80BFEC"/>
                </a:solidFill>
                <a:latin typeface="Arial"/>
              </a:rPr>
              <a:t>Formal Kiswahili on letterhead, to the office by title, by hand. No hook that is personal; no offer.</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BEYOND EMAIL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Calls and letters carry the leads email cannot reach</a:t>
            </a:r>
          </a:p>
        </p:txBody>
      </p:sp>
      <p:sp>
        <p:nvSpPr>
          <p:cNvPr id="4" name="Rounded Rectangle 3"/>
          <p:cNvSpPr/>
          <p:nvPr/>
        </p:nvSpPr>
        <p:spPr>
          <a:xfrm>
            <a:off x="548640"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59"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822959"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Front-desk call</a:t>
            </a:r>
          </a:p>
        </p:txBody>
      </p:sp>
      <p:sp>
        <p:nvSpPr>
          <p:cNvPr id="7" name="TextBox 6"/>
          <p:cNvSpPr txBox="1"/>
          <p:nvPr/>
        </p:nvSpPr>
        <p:spPr>
          <a:xfrm>
            <a:off x="822959"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General inbox, silent after the redirect request</a:t>
            </a:r>
          </a:p>
        </p:txBody>
      </p:sp>
      <p:sp>
        <p:nvSpPr>
          <p:cNvPr id="8" name="TextBox 7"/>
          <p:cNvSpPr txBox="1"/>
          <p:nvPr/>
        </p:nvSpPr>
        <p:spPr>
          <a:xfrm>
            <a:off x="822959"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After 2 working days, call the front desk and ask for the HR or welfare officer's name and email. Public bodies: the HR office or registry. Introducers: the secretariat. Homes: the home's office, then a letter left at the office.</a:t>
            </a:r>
          </a:p>
        </p:txBody>
      </p:sp>
      <p:sp>
        <p:nvSpPr>
          <p:cNvPr id="9" name="Rounded Rectangle 8"/>
          <p:cNvSpPr/>
          <p:nvPr/>
        </p:nvSpPr>
        <p:spPr>
          <a:xfrm>
            <a:off x="4297679" y="1325880"/>
            <a:ext cx="3593592" cy="393192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10" name="TextBox 9"/>
          <p:cNvSpPr txBox="1"/>
          <p:nvPr/>
        </p:nvSpPr>
        <p:spPr>
          <a:xfrm>
            <a:off x="4571999" y="1481328"/>
            <a:ext cx="914400" cy="548640"/>
          </a:xfrm>
          <a:prstGeom prst="rect">
            <a:avLst/>
          </a:prstGeom>
          <a:noFill/>
        </p:spPr>
        <p:txBody>
          <a:bodyPr wrap="square" lIns="0" tIns="0" rIns="0" bIns="0" anchor="t">
            <a:spAutoFit/>
          </a:bodyPr>
          <a:lstStyle/>
          <a:p>
            <a:pPr algn="l"/>
            <a:r>
              <a:rPr sz="3000" b="0" i="0">
                <a:solidFill>
                  <a:srgbClr val="FFC952"/>
                </a:solidFill>
                <a:latin typeface="Georgia"/>
              </a:rPr>
              <a:t>02</a:t>
            </a:r>
          </a:p>
        </p:txBody>
      </p:sp>
      <p:sp>
        <p:nvSpPr>
          <p:cNvPr id="11" name="TextBox 10"/>
          <p:cNvSpPr txBox="1"/>
          <p:nvPr/>
        </p:nvSpPr>
        <p:spPr>
          <a:xfrm>
            <a:off x="4571999" y="2103120"/>
            <a:ext cx="3108960" cy="320040"/>
          </a:xfrm>
          <a:prstGeom prst="rect">
            <a:avLst/>
          </a:prstGeom>
          <a:noFill/>
        </p:spPr>
        <p:txBody>
          <a:bodyPr wrap="square" lIns="0" tIns="0" rIns="0" bIns="0" anchor="t">
            <a:spAutoFit/>
          </a:bodyPr>
          <a:lstStyle/>
          <a:p>
            <a:pPr algn="l"/>
            <a:r>
              <a:rPr sz="1600" b="1" i="0">
                <a:solidFill>
                  <a:srgbClr val="FFFFFF"/>
                </a:solidFill>
                <a:latin typeface="Arial"/>
              </a:rPr>
              <a:t>Call sheet</a:t>
            </a:r>
          </a:p>
        </p:txBody>
      </p:sp>
      <p:sp>
        <p:nvSpPr>
          <p:cNvPr id="12" name="TextBox 11"/>
          <p:cNvSpPr txBox="1"/>
          <p:nvPr/>
        </p:nvSpPr>
        <p:spPr>
          <a:xfrm>
            <a:off x="4571999" y="2468880"/>
            <a:ext cx="3108960" cy="502920"/>
          </a:xfrm>
          <a:prstGeom prst="rect">
            <a:avLst/>
          </a:prstGeom>
          <a:noFill/>
        </p:spPr>
        <p:txBody>
          <a:bodyPr wrap="square" lIns="0" tIns="0" rIns="0" bIns="0" anchor="t">
            <a:spAutoFit/>
          </a:bodyPr>
          <a:lstStyle/>
          <a:p>
            <a:pPr algn="l"/>
            <a:r>
              <a:rPr sz="1050" b="1" i="0">
                <a:solidFill>
                  <a:srgbClr val="80BFEC"/>
                </a:solidFill>
                <a:latin typeface="Arial"/>
              </a:rPr>
              <a:t>802 leads with no email: 569 master, 233 welfare</a:t>
            </a:r>
          </a:p>
        </p:txBody>
      </p:sp>
      <p:sp>
        <p:nvSpPr>
          <p:cNvPr id="13" name="TextBox 12"/>
          <p:cNvSpPr txBox="1"/>
          <p:nvPr/>
        </p:nvSpPr>
        <p:spPr>
          <a:xfrm>
            <a:off x="4571999" y="3017520"/>
            <a:ext cx="3108960" cy="2194560"/>
          </a:xfrm>
          <a:prstGeom prst="rect">
            <a:avLst/>
          </a:prstGeom>
          <a:noFill/>
        </p:spPr>
        <p:txBody>
          <a:bodyPr wrap="square" lIns="0" tIns="0" rIns="0" bIns="0" anchor="t">
            <a:spAutoFit/>
          </a:bodyPr>
          <a:lstStyle/>
          <a:p>
            <a:pPr algn="l"/>
            <a:r>
              <a:rPr sz="1050" b="0" i="0">
                <a:solidFill>
                  <a:srgbClr val="D9ECF9"/>
                </a:solidFill>
                <a:latin typeface="Arial"/>
              </a:rPr>
              <a:t>A front-desk call asking the redirect question, two attempts on different days within 5 working days; the first message then follows 'as discussed'. Start with the 50 hotels and 18 hospitals and clinics that publish a phone.</a:t>
            </a:r>
          </a:p>
        </p:txBody>
      </p:sp>
      <p:sp>
        <p:nvSpPr>
          <p:cNvPr id="14" name="Rounded Rectangle 13"/>
          <p:cNvSpPr/>
          <p:nvPr/>
        </p:nvSpPr>
        <p:spPr>
          <a:xfrm>
            <a:off x="8046719"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321040"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8321040"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Hand-delivered letter</a:t>
            </a:r>
          </a:p>
        </p:txBody>
      </p:sp>
      <p:sp>
        <p:nvSpPr>
          <p:cNvPr id="17" name="TextBox 16"/>
          <p:cNvSpPr txBox="1"/>
          <p:nvPr/>
        </p:nvSpPr>
        <p:spPr>
          <a:xfrm>
            <a:off x="8321040"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The nearest P1 and P2 leads</a:t>
            </a:r>
          </a:p>
        </p:txBody>
      </p:sp>
      <p:sp>
        <p:nvSpPr>
          <p:cNvPr id="18" name="TextBox 17"/>
          <p:cNvSpPr txBox="1"/>
          <p:nvPr/>
        </p:nvSpPr>
        <p:spPr>
          <a:xfrm>
            <a:off x="8321040"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If the call gives no name or route, a letter is delivered by hand; then dormant, and re-tried once at the next intake window. Savings groups get a Kiswahili letter; government letters always go by hand.</a:t>
            </a:r>
          </a:p>
        </p:txBody>
      </p:sp>
      <p:sp>
        <p:nvSpPr>
          <p:cNvPr id="19" name="Rounded Rectangle 18"/>
          <p:cNvSpPr/>
          <p:nvPr/>
        </p:nvSpPr>
        <p:spPr>
          <a:xfrm>
            <a:off x="548640" y="5440680"/>
            <a:ext cx="11091672" cy="548640"/>
          </a:xfrm>
          <a:prstGeom prst="roundRect">
            <a:avLst>
              <a:gd name="adj" fmla="val 11666"/>
            </a:avLst>
          </a:prstGeom>
          <a:solidFill>
            <a:srgbClr val="FFF7E5"/>
          </a:solidFill>
          <a:ln w="12700">
            <a:solidFill>
              <a:srgbClr val="FFF7E5"/>
            </a:solidFill>
          </a:ln>
        </p:spPr>
        <p:txBody>
          <a:bodyPr rtlCol="0" anchor="ctr"/>
          <a:lstStyle/>
          <a:p>
            <a:pPr algn="ctr"/>
          </a:p>
        </p:txBody>
      </p:sp>
      <p:sp>
        <p:nvSpPr>
          <p:cNvPr id="20" name="Hexagon 19"/>
          <p:cNvSpPr/>
          <p:nvPr/>
        </p:nvSpPr>
        <p:spPr>
          <a:xfrm>
            <a:off x="777240" y="5641848"/>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1" name="TextBox 20"/>
          <p:cNvSpPr txBox="1"/>
          <p:nvPr/>
        </p:nvSpPr>
        <p:spPr>
          <a:xfrm>
            <a:off x="1234440" y="5623560"/>
            <a:ext cx="10177272" cy="228600"/>
          </a:xfrm>
          <a:prstGeom prst="rect">
            <a:avLst/>
          </a:prstGeom>
          <a:noFill/>
        </p:spPr>
        <p:txBody>
          <a:bodyPr wrap="square" lIns="0" tIns="0" rIns="0" bIns="0" anchor="t">
            <a:spAutoFit/>
          </a:bodyPr>
          <a:lstStyle/>
          <a:p>
            <a:pPr algn="l">
              <a:spcAft>
                <a:spcPts val="300"/>
              </a:spcAft>
            </a:pPr>
            <a:r>
              <a:rPr sz="1050" b="1" i="0">
                <a:solidFill>
                  <a:srgbClr val="002368"/>
                </a:solidFill>
                <a:latin typeface="Arial"/>
              </a:rPr>
              <a:t>Funders abroad: email only. </a:t>
            </a:r>
            <a:r>
              <a:rPr sz="1050" b="0" i="0">
                <a:solidFill>
                  <a:srgbClr val="000000"/>
                </a:solidFill>
                <a:latin typeface="Arial"/>
              </a:rPr>
              <a:t>No call or letter; dormant until the funder's next budget cycle. Homes are never visited unannounced: visits follow the safeguarding protocol.</a:t>
            </a:r>
          </a:p>
        </p:txBody>
      </p:sp>
      <p:pic>
        <p:nvPicPr>
          <p:cNvPr id="22" name="Picture 21" descr="image3.png"/>
          <p:cNvPicPr>
            <a:picLocks noChangeAspect="1"/>
          </p:cNvPicPr>
          <p:nvPr/>
        </p:nvPicPr>
        <p:blipFill>
          <a:blip r:embed="rId2"/>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NAMED-PERSON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named person gets three touches, then one escalation</a:t>
            </a:r>
          </a:p>
        </p:txBody>
      </p:sp>
      <p:sp>
        <p:nvSpPr>
          <p:cNvPr id="4" name="TextBox 3"/>
          <p:cNvSpPr txBox="1"/>
          <p:nvPr/>
        </p:nvSpPr>
        <p:spPr>
          <a:xfrm>
            <a:off x="548640"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DAY 0</a:t>
            </a:r>
          </a:p>
        </p:txBody>
      </p:sp>
      <p:sp>
        <p:nvSpPr>
          <p:cNvPr id="5" name="Rounded Rectangle 4"/>
          <p:cNvSpPr/>
          <p:nvPr/>
        </p:nvSpPr>
        <p:spPr>
          <a:xfrm>
            <a:off x="548640" y="1600200"/>
            <a:ext cx="2651760" cy="2148840"/>
          </a:xfrm>
          <a:prstGeom prst="roundRect">
            <a:avLst>
              <a:gd name="adj" fmla="val 2978"/>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31520" y="1737360"/>
            <a:ext cx="2286000" cy="320040"/>
          </a:xfrm>
          <a:prstGeom prst="rect">
            <a:avLst/>
          </a:prstGeom>
          <a:noFill/>
        </p:spPr>
        <p:txBody>
          <a:bodyPr wrap="square" lIns="0" tIns="0" rIns="0" bIns="0" anchor="t">
            <a:spAutoFit/>
          </a:bodyPr>
          <a:lstStyle/>
          <a:p>
            <a:pPr algn="l"/>
            <a:r>
              <a:rPr sz="1300" b="1" i="0">
                <a:solidFill>
                  <a:srgbClr val="FFFFFF"/>
                </a:solidFill>
                <a:latin typeface="Arial"/>
              </a:rPr>
              <a:t>First message</a:t>
            </a:r>
          </a:p>
        </p:txBody>
      </p:sp>
      <p:sp>
        <p:nvSpPr>
          <p:cNvPr id="7" name="TextBox 6"/>
          <p:cNvSpPr txBox="1"/>
          <p:nvPr/>
        </p:nvSpPr>
        <p:spPr>
          <a:xfrm>
            <a:off x="731520" y="2148840"/>
            <a:ext cx="2286000" cy="1554480"/>
          </a:xfrm>
          <a:prstGeom prst="rect">
            <a:avLst/>
          </a:prstGeom>
          <a:noFill/>
        </p:spPr>
        <p:txBody>
          <a:bodyPr wrap="square" lIns="0" tIns="0" rIns="0" bIns="0" anchor="t">
            <a:spAutoFit/>
          </a:bodyPr>
          <a:lstStyle/>
          <a:p>
            <a:pPr algn="l"/>
            <a:r>
              <a:rPr sz="1050" b="0" i="0">
                <a:solidFill>
                  <a:srgbClr val="FFFFFF"/>
                </a:solidFill>
                <a:latin typeface="Arial"/>
              </a:rPr>
              <a:t>The meeting request (case A) or the Attn letter (case B). No terms.</a:t>
            </a:r>
          </a:p>
        </p:txBody>
      </p:sp>
      <p:sp>
        <p:nvSpPr>
          <p:cNvPr id="8" name="Chevron 7"/>
          <p:cNvSpPr/>
          <p:nvPr/>
        </p:nvSpPr>
        <p:spPr>
          <a:xfrm>
            <a:off x="3227832" y="2560320"/>
            <a:ext cx="100584" cy="219456"/>
          </a:xfrm>
          <a:prstGeom prst="chevron">
            <a:avLst>
              <a:gd name="adj" fmla="val 55000"/>
            </a:avLst>
          </a:prstGeom>
          <a:solidFill>
            <a:srgbClr val="80BFEC"/>
          </a:solidFill>
          <a:ln>
            <a:noFill/>
          </a:ln>
        </p:spPr>
        <p:txBody>
          <a:bodyPr rtlCol="0" anchor="ctr"/>
          <a:lstStyle/>
          <a:p>
            <a:pPr algn="ctr"/>
          </a:p>
        </p:txBody>
      </p:sp>
      <p:sp>
        <p:nvSpPr>
          <p:cNvPr id="9" name="TextBox 8"/>
          <p:cNvSpPr txBox="1"/>
          <p:nvPr/>
        </p:nvSpPr>
        <p:spPr>
          <a:xfrm>
            <a:off x="3355848"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0" name="Rounded Rectangle 9"/>
          <p:cNvSpPr/>
          <p:nvPr/>
        </p:nvSpPr>
        <p:spPr>
          <a:xfrm>
            <a:off x="3355848" y="1600200"/>
            <a:ext cx="2651760" cy="2148840"/>
          </a:xfrm>
          <a:prstGeom prst="roundRect">
            <a:avLst>
              <a:gd name="adj" fmla="val 297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3538728"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1: the offer</a:t>
            </a:r>
          </a:p>
        </p:txBody>
      </p:sp>
      <p:sp>
        <p:nvSpPr>
          <p:cNvPr id="12" name="TextBox 11"/>
          <p:cNvSpPr txBox="1"/>
          <p:nvPr/>
        </p:nvSpPr>
        <p:spPr>
          <a:xfrm>
            <a:off x="3538728"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A few offer details from the register: OF04 and the family offer (welfare: OF03).</a:t>
            </a:r>
          </a:p>
        </p:txBody>
      </p:sp>
      <p:sp>
        <p:nvSpPr>
          <p:cNvPr id="13" name="Chevron 12"/>
          <p:cNvSpPr/>
          <p:nvPr/>
        </p:nvSpPr>
        <p:spPr>
          <a:xfrm>
            <a:off x="6035040" y="2560320"/>
            <a:ext cx="100584" cy="219456"/>
          </a:xfrm>
          <a:prstGeom prst="chevron">
            <a:avLst>
              <a:gd name="adj" fmla="val 55000"/>
            </a:avLst>
          </a:prstGeom>
          <a:solidFill>
            <a:srgbClr val="80BFEC"/>
          </a:solidFill>
          <a:ln>
            <a:noFill/>
          </a:ln>
        </p:spPr>
        <p:txBody>
          <a:bodyPr rtlCol="0" anchor="ctr"/>
          <a:lstStyle/>
          <a:p>
            <a:pPr algn="ctr"/>
          </a:p>
        </p:txBody>
      </p:sp>
      <p:sp>
        <p:nvSpPr>
          <p:cNvPr id="14" name="TextBox 13"/>
          <p:cNvSpPr txBox="1"/>
          <p:nvPr/>
        </p:nvSpPr>
        <p:spPr>
          <a:xfrm>
            <a:off x="6163055"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5" name="Rounded Rectangle 14"/>
          <p:cNvSpPr/>
          <p:nvPr/>
        </p:nvSpPr>
        <p:spPr>
          <a:xfrm>
            <a:off x="6163055" y="1600200"/>
            <a:ext cx="2651760" cy="2148840"/>
          </a:xfrm>
          <a:prstGeom prst="roundRect">
            <a:avLst>
              <a:gd name="adj" fmla="val 2978"/>
            </a:avLst>
          </a:prstGeom>
          <a:solidFill>
            <a:srgbClr val="D9ECF9"/>
          </a:solidFill>
          <a:ln w="12700">
            <a:solidFill>
              <a:srgbClr val="D9ECF9"/>
            </a:solidFill>
          </a:ln>
        </p:spPr>
        <p:txBody>
          <a:bodyPr rtlCol="0" anchor="ctr"/>
          <a:lstStyle/>
          <a:p>
            <a:pPr algn="ctr"/>
          </a:p>
        </p:txBody>
      </p:sp>
      <p:sp>
        <p:nvSpPr>
          <p:cNvPr id="16" name="TextBox 15"/>
          <p:cNvSpPr txBox="1"/>
          <p:nvPr/>
        </p:nvSpPr>
        <p:spPr>
          <a:xfrm>
            <a:off x="6345936"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2: the close</a:t>
            </a:r>
          </a:p>
        </p:txBody>
      </p:sp>
      <p:sp>
        <p:nvSpPr>
          <p:cNvPr id="17" name="TextBox 16"/>
          <p:cNvSpPr txBox="1"/>
          <p:nvPr/>
        </p:nvSpPr>
        <p:spPr>
          <a:xfrm>
            <a:off x="6345936"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'If this sits with someone else at &lt;Organisation&gt;, such as HR or the welfare officer, who should I write to? Otherwise I will close this for now.'</a:t>
            </a:r>
          </a:p>
        </p:txBody>
      </p:sp>
      <p:sp>
        <p:nvSpPr>
          <p:cNvPr id="18" name="Chevron 17"/>
          <p:cNvSpPr/>
          <p:nvPr/>
        </p:nvSpPr>
        <p:spPr>
          <a:xfrm>
            <a:off x="8842248" y="2560320"/>
            <a:ext cx="100584" cy="219456"/>
          </a:xfrm>
          <a:prstGeom prst="chevron">
            <a:avLst>
              <a:gd name="adj" fmla="val 55000"/>
            </a:avLst>
          </a:prstGeom>
          <a:solidFill>
            <a:srgbClr val="80BFEC"/>
          </a:solidFill>
          <a:ln>
            <a:noFill/>
          </a:ln>
        </p:spPr>
        <p:txBody>
          <a:bodyPr rtlCol="0" anchor="ctr"/>
          <a:lstStyle/>
          <a:p>
            <a:pPr algn="ctr"/>
          </a:p>
        </p:txBody>
      </p:sp>
      <p:sp>
        <p:nvSpPr>
          <p:cNvPr id="19" name="TextBox 18"/>
          <p:cNvSpPr txBox="1"/>
          <p:nvPr/>
        </p:nvSpPr>
        <p:spPr>
          <a:xfrm>
            <a:off x="8970263"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+5 WORKING DAYS</a:t>
            </a:r>
          </a:p>
        </p:txBody>
      </p:sp>
      <p:sp>
        <p:nvSpPr>
          <p:cNvPr id="20" name="Rounded Rectangle 19"/>
          <p:cNvSpPr/>
          <p:nvPr/>
        </p:nvSpPr>
        <p:spPr>
          <a:xfrm>
            <a:off x="8970263" y="1600200"/>
            <a:ext cx="2651760" cy="2148840"/>
          </a:xfrm>
          <a:prstGeom prst="roundRect">
            <a:avLst>
              <a:gd name="adj" fmla="val 2978"/>
            </a:avLst>
          </a:prstGeom>
          <a:solidFill>
            <a:srgbClr val="FFC952"/>
          </a:solidFill>
          <a:ln w="12700">
            <a:solidFill>
              <a:srgbClr val="FFC952"/>
            </a:solidFill>
          </a:ln>
        </p:spPr>
        <p:txBody>
          <a:bodyPr rtlCol="0" anchor="ctr"/>
          <a:lstStyle/>
          <a:p>
            <a:pPr algn="ctr"/>
          </a:p>
        </p:txBody>
      </p:sp>
      <p:sp>
        <p:nvSpPr>
          <p:cNvPr id="21" name="TextBox 20"/>
          <p:cNvSpPr txBox="1"/>
          <p:nvPr/>
        </p:nvSpPr>
        <p:spPr>
          <a:xfrm>
            <a:off x="9153143"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Escalation</a:t>
            </a:r>
          </a:p>
        </p:txBody>
      </p:sp>
      <p:sp>
        <p:nvSpPr>
          <p:cNvPr id="22" name="TextBox 21"/>
          <p:cNvSpPr txBox="1"/>
          <p:nvPr/>
        </p:nvSpPr>
        <p:spPr>
          <a:xfrm>
            <a:off x="9153143"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One message to the escalation contact, if one exists; then dormant until the next intake window.</a:t>
            </a:r>
          </a:p>
        </p:txBody>
      </p:sp>
      <p:sp>
        <p:nvSpPr>
          <p:cNvPr id="23" name="TextBox 22"/>
          <p:cNvSpPr txBox="1"/>
          <p:nvPr/>
        </p:nvSpPr>
        <p:spPr>
          <a:xfrm>
            <a:off x="548640" y="3840480"/>
            <a:ext cx="11064240" cy="457200"/>
          </a:xfrm>
          <a:prstGeom prst="rect">
            <a:avLst/>
          </a:prstGeom>
          <a:noFill/>
        </p:spPr>
        <p:txBody>
          <a:bodyPr wrap="square" lIns="0" tIns="0" rIns="0" bIns="0" anchor="t">
            <a:spAutoFit/>
          </a:bodyPr>
          <a:lstStyle/>
          <a:p>
            <a:pPr algn="l"/>
            <a:r>
              <a:rPr sz="1000" b="0" i="0">
                <a:solidFill>
                  <a:srgbClr val="818283"/>
                </a:solidFill>
                <a:latin typeface="Arial"/>
              </a:rPr>
              <a:t>247 of the 254 employer and introducer Attn drafts carry the offer follow-up and the close (sponsorship follow-ups await approved copy), and 154 welfare Attn drafts carry the close. No sequence exceeds three messages.</a:t>
            </a:r>
          </a:p>
        </p:txBody>
      </p:sp>
      <p:sp>
        <p:nvSpPr>
          <p:cNvPr id="24" name="Rounded Rectangle 23"/>
          <p:cNvSpPr/>
          <p:nvPr/>
        </p:nvSpPr>
        <p:spPr>
          <a:xfrm>
            <a:off x="548640" y="4389120"/>
            <a:ext cx="11091672" cy="1554480"/>
          </a:xfrm>
          <a:prstGeom prst="roundRect">
            <a:avLst>
              <a:gd name="adj" fmla="val 4117"/>
            </a:avLst>
          </a:prstGeom>
          <a:solidFill>
            <a:srgbClr val="FFF7E5"/>
          </a:solidFill>
          <a:ln w="12700">
            <a:solidFill>
              <a:srgbClr val="FFF7E5"/>
            </a:solidFill>
          </a:ln>
        </p:spPr>
        <p:txBody>
          <a:bodyPr rtlCol="0" anchor="ctr"/>
          <a:lstStyle/>
          <a:p>
            <a:pPr algn="ctr"/>
          </a:p>
        </p:txBody>
      </p:sp>
      <p:pic>
        <p:nvPicPr>
          <p:cNvPr id="25" name="Picture 24" descr="image12.png"/>
          <p:cNvPicPr>
            <a:picLocks noChangeAspect="1"/>
          </p:cNvPicPr>
          <p:nvPr/>
        </p:nvPicPr>
        <p:blipFill>
          <a:blip r:embed="rId2"/>
          <a:stretch>
            <a:fillRect/>
          </a:stretch>
        </p:blipFill>
        <p:spPr>
          <a:xfrm>
            <a:off x="10607040" y="4526280"/>
            <a:ext cx="822960" cy="1072342"/>
          </a:xfrm>
          <a:prstGeom prst="rect">
            <a:avLst/>
          </a:prstGeom>
        </p:spPr>
      </p:pic>
      <p:sp>
        <p:nvSpPr>
          <p:cNvPr id="26" name="TextBox 25"/>
          <p:cNvSpPr txBox="1"/>
          <p:nvPr/>
        </p:nvSpPr>
        <p:spPr>
          <a:xfrm>
            <a:off x="822960" y="4526280"/>
            <a:ext cx="3017520" cy="1280160"/>
          </a:xfrm>
          <a:prstGeom prst="rect">
            <a:avLst/>
          </a:prstGeom>
          <a:noFill/>
        </p:spPr>
        <p:txBody>
          <a:bodyPr wrap="square" lIns="0" tIns="0" rIns="0" bIns="0" anchor="t">
            <a:spAutoFit/>
          </a:bodyPr>
          <a:lstStyle/>
          <a:p>
            <a:pPr algn="l"/>
            <a:r>
              <a:rPr sz="1800" b="0" i="0">
                <a:solidFill>
                  <a:srgbClr val="002368"/>
                </a:solidFill>
                <a:latin typeface="Georgia"/>
              </a:rPr>
              <a:t>Incentives are a last resort, never in the flow.</a:t>
            </a:r>
          </a:p>
        </p:txBody>
      </p:sp>
      <p:sp>
        <p:nvSpPr>
          <p:cNvPr id="27" name="TextBox 26"/>
          <p:cNvSpPr txBox="1"/>
          <p:nvPr/>
        </p:nvSpPr>
        <p:spPr>
          <a:xfrm>
            <a:off x="4023360" y="4526280"/>
            <a:ext cx="6309360" cy="132588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A promotional incentive (discounted first months, a waived fee beyond the register) never appears in any automated or standard flow, nor in a cold or early message (S1–S5): it makes Silverleaf look desperate.</a:t>
            </a:r>
          </a:p>
          <a:p>
            <a:pPr algn="l" marL="155448" indent="-155448">
              <a:spcAft>
                <a:spcPts val="300"/>
              </a:spcAft>
              <a:buFont typeface="Arial"/>
              <a:buChar char="•"/>
            </a:pPr>
            <a:r>
              <a:rPr sz="1000" b="0" i="0">
                <a:solidFill>
                  <a:srgbClr val="000000"/>
                </a:solidFill>
                <a:latin typeface="Arial"/>
              </a:rPr>
              <a:t>Only at the proposal stage (S6), for one engaged employer, with Finance's written approval each time, time-limited, entered in the register first. Never for public bodies or government.</a:t>
            </a:r>
          </a:p>
        </p:txBody>
      </p:sp>
      <p:pic>
        <p:nvPicPr>
          <p:cNvPr id="28" name="Picture 27" descr="image3.png"/>
          <p:cNvPicPr>
            <a:picLocks noChangeAspect="1"/>
          </p:cNvPicPr>
          <p:nvPr/>
        </p:nvPicPr>
        <p:blipFill>
          <a:blip r:embed="rId3"/>
          <a:stretch>
            <a:fillRect/>
          </a:stretch>
        </p:blipFill>
        <p:spPr>
          <a:xfrm>
            <a:off x="548640" y="6272784"/>
            <a:ext cx="1143000" cy="274320"/>
          </a:xfrm>
          <a:prstGeom prst="rect">
            <a:avLst/>
          </a:prstGeom>
        </p:spPr>
      </p:pic>
      <p:sp>
        <p:nvSpPr>
          <p:cNvPr id="2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pipelines; offer register</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04</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FOUR</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Pipelines and tracking</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What happens after the offer, and how results are tracked.</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The shared spine, S0 to S9</a:t>
            </a:r>
          </a:p>
          <a:p>
            <a:pPr algn="l" marL="155448" indent="-155448">
              <a:spcAft>
                <a:spcPts val="400"/>
              </a:spcAft>
              <a:buFont typeface="Arial"/>
              <a:buChar char="•"/>
            </a:pPr>
            <a:r>
              <a:rPr sz="1100" b="0" i="0">
                <a:solidFill>
                  <a:srgbClr val="FFFFFF"/>
                </a:solidFill>
                <a:latin typeface="Arial"/>
              </a:rPr>
              <a:t>What happens after the offer</a:t>
            </a:r>
          </a:p>
          <a:p>
            <a:pPr algn="l" marL="155448" indent="-155448">
              <a:spcAft>
                <a:spcPts val="400"/>
              </a:spcAft>
              <a:buFont typeface="Arial"/>
              <a:buChar char="•"/>
            </a:pPr>
            <a:r>
              <a:rPr sz="1100" b="0" i="0">
                <a:solidFill>
                  <a:srgbClr val="FFFFFF"/>
                </a:solidFill>
                <a:latin typeface="Arial"/>
              </a:rPr>
              <a:t>Tracking and reporting back to partners</a:t>
            </a:r>
          </a:p>
          <a:p>
            <a:pPr algn="l" marL="155448" indent="-155448">
              <a:spcAft>
                <a:spcPts val="400"/>
              </a:spcAft>
              <a:buFont typeface="Arial"/>
              <a:buChar char="•"/>
            </a:pPr>
            <a:r>
              <a:rPr sz="1100" b="0" i="0">
                <a:solidFill>
                  <a:srgbClr val="FFFFFF"/>
                </a:solidFill>
                <a:latin typeface="Arial"/>
              </a:rPr>
              <a:t>Segment funnels, fallout and decisions: in the appendix</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THE SPINE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Hexagon 3"/>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rtlCol="0" anchor="ctr" wrap="square" tIns="27432" bIns="27432"/>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5" name="Chevron 4"/>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p>
        </p:txBody>
      </p:sp>
      <p:sp>
        <p:nvSpPr>
          <p:cNvPr id="6" name="Rounded Rectangle 5"/>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7" name="Chevron 6"/>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p>
        </p:txBody>
      </p:sp>
      <p:sp>
        <p:nvSpPr>
          <p:cNvPr id="8" name="Rounded Rectangle 7"/>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9" name="Chevron 8"/>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p>
        </p:txBody>
      </p:sp>
      <p:sp>
        <p:nvSpPr>
          <p:cNvPr id="10" name="Rounded Rectangle 9"/>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1" name="Chevron 10"/>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p>
        </p:txBody>
      </p:sp>
      <p:sp>
        <p:nvSpPr>
          <p:cNvPr id="12" name="Rounded Rectangle 11"/>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3" name="Chevron 12"/>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p>
        </p:txBody>
      </p:sp>
      <p:sp>
        <p:nvSpPr>
          <p:cNvPr id="14" name="Rounded Rectangle 13"/>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5" name="Chevron 14"/>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p>
        </p:txBody>
      </p:sp>
      <p:sp>
        <p:nvSpPr>
          <p:cNvPr id="16" name="Rounded Rectangle 15"/>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7" name="Chevron 16"/>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p>
        </p:txBody>
      </p:sp>
      <p:sp>
        <p:nvSpPr>
          <p:cNvPr id="18" name="Rounded Rectangle 17"/>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9" name="Chevron 18"/>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p>
        </p:txBody>
      </p:sp>
      <p:sp>
        <p:nvSpPr>
          <p:cNvPr id="20" name="Rounded Rectangle 19"/>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1" name="Chevron 20"/>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p>
        </p:txBody>
      </p:sp>
      <p:sp>
        <p:nvSpPr>
          <p:cNvPr id="22" name="Rounded Rectangle 21"/>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3" name="Connector 22"/>
          <p:cNvCxnSpPr/>
          <p:nvPr/>
        </p:nvCxnSpPr>
        <p:spPr>
          <a:xfrm flipV="1">
            <a:off x="6556248" y="1783080"/>
            <a:ext cx="0" cy="365760"/>
          </a:xfrm>
          <a:prstGeom prst="line">
            <a:avLst/>
          </a:prstGeom>
          <a:ln w="12700">
            <a:solidFill>
              <a:srgbClr val="002368"/>
            </a:solidFill>
          </a:ln>
        </p:spPr>
      </p:cxnSp>
      <p:cxnSp>
        <p:nvCxnSpPr>
          <p:cNvPr id="24" name="Connector 23"/>
          <p:cNvCxnSpPr/>
          <p:nvPr/>
        </p:nvCxnSpPr>
        <p:spPr>
          <a:xfrm>
            <a:off x="6556248" y="1783080"/>
            <a:ext cx="2212847" cy="0"/>
          </a:xfrm>
          <a:prstGeom prst="line">
            <a:avLst/>
          </a:prstGeom>
          <a:ln w="12700">
            <a:solidFill>
              <a:srgbClr val="002368"/>
            </a:solidFill>
          </a:ln>
        </p:spPr>
      </p:cxnSp>
      <p:cxnSp>
        <p:nvCxnSpPr>
          <p:cNvPr id="25" name="Connector 24"/>
          <p:cNvCxnSpPr/>
          <p:nvPr/>
        </p:nvCxnSpPr>
        <p:spPr>
          <a:xfrm>
            <a:off x="8769095" y="1783080"/>
            <a:ext cx="0" cy="365760"/>
          </a:xfrm>
          <a:prstGeom prst="line">
            <a:avLst/>
          </a:prstGeom>
          <a:ln w="12700">
            <a:solidFill>
              <a:srgbClr val="002368"/>
            </a:solidFill>
            <a:tailEnd type="triangle" w="med" len="med"/>
          </a:ln>
        </p:spPr>
      </p:cxnSp>
      <p:sp>
        <p:nvSpPr>
          <p:cNvPr id="26" name="TextBox 25"/>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7" name="Connector 26"/>
          <p:cNvCxnSpPr/>
          <p:nvPr/>
        </p:nvCxnSpPr>
        <p:spPr>
          <a:xfrm flipV="1">
            <a:off x="10981944" y="1783080"/>
            <a:ext cx="0" cy="365760"/>
          </a:xfrm>
          <a:prstGeom prst="line">
            <a:avLst/>
          </a:prstGeom>
          <a:ln w="12700">
            <a:solidFill>
              <a:srgbClr val="002368"/>
            </a:solidFill>
          </a:ln>
        </p:spPr>
      </p:cxnSp>
      <p:cxnSp>
        <p:nvCxnSpPr>
          <p:cNvPr id="28" name="Connector 27"/>
          <p:cNvCxnSpPr/>
          <p:nvPr/>
        </p:nvCxnSpPr>
        <p:spPr>
          <a:xfrm flipH="1">
            <a:off x="9875519" y="1783080"/>
            <a:ext cx="1106425" cy="0"/>
          </a:xfrm>
          <a:prstGeom prst="line">
            <a:avLst/>
          </a:prstGeom>
          <a:ln w="12700">
            <a:solidFill>
              <a:srgbClr val="002368"/>
            </a:solidFill>
          </a:ln>
        </p:spPr>
      </p:cxnSp>
      <p:cxnSp>
        <p:nvCxnSpPr>
          <p:cNvPr id="29" name="Connector 28"/>
          <p:cNvCxnSpPr/>
          <p:nvPr/>
        </p:nvCxnSpPr>
        <p:spPr>
          <a:xfrm>
            <a:off x="9875519" y="1783080"/>
            <a:ext cx="0" cy="365760"/>
          </a:xfrm>
          <a:prstGeom prst="line">
            <a:avLst/>
          </a:prstGeom>
          <a:ln w="12700">
            <a:solidFill>
              <a:srgbClr val="002368"/>
            </a:solidFill>
            <a:tailEnd type="triangle" w="med" len="med"/>
          </a:ln>
        </p:spPr>
      </p:cxnSp>
      <p:sp>
        <p:nvSpPr>
          <p:cNvPr id="30" name="TextBox 29"/>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1" name="Connector 30"/>
          <p:cNvCxnSpPr/>
          <p:nvPr/>
        </p:nvCxnSpPr>
        <p:spPr>
          <a:xfrm>
            <a:off x="3236976" y="3108960"/>
            <a:ext cx="0" cy="594360"/>
          </a:xfrm>
          <a:prstGeom prst="line">
            <a:avLst/>
          </a:prstGeom>
          <a:ln w="12700">
            <a:solidFill>
              <a:srgbClr val="818283"/>
            </a:solidFill>
            <a:prstDash val="dash"/>
            <a:tailEnd type="triangle" w="med" len="med"/>
          </a:ln>
        </p:spPr>
      </p:cxnSp>
      <p:cxnSp>
        <p:nvCxnSpPr>
          <p:cNvPr id="32" name="Connector 31"/>
          <p:cNvCxnSpPr/>
          <p:nvPr/>
        </p:nvCxnSpPr>
        <p:spPr>
          <a:xfrm>
            <a:off x="5449823"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6556248"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7662671" y="3108960"/>
            <a:ext cx="0" cy="594360"/>
          </a:xfrm>
          <a:prstGeom prst="line">
            <a:avLst/>
          </a:prstGeom>
          <a:ln w="12700">
            <a:solidFill>
              <a:srgbClr val="818283"/>
            </a:solidFill>
            <a:prstDash val="dash"/>
            <a:tailEnd type="triangle" w="med" len="med"/>
          </a:ln>
        </p:spPr>
      </p:cxnSp>
      <p:sp>
        <p:nvSpPr>
          <p:cNvPr id="35" name="Rounded Rectangle 34"/>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rtlCol="0" anchor="ctr" wrap="square" lIns="45720" rIns="45720" tIns="27432" bIns="27432"/>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6" name="Rounded Rectangle 35"/>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7" name="Rounded Rectangle 36"/>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8" name="Rounded Rectangle 37"/>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rtlCol="0" anchor="ctr" wrap="square" lIns="45720" rIns="45720" tIns="27432" bIns="27432"/>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39" name="Rounded Rectangle 38"/>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0" name="TextBox 39"/>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1" name="TextBox 40"/>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2" name="TextBox 41"/>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3" name="TextBox 42"/>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4" name="TextBox 43"/>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5" name="TextBox 44"/>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6" name="Hexagon 45"/>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47" name="TextBox 46"/>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8" name="Rounded Rectangle 47"/>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49" name="TextBox 48"/>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0" name="Rounded Rectangle 49"/>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51" name="TextBox 50"/>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2" name="Rounded Rectangle 51"/>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53" name="TextBox 52"/>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4" name="Rounded Rectangle 53"/>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55" name="TextBox 54"/>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6" name="Picture 55" descr="image3.png"/>
          <p:cNvPicPr>
            <a:picLocks noChangeAspect="1"/>
          </p:cNvPicPr>
          <p:nvPr/>
        </p:nvPicPr>
        <p:blipFill>
          <a:blip r:embed="rId2"/>
          <a:stretch>
            <a:fillRect/>
          </a:stretch>
        </p:blipFill>
        <p:spPr>
          <a:xfrm>
            <a:off x="548640" y="6272784"/>
            <a:ext cx="1143000" cy="274320"/>
          </a:xfrm>
          <a:prstGeom prst="rect">
            <a:avLst/>
          </a:prstGeom>
        </p:spPr>
      </p:pic>
      <p:sp>
        <p:nvSpPr>
          <p:cNvPr id="5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5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5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graphicFrame>
        <p:nvGraphicFramePr>
          <p:cNvPr id="4" name="Table 3"/>
          <p:cNvGraphicFramePr>
            <a:graphicFrameLocks noGrp="1"/>
          </p:cNvGraphicFramePr>
          <p:nvPr/>
        </p:nvGraphicFramePr>
        <p:xfrm>
          <a:off x="548640" y="1298448"/>
          <a:ext cx="11091672" cy="4114800"/>
        </p:xfrm>
        <a:graphic>
          <a:graphicData uri="http://schemas.openxmlformats.org/drawingml/2006/table">
            <a:tbl>
              <a:tblPr firstRow="0" bandRow="0">
                <a:tableStyleId>{2D5ABB26-0587-4C30-8999-92F81FD0307C}</a:tableStyleId>
              </a:tblPr>
              <a:tblGrid>
                <a:gridCol w="1600200"/>
                <a:gridCol w="1737360"/>
                <a:gridCol w="1965960"/>
                <a:gridCol w="1828800"/>
                <a:gridCol w="1993392"/>
                <a:gridCol w="1965960"/>
              </a:tblGrid>
              <a:tr h="45720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tr>
              <a:tr h="45720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Call or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session: site visit, webinar or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Benefit proposal, only for a signed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partner or benefit partner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sign-ups enter the parent funnel</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Sponsors (A)</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Sponsored students enrolled</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SACCOS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Members' meeting or AGM slot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Group rate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circulates, or slot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 sign-ups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Secretariat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agreed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Member-benefit MOU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 circulation done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employers or homes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conversation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Safeguarding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Children enrolled via admissions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often video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tied to the home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Students enrolled via the home</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Councils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Courtesy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Introduction recorded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Ward and village funnels open</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Wards, villages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 the WEO or VEO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Slot agreed in writing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Community meeting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Parent opt-ins</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what we watch, what partners see</a:t>
            </a:r>
          </a:p>
        </p:txBody>
      </p:sp>
      <p:graphicFrame>
        <p:nvGraphicFramePr>
          <p:cNvPr id="4" name="Table 3"/>
          <p:cNvGraphicFramePr>
            <a:graphicFrameLocks noGrp="1"/>
          </p:cNvGraphicFramePr>
          <p:nvPr/>
        </p:nvGraphicFramePr>
        <p:xfrm>
          <a:off x="548640" y="1261872"/>
          <a:ext cx="5943600" cy="3712464"/>
        </p:xfrm>
        <a:graphic>
          <a:graphicData uri="http://schemas.openxmlformats.org/drawingml/2006/table">
            <a:tbl>
              <a:tblPr firstRow="0" bandRow="0">
                <a:tableStyleId>{2D5ABB26-0587-4C30-8999-92F81FD0307C}</a:tableStyleId>
              </a:tblPr>
              <a:tblGrid>
                <a:gridCol w="960120"/>
                <a:gridCol w="4983480"/>
              </a:tblGrid>
              <a:tr h="530352">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tr>
              <a:tr h="530352">
                <a:tc>
                  <a:txBody>
                    <a:bodyPr wrap="square"/>
                    <a:lstStyle/>
                    <a:p>
                      <a:r>
                        <a:rPr sz="950" b="1" i="0">
                          <a:solidFill>
                            <a:srgbClr val="002368"/>
                          </a:solidFill>
                          <a:latin typeface="Arial"/>
                        </a:rPr>
                        <a:t>Every stage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S3–S5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S6–S7</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date, offer IDs, Finance confirmation; incentive register ID, approval and expiry; win type, approver, renewal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S8–S9</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Dormant, SX</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68122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METRICS</a:t>
            </a:r>
          </a:p>
        </p:txBody>
      </p:sp>
      <p:sp>
        <p:nvSpPr>
          <p:cNvPr id="6" name="Hexagon 5"/>
          <p:cNvSpPr/>
          <p:nvPr/>
        </p:nvSpPr>
        <p:spPr>
          <a:xfrm>
            <a:off x="6812280" y="160020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7" name="TextBox 6"/>
          <p:cNvSpPr txBox="1"/>
          <p:nvPr/>
        </p:nvSpPr>
        <p:spPr>
          <a:xfrm>
            <a:off x="7296912" y="1581912"/>
            <a:ext cx="4297680" cy="237744"/>
          </a:xfrm>
          <a:prstGeom prst="rect">
            <a:avLst/>
          </a:prstGeom>
          <a:noFill/>
        </p:spPr>
        <p:txBody>
          <a:bodyPr wrap="square" lIns="0" tIns="0" rIns="0" bIns="0" anchor="t">
            <a:spAutoFit/>
          </a:bodyPr>
          <a:lstStyle/>
          <a:p>
            <a:pPr algn="l"/>
            <a:r>
              <a:rPr sz="1100" b="1" i="0">
                <a:solidFill>
                  <a:srgbClr val="002368"/>
                </a:solidFill>
                <a:latin typeface="Arial"/>
              </a:rPr>
              <a:t>First touch</a:t>
            </a:r>
          </a:p>
        </p:txBody>
      </p:sp>
      <p:sp>
        <p:nvSpPr>
          <p:cNvPr id="8" name="TextBox 7"/>
          <p:cNvSpPr txBox="1"/>
          <p:nvPr/>
        </p:nvSpPr>
        <p:spPr>
          <a:xfrm>
            <a:off x="7296912" y="1819656"/>
            <a:ext cx="4297680" cy="457200"/>
          </a:xfrm>
          <a:prstGeom prst="rect">
            <a:avLst/>
          </a:prstGeom>
          <a:noFill/>
        </p:spPr>
        <p:txBody>
          <a:bodyPr wrap="square" lIns="0" tIns="0" rIns="0" bIns="0" anchor="t">
            <a:spAutoFit/>
          </a:bodyPr>
          <a:lstStyle/>
          <a:p>
            <a:pPr algn="l"/>
            <a:r>
              <a:rPr sz="950" b="0" i="0">
                <a:solidFill>
                  <a:srgbClr val="000000"/>
                </a:solidFill>
                <a:latin typeface="Arial"/>
              </a:rPr>
              <a:t>redirect → name obtained; Attn → reply; days to a name; front-desk call success</a:t>
            </a:r>
          </a:p>
        </p:txBody>
      </p:sp>
      <p:sp>
        <p:nvSpPr>
          <p:cNvPr id="9" name="Hexagon 8"/>
          <p:cNvSpPr/>
          <p:nvPr/>
        </p:nvSpPr>
        <p:spPr>
          <a:xfrm>
            <a:off x="6812280" y="222199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0" name="TextBox 9"/>
          <p:cNvSpPr txBox="1"/>
          <p:nvPr/>
        </p:nvSpPr>
        <p:spPr>
          <a:xfrm>
            <a:off x="7296912" y="2203704"/>
            <a:ext cx="4297680" cy="237744"/>
          </a:xfrm>
          <a:prstGeom prst="rect">
            <a:avLst/>
          </a:prstGeom>
          <a:noFill/>
        </p:spPr>
        <p:txBody>
          <a:bodyPr wrap="square" lIns="0" tIns="0" rIns="0" bIns="0" anchor="t">
            <a:spAutoFit/>
          </a:bodyPr>
          <a:lstStyle/>
          <a:p>
            <a:pPr algn="l"/>
            <a:r>
              <a:rPr sz="1100" b="1" i="0">
                <a:solidFill>
                  <a:srgbClr val="002368"/>
                </a:solidFill>
                <a:latin typeface="Arial"/>
              </a:rPr>
              <a:t>Spine</a:t>
            </a:r>
          </a:p>
        </p:txBody>
      </p:sp>
      <p:sp>
        <p:nvSpPr>
          <p:cNvPr id="11" name="TextBox 10"/>
          <p:cNvSpPr txBox="1"/>
          <p:nvPr/>
        </p:nvSpPr>
        <p:spPr>
          <a:xfrm>
            <a:off x="7296912" y="2441448"/>
            <a:ext cx="4297680" cy="457200"/>
          </a:xfrm>
          <a:prstGeom prst="rect">
            <a:avLst/>
          </a:prstGeom>
          <a:noFill/>
        </p:spPr>
        <p:txBody>
          <a:bodyPr wrap="square" lIns="0" tIns="0" rIns="0" bIns="0" anchor="t">
            <a:spAutoFit/>
          </a:bodyPr>
          <a:lstStyle/>
          <a:p>
            <a:pPr algn="l"/>
            <a:r>
              <a:rPr sz="950" b="0" i="0">
                <a:solidFill>
                  <a:srgbClr val="000000"/>
                </a:solidFill>
                <a:latin typeface="Arial"/>
              </a:rPr>
              <a:t>reply rate by band, case and subsegment; S3 → S4 → S5 → S7 conversion; meetings per week</a:t>
            </a:r>
          </a:p>
        </p:txBody>
      </p:sp>
      <p:sp>
        <p:nvSpPr>
          <p:cNvPr id="12" name="Hexagon 11"/>
          <p:cNvSpPr/>
          <p:nvPr/>
        </p:nvSpPr>
        <p:spPr>
          <a:xfrm>
            <a:off x="6812280" y="2843784"/>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3" name="TextBox 12"/>
          <p:cNvSpPr txBox="1"/>
          <p:nvPr/>
        </p:nvSpPr>
        <p:spPr>
          <a:xfrm>
            <a:off x="7296912" y="2825496"/>
            <a:ext cx="4297680" cy="237744"/>
          </a:xfrm>
          <a:prstGeom prst="rect">
            <a:avLst/>
          </a:prstGeom>
          <a:noFill/>
        </p:spPr>
        <p:txBody>
          <a:bodyPr wrap="square" lIns="0" tIns="0" rIns="0" bIns="0" anchor="t">
            <a:spAutoFit/>
          </a:bodyPr>
          <a:lstStyle/>
          <a:p>
            <a:pPr algn="l"/>
            <a:r>
              <a:rPr sz="1100" b="1" i="0">
                <a:solidFill>
                  <a:srgbClr val="002368"/>
                </a:solidFill>
                <a:latin typeface="Arial"/>
              </a:rPr>
              <a:t>Fallout</a:t>
            </a:r>
          </a:p>
        </p:txBody>
      </p:sp>
      <p:sp>
        <p:nvSpPr>
          <p:cNvPr id="14" name="TextBox 13"/>
          <p:cNvSpPr txBox="1"/>
          <p:nvPr/>
        </p:nvSpPr>
        <p:spPr>
          <a:xfrm>
            <a:off x="7296912" y="3063240"/>
            <a:ext cx="4297680" cy="457200"/>
          </a:xfrm>
          <a:prstGeom prst="rect">
            <a:avLst/>
          </a:prstGeom>
          <a:noFill/>
        </p:spPr>
        <p:txBody>
          <a:bodyPr wrap="square" lIns="0" tIns="0" rIns="0" bIns="0" anchor="t">
            <a:spAutoFit/>
          </a:bodyPr>
          <a:lstStyle/>
          <a:p>
            <a:pPr algn="l"/>
            <a:r>
              <a:rPr sz="950" b="0" i="0">
                <a:solidFill>
                  <a:srgbClr val="000000"/>
                </a:solidFill>
                <a:latin typeface="Arial"/>
              </a:rPr>
              <a:t>share of dormant leads reopened at each window; warm-route conversion</a:t>
            </a:r>
          </a:p>
        </p:txBody>
      </p:sp>
      <p:sp>
        <p:nvSpPr>
          <p:cNvPr id="15" name="Hexagon 14"/>
          <p:cNvSpPr/>
          <p:nvPr/>
        </p:nvSpPr>
        <p:spPr>
          <a:xfrm>
            <a:off x="6812280" y="346557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16" name="TextBox 15"/>
          <p:cNvSpPr txBox="1"/>
          <p:nvPr/>
        </p:nvSpPr>
        <p:spPr>
          <a:xfrm>
            <a:off x="7296912" y="3447288"/>
            <a:ext cx="4297680" cy="237744"/>
          </a:xfrm>
          <a:prstGeom prst="rect">
            <a:avLst/>
          </a:prstGeom>
          <a:noFill/>
        </p:spPr>
        <p:txBody>
          <a:bodyPr wrap="square" lIns="0" tIns="0" rIns="0" bIns="0" anchor="t">
            <a:spAutoFit/>
          </a:bodyPr>
          <a:lstStyle/>
          <a:p>
            <a:pPr algn="l"/>
            <a:r>
              <a:rPr sz="1100" b="1" i="0">
                <a:solidFill>
                  <a:srgbClr val="002368"/>
                </a:solidFill>
                <a:latin typeface="Arial"/>
              </a:rPr>
              <a:t>Partners</a:t>
            </a:r>
          </a:p>
        </p:txBody>
      </p:sp>
      <p:sp>
        <p:nvSpPr>
          <p:cNvPr id="17" name="TextBox 16"/>
          <p:cNvSpPr txBox="1"/>
          <p:nvPr/>
        </p:nvSpPr>
        <p:spPr>
          <a:xfrm>
            <a:off x="7296912" y="3685032"/>
            <a:ext cx="4297680" cy="457200"/>
          </a:xfrm>
          <a:prstGeom prst="rect">
            <a:avLst/>
          </a:prstGeom>
          <a:noFill/>
        </p:spPr>
        <p:txBody>
          <a:bodyPr wrap="square" lIns="0" tIns="0" rIns="0" bIns="0" anchor="t">
            <a:spAutoFit/>
          </a:bodyPr>
          <a:lstStyle/>
          <a:p>
            <a:pPr algn="l"/>
            <a:r>
              <a:rPr sz="950" b="0" i="0">
                <a:solidFill>
                  <a:srgbClr val="000000"/>
                </a:solidFill>
                <a:latin typeface="Arial"/>
              </a:rPr>
              <a:t>sign-ups per 100 attendees and per circulation; referrals per circulation; places agreed → enrolled</a:t>
            </a:r>
          </a:p>
        </p:txBody>
      </p:sp>
      <p:sp>
        <p:nvSpPr>
          <p:cNvPr id="18" name="Hexagon 17"/>
          <p:cNvSpPr/>
          <p:nvPr/>
        </p:nvSpPr>
        <p:spPr>
          <a:xfrm>
            <a:off x="6812280" y="408736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9" name="TextBox 18"/>
          <p:cNvSpPr txBox="1"/>
          <p:nvPr/>
        </p:nvSpPr>
        <p:spPr>
          <a:xfrm>
            <a:off x="7296912" y="4069080"/>
            <a:ext cx="4297680" cy="237744"/>
          </a:xfrm>
          <a:prstGeom prst="rect">
            <a:avLst/>
          </a:prstGeom>
          <a:noFill/>
        </p:spPr>
        <p:txBody>
          <a:bodyPr wrap="square" lIns="0" tIns="0" rIns="0" bIns="0" anchor="t">
            <a:spAutoFit/>
          </a:bodyPr>
          <a:lstStyle/>
          <a:p>
            <a:pPr algn="l"/>
            <a:r>
              <a:rPr sz="1100" b="1" i="0">
                <a:solidFill>
                  <a:srgbClr val="002368"/>
                </a:solidFill>
                <a:latin typeface="Arial"/>
              </a:rPr>
              <a:t>Parent funnel</a:t>
            </a:r>
          </a:p>
        </p:txBody>
      </p:sp>
      <p:sp>
        <p:nvSpPr>
          <p:cNvPr id="20" name="TextBox 19"/>
          <p:cNvSpPr txBox="1"/>
          <p:nvPr/>
        </p:nvSpPr>
        <p:spPr>
          <a:xfrm>
            <a:off x="7296912" y="4306824"/>
            <a:ext cx="4297680" cy="457200"/>
          </a:xfrm>
          <a:prstGeom prst="rect">
            <a:avLst/>
          </a:prstGeom>
          <a:noFill/>
        </p:spPr>
        <p:txBody>
          <a:bodyPr wrap="square" lIns="0" tIns="0" rIns="0" bIns="0" anchor="t">
            <a:spAutoFit/>
          </a:bodyPr>
          <a:lstStyle/>
          <a:p>
            <a:pPr algn="l"/>
            <a:r>
              <a:rPr sz="950" b="0" i="0">
                <a:solidFill>
                  <a:srgbClr val="000000"/>
                </a:solidFill>
                <a:latin typeface="Arial"/>
              </a:rPr>
              <a:t>opt-in → inquiry → tour → application → enrolment, by partner code</a:t>
            </a:r>
          </a:p>
        </p:txBody>
      </p:sp>
      <p:sp>
        <p:nvSpPr>
          <p:cNvPr id="21" name="Hexagon 20"/>
          <p:cNvSpPr/>
          <p:nvPr/>
        </p:nvSpPr>
        <p:spPr>
          <a:xfrm>
            <a:off x="6812280" y="47091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22" name="TextBox 21"/>
          <p:cNvSpPr txBox="1"/>
          <p:nvPr/>
        </p:nvSpPr>
        <p:spPr>
          <a:xfrm>
            <a:off x="7296912" y="4690872"/>
            <a:ext cx="4297680" cy="237744"/>
          </a:xfrm>
          <a:prstGeom prst="rect">
            <a:avLst/>
          </a:prstGeom>
          <a:noFill/>
        </p:spPr>
        <p:txBody>
          <a:bodyPr wrap="square" lIns="0" tIns="0" rIns="0" bIns="0" anchor="t">
            <a:spAutoFit/>
          </a:bodyPr>
          <a:lstStyle/>
          <a:p>
            <a:pPr algn="l"/>
            <a:r>
              <a:rPr sz="1100" b="1" i="0">
                <a:solidFill>
                  <a:srgbClr val="002368"/>
                </a:solidFill>
                <a:latin typeface="Arial"/>
              </a:rPr>
              <a:t>Incentives</a:t>
            </a:r>
          </a:p>
        </p:txBody>
      </p:sp>
      <p:sp>
        <p:nvSpPr>
          <p:cNvPr id="23" name="TextBox 22"/>
          <p:cNvSpPr txBox="1"/>
          <p:nvPr/>
        </p:nvSpPr>
        <p:spPr>
          <a:xfrm>
            <a:off x="7296912" y="4928616"/>
            <a:ext cx="4297680" cy="457200"/>
          </a:xfrm>
          <a:prstGeom prst="rect">
            <a:avLst/>
          </a:prstGeom>
          <a:noFill/>
        </p:spPr>
        <p:txBody>
          <a:bodyPr wrap="square" lIns="0" tIns="0" rIns="0" bIns="0" anchor="t">
            <a:spAutoFit/>
          </a:bodyPr>
          <a:lstStyle/>
          <a:p>
            <a:pPr algn="l"/>
            <a:r>
              <a:rPr sz="950" b="0" i="0">
                <a:solidFill>
                  <a:srgbClr val="000000"/>
                </a:solidFill>
                <a:latin typeface="Arial"/>
              </a:rPr>
              <a:t>should stay rare: each one listed with its approval and expiry</a:t>
            </a:r>
          </a:p>
        </p:txBody>
      </p:sp>
      <p:sp>
        <p:nvSpPr>
          <p:cNvPr id="24" name="Rounded Rectangle 23"/>
          <p:cNvSpPr/>
          <p:nvPr/>
        </p:nvSpPr>
        <p:spPr>
          <a:xfrm>
            <a:off x="548640" y="5349240"/>
            <a:ext cx="11091672" cy="621792"/>
          </a:xfrm>
          <a:prstGeom prst="roundRect">
            <a:avLst>
              <a:gd name="adj" fmla="val 10294"/>
            </a:avLst>
          </a:prstGeom>
          <a:solidFill>
            <a:srgbClr val="FFF7E5"/>
          </a:solidFill>
          <a:ln w="12700">
            <a:solidFill>
              <a:srgbClr val="FFF7E5"/>
            </a:solidFill>
          </a:ln>
        </p:spPr>
        <p:txBody>
          <a:bodyPr rtlCol="0" anchor="ctr"/>
          <a:lstStyle/>
          <a:p>
            <a:pPr algn="ctr"/>
          </a:p>
        </p:txBody>
      </p:sp>
      <p:sp>
        <p:nvSpPr>
          <p:cNvPr id="25" name="Hexagon 24"/>
          <p:cNvSpPr/>
          <p:nvPr/>
        </p:nvSpPr>
        <p:spPr>
          <a:xfrm>
            <a:off x="777240" y="5550407"/>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6" name="TextBox 25"/>
          <p:cNvSpPr txBox="1"/>
          <p:nvPr/>
        </p:nvSpPr>
        <p:spPr>
          <a:xfrm>
            <a:off x="1234440" y="5532120"/>
            <a:ext cx="10177272" cy="301752"/>
          </a:xfrm>
          <a:prstGeom prst="rect">
            <a:avLst/>
          </a:prstGeom>
          <a:noFill/>
        </p:spPr>
        <p:txBody>
          <a:bodyPr wrap="square" lIns="0" tIns="0" rIns="0" bIns="0" anchor="t">
            <a:spAutoFit/>
          </a:bodyPr>
          <a:lstStyle/>
          <a:p>
            <a:pPr algn="l">
              <a:spcAft>
                <a:spcPts val="300"/>
              </a:spcAft>
            </a:pPr>
            <a:r>
              <a:rPr sz="1000" b="1" i="0">
                <a:solidFill>
                  <a:srgbClr val="002368"/>
                </a:solidFill>
                <a:latin typeface="Arial"/>
              </a:rPr>
              <a:t>Reporting back. </a:t>
            </a:r>
            <a:r>
              <a:rPr sz="1000" b="0" i="0">
                <a:solidFill>
                  <a:srgbClr val="000000"/>
                </a:solidFill>
                <a:latin typeface="Arial"/>
              </a:rPr>
              <a:t>Partners see totals per partner code each term, and any count of 1 or 2 shows as 'fewer than 3'. Staff, members and parents opt in themselves; no partner hands over a list (Personal Data Protection Act 2022).</a:t>
            </a:r>
          </a:p>
        </p:txBody>
      </p:sp>
      <p:pic>
        <p:nvPicPr>
          <p:cNvPr id="27" name="Picture 26" descr="image3.png"/>
          <p:cNvPicPr>
            <a:picLocks noChangeAspect="1"/>
          </p:cNvPicPr>
          <p:nvPr/>
        </p:nvPicPr>
        <p:blipFill>
          <a:blip r:embed="rId2"/>
          <a:stretch>
            <a:fillRect/>
          </a:stretch>
        </p:blipFill>
        <p:spPr>
          <a:xfrm>
            <a:off x="548640" y="6272784"/>
            <a:ext cx="1143000" cy="274320"/>
          </a:xfrm>
          <a:prstGeom prst="rect">
            <a:avLst/>
          </a:prstGeom>
        </p:spPr>
      </p:pic>
      <p:sp>
        <p:nvSpPr>
          <p:cNvPr id="2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2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steps from design to delivery</a:t>
            </a:r>
          </a:p>
        </p:txBody>
      </p:sp>
      <p:sp>
        <p:nvSpPr>
          <p:cNvPr id="4" name="Hexagon 3"/>
          <p:cNvSpPr/>
          <p:nvPr/>
        </p:nvSpPr>
        <p:spPr>
          <a:xfrm>
            <a:off x="548640" y="150876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5" name="TextBox 4"/>
          <p:cNvSpPr txBox="1"/>
          <p:nvPr/>
        </p:nvSpPr>
        <p:spPr>
          <a:xfrm>
            <a:off x="1188720" y="1371600"/>
            <a:ext cx="3291840" cy="685800"/>
          </a:xfrm>
          <a:prstGeom prst="rect">
            <a:avLst/>
          </a:prstGeom>
          <a:noFill/>
        </p:spPr>
        <p:txBody>
          <a:bodyPr wrap="square" lIns="0" tIns="0" rIns="0" bIns="0" anchor="ctr">
            <a:spAutoFit/>
          </a:bodyPr>
          <a:lstStyle/>
          <a:p>
            <a:pPr algn="l"/>
            <a:r>
              <a:rPr sz="1400" b="1" i="0">
                <a:solidFill>
                  <a:srgbClr val="002368"/>
                </a:solidFill>
                <a:latin typeface="Arial"/>
              </a:rPr>
              <a:t>Build the tracking</a:t>
            </a:r>
          </a:p>
        </p:txBody>
      </p:sp>
      <p:sp>
        <p:nvSpPr>
          <p:cNvPr id="6" name="TextBox 5"/>
          <p:cNvSpPr txBox="1"/>
          <p:nvPr/>
        </p:nvSpPr>
        <p:spPr>
          <a:xfrm>
            <a:off x="4572000" y="1371600"/>
            <a:ext cx="7068312" cy="685800"/>
          </a:xfrm>
          <a:prstGeom prst="rect">
            <a:avLst/>
          </a:prstGeom>
          <a:noFill/>
        </p:spPr>
        <p:txBody>
          <a:bodyPr wrap="square" lIns="0" tIns="0" rIns="0" bIns="0" anchor="ctr">
            <a:spAutoFit/>
          </a:bodyPr>
          <a:lstStyle/>
          <a:p>
            <a:pPr algn="l"/>
            <a:r>
              <a:rPr sz="1100" b="0" i="0">
                <a:solidFill>
                  <a:srgbClr val="000000"/>
                </a:solidFill>
                <a:latin typeface="Arial"/>
              </a:rPr>
              <a:t>Stages, dates, next actions, outcomes and partner reports for every deal in all three lead lists, with a pipeline sheet in each workbook and map filters by stage.</a:t>
            </a:r>
          </a:p>
        </p:txBody>
      </p:sp>
      <p:cxnSp>
        <p:nvCxnSpPr>
          <p:cNvPr id="7" name="Connector 6"/>
          <p:cNvCxnSpPr/>
          <p:nvPr/>
        </p:nvCxnSpPr>
        <p:spPr>
          <a:xfrm>
            <a:off x="1188720" y="2304288"/>
            <a:ext cx="10451592" cy="0"/>
          </a:xfrm>
          <a:prstGeom prst="line">
            <a:avLst/>
          </a:prstGeom>
          <a:ln w="9525">
            <a:solidFill>
              <a:srgbClr val="ECECEC"/>
            </a:solidFill>
          </a:ln>
        </p:spPr>
      </p:cxnSp>
      <p:sp>
        <p:nvSpPr>
          <p:cNvPr id="8" name="Hexagon 7"/>
          <p:cNvSpPr/>
          <p:nvPr/>
        </p:nvSpPr>
        <p:spPr>
          <a:xfrm>
            <a:off x="548640" y="262432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sp>
        <p:nvSpPr>
          <p:cNvPr id="9" name="TextBox 8"/>
          <p:cNvSpPr txBox="1"/>
          <p:nvPr/>
        </p:nvSpPr>
        <p:spPr>
          <a:xfrm>
            <a:off x="1188720" y="2487168"/>
            <a:ext cx="3291840" cy="685800"/>
          </a:xfrm>
          <a:prstGeom prst="rect">
            <a:avLst/>
          </a:prstGeom>
          <a:noFill/>
        </p:spPr>
        <p:txBody>
          <a:bodyPr wrap="square" lIns="0" tIns="0" rIns="0" bIns="0" anchor="ctr">
            <a:spAutoFit/>
          </a:bodyPr>
          <a:lstStyle/>
          <a:p>
            <a:pPr algn="l"/>
            <a:r>
              <a:rPr sz="1400" b="1" i="0">
                <a:solidFill>
                  <a:srgbClr val="002368"/>
                </a:solidFill>
                <a:latin typeface="Arial"/>
              </a:rPr>
              <a:t>Fix the Google Maps listings</a:t>
            </a:r>
          </a:p>
        </p:txBody>
      </p:sp>
      <p:sp>
        <p:nvSpPr>
          <p:cNvPr id="10" name="TextBox 9"/>
          <p:cNvSpPr txBox="1"/>
          <p:nvPr/>
        </p:nvSpPr>
        <p:spPr>
          <a:xfrm>
            <a:off x="4572000" y="2487168"/>
            <a:ext cx="7068312" cy="685800"/>
          </a:xfrm>
          <a:prstGeom prst="rect">
            <a:avLst/>
          </a:prstGeom>
          <a:noFill/>
        </p:spPr>
        <p:txBody>
          <a:bodyPr wrap="square" lIns="0" tIns="0" rIns="0" bIns="0" anchor="ctr">
            <a:spAutoFit/>
          </a:bodyPr>
          <a:lstStyle/>
          <a:p>
            <a:pPr algn="l"/>
            <a:r>
              <a:rPr sz="1100" b="0" i="0">
                <a:solidFill>
                  <a:srgbClr val="000000"/>
                </a:solidFill>
                <a:latin typeface="Arial"/>
              </a:rPr>
              <a:t>Move the Kijenge pin, correct or remove the two stray listings, and add Arusha City (Sakina) and Boma Ng'ombe from the website pins.</a:t>
            </a:r>
          </a:p>
        </p:txBody>
      </p:sp>
      <p:cxnSp>
        <p:nvCxnSpPr>
          <p:cNvPr id="11" name="Connector 10"/>
          <p:cNvCxnSpPr/>
          <p:nvPr/>
        </p:nvCxnSpPr>
        <p:spPr>
          <a:xfrm>
            <a:off x="1188720" y="3419856"/>
            <a:ext cx="10451592" cy="0"/>
          </a:xfrm>
          <a:prstGeom prst="line">
            <a:avLst/>
          </a:prstGeom>
          <a:ln w="9525">
            <a:solidFill>
              <a:srgbClr val="ECECEC"/>
            </a:solidFill>
          </a:ln>
        </p:spPr>
      </p:cxnSp>
      <p:sp>
        <p:nvSpPr>
          <p:cNvPr id="12" name="Hexagon 11"/>
          <p:cNvSpPr/>
          <p:nvPr/>
        </p:nvSpPr>
        <p:spPr>
          <a:xfrm>
            <a:off x="548640" y="3739896"/>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03</a:t>
            </a:r>
          </a:p>
        </p:txBody>
      </p:sp>
      <p:sp>
        <p:nvSpPr>
          <p:cNvPr id="13" name="TextBox 12"/>
          <p:cNvSpPr txBox="1"/>
          <p:nvPr/>
        </p:nvSpPr>
        <p:spPr>
          <a:xfrm>
            <a:off x="1188720" y="3602736"/>
            <a:ext cx="3291840" cy="685800"/>
          </a:xfrm>
          <a:prstGeom prst="rect">
            <a:avLst/>
          </a:prstGeom>
          <a:noFill/>
        </p:spPr>
        <p:txBody>
          <a:bodyPr wrap="square" lIns="0" tIns="0" rIns="0" bIns="0" anchor="ctr">
            <a:spAutoFit/>
          </a:bodyPr>
          <a:lstStyle/>
          <a:p>
            <a:pPr algn="l"/>
            <a:r>
              <a:rPr sz="1400" b="1" i="0">
                <a:solidFill>
                  <a:srgbClr val="002368"/>
                </a:solidFill>
                <a:latin typeface="Arial"/>
              </a:rPr>
              <a:t>Run a preliminary campaign</a:t>
            </a:r>
          </a:p>
        </p:txBody>
      </p:sp>
      <p:sp>
        <p:nvSpPr>
          <p:cNvPr id="14" name="TextBox 13"/>
          <p:cNvSpPr txBox="1"/>
          <p:nvPr/>
        </p:nvSpPr>
        <p:spPr>
          <a:xfrm>
            <a:off x="4572000" y="3602736"/>
            <a:ext cx="7068312" cy="685800"/>
          </a:xfrm>
          <a:prstGeom prst="rect">
            <a:avLst/>
          </a:prstGeom>
          <a:noFill/>
        </p:spPr>
        <p:txBody>
          <a:bodyPr wrap="square" lIns="0" tIns="0" rIns="0" bIns="0" anchor="ctr">
            <a:spAutoFit/>
          </a:bodyPr>
          <a:lstStyle/>
          <a:p>
            <a:pPr algn="l"/>
            <a:r>
              <a:rPr sz="1100" b="0" i="0">
                <a:solidFill>
                  <a:srgbClr val="000000"/>
                </a:solidFill>
                <a:latin typeface="Arial"/>
              </a:rPr>
              <a:t>Start with the high-confidence band: the leads whose decision-maker we can reach directly or by name. Their replies test the message, the offer and the follow-up rhythm before the wider rollout.</a:t>
            </a:r>
          </a:p>
        </p:txBody>
      </p:sp>
      <p:cxnSp>
        <p:nvCxnSpPr>
          <p:cNvPr id="15" name="Connector 14"/>
          <p:cNvCxnSpPr/>
          <p:nvPr/>
        </p:nvCxnSpPr>
        <p:spPr>
          <a:xfrm>
            <a:off x="1188720" y="4535424"/>
            <a:ext cx="10451592" cy="0"/>
          </a:xfrm>
          <a:prstGeom prst="line">
            <a:avLst/>
          </a:prstGeom>
          <a:ln w="9525">
            <a:solidFill>
              <a:srgbClr val="ECECEC"/>
            </a:solidFill>
          </a:ln>
        </p:spPr>
      </p:cxnSp>
      <p:sp>
        <p:nvSpPr>
          <p:cNvPr id="16" name="Hexagon 15"/>
          <p:cNvSpPr/>
          <p:nvPr/>
        </p:nvSpPr>
        <p:spPr>
          <a:xfrm>
            <a:off x="548640" y="485546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sp>
        <p:nvSpPr>
          <p:cNvPr id="17" name="TextBox 16"/>
          <p:cNvSpPr txBox="1"/>
          <p:nvPr/>
        </p:nvSpPr>
        <p:spPr>
          <a:xfrm>
            <a:off x="1188720" y="4718304"/>
            <a:ext cx="3291840" cy="685800"/>
          </a:xfrm>
          <a:prstGeom prst="rect">
            <a:avLst/>
          </a:prstGeom>
          <a:noFill/>
        </p:spPr>
        <p:txBody>
          <a:bodyPr wrap="square" lIns="0" tIns="0" rIns="0" bIns="0" anchor="ctr">
            <a:spAutoFit/>
          </a:bodyPr>
          <a:lstStyle/>
          <a:p>
            <a:pPr algn="l"/>
            <a:r>
              <a:rPr sz="1400" b="1" i="0">
                <a:solidFill>
                  <a:srgbClr val="002368"/>
                </a:solidFill>
                <a:latin typeface="Arial"/>
              </a:rPr>
              <a:t>Pay for Google Maps access</a:t>
            </a:r>
          </a:p>
        </p:txBody>
      </p:sp>
      <p:sp>
        <p:nvSpPr>
          <p:cNvPr id="18" name="TextBox 17"/>
          <p:cNvSpPr txBox="1"/>
          <p:nvPr/>
        </p:nvSpPr>
        <p:spPr>
          <a:xfrm>
            <a:off x="4572000" y="4718304"/>
            <a:ext cx="7068312" cy="685800"/>
          </a:xfrm>
          <a:prstGeom prst="rect">
            <a:avLst/>
          </a:prstGeom>
          <a:noFill/>
        </p:spPr>
        <p:txBody>
          <a:bodyPr wrap="square" lIns="0" tIns="0" rIns="0" bIns="0" anchor="ctr">
            <a:spAutoFit/>
          </a:bodyPr>
          <a:lstStyle/>
          <a:p>
            <a:pPr algn="l"/>
            <a:r>
              <a:rPr sz="1100" b="0" i="0">
                <a:solidFill>
                  <a:srgbClr val="000000"/>
                </a:solidFill>
                <a:latin typeface="Arial"/>
              </a:rPr>
              <a:t>A paid Google Cloud account with the Maps (Places) service gives us addresses, phone numbers, websites and exact locations for every lead at scale, in place of one-by-one lookups.</a:t>
            </a:r>
          </a:p>
        </p:txBody>
      </p: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page →</a:t>
            </a:r>
          </a:p>
        </p:txBody>
      </p:sp>
      <p:sp>
        <p:nvSpPr>
          <p:cNvPr id="21"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catchment criteria and research review</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segment funnels, fallout and re-activation, data protection, the pipeline decisions and sources.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Overview and the parent-funnel hand-off</a:t>
            </a:r>
          </a:p>
          <a:p>
            <a:pPr algn="l" marL="155448" indent="-155448">
              <a:spcAft>
                <a:spcPts val="400"/>
              </a:spcAft>
              <a:buFont typeface="Arial"/>
              <a:buChar char="•"/>
            </a:pPr>
            <a:r>
              <a:rPr sz="1100" b="0" i="0">
                <a:solidFill>
                  <a:srgbClr val="FFFFFF"/>
                </a:solidFill>
                <a:latin typeface="Arial"/>
              </a:rPr>
              <a:t>Thirteen segment funnels: E1–E6, I1, W1–W3, G1–G3</a:t>
            </a:r>
          </a:p>
          <a:p>
            <a:pPr algn="l" marL="155448" indent="-155448">
              <a:spcAft>
                <a:spcPts val="400"/>
              </a:spcAft>
              <a:buFont typeface="Arial"/>
              <a:buChar char="•"/>
            </a:pPr>
            <a:r>
              <a:rPr sz="1100" b="0" i="0">
                <a:solidFill>
                  <a:srgbClr val="FFFFFF"/>
                </a:solidFill>
                <a:latin typeface="Arial"/>
              </a:rPr>
              <a:t>Fallout and re-activation</a:t>
            </a:r>
          </a:p>
          <a:p>
            <a:pPr algn="l" marL="155448" indent="-155448">
              <a:spcAft>
                <a:spcPts val="400"/>
              </a:spcAft>
              <a:buFont typeface="Arial"/>
              <a:buChar char="•"/>
            </a:pPr>
            <a:r>
              <a:rPr sz="1100" b="0" i="0">
                <a:solidFill>
                  <a:srgbClr val="FFFFFF"/>
                </a:solidFill>
                <a:latin typeface="Arial"/>
              </a:rPr>
              <a:t>Opt-in and data protection</a:t>
            </a:r>
          </a:p>
          <a:p>
            <a:pPr algn="l" marL="155448" indent="-155448">
              <a:spcAft>
                <a:spcPts val="400"/>
              </a:spcAft>
              <a:buFont typeface="Arial"/>
              <a:buChar char="•"/>
            </a:pPr>
            <a:r>
              <a:rPr sz="1100" b="0" i="0">
                <a:solidFill>
                  <a:srgbClr val="FFFFFF"/>
                </a:solidFill>
                <a:latin typeface="Arial"/>
              </a:rPr>
              <a:t>Pipeline decisions</a:t>
            </a:r>
          </a:p>
          <a:p>
            <a:pPr algn="l" marL="155448" indent="-155448">
              <a:spcAft>
                <a:spcPts val="400"/>
              </a:spcAft>
              <a:buFont typeface="Arial"/>
              <a:buChar char="•"/>
            </a:pPr>
            <a:r>
              <a:rPr sz="1100" b="0" i="0">
                <a:solidFill>
                  <a:srgbClr val="FFFFFF"/>
                </a:solidFill>
                <a:latin typeface="Arial"/>
              </a:rPr>
              <a:t>Sources and data dates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Rounded Rectangle 3"/>
          <p:cNvSpPr/>
          <p:nvPr/>
        </p:nvSpPr>
        <p:spPr>
          <a:xfrm>
            <a:off x="548640" y="137160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Employers · 1,118</a:t>
            </a:r>
          </a:p>
        </p:txBody>
      </p:sp>
      <p:cxnSp>
        <p:nvCxnSpPr>
          <p:cNvPr id="5" name="Connector 4"/>
          <p:cNvCxnSpPr/>
          <p:nvPr/>
        </p:nvCxnSpPr>
        <p:spPr>
          <a:xfrm>
            <a:off x="2468880" y="1600200"/>
            <a:ext cx="320040" cy="1097280"/>
          </a:xfrm>
          <a:prstGeom prst="line">
            <a:avLst/>
          </a:prstGeom>
          <a:ln w="12700">
            <a:solidFill>
              <a:srgbClr val="80BFEC"/>
            </a:solidFill>
          </a:ln>
        </p:spPr>
      </p:cxnSp>
      <p:sp>
        <p:nvSpPr>
          <p:cNvPr id="6" name="Rounded Rectangle 5"/>
          <p:cNvSpPr/>
          <p:nvPr/>
        </p:nvSpPr>
        <p:spPr>
          <a:xfrm>
            <a:off x="548640" y="192024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SACCOS · 117</a:t>
            </a:r>
          </a:p>
        </p:txBody>
      </p:sp>
      <p:cxnSp>
        <p:nvCxnSpPr>
          <p:cNvPr id="7" name="Connector 6"/>
          <p:cNvCxnSpPr/>
          <p:nvPr/>
        </p:nvCxnSpPr>
        <p:spPr>
          <a:xfrm>
            <a:off x="2468880" y="2148840"/>
            <a:ext cx="320040" cy="548640"/>
          </a:xfrm>
          <a:prstGeom prst="line">
            <a:avLst/>
          </a:prstGeom>
          <a:ln w="12700">
            <a:solidFill>
              <a:srgbClr val="80BFEC"/>
            </a:solidFill>
          </a:ln>
        </p:spPr>
      </p:cxnSp>
      <p:sp>
        <p:nvSpPr>
          <p:cNvPr id="8" name="Rounded Rectangle 7"/>
          <p:cNvSpPr/>
          <p:nvPr/>
        </p:nvSpPr>
        <p:spPr>
          <a:xfrm>
            <a:off x="548640" y="246888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Introducers, networks · 16, 7</a:t>
            </a:r>
          </a:p>
        </p:txBody>
      </p:sp>
      <p:cxnSp>
        <p:nvCxnSpPr>
          <p:cNvPr id="9" name="Connector 8"/>
          <p:cNvCxnSpPr/>
          <p:nvPr/>
        </p:nvCxnSpPr>
        <p:spPr>
          <a:xfrm>
            <a:off x="2468880" y="2697480"/>
            <a:ext cx="320040" cy="0"/>
          </a:xfrm>
          <a:prstGeom prst="line">
            <a:avLst/>
          </a:prstGeom>
          <a:ln w="12700">
            <a:solidFill>
              <a:srgbClr val="80BFEC"/>
            </a:solidFill>
          </a:ln>
        </p:spPr>
      </p:cxnSp>
      <p:sp>
        <p:nvSpPr>
          <p:cNvPr id="10" name="Rounded Rectangle 9"/>
          <p:cNvSpPr/>
          <p:nvPr/>
        </p:nvSpPr>
        <p:spPr>
          <a:xfrm>
            <a:off x="548640" y="301752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Welfare · 438</a:t>
            </a:r>
          </a:p>
        </p:txBody>
      </p:sp>
      <p:cxnSp>
        <p:nvCxnSpPr>
          <p:cNvPr id="11" name="Connector 10"/>
          <p:cNvCxnSpPr/>
          <p:nvPr/>
        </p:nvCxnSpPr>
        <p:spPr>
          <a:xfrm flipV="1">
            <a:off x="2468880" y="2697480"/>
            <a:ext cx="320040" cy="548640"/>
          </a:xfrm>
          <a:prstGeom prst="line">
            <a:avLst/>
          </a:prstGeom>
          <a:ln w="12700">
            <a:solidFill>
              <a:srgbClr val="80BFEC"/>
            </a:solidFill>
          </a:ln>
        </p:spPr>
      </p:cxnSp>
      <p:sp>
        <p:nvSpPr>
          <p:cNvPr id="12" name="Rounded Rectangle 11"/>
          <p:cNvSpPr/>
          <p:nvPr/>
        </p:nvSpPr>
        <p:spPr>
          <a:xfrm>
            <a:off x="548640" y="356616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Government · 228</a:t>
            </a:r>
          </a:p>
        </p:txBody>
      </p:sp>
      <p:cxnSp>
        <p:nvCxnSpPr>
          <p:cNvPr id="13" name="Connector 12"/>
          <p:cNvCxnSpPr/>
          <p:nvPr/>
        </p:nvCxnSpPr>
        <p:spPr>
          <a:xfrm flipV="1">
            <a:off x="2468880" y="2697480"/>
            <a:ext cx="320040" cy="1097280"/>
          </a:xfrm>
          <a:prstGeom prst="line">
            <a:avLst/>
          </a:prstGeom>
          <a:ln w="12700">
            <a:solidFill>
              <a:srgbClr val="80BFEC"/>
            </a:solidFill>
          </a:ln>
        </p:spPr>
      </p:cxnSp>
      <p:sp>
        <p:nvSpPr>
          <p:cNvPr id="14" name="Rounded Rectangle 13"/>
          <p:cNvSpPr/>
          <p:nvPr/>
        </p:nvSpPr>
        <p:spPr>
          <a:xfrm>
            <a:off x="2834640" y="2377440"/>
            <a:ext cx="1298448" cy="685800"/>
          </a:xfrm>
          <a:prstGeom prst="roundRect">
            <a:avLst>
              <a:gd name="adj" fmla="val 9333"/>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Spine S1–S6</a:t>
            </a:r>
          </a:p>
          <a:p>
            <a:pPr algn="ctr"/>
            <a:r>
              <a:rPr sz="850" b="0" i="0">
                <a:solidFill>
                  <a:srgbClr val="002368"/>
                </a:solidFill>
                <a:latin typeface="Arial"/>
              </a:rPr>
              <a:t>Ready to Proposal</a:t>
            </a:r>
          </a:p>
        </p:txBody>
      </p:sp>
      <p:sp>
        <p:nvSpPr>
          <p:cNvPr id="15" name="Chevron 14"/>
          <p:cNvSpPr/>
          <p:nvPr/>
        </p:nvSpPr>
        <p:spPr>
          <a:xfrm>
            <a:off x="4178808" y="2624328"/>
            <a:ext cx="91440" cy="201168"/>
          </a:xfrm>
          <a:prstGeom prst="chevron">
            <a:avLst>
              <a:gd name="adj" fmla="val 55000"/>
            </a:avLst>
          </a:prstGeom>
          <a:solidFill>
            <a:srgbClr val="80BFEC"/>
          </a:solidFill>
          <a:ln>
            <a:noFill/>
          </a:ln>
        </p:spPr>
        <p:txBody>
          <a:bodyPr rtlCol="0" anchor="ctr"/>
          <a:lstStyle/>
          <a:p>
            <a:pPr algn="ctr"/>
          </a:p>
        </p:txBody>
      </p:sp>
      <p:sp>
        <p:nvSpPr>
          <p:cNvPr id="16" name="Rounded Rectangle 15"/>
          <p:cNvSpPr/>
          <p:nvPr/>
        </p:nvSpPr>
        <p:spPr>
          <a:xfrm>
            <a:off x="4315968"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7" name="Chevron 16"/>
          <p:cNvSpPr/>
          <p:nvPr/>
        </p:nvSpPr>
        <p:spPr>
          <a:xfrm>
            <a:off x="5660136" y="2624328"/>
            <a:ext cx="91440" cy="201168"/>
          </a:xfrm>
          <a:prstGeom prst="chevron">
            <a:avLst>
              <a:gd name="adj" fmla="val 55000"/>
            </a:avLst>
          </a:prstGeom>
          <a:solidFill>
            <a:srgbClr val="80BFEC"/>
          </a:solidFill>
          <a:ln>
            <a:noFill/>
          </a:ln>
        </p:spPr>
        <p:txBody>
          <a:bodyPr rtlCol="0" anchor="ctr"/>
          <a:lstStyle/>
          <a:p>
            <a:pPr algn="ctr"/>
          </a:p>
        </p:txBody>
      </p:sp>
      <p:sp>
        <p:nvSpPr>
          <p:cNvPr id="18" name="Rounded Rectangle 17"/>
          <p:cNvSpPr/>
          <p:nvPr/>
        </p:nvSpPr>
        <p:spPr>
          <a:xfrm>
            <a:off x="5797296"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sign-ups, referrals, placements</a:t>
            </a:r>
          </a:p>
        </p:txBody>
      </p:sp>
      <p:sp>
        <p:nvSpPr>
          <p:cNvPr id="19" name="Chevron 18"/>
          <p:cNvSpPr/>
          <p:nvPr/>
        </p:nvSpPr>
        <p:spPr>
          <a:xfrm>
            <a:off x="7141464" y="2624328"/>
            <a:ext cx="91440" cy="201168"/>
          </a:xfrm>
          <a:prstGeom prst="chevron">
            <a:avLst>
              <a:gd name="adj" fmla="val 55000"/>
            </a:avLst>
          </a:prstGeom>
          <a:solidFill>
            <a:srgbClr val="80BFEC"/>
          </a:solidFill>
          <a:ln>
            <a:noFill/>
          </a:ln>
        </p:spPr>
        <p:txBody>
          <a:bodyPr rtlCol="0" anchor="ctr"/>
          <a:lstStyle/>
          <a:p>
            <a:pPr algn="ctr"/>
          </a:p>
        </p:txBody>
      </p:sp>
      <p:sp>
        <p:nvSpPr>
          <p:cNvPr id="20" name="Rounded Rectangle 19"/>
          <p:cNvSpPr/>
          <p:nvPr/>
        </p:nvSpPr>
        <p:spPr>
          <a:xfrm>
            <a:off x="7278624"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Opt-in and Inquiry</a:t>
            </a:r>
          </a:p>
          <a:p>
            <a:pPr algn="ctr"/>
            <a:r>
              <a:rPr sz="850" b="0" i="0">
                <a:solidFill>
                  <a:srgbClr val="002368"/>
                </a:solidFill>
                <a:latin typeface="Arial"/>
              </a:rPr>
              <a:t>self-made, with a partner code</a:t>
            </a:r>
          </a:p>
        </p:txBody>
      </p:sp>
      <p:sp>
        <p:nvSpPr>
          <p:cNvPr id="21" name="Chevron 20"/>
          <p:cNvSpPr/>
          <p:nvPr/>
        </p:nvSpPr>
        <p:spPr>
          <a:xfrm>
            <a:off x="8622792" y="2624328"/>
            <a:ext cx="91440" cy="201168"/>
          </a:xfrm>
          <a:prstGeom prst="chevron">
            <a:avLst>
              <a:gd name="adj" fmla="val 55000"/>
            </a:avLst>
          </a:prstGeom>
          <a:solidFill>
            <a:srgbClr val="80BFEC"/>
          </a:solidFill>
          <a:ln>
            <a:noFill/>
          </a:ln>
        </p:spPr>
        <p:txBody>
          <a:bodyPr rtlCol="0" anchor="ctr"/>
          <a:lstStyle/>
          <a:p>
            <a:pPr algn="ctr"/>
          </a:p>
        </p:txBody>
      </p:sp>
      <p:sp>
        <p:nvSpPr>
          <p:cNvPr id="22" name="Rounded Rectangle 21"/>
          <p:cNvSpPr/>
          <p:nvPr/>
        </p:nvSpPr>
        <p:spPr>
          <a:xfrm>
            <a:off x="8759952"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Tour and Application</a:t>
            </a:r>
          </a:p>
          <a:p>
            <a:pPr algn="ctr"/>
            <a:r>
              <a:rPr sz="850" b="0" i="0">
                <a:solidFill>
                  <a:srgbClr val="002368"/>
                </a:solidFill>
                <a:latin typeface="Arial"/>
              </a:rPr>
              <a:t>admissions</a:t>
            </a:r>
          </a:p>
        </p:txBody>
      </p:sp>
      <p:sp>
        <p:nvSpPr>
          <p:cNvPr id="23" name="Chevron 22"/>
          <p:cNvSpPr/>
          <p:nvPr/>
        </p:nvSpPr>
        <p:spPr>
          <a:xfrm>
            <a:off x="10104120" y="2624328"/>
            <a:ext cx="91440"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10241280"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Enrolment</a:t>
            </a:r>
          </a:p>
        </p:txBody>
      </p:sp>
      <p:cxnSp>
        <p:nvCxnSpPr>
          <p:cNvPr id="25" name="Connector 24"/>
          <p:cNvCxnSpPr/>
          <p:nvPr/>
        </p:nvCxnSpPr>
        <p:spPr>
          <a:xfrm>
            <a:off x="6446520" y="3063240"/>
            <a:ext cx="0" cy="365760"/>
          </a:xfrm>
          <a:prstGeom prst="line">
            <a:avLst/>
          </a:prstGeom>
          <a:ln w="12700">
            <a:solidFill>
              <a:srgbClr val="818283"/>
            </a:solidFill>
            <a:prstDash val="dash"/>
          </a:ln>
        </p:spPr>
      </p:cxnSp>
      <p:cxnSp>
        <p:nvCxnSpPr>
          <p:cNvPr id="26" name="Connector 25"/>
          <p:cNvCxnSpPr/>
          <p:nvPr/>
        </p:nvCxnSpPr>
        <p:spPr>
          <a:xfrm flipH="1">
            <a:off x="3483864" y="3429000"/>
            <a:ext cx="2962656" cy="0"/>
          </a:xfrm>
          <a:prstGeom prst="line">
            <a:avLst/>
          </a:prstGeom>
          <a:ln w="12700">
            <a:solidFill>
              <a:srgbClr val="818283"/>
            </a:solidFill>
            <a:prstDash val="dash"/>
          </a:ln>
        </p:spPr>
      </p:cxnSp>
      <p:cxnSp>
        <p:nvCxnSpPr>
          <p:cNvPr id="27" name="Connector 26"/>
          <p:cNvCxnSpPr/>
          <p:nvPr/>
        </p:nvCxnSpPr>
        <p:spPr>
          <a:xfrm flipV="1">
            <a:off x="3483864" y="3063240"/>
            <a:ext cx="0" cy="365760"/>
          </a:xfrm>
          <a:prstGeom prst="line">
            <a:avLst/>
          </a:prstGeom>
          <a:ln w="12700">
            <a:solidFill>
              <a:srgbClr val="818283"/>
            </a:solidFill>
            <a:prstDash val="dash"/>
            <a:tailEnd type="triangle" w="med" len="med"/>
          </a:ln>
        </p:spPr>
      </p:cxnSp>
      <p:sp>
        <p:nvSpPr>
          <p:cNvPr id="28" name="TextBox 27"/>
          <p:cNvSpPr txBox="1"/>
          <p:nvPr/>
        </p:nvSpPr>
        <p:spPr>
          <a:xfrm>
            <a:off x="3657600" y="3456432"/>
            <a:ext cx="2377440" cy="219456"/>
          </a:xfrm>
          <a:prstGeom prst="rect">
            <a:avLst/>
          </a:prstGeom>
          <a:noFill/>
        </p:spPr>
        <p:txBody>
          <a:bodyPr wrap="square" lIns="0" tIns="0" rIns="0" bIns="0" anchor="t">
            <a:spAutoFit/>
          </a:bodyPr>
          <a:lstStyle/>
          <a:p>
            <a:pPr algn="l"/>
            <a:r>
              <a:rPr sz="900" b="0" i="0">
                <a:solidFill>
                  <a:srgbClr val="818283"/>
                </a:solidFill>
                <a:latin typeface="Arial"/>
              </a:rPr>
              <a:t>referred employers and homes re-enter</a:t>
            </a:r>
          </a:p>
        </p:txBody>
      </p:sp>
      <p:cxnSp>
        <p:nvCxnSpPr>
          <p:cNvPr id="29" name="Connector 28"/>
          <p:cNvCxnSpPr/>
          <p:nvPr/>
        </p:nvCxnSpPr>
        <p:spPr>
          <a:xfrm>
            <a:off x="6620256" y="3063240"/>
            <a:ext cx="0" cy="640080"/>
          </a:xfrm>
          <a:prstGeom prst="line">
            <a:avLst/>
          </a:prstGeom>
          <a:ln w="12700">
            <a:solidFill>
              <a:srgbClr val="818283"/>
            </a:solidFill>
            <a:prstDash val="dash"/>
          </a:ln>
        </p:spPr>
      </p:cxnSp>
      <p:cxnSp>
        <p:nvCxnSpPr>
          <p:cNvPr id="30" name="Connector 29"/>
          <p:cNvCxnSpPr/>
          <p:nvPr/>
        </p:nvCxnSpPr>
        <p:spPr>
          <a:xfrm>
            <a:off x="6620256" y="3703320"/>
            <a:ext cx="4270248" cy="0"/>
          </a:xfrm>
          <a:prstGeom prst="line">
            <a:avLst/>
          </a:prstGeom>
          <a:ln w="12700">
            <a:solidFill>
              <a:srgbClr val="818283"/>
            </a:solidFill>
            <a:prstDash val="dash"/>
          </a:ln>
        </p:spPr>
      </p:cxnSp>
      <p:cxnSp>
        <p:nvCxnSpPr>
          <p:cNvPr id="31" name="Connector 30"/>
          <p:cNvCxnSpPr/>
          <p:nvPr/>
        </p:nvCxnSpPr>
        <p:spPr>
          <a:xfrm flipV="1">
            <a:off x="10890504" y="3063240"/>
            <a:ext cx="0" cy="640080"/>
          </a:xfrm>
          <a:prstGeom prst="line">
            <a:avLst/>
          </a:prstGeom>
          <a:ln w="12700">
            <a:solidFill>
              <a:srgbClr val="818283"/>
            </a:solidFill>
            <a:prstDash val="dash"/>
            <a:tailEnd type="triangle" w="med" len="med"/>
          </a:ln>
        </p:spPr>
      </p:cxnSp>
      <p:sp>
        <p:nvSpPr>
          <p:cNvPr id="32" name="TextBox 31"/>
          <p:cNvSpPr txBox="1"/>
          <p:nvPr/>
        </p:nvSpPr>
        <p:spPr>
          <a:xfrm>
            <a:off x="7589520" y="3730752"/>
            <a:ext cx="3657600" cy="219456"/>
          </a:xfrm>
          <a:prstGeom prst="rect">
            <a:avLst/>
          </a:prstGeom>
          <a:noFill/>
        </p:spPr>
        <p:txBody>
          <a:bodyPr wrap="square" lIns="0" tIns="0" rIns="0" bIns="0" anchor="t">
            <a:spAutoFit/>
          </a:bodyPr>
          <a:lstStyle/>
          <a:p>
            <a:pPr algn="l"/>
            <a:r>
              <a:rPr sz="900" b="0" i="0">
                <a:solidFill>
                  <a:srgbClr val="818283"/>
                </a:solidFill>
                <a:latin typeface="Arial"/>
              </a:rPr>
              <a:t>placements and sponsored students go straight to enrolment</a:t>
            </a:r>
          </a:p>
        </p:txBody>
      </p:sp>
      <p:sp>
        <p:nvSpPr>
          <p:cNvPr id="33" name="TextBox 32"/>
          <p:cNvSpPr txBox="1"/>
          <p:nvPr/>
        </p:nvSpPr>
        <p:spPr>
          <a:xfrm>
            <a:off x="548640" y="4206240"/>
            <a:ext cx="7315200" cy="201168"/>
          </a:xfrm>
          <a:prstGeom prst="rect">
            <a:avLst/>
          </a:prstGeom>
          <a:noFill/>
        </p:spPr>
        <p:txBody>
          <a:bodyPr wrap="square" lIns="0" tIns="0" rIns="0" bIns="0" anchor="t">
            <a:spAutoFit/>
          </a:bodyPr>
          <a:lstStyle/>
          <a:p>
            <a:pPr algn="l"/>
            <a:r>
              <a:rPr sz="900" b="1" i="0" spc="200">
                <a:solidFill>
                  <a:srgbClr val="818283"/>
                </a:solidFill>
                <a:latin typeface="Arial"/>
              </a:rPr>
              <a:t>THE PARENT FUNNEL HAND-OFF: ADMISSIONS OWNS EACH FAMILY FROM THE OPT-IN</a:t>
            </a:r>
          </a:p>
        </p:txBody>
      </p:sp>
      <p:sp>
        <p:nvSpPr>
          <p:cNvPr id="34" name="Hexagon 33"/>
          <p:cNvSpPr/>
          <p:nvPr/>
        </p:nvSpPr>
        <p:spPr>
          <a:xfrm>
            <a:off x="5486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cxnSp>
        <p:nvCxnSpPr>
          <p:cNvPr id="35" name="Connector 34"/>
          <p:cNvCxnSpPr/>
          <p:nvPr/>
        </p:nvCxnSpPr>
        <p:spPr>
          <a:xfrm>
            <a:off x="1005840" y="4727448"/>
            <a:ext cx="1143000" cy="0"/>
          </a:xfrm>
          <a:prstGeom prst="line">
            <a:avLst/>
          </a:prstGeom>
          <a:ln w="15875">
            <a:solidFill>
              <a:srgbClr val="80BFEC"/>
            </a:solidFill>
          </a:ln>
        </p:spPr>
      </p:cxnSp>
      <p:sp>
        <p:nvSpPr>
          <p:cNvPr id="36" name="TextBox 35"/>
          <p:cNvSpPr txBox="1"/>
          <p:nvPr/>
        </p:nvSpPr>
        <p:spPr>
          <a:xfrm>
            <a:off x="548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Partner circulates</a:t>
            </a:r>
          </a:p>
        </p:txBody>
      </p:sp>
      <p:sp>
        <p:nvSpPr>
          <p:cNvPr id="37" name="TextBox 36"/>
          <p:cNvSpPr txBox="1"/>
          <p:nvPr/>
        </p:nvSpPr>
        <p:spPr>
          <a:xfrm>
            <a:off x="548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QR, pamphlet, form</a:t>
            </a:r>
          </a:p>
        </p:txBody>
      </p:sp>
      <p:sp>
        <p:nvSpPr>
          <p:cNvPr id="38" name="Hexagon 37"/>
          <p:cNvSpPr/>
          <p:nvPr/>
        </p:nvSpPr>
        <p:spPr>
          <a:xfrm>
            <a:off x="2148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cxnSp>
        <p:nvCxnSpPr>
          <p:cNvPr id="39" name="Connector 38"/>
          <p:cNvCxnSpPr/>
          <p:nvPr/>
        </p:nvCxnSpPr>
        <p:spPr>
          <a:xfrm>
            <a:off x="2606040" y="4727448"/>
            <a:ext cx="1142999" cy="0"/>
          </a:xfrm>
          <a:prstGeom prst="line">
            <a:avLst/>
          </a:prstGeom>
          <a:ln w="15875">
            <a:solidFill>
              <a:srgbClr val="80BFEC"/>
            </a:solidFill>
          </a:ln>
        </p:spPr>
      </p:cxnSp>
      <p:sp>
        <p:nvSpPr>
          <p:cNvPr id="40" name="TextBox 39"/>
          <p:cNvSpPr txBox="1"/>
          <p:nvPr/>
        </p:nvSpPr>
        <p:spPr>
          <a:xfrm>
            <a:off x="2148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Opt-in</a:t>
            </a:r>
          </a:p>
        </p:txBody>
      </p:sp>
      <p:sp>
        <p:nvSpPr>
          <p:cNvPr id="41" name="TextBox 40"/>
          <p:cNvSpPr txBox="1"/>
          <p:nvPr/>
        </p:nvSpPr>
        <p:spPr>
          <a:xfrm>
            <a:off x="2148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partner code EMP, SAC, INT, WEL, EVT</a:t>
            </a:r>
          </a:p>
        </p:txBody>
      </p:sp>
      <p:sp>
        <p:nvSpPr>
          <p:cNvPr id="42" name="Hexagon 41"/>
          <p:cNvSpPr/>
          <p:nvPr/>
        </p:nvSpPr>
        <p:spPr>
          <a:xfrm>
            <a:off x="3749039"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cxnSp>
        <p:nvCxnSpPr>
          <p:cNvPr id="43" name="Connector 42"/>
          <p:cNvCxnSpPr/>
          <p:nvPr/>
        </p:nvCxnSpPr>
        <p:spPr>
          <a:xfrm>
            <a:off x="4206240" y="4727448"/>
            <a:ext cx="1143000" cy="0"/>
          </a:xfrm>
          <a:prstGeom prst="line">
            <a:avLst/>
          </a:prstGeom>
          <a:ln w="15875">
            <a:solidFill>
              <a:srgbClr val="80BFEC"/>
            </a:solidFill>
          </a:ln>
        </p:spPr>
      </p:cxnSp>
      <p:sp>
        <p:nvSpPr>
          <p:cNvPr id="44" name="TextBox 43"/>
          <p:cNvSpPr txBox="1"/>
          <p:nvPr/>
        </p:nvSpPr>
        <p:spPr>
          <a:xfrm>
            <a:off x="3749039"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Inquiry</a:t>
            </a:r>
          </a:p>
        </p:txBody>
      </p:sp>
      <p:sp>
        <p:nvSpPr>
          <p:cNvPr id="45" name="TextBox 44"/>
          <p:cNvSpPr txBox="1"/>
          <p:nvPr/>
        </p:nvSpPr>
        <p:spPr>
          <a:xfrm>
            <a:off x="3749039"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same working period; reminder at 2 days</a:t>
            </a:r>
          </a:p>
        </p:txBody>
      </p:sp>
      <p:sp>
        <p:nvSpPr>
          <p:cNvPr id="46" name="Hexagon 45"/>
          <p:cNvSpPr/>
          <p:nvPr/>
        </p:nvSpPr>
        <p:spPr>
          <a:xfrm>
            <a:off x="53492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cxnSp>
        <p:nvCxnSpPr>
          <p:cNvPr id="47" name="Connector 46"/>
          <p:cNvCxnSpPr/>
          <p:nvPr/>
        </p:nvCxnSpPr>
        <p:spPr>
          <a:xfrm>
            <a:off x="5806440" y="4727448"/>
            <a:ext cx="1143000" cy="0"/>
          </a:xfrm>
          <a:prstGeom prst="line">
            <a:avLst/>
          </a:prstGeom>
          <a:ln w="15875">
            <a:solidFill>
              <a:srgbClr val="80BFEC"/>
            </a:solidFill>
          </a:ln>
        </p:spPr>
      </p:cxnSp>
      <p:sp>
        <p:nvSpPr>
          <p:cNvPr id="48" name="TextBox 47"/>
          <p:cNvSpPr txBox="1"/>
          <p:nvPr/>
        </p:nvSpPr>
        <p:spPr>
          <a:xfrm>
            <a:off x="53492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Qualified</a:t>
            </a:r>
          </a:p>
        </p:txBody>
      </p:sp>
      <p:sp>
        <p:nvSpPr>
          <p:cNvPr id="49" name="TextBox 48"/>
          <p:cNvSpPr txBox="1"/>
          <p:nvPr/>
        </p:nvSpPr>
        <p:spPr>
          <a:xfrm>
            <a:off x="53492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campus fit confirmed</a:t>
            </a:r>
          </a:p>
        </p:txBody>
      </p:sp>
      <p:sp>
        <p:nvSpPr>
          <p:cNvPr id="50" name="Hexagon 49"/>
          <p:cNvSpPr/>
          <p:nvPr/>
        </p:nvSpPr>
        <p:spPr>
          <a:xfrm>
            <a:off x="69494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cxnSp>
        <p:nvCxnSpPr>
          <p:cNvPr id="51" name="Connector 50"/>
          <p:cNvCxnSpPr/>
          <p:nvPr/>
        </p:nvCxnSpPr>
        <p:spPr>
          <a:xfrm>
            <a:off x="7406640" y="4727448"/>
            <a:ext cx="1143000" cy="0"/>
          </a:xfrm>
          <a:prstGeom prst="line">
            <a:avLst/>
          </a:prstGeom>
          <a:ln w="15875">
            <a:solidFill>
              <a:srgbClr val="80BFEC"/>
            </a:solidFill>
          </a:ln>
        </p:spPr>
      </p:cxnSp>
      <p:sp>
        <p:nvSpPr>
          <p:cNvPr id="52" name="TextBox 51"/>
          <p:cNvSpPr txBox="1"/>
          <p:nvPr/>
        </p:nvSpPr>
        <p:spPr>
          <a:xfrm>
            <a:off x="69494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Tour, Application</a:t>
            </a:r>
          </a:p>
        </p:txBody>
      </p:sp>
      <p:sp>
        <p:nvSpPr>
          <p:cNvPr id="53" name="TextBox 52"/>
          <p:cNvSpPr txBox="1"/>
          <p:nvPr/>
        </p:nvSpPr>
        <p:spPr>
          <a:xfrm>
            <a:off x="69494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recorded as they happen</a:t>
            </a:r>
          </a:p>
        </p:txBody>
      </p:sp>
      <p:sp>
        <p:nvSpPr>
          <p:cNvPr id="54" name="Hexagon 53"/>
          <p:cNvSpPr/>
          <p:nvPr/>
        </p:nvSpPr>
        <p:spPr>
          <a:xfrm>
            <a:off x="8549640" y="452628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06</a:t>
            </a:r>
          </a:p>
        </p:txBody>
      </p:sp>
      <p:cxnSp>
        <p:nvCxnSpPr>
          <p:cNvPr id="55" name="Connector 54"/>
          <p:cNvCxnSpPr/>
          <p:nvPr/>
        </p:nvCxnSpPr>
        <p:spPr>
          <a:xfrm>
            <a:off x="9006840" y="4727448"/>
            <a:ext cx="1143000" cy="0"/>
          </a:xfrm>
          <a:prstGeom prst="line">
            <a:avLst/>
          </a:prstGeom>
          <a:ln w="15875">
            <a:solidFill>
              <a:srgbClr val="80BFEC"/>
            </a:solidFill>
          </a:ln>
        </p:spPr>
      </p:cxnSp>
      <p:sp>
        <p:nvSpPr>
          <p:cNvPr id="56" name="TextBox 55"/>
          <p:cNvSpPr txBox="1"/>
          <p:nvPr/>
        </p:nvSpPr>
        <p:spPr>
          <a:xfrm>
            <a:off x="8549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Enrolment</a:t>
            </a:r>
          </a:p>
        </p:txBody>
      </p:sp>
      <p:sp>
        <p:nvSpPr>
          <p:cNvPr id="57" name="TextBox 56"/>
          <p:cNvSpPr txBox="1"/>
          <p:nvPr/>
        </p:nvSpPr>
        <p:spPr>
          <a:xfrm>
            <a:off x="8549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
            </a:r>
          </a:p>
        </p:txBody>
      </p:sp>
      <p:sp>
        <p:nvSpPr>
          <p:cNvPr id="58" name="Hexagon 57"/>
          <p:cNvSpPr/>
          <p:nvPr/>
        </p:nvSpPr>
        <p:spPr>
          <a:xfrm>
            <a:off x="10149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59" name="TextBox 58"/>
          <p:cNvSpPr txBox="1"/>
          <p:nvPr/>
        </p:nvSpPr>
        <p:spPr>
          <a:xfrm>
            <a:off x="10149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Totals to partner</a:t>
            </a:r>
          </a:p>
        </p:txBody>
      </p:sp>
      <p:sp>
        <p:nvSpPr>
          <p:cNvPr id="60" name="TextBox 59"/>
          <p:cNvSpPr txBox="1"/>
          <p:nvPr/>
        </p:nvSpPr>
        <p:spPr>
          <a:xfrm>
            <a:off x="10149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each term; small counts hidden</a:t>
            </a:r>
          </a:p>
        </p:txBody>
      </p:sp>
      <p:sp>
        <p:nvSpPr>
          <p:cNvPr id="61" name="TextBox 60"/>
          <p:cNvSpPr txBox="1"/>
          <p:nvPr/>
        </p:nvSpPr>
        <p:spPr>
          <a:xfrm>
            <a:off x="548640" y="5943600"/>
            <a:ext cx="11064240" cy="22860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the office?</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1" name="Rounded Rectangle 30"/>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after fallout → Dormant · next window or TATO</a:t>
            </a:r>
          </a:p>
        </p:txBody>
      </p:sp>
      <p:sp>
        <p:nvSpPr>
          <p:cNvPr id="39" name="Rounded Rectangle 38"/>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40" name="TextBox 39"/>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6" name="Rounded Rectangle 45"/>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7" name="Chevron 46"/>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49" name="Chevron 48"/>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1" name="Chevron 50"/>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p>
        </p:txBody>
      </p:sp>
      <p:sp>
        <p:nvSpPr>
          <p:cNvPr id="52" name="Hexagon 51"/>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one site?</a:t>
            </a:r>
          </a:p>
        </p:txBody>
      </p:sp>
      <p:sp>
        <p:nvSpPr>
          <p:cNvPr id="53" name="Chevron 52"/>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5" name="Rounded Rectangle 54"/>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6" name="Rounded Rectangle 55"/>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7" name="Chevron 56"/>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59" name="Chevron 58"/>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1" name="Chevron 60"/>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2" name="Rounded Rectangle 61"/>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3" name="Rounded Rectangle 62"/>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HAT, APHFTA, CTI, TAHA</a:t>
            </a:r>
          </a:p>
        </p:txBody>
      </p:sp>
      <p:sp>
        <p:nvSpPr>
          <p:cNvPr id="64" name="Rounded Rectangle 63"/>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5" name="TextBox 64"/>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6" name="TextBox 65"/>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7" name="Picture 66" descr="image3.png"/>
          <p:cNvPicPr>
            <a:picLocks noChangeAspect="1"/>
          </p:cNvPicPr>
          <p:nvPr/>
        </p:nvPicPr>
        <p:blipFill>
          <a:blip r:embed="rId2"/>
          <a:stretch>
            <a:fillRect/>
          </a:stretch>
        </p:blipFill>
        <p:spPr>
          <a:xfrm>
            <a:off x="548640" y="6272784"/>
            <a:ext cx="1143000" cy="274320"/>
          </a:xfrm>
          <a:prstGeom prst="rect">
            <a:avLst/>
          </a:prstGeom>
        </p:spPr>
      </p:pic>
      <p:sp>
        <p:nvSpPr>
          <p:cNvPr id="6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7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Session or agreement first?</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0" name="Rounded Rectangle 29"/>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1" name="Chevron 30"/>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3" name="Chevron 32"/>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5" name="Chevron 34"/>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7" name="Rounded Rectangle 36"/>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S5, S6 → Dormant · TBA or chamber</a:t>
            </a:r>
          </a:p>
        </p:txBody>
      </p:sp>
      <p:sp>
        <p:nvSpPr>
          <p:cNvPr id="38" name="Rounded Rectangle 37"/>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at S3 or S6 → SX</a:t>
            </a:r>
          </a:p>
        </p:txBody>
      </p:sp>
      <p:sp>
        <p:nvSpPr>
          <p:cNvPr id="39" name="TextBox 38"/>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5" name="Hexagon 44"/>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6" name="Chevron 45"/>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8" name="Chevron 47"/>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2" name="Chevron 51"/>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p>
        </p:txBody>
      </p:sp>
      <p:sp>
        <p:nvSpPr>
          <p:cNvPr id="53" name="Hexagon 52"/>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4" name="Chevron 53"/>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6" name="Rounded Rectangle 55"/>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7" name="Chevron 56"/>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59" name="Chevron 58"/>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1" name="Rounded Rectangle 60"/>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Check fails or HR refuses → SX compliance_blocked</a:t>
            </a:r>
          </a:p>
        </p:txBody>
      </p:sp>
      <p:sp>
        <p:nvSpPr>
          <p:cNvPr id="62" name="Rounded Rectangle 61"/>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63" name="TextBox 62"/>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1" name="Rounded Rectangle 20"/>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2" name="Chevron 21"/>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4" name="Chevron 23"/>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6" name="Chevron 25"/>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8" name="Chevron 27"/>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0" name="Chevron 29"/>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2" name="Chevron 31"/>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4" name="Chevron 33"/>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6" name="Rounded Rectangle 35"/>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or S6 → Dormant</a:t>
            </a:r>
          </a:p>
        </p:txBody>
      </p:sp>
      <p:sp>
        <p:nvSpPr>
          <p:cNvPr id="37" name="Rounded Rectangle 36"/>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8" name="Rounded Rectangle 37"/>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rtlCol="0" anchor="ctr" wrap="square" lIns="45720" rIns="45720" tIns="27432" bIns="27432"/>
          <a:lstStyle/>
          <a:p>
            <a:pPr algn="ctr"/>
            <a:r>
              <a:rPr sz="900" b="1" i="0">
                <a:solidFill>
                  <a:srgbClr val="002368"/>
                </a:solidFill>
                <a:latin typeface="Arial"/>
              </a:rPr>
              <a:t>One month later, optional: staff benefit via E1</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4" name="Hexagon 43"/>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5" name="Chevron 44"/>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7" name="Chevron 46"/>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49" name="Chevron 48"/>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1" name="Chevron 50"/>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3" name="Rounded Rectangle 52"/>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Asks for a rate: </a:t>
            </a:r>
            <a:r>
              <a:rPr sz="900" b="0" i="0">
                <a:solidFill>
                  <a:srgbClr val="002368"/>
                </a:solidFill>
                <a:latin typeface="Arial"/>
              </a:rPr>
              <a:t>S6 group rate, only if Finance extends OF07</a:t>
            </a:r>
          </a:p>
        </p:txBody>
      </p:sp>
      <p:sp>
        <p:nvSpPr>
          <p:cNvPr id="54" name="Chevron 53"/>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6" name="Chevron 55"/>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8" name="Chevron 57"/>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0" name="Rounded Rectangle 59"/>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members' meeting</a:t>
            </a:r>
          </a:p>
        </p:txBody>
      </p:sp>
      <p:sp>
        <p:nvSpPr>
          <p:cNvPr id="61" name="Rounded Rectangle 60"/>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Rate not approved → SX</a:t>
            </a:r>
          </a:p>
        </p:txBody>
      </p:sp>
      <p:sp>
        <p:nvSpPr>
          <p:cNvPr id="62" name="TextBox 61"/>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3" name="TextBox 62"/>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Gates before S1: a native-speaker Kiswahili review, and Finance's approval of the member rate. Sign-ups count toward the 50 / 100 / 150 thresholds as totals. No loan, payroll or subsidy claim.</a:t>
            </a:r>
          </a:p>
        </p:txBody>
      </p:sp>
      <p:pic>
        <p:nvPicPr>
          <p:cNvPr id="64" name="Picture 63" descr="image3.png"/>
          <p:cNvPicPr>
            <a:picLocks noChangeAspect="1"/>
          </p:cNvPicPr>
          <p:nvPr/>
        </p:nvPicPr>
        <p:blipFill>
          <a:blip r:embed="rId2"/>
          <a:stretch>
            <a:fillRect/>
          </a:stretch>
        </p:blipFill>
        <p:spPr>
          <a:xfrm>
            <a:off x="548640" y="6272784"/>
            <a:ext cx="1143000" cy="274320"/>
          </a:xfrm>
          <a:prstGeom prst="rect">
            <a:avLst/>
          </a:prstGeom>
        </p:spPr>
      </p:pic>
      <p:sp>
        <p:nvSpPr>
          <p:cNvPr id="65"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6"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1" name="Rounded Rectangle 20"/>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2" name="Chevron 21"/>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4" name="Chevron 23"/>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6" name="Chevron 25"/>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8" name="Chevron 27"/>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p>
        </p:txBody>
      </p:sp>
      <p:sp>
        <p:nvSpPr>
          <p:cNvPr id="29" name="Hexagon 28"/>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0" name="Chevron 29"/>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2" name="Chevron 31"/>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4" name="Chevron 33"/>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6" name="Rounded Rectangle 35"/>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or no referrals after two circulations → Dormant</a:t>
            </a:r>
          </a:p>
        </p:txBody>
      </p:sp>
      <p:sp>
        <p:nvSpPr>
          <p:cNvPr id="37" name="Rounded Rectangle 36"/>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8" name="TextBox 37"/>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4" name="Rounded Rectangle 43"/>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5" name="Chevron 44"/>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7" name="Chevron 46"/>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49" name="Chevron 48"/>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p>
        </p:txBody>
      </p:sp>
      <p:sp>
        <p:nvSpPr>
          <p:cNvPr id="50" name="Hexagon 49"/>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1" name="Chevron 50"/>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3" name="Chevron 52"/>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5" name="Chevron 54"/>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7" name="Chevron 56"/>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59" name="Rounded Rectangle 58"/>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Need not supported, or a safeguarding concern → SX</a:t>
            </a:r>
          </a:p>
        </p:txBody>
      </p:sp>
      <p:sp>
        <p:nvSpPr>
          <p:cNvPr id="60" name="Rounded Rectangle 59"/>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budget date</a:t>
            </a:r>
          </a:p>
        </p:txBody>
      </p:sp>
      <p:sp>
        <p:nvSpPr>
          <p:cNvPr id="61" name="TextBox 60"/>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Who chooses the school?</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1" name="Rounded Rectangle 30"/>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rtlCol="0" anchor="ctr" wrap="square" lIns="45720" rIns="45720" tIns="27432" bIns="27432"/>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8" name="Rounded Rectangle 37"/>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39" name="Rounded Rectangle 38"/>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not relevant, safeguarding stop → SX</a:t>
            </a:r>
          </a:p>
        </p:txBody>
      </p:sp>
      <p:sp>
        <p:nvSpPr>
          <p:cNvPr id="40" name="TextBox 39"/>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6" name="Hexagon 45"/>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7" name="Chevron 46"/>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49" name="Chevron 48"/>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1" name="Chevron 50"/>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3" name="Chevron 52"/>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5" name="Chevron 54"/>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7" name="Chevron 56"/>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59" name="Chevron 58"/>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1" name="Rounded Rectangle 60"/>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budget cycle</a:t>
            </a:r>
          </a:p>
        </p:txBody>
      </p:sp>
      <p:sp>
        <p:nvSpPr>
          <p:cNvPr id="62" name="Rounded Rectangle 61"/>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3" name="TextBox 62"/>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1" name="Hexagon 20"/>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2" name="Chevron 21"/>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4" name="Chevron 23"/>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6" name="Chevron 25"/>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8" name="Chevron 27"/>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0" name="Chevron 29"/>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2" name="Chevron 31"/>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4" name="Chevron 33"/>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6" name="Rounded Rectangle 35"/>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once next quarter</a:t>
            </a:r>
          </a:p>
        </p:txBody>
      </p:sp>
      <p:sp>
        <p:nvSpPr>
          <p:cNvPr id="37" name="Rounded Rectangle 36"/>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or payment asked → SX</a:t>
            </a:r>
          </a:p>
        </p:txBody>
      </p:sp>
      <p:cxnSp>
        <p:nvCxnSpPr>
          <p:cNvPr id="38" name="Connector 37"/>
          <p:cNvCxnSpPr/>
          <p:nvPr/>
        </p:nvCxnSpPr>
        <p:spPr>
          <a:xfrm>
            <a:off x="548640" y="3017520"/>
            <a:ext cx="11091672" cy="0"/>
          </a:xfrm>
          <a:prstGeom prst="line">
            <a:avLst/>
          </a:prstGeom>
          <a:ln w="9525">
            <a:solidFill>
              <a:srgbClr val="ECECEC"/>
            </a:solidFill>
          </a:ln>
        </p:spPr>
      </p:cxnSp>
      <p:sp>
        <p:nvSpPr>
          <p:cNvPr id="39" name="TextBox 38"/>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0" name="TextBox 39"/>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1" name="TextBox 40"/>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2" name="Hexagon 41"/>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3" name="Chevron 42"/>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p>
        </p:txBody>
      </p:sp>
      <p:sp>
        <p:nvSpPr>
          <p:cNvPr id="44" name="Rounded Rectangle 43"/>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5" name="Chevron 44"/>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7" name="Chevron 46"/>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49" name="Chevron 48"/>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1" name="Chevron 50"/>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3" name="Chevron 52"/>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5" name="Chevron 54"/>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7" name="Rounded Rectangle 56"/>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before next meeting</a:t>
            </a:r>
          </a:p>
        </p:txBody>
      </p:sp>
      <p:sp>
        <p:nvSpPr>
          <p:cNvPr id="58" name="Rounded Rectangle 57"/>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Payment or lists → stop, SX</a:t>
            </a:r>
          </a:p>
        </p:txBody>
      </p:sp>
      <p:cxnSp>
        <p:nvCxnSpPr>
          <p:cNvPr id="59" name="Connector 58"/>
          <p:cNvCxnSpPr/>
          <p:nvPr/>
        </p:nvCxnSpPr>
        <p:spPr>
          <a:xfrm>
            <a:off x="548640" y="4599432"/>
            <a:ext cx="11091672" cy="0"/>
          </a:xfrm>
          <a:prstGeom prst="line">
            <a:avLst/>
          </a:prstGeom>
          <a:ln w="9525">
            <a:solidFill>
              <a:srgbClr val="ECECEC"/>
            </a:solidFill>
          </a:ln>
        </p:spPr>
      </p:cxnSp>
      <p:sp>
        <p:nvSpPr>
          <p:cNvPr id="60" name="TextBox 59"/>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1" name="TextBox 60"/>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2" name="TextBox 61"/>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3" name="Hexagon 62"/>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4" name="Chevron 63"/>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p>
        </p:txBody>
      </p:sp>
      <p:sp>
        <p:nvSpPr>
          <p:cNvPr id="65" name="Rounded Rectangle 64"/>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6" name="Chevron 65"/>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p>
        </p:txBody>
      </p:sp>
      <p:sp>
        <p:nvSpPr>
          <p:cNvPr id="67" name="Rounded Rectangle 66"/>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8" name="Chevron 67"/>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p>
        </p:txBody>
      </p:sp>
      <p:sp>
        <p:nvSpPr>
          <p:cNvPr id="69" name="Rounded Rectangle 68"/>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0" name="TextBox 69"/>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1" name="TextBox 70"/>
          <p:cNvSpPr txBox="1"/>
          <p:nvPr/>
        </p:nvSpPr>
        <p:spPr>
          <a:xfrm>
            <a:off x="7223760" y="4736592"/>
            <a:ext cx="4416552" cy="128016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Silverleaf asks nothing for itself, offers nothing to officials and never takes lists of residents.</a:t>
            </a:r>
          </a:p>
          <a:p>
            <a:pPr algn="l" marL="155448" indent="-155448">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algn="l" marL="155448" indent="-155448">
              <a:spcAft>
                <a:spcPts val="200"/>
              </a:spcAft>
              <a:buFont typeface="Arial"/>
              <a:buChar char="•"/>
            </a:pPr>
            <a:r>
              <a:rPr sz="950" b="0" i="0">
                <a:solidFill>
                  <a:srgbClr val="000000"/>
                </a:solidFill>
                <a:latin typeface="Arial"/>
              </a:rPr>
              <a:t>Pause during an election campaign period, and never press.</a:t>
            </a:r>
          </a:p>
        </p:txBody>
      </p:sp>
      <p:pic>
        <p:nvPicPr>
          <p:cNvPr id="72" name="Picture 71" descr="image3.png"/>
          <p:cNvPicPr>
            <a:picLocks noChangeAspect="1"/>
          </p:cNvPicPr>
          <p:nvPr/>
        </p:nvPicPr>
        <p:blipFill>
          <a:blip r:embed="rId2"/>
          <a:stretch>
            <a:fillRect/>
          </a:stretch>
        </p:blipFill>
        <p:spPr>
          <a:xfrm>
            <a:off x="548640" y="6272784"/>
            <a:ext cx="1143000" cy="274320"/>
          </a:xfrm>
          <a:prstGeom prst="rect">
            <a:avLst/>
          </a:prstGeom>
        </p:spPr>
      </p:pic>
      <p:sp>
        <p:nvSpPr>
          <p:cNvPr id="7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government lead database, October 2026</a:t>
            </a:r>
          </a:p>
        </p:txBody>
      </p:sp>
      <p:sp>
        <p:nvSpPr>
          <p:cNvPr id="7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graphicFrame>
        <p:nvGraphicFramePr>
          <p:cNvPr id="4" name="Table 3"/>
          <p:cNvGraphicFramePr>
            <a:graphicFrameLocks noGrp="1"/>
          </p:cNvGraphicFramePr>
          <p:nvPr/>
        </p:nvGraphicFramePr>
        <p:xfrm>
          <a:off x="548640" y="1298448"/>
          <a:ext cx="7406640" cy="4279392"/>
        </p:xfrm>
        <a:graphic>
          <a:graphicData uri="http://schemas.openxmlformats.org/drawingml/2006/table">
            <a:tbl>
              <a:tblPr firstRow="0" bandRow="0">
                <a:tableStyleId>{2D5ABB26-0587-4C30-8999-92F81FD0307C}</a:tableStyleId>
              </a:tblPr>
              <a:tblGrid>
                <a:gridCol w="640080"/>
                <a:gridCol w="1965960"/>
                <a:gridCol w="3063240"/>
                <a:gridCol w="1737360"/>
              </a:tblGrid>
              <a:tr h="47548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general inbox</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dormant_no_route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named person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dormant_no_response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"Send details"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One-page outline plus two meeting slots; one check-in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dormant_details_no_reply</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"Not now"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Record their date; one message on that date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dormant_deferred_expired</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to a colleague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no session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dormant_after_meeting</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Session, no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Share the sign-up count; ask for one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dormant_after_session</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S8</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Few sign-ups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dormant_quiet_partner</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Rounded Rectangle 4"/>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7" name="TextBox 6"/>
          <p:cNvSpPr txBox="1"/>
          <p:nvPr/>
        </p:nvSpPr>
        <p:spPr>
          <a:xfrm>
            <a:off x="8412480" y="1755648"/>
            <a:ext cx="3063240" cy="173736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Dormant leads are re-tried once at the next intake window, or sooner through a warm route.</a:t>
            </a:r>
          </a:p>
          <a:p>
            <a:pPr algn="l" marL="155448" indent="-155448">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8" name="Rounded Rectangle 7"/>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p>
        </p:txBody>
      </p:sp>
      <p:sp>
        <p:nvSpPr>
          <p:cNvPr id="9" name="TextBox 8"/>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0" name="TextBox 9"/>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1" name="Picture 10" descr="image3.png"/>
          <p:cNvPicPr>
            <a:picLocks noChangeAspect="1"/>
          </p:cNvPicPr>
          <p:nvPr/>
        </p:nvPicPr>
        <p:blipFill>
          <a:blip r:embed="rId2"/>
          <a:stretch>
            <a:fillRect/>
          </a:stretch>
        </p:blipFill>
        <p:spPr>
          <a:xfrm>
            <a:off x="548640" y="6272784"/>
            <a:ext cx="1143000" cy="274320"/>
          </a:xfrm>
          <a:prstGeom prst="rect">
            <a:avLst/>
          </a:prstGeom>
        </p:spPr>
      </p:pic>
      <p:sp>
        <p:nvSpPr>
          <p:cNvPr id="12"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13"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1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DATA PROTECTION</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Opt-in only: no partner ever hands over a list</a:t>
            </a:r>
          </a:p>
        </p:txBody>
      </p:sp>
      <p:sp>
        <p:nvSpPr>
          <p:cNvPr id="4" name="Rounded Rectangle 3"/>
          <p:cNvSpPr/>
          <p:nvPr/>
        </p:nvSpPr>
        <p:spPr>
          <a:xfrm>
            <a:off x="548640" y="1325880"/>
            <a:ext cx="3931920" cy="4617720"/>
          </a:xfrm>
          <a:prstGeom prst="roundRect">
            <a:avLst>
              <a:gd name="adj" fmla="val 1627"/>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60" y="1508760"/>
            <a:ext cx="3474720" cy="274320"/>
          </a:xfrm>
          <a:prstGeom prst="rect">
            <a:avLst/>
          </a:prstGeom>
          <a:noFill/>
        </p:spPr>
        <p:txBody>
          <a:bodyPr wrap="square" lIns="0" tIns="0" rIns="0" bIns="0" anchor="t">
            <a:spAutoFit/>
          </a:bodyPr>
          <a:lstStyle/>
          <a:p>
            <a:pPr algn="l"/>
            <a:r>
              <a:rPr sz="900" b="1" i="0" spc="200">
                <a:solidFill>
                  <a:srgbClr val="80BFEC"/>
                </a:solidFill>
                <a:latin typeface="Arial"/>
              </a:rPr>
              <a:t>THE RULE</a:t>
            </a:r>
          </a:p>
        </p:txBody>
      </p:sp>
      <p:sp>
        <p:nvSpPr>
          <p:cNvPr id="6" name="TextBox 5"/>
          <p:cNvSpPr txBox="1"/>
          <p:nvPr/>
        </p:nvSpPr>
        <p:spPr>
          <a:xfrm>
            <a:off x="822960" y="1810512"/>
            <a:ext cx="3474720" cy="1371600"/>
          </a:xfrm>
          <a:prstGeom prst="rect">
            <a:avLst/>
          </a:prstGeom>
          <a:noFill/>
        </p:spPr>
        <p:txBody>
          <a:bodyPr wrap="square" lIns="0" tIns="0" rIns="0" bIns="0" anchor="t">
            <a:spAutoFit/>
          </a:bodyPr>
          <a:lstStyle/>
          <a:p>
            <a:pPr algn="l"/>
            <a:r>
              <a:rPr sz="2000" b="0" i="0">
                <a:solidFill>
                  <a:srgbClr val="FFFFFF"/>
                </a:solidFill>
                <a:latin typeface="Georgia"/>
              </a:rPr>
              <a:t>Staff, members and parents sign up themselves.</a:t>
            </a:r>
          </a:p>
        </p:txBody>
      </p:sp>
      <p:sp>
        <p:nvSpPr>
          <p:cNvPr id="7" name="TextBox 6"/>
          <p:cNvSpPr txBox="1"/>
          <p:nvPr/>
        </p:nvSpPr>
        <p:spPr>
          <a:xfrm>
            <a:off x="822960" y="2743200"/>
            <a:ext cx="3429000" cy="274320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D9ECF9"/>
                </a:solidFill>
                <a:latin typeface="Arial"/>
              </a:rPr>
              <a:t>Under Tanzania's Personal Data Protection Act 2022, no partner hands over a list of people.</a:t>
            </a:r>
          </a:p>
          <a:p>
            <a:pPr algn="l" marL="155448" indent="-155448">
              <a:spcAft>
                <a:spcPts val="400"/>
              </a:spcAft>
              <a:buFont typeface="Arial"/>
              <a:buChar char="•"/>
            </a:pPr>
            <a:r>
              <a:rPr sz="1050" b="0" i="0">
                <a:solidFill>
                  <a:srgbClr val="D9ECF9"/>
                </a:solidFill>
                <a:latin typeface="Arial"/>
              </a:rPr>
              <a:t>Parent data never enters the lead databases.</a:t>
            </a:r>
          </a:p>
          <a:p>
            <a:pPr algn="l" marL="155448" indent="-155448">
              <a:spcAft>
                <a:spcPts val="400"/>
              </a:spcAft>
              <a:buFont typeface="Arial"/>
              <a:buChar char="•"/>
            </a:pPr>
            <a:r>
              <a:rPr sz="1050" b="0" i="0">
                <a:solidFill>
                  <a:srgbClr val="D9ECF9"/>
                </a:solidFill>
                <a:latin typeface="Arial"/>
              </a:rPr>
              <a:t>Until the consented store is live, run inbound-only: material carries the admissions number, the application link and the partner code.</a:t>
            </a:r>
          </a:p>
        </p:txBody>
      </p:sp>
      <p:sp>
        <p:nvSpPr>
          <p:cNvPr id="8" name="TextBox 7"/>
          <p:cNvSpPr txBox="1"/>
          <p:nvPr/>
        </p:nvSpPr>
        <p:spPr>
          <a:xfrm>
            <a:off x="4754880" y="1371600"/>
            <a:ext cx="64008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 FOR THE DATA PROTECTION OFFICER'S REVIEW</a:t>
            </a:r>
          </a:p>
        </p:txBody>
      </p:sp>
      <p:sp>
        <p:nvSpPr>
          <p:cNvPr id="9" name="Rounded Rectangle 8"/>
          <p:cNvSpPr/>
          <p:nvPr/>
        </p:nvSpPr>
        <p:spPr>
          <a:xfrm>
            <a:off x="4754880"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Name</a:t>
            </a:r>
          </a:p>
        </p:txBody>
      </p:sp>
      <p:sp>
        <p:nvSpPr>
          <p:cNvPr id="10" name="Rounded Rectangle 9"/>
          <p:cNvSpPr/>
          <p:nvPr/>
        </p:nvSpPr>
        <p:spPr>
          <a:xfrm>
            <a:off x="7068312"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Phone; WhatsApp preferred?</a:t>
            </a:r>
          </a:p>
        </p:txBody>
      </p:sp>
      <p:sp>
        <p:nvSpPr>
          <p:cNvPr id="11" name="Rounded Rectangle 10"/>
          <p:cNvSpPr/>
          <p:nvPr/>
        </p:nvSpPr>
        <p:spPr>
          <a:xfrm>
            <a:off x="9381744"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Email (optional)</a:t>
            </a:r>
          </a:p>
        </p:txBody>
      </p:sp>
      <p:sp>
        <p:nvSpPr>
          <p:cNvPr id="12" name="Rounded Rectangle 11"/>
          <p:cNvSpPr/>
          <p:nvPr/>
        </p:nvSpPr>
        <p:spPr>
          <a:xfrm>
            <a:off x="4754880"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Area of residence</a:t>
            </a:r>
          </a:p>
        </p:txBody>
      </p:sp>
      <p:sp>
        <p:nvSpPr>
          <p:cNvPr id="13" name="Rounded Rectangle 12"/>
          <p:cNvSpPr/>
          <p:nvPr/>
        </p:nvSpPr>
        <p:spPr>
          <a:xfrm>
            <a:off x="7068312"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Level: daycare, pre-primary or primary</a:t>
            </a:r>
          </a:p>
        </p:txBody>
      </p:sp>
      <p:sp>
        <p:nvSpPr>
          <p:cNvPr id="14" name="Rounded Rectangle 13"/>
          <p:cNvSpPr/>
          <p:nvPr/>
        </p:nvSpPr>
        <p:spPr>
          <a:xfrm>
            <a:off x="9381744"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campus, or not sure</a:t>
            </a:r>
          </a:p>
        </p:txBody>
      </p:sp>
      <p:sp>
        <p:nvSpPr>
          <p:cNvPr id="15" name="Rounded Rectangle 14"/>
          <p:cNvSpPr/>
          <p:nvPr/>
        </p:nvSpPr>
        <p:spPr>
          <a:xfrm>
            <a:off x="4754880"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language</a:t>
            </a:r>
          </a:p>
        </p:txBody>
      </p:sp>
      <p:sp>
        <p:nvSpPr>
          <p:cNvPr id="16" name="Rounded Rectangle 15"/>
          <p:cNvSpPr/>
          <p:nvPr/>
        </p:nvSpPr>
        <p:spPr>
          <a:xfrm>
            <a:off x="7068312"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Consent statement and date</a:t>
            </a:r>
          </a:p>
        </p:txBody>
      </p:sp>
      <p:sp>
        <p:nvSpPr>
          <p:cNvPr id="17" name="Rounded Rectangle 16"/>
          <p:cNvSpPr/>
          <p:nvPr/>
        </p:nvSpPr>
        <p:spPr>
          <a:xfrm>
            <a:off x="9381744"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Partner code, from the QR link or paper form</a:t>
            </a:r>
          </a:p>
        </p:txBody>
      </p:sp>
      <p:sp>
        <p:nvSpPr>
          <p:cNvPr id="18" name="TextBox 17"/>
          <p:cNvSpPr txBox="1"/>
          <p:nvPr/>
        </p:nvSpPr>
        <p:spPr>
          <a:xfrm>
            <a:off x="4754880" y="3017520"/>
            <a:ext cx="6858000" cy="457200"/>
          </a:xfrm>
          <a:prstGeom prst="rect">
            <a:avLst/>
          </a:prstGeom>
          <a:noFill/>
        </p:spPr>
        <p:txBody>
          <a:bodyPr wrap="square" lIns="0" tIns="0" rIns="0" bIns="0" anchor="t">
            <a:spAutoFit/>
          </a:bodyPr>
          <a:lstStyle/>
          <a:p>
            <a:pPr algn="l"/>
            <a:r>
              <a:rPr sz="1000" b="0" i="0">
                <a:solidFill>
                  <a:srgbClr val="000000"/>
                </a:solidFill>
                <a:latin typeface="Arial"/>
              </a:rPr>
              <a:t>It asks for the level of interest, never a child's name or age, so it holds no children's data. Codes: EMP employer, SAC savings group, INT introducer, WEL welfare, EVT community event.</a:t>
            </a:r>
          </a:p>
        </p:txBody>
      </p:sp>
      <p:sp>
        <p:nvSpPr>
          <p:cNvPr id="19" name="Rounded Rectangle 18"/>
          <p:cNvSpPr/>
          <p:nvPr/>
        </p:nvSpPr>
        <p:spPr>
          <a:xfrm>
            <a:off x="4754880" y="3657600"/>
            <a:ext cx="6885432" cy="2286000"/>
          </a:xfrm>
          <a:prstGeom prst="roundRect">
            <a:avLst>
              <a:gd name="adj" fmla="val 2800"/>
            </a:avLst>
          </a:prstGeom>
          <a:solidFill>
            <a:srgbClr val="D9ECF9"/>
          </a:solidFill>
          <a:ln w="12700">
            <a:solidFill>
              <a:srgbClr val="D9ECF9"/>
            </a:solidFill>
          </a:ln>
        </p:spPr>
        <p:txBody>
          <a:bodyPr rtlCol="0" anchor="ctr"/>
          <a:lstStyle/>
          <a:p>
            <a:pPr algn="ctr"/>
          </a:p>
        </p:txBody>
      </p:sp>
      <p:sp>
        <p:nvSpPr>
          <p:cNvPr id="20" name="TextBox 19"/>
          <p:cNvSpPr txBox="1"/>
          <p:nvPr/>
        </p:nvSpPr>
        <p:spPr>
          <a:xfrm>
            <a:off x="4983480" y="3794760"/>
            <a:ext cx="6400800" cy="274320"/>
          </a:xfrm>
          <a:prstGeom prst="rect">
            <a:avLst/>
          </a:prstGeom>
          <a:noFill/>
        </p:spPr>
        <p:txBody>
          <a:bodyPr wrap="square" lIns="0" tIns="0" rIns="0" bIns="0" anchor="t">
            <a:spAutoFit/>
          </a:bodyPr>
          <a:lstStyle/>
          <a:p>
            <a:pPr algn="l"/>
            <a:r>
              <a:rPr sz="1300" b="1" i="0">
                <a:solidFill>
                  <a:srgbClr val="002368"/>
                </a:solidFill>
                <a:latin typeface="Arial"/>
              </a:rPr>
              <a:t>Reporting back to partners</a:t>
            </a:r>
          </a:p>
        </p:txBody>
      </p:sp>
      <p:sp>
        <p:nvSpPr>
          <p:cNvPr id="21" name="TextBox 20"/>
          <p:cNvSpPr txBox="1"/>
          <p:nvPr/>
        </p:nvSpPr>
        <p:spPr>
          <a:xfrm>
            <a:off x="4983480" y="4114800"/>
            <a:ext cx="3017520" cy="566928"/>
          </a:xfrm>
          <a:prstGeom prst="rect">
            <a:avLst/>
          </a:prstGeom>
          <a:noFill/>
        </p:spPr>
        <p:txBody>
          <a:bodyPr wrap="square" lIns="0" tIns="0" rIns="0" bIns="0" anchor="t">
            <a:spAutoFit/>
          </a:bodyPr>
          <a:lstStyle/>
          <a:p>
            <a:pPr algn="l"/>
            <a:r>
              <a:rPr sz="2600" b="0" i="0">
                <a:solidFill>
                  <a:srgbClr val="002368"/>
                </a:solidFill>
                <a:latin typeface="Georgia"/>
              </a:rPr>
              <a:t>Totals</a:t>
            </a:r>
          </a:p>
        </p:txBody>
      </p:sp>
      <p:sp>
        <p:nvSpPr>
          <p:cNvPr id="22" name="TextBox 21"/>
          <p:cNvSpPr txBox="1"/>
          <p:nvPr/>
        </p:nvSpPr>
        <p:spPr>
          <a:xfrm>
            <a:off x="4983480" y="4681728"/>
            <a:ext cx="3017520" cy="457200"/>
          </a:xfrm>
          <a:prstGeom prst="rect">
            <a:avLst/>
          </a:prstGeom>
          <a:noFill/>
        </p:spPr>
        <p:txBody>
          <a:bodyPr wrap="square" lIns="0" tIns="0" rIns="0" bIns="0" anchor="t">
            <a:spAutoFit/>
          </a:bodyPr>
          <a:lstStyle/>
          <a:p>
            <a:pPr algn="l"/>
            <a:r>
              <a:rPr sz="1000" b="0" i="0">
                <a:solidFill>
                  <a:srgbClr val="000000"/>
                </a:solidFill>
                <a:latin typeface="Arial"/>
              </a:rPr>
              <a:t>per partner code each term: sign-ups, enquiries, tours, applications, enrolments</a:t>
            </a:r>
          </a:p>
        </p:txBody>
      </p:sp>
      <p:sp>
        <p:nvSpPr>
          <p:cNvPr id="23" name="TextBox 22"/>
          <p:cNvSpPr txBox="1"/>
          <p:nvPr/>
        </p:nvSpPr>
        <p:spPr>
          <a:xfrm>
            <a:off x="8229600" y="4114800"/>
            <a:ext cx="3200400" cy="566928"/>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24" name="TextBox 23"/>
          <p:cNvSpPr txBox="1"/>
          <p:nvPr/>
        </p:nvSpPr>
        <p:spPr>
          <a:xfrm>
            <a:off x="8229600" y="4681728"/>
            <a:ext cx="3200400" cy="457200"/>
          </a:xfrm>
          <a:prstGeom prst="rect">
            <a:avLst/>
          </a:prstGeom>
          <a:noFill/>
        </p:spPr>
        <p:txBody>
          <a:bodyPr wrap="square" lIns="0" tIns="0" rIns="0" bIns="0" anchor="t">
            <a:spAutoFit/>
          </a:bodyPr>
          <a:lstStyle/>
          <a:p>
            <a:pPr algn="l"/>
            <a:r>
              <a:rPr sz="1000" b="0" i="0">
                <a:solidFill>
                  <a:srgbClr val="000000"/>
                </a:solidFill>
                <a:latin typeface="Arial"/>
              </a:rPr>
              <a:t>any count of 1 or 2 is shown as 'fewer than 3'; a code is not personal data</a:t>
            </a:r>
          </a:p>
        </p:txBody>
      </p:sp>
      <p:sp>
        <p:nvSpPr>
          <p:cNvPr id="25" name="TextBox 24"/>
          <p:cNvSpPr txBox="1"/>
          <p:nvPr/>
        </p:nvSpPr>
        <p:spPr>
          <a:xfrm>
            <a:off x="4983480" y="5257800"/>
            <a:ext cx="6400800" cy="64008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 [My employer] will not see my details; Silverleaf will share only total numbers. I can withdraw at any time.'</a:t>
            </a:r>
          </a:p>
        </p:txBody>
      </p:sp>
      <p:pic>
        <p:nvPicPr>
          <p:cNvPr id="26" name="Picture 25" descr="image3.png"/>
          <p:cNvPicPr>
            <a:picLocks noChangeAspect="1"/>
          </p:cNvPicPr>
          <p:nvPr/>
        </p:nvPicPr>
        <p:blipFill>
          <a:blip r:embed="rId2"/>
          <a:stretch>
            <a:fillRect/>
          </a:stretch>
        </p:blipFill>
        <p:spPr>
          <a:xfrm>
            <a:off x="548640" y="6272784"/>
            <a:ext cx="1143000" cy="274320"/>
          </a:xfrm>
          <a:prstGeom prst="rect">
            <a:avLst/>
          </a:prstGeom>
        </p:spPr>
      </p:pic>
      <p:sp>
        <p:nvSpPr>
          <p:cNvPr id="2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2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Personal Data Protection Act 2022</a:t>
            </a:r>
          </a:p>
        </p:txBody>
      </p:sp>
      <p:sp>
        <p:nvSpPr>
          <p:cNvPr id="2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(1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owns each stage?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Coord S1–S7 and government letters; Adm from opt-in; campus head hosts; Finance confirms terms; CEO signs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Site visit or webinar?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for variant A sponsors?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Community meeting format?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Welfare-sponsored enrolment?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Introducer acknowledgement?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thank-you letter and termly totals; no reward until the 2027 referral scheme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Where do sign-ups live?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is a partnership closed?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or agreement first?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Notice for staff sessions?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OF04 without a staff list?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(2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Public-body compliance check?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Smallest number in a report?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Show 'fewer than 3' for counts of 1 or 2</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Escalate after silence?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Working the no-email rows?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SACCOS with its employer?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One deal; the committee joins at the session</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per week?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Renewal cadence?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What may the government booklet say?</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may an incentive be used?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'Large enough' for 'or your HR lead'?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records a front-desk name?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SOURCES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Sources and the dates the data was taken</a:t>
            </a:r>
          </a:p>
        </p:txBody>
      </p:sp>
      <p:graphicFrame>
        <p:nvGraphicFramePr>
          <p:cNvPr id="4" name="Table 3"/>
          <p:cNvGraphicFramePr>
            <a:graphicFrameLocks noGrp="1"/>
          </p:cNvGraphicFramePr>
          <p:nvPr/>
        </p:nvGraphicFramePr>
        <p:xfrm>
          <a:off x="548640" y="1298448"/>
          <a:ext cx="11091672" cy="4279392"/>
        </p:xfrm>
        <a:graphic>
          <a:graphicData uri="http://schemas.openxmlformats.org/drawingml/2006/table">
            <a:tbl>
              <a:tblPr firstRow="0" bandRow="0">
                <a:tableStyleId>{2D5ABB26-0587-4C30-8999-92F81FD0307C}</a:tableStyleId>
              </a:tblPr>
              <a:tblGrid>
                <a:gridCol w="4937760"/>
                <a:gridCol w="4206240"/>
                <a:gridCol w="1947672"/>
              </a:tblGrid>
              <a:tr h="356616">
                <a:tc>
                  <a:txBody>
                    <a:bodyPr wrap="square"/>
                    <a:lstStyle/>
                    <a:p>
                      <a:r>
                        <a:rPr sz="900" b="1" i="0" spc="100">
                          <a:solidFill>
                            <a:srgbClr val="818283"/>
                          </a:solidFill>
                          <a:latin typeface="Arial"/>
                        </a:rPr>
                        <a:t>SOURCE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WHAT IT GAVE THIS DECK</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TAKEN</a:t>
                      </a:r>
                    </a:p>
                  </a:txBody>
                  <a:tcPr marL="54864" marR="54864" marT="36576" marB="36576" anchor="ctr">
                    <a:lnL w="0">
                      <a:noFill/>
                    </a:lnL>
                    <a:lnR w="0">
                      <a:noFill/>
                    </a:lnR>
                    <a:lnT w="0">
                      <a:noFill/>
                    </a:lnT>
                    <a:lnB w="12700">
                      <a:solidFill>
                        <a:srgbClr val="80BFEC"/>
                      </a:solidFill>
                    </a:lnB>
                    <a:noFill/>
                  </a:tcPr>
                </a:tc>
              </a:tr>
              <a:tr h="356616">
                <a:tc>
                  <a:txBody>
                    <a:bodyPr wrap="square"/>
                    <a:lstStyle/>
                    <a:p>
                      <a:r>
                        <a:rPr sz="950" b="1" i="0">
                          <a:solidFill>
                            <a:srgbClr val="002368"/>
                          </a:solidFill>
                          <a:latin typeface="Arial"/>
                        </a:rPr>
                        <a:t>outputs/master/Silverleaf Master 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companies, SACCOS, introducers, drafts, tiers, hooks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outputs/runs/arusha-welfare-2026-09/lead-database.sqlite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welfare kinds, priority, drafts,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outputs/runs/arusha-government-2026-09/lead-database.sqlite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offices, waves, delivery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outputs/maps/Silverleaf Lead Map.html</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points, distance bands, static map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built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Catchment Criteria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catchment rules, corrections, gaps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Core Segments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segment definitions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Resend Segments - 2026-10-06/-10/-12.md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confidence counts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6, 10,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 Employer (10-02), Welfare (10-10), Government (10-11) Drafts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draft wording and the letter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2–11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docs/strategy/partnership-pipelines.md (approved)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spine, funnels, fallout, tracking, decisions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scripts/messaging/first_touch.py · offer register v4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templates, redirect wording, offer terms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 23 Sept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outputs/reports/campus-gap-census-2026-10-11.md · research-playbook.md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capture sources, crawl and search lessons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669280"/>
            <a:ext cx="11064240" cy="411480"/>
          </a:xfrm>
          <a:prstGeom prst="rect">
            <a:avLst/>
          </a:prstGeom>
          <a:noFill/>
        </p:spPr>
        <p:txBody>
          <a:bodyPr wrap="square" lIns="0" tIns="0" rIns="0" bIns="0" anchor="t">
            <a:spAutoFit/>
          </a:bodyPr>
          <a:lstStyle/>
          <a:p>
            <a:pPr algn="l"/>
            <a:r>
              <a:rPr sz="950" b="0" i="0">
                <a:solidFill>
                  <a:srgbClr val="818283"/>
                </a:solidFill>
                <a:latin typeface="Arial"/>
              </a:rPr>
              <a:t>Every figure traces to a query in the sources file beside this deck. Relative links: </a:t>
            </a:r>
            <a:r>
              <a:rPr sz="950" b="1" i="0" u="sng">
                <a:solidFill>
                  <a:srgbClr val="002368"/>
                </a:solidFill>
                <a:latin typeface="Arial"/>
                <a:hlinkClick r:id="rId2">
                  <a:extLst>
                    <a:ext uri="{A12FA001-AC4F-418D-AE19-62706E023703}">
                      <ahyp:hlinkClr xmlns:ahyp="http://schemas.microsoft.com/office/drawing/2018/hyperlinkcolor" val="tx"/>
                    </a:ext>
                  </a:extLst>
                </a:hlinkClick>
              </a:rPr>
              <a:t>lead map</a:t>
            </a:r>
            <a:r>
              <a:rPr sz="950" b="0" i="0">
                <a:solidFill>
                  <a:srgbClr val="818283"/>
                </a:solidFill>
                <a:latin typeface="Arial"/>
              </a:rPr>
              <a:t>  ·  </a:t>
            </a:r>
            <a:r>
              <a:rPr sz="950" b="1" i="0" u="sng">
                <a:solidFill>
                  <a:srgbClr val="002368"/>
                </a:solidFill>
                <a:latin typeface="Arial"/>
                <a:hlinkClick r:id="rId3">
                  <a:extLst>
                    <a:ext uri="{A12FA001-AC4F-418D-AE19-62706E023703}">
                      <ahyp:hlinkClr xmlns:ahyp="http://schemas.microsoft.com/office/drawing/2018/hyperlinkcolor" val="tx"/>
                    </a:ext>
                  </a:extLst>
                </a:hlinkClick>
              </a:rPr>
              <a:t>pipeline page</a:t>
            </a:r>
            <a:r>
              <a:rPr sz="950" b="0" i="0">
                <a:solidFill>
                  <a:srgbClr val="818283"/>
                </a:solidFill>
                <a:latin typeface="Arial"/>
              </a:rPr>
              <a:t>.</a:t>
            </a:r>
          </a:p>
        </p:txBody>
      </p:sp>
      <p:pic>
        <p:nvPicPr>
          <p:cNvPr id="6" name="Picture 5" descr="image3.png"/>
          <p:cNvPicPr>
            <a:picLocks noChangeAspect="1"/>
          </p:cNvPicPr>
          <p:nvPr/>
        </p:nvPicPr>
        <p:blipFill>
          <a:blip r:embed="rId4"/>
          <a:stretch>
            <a:fillRect/>
          </a:stretch>
        </p:blipFill>
        <p:spPr>
          <a:xfrm>
            <a:off x="548640" y="6272784"/>
            <a:ext cx="1143000" cy="274320"/>
          </a:xfrm>
          <a:prstGeom prst="rect">
            <a:avLst/>
          </a:prstGeom>
        </p:spPr>
      </p:pic>
      <p:sp>
        <p:nvSpPr>
          <p:cNvPr id="7"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6">
                  <a:extLst>
                    <a:ext uri="{A12FA001-AC4F-418D-AE19-62706E023703}">
                      <ahyp:hlinkClr xmlns:ahyp="http://schemas.microsoft.com/office/drawing/2018/hyperlinkcolor" val="tx"/>
                    </a:ext>
                  </a:extLst>
                </a:hlinkClick>
              </a:rPr>
              <a:t>Pipeline page →</a:t>
            </a:r>
          </a:p>
        </p:txBody>
      </p:sp>
      <p:sp>
        <p:nvSpPr>
          <p:cNvPr id="8"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strategy documents, October 2026</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The lead lists, segments, first messages and partnership pipeline are in place. Nothing is sent automatically; a person sends every message.</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2026-09-10T00:30:39.2670000Z</dcterms:created>
  <dcterms:modified xsi:type="dcterms:W3CDTF">2026-09-10T00:30:39.2670000Z</dcterms:modified>
</coreProperties>
</file>