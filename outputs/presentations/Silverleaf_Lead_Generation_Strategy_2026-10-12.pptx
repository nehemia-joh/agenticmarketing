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8433a703b2cf495a" Type="http://schemas.openxmlformats.org/officeDocument/2006/relationships/extended-properties" Target="docProps/app.xml"/><Relationship Id="Rd40ef8c8e9af4631" Type="http://schemas.openxmlformats.org/officeDocument/2006/relationships/officeDocument" Target="ppt/presentation.xml"/><Relationship Id="Rdd8e5c467ef54994"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05f2eafc1c3c436f"/>
  </p:sldMasterIdLst>
  <p:notesMasterIdLst>
    <p:notesMasterId xmlns:r="http://schemas.openxmlformats.org/officeDocument/2006/relationships" r:id="Re2246cf756d44e01"/>
  </p:notesMasterIdLst>
  <p:sldIdLst>
    <p:sldId xmlns:ns0="http://schemas.openxmlformats.org/officeDocument/2006/relationships" id="256" ns0:id="rId7"/>
    <p:sldId xmlns:ns0="http://schemas.openxmlformats.org/officeDocument/2006/relationships" id="257" ns0:id="rId8"/>
    <p:sldId xmlns:ns0="http://schemas.openxmlformats.org/officeDocument/2006/relationships" id="258" ns0:id="rId9"/>
    <p:sldId xmlns:ns0="http://schemas.openxmlformats.org/officeDocument/2006/relationships" id="259" ns0:id="rId10"/>
    <p:sldId xmlns:ns0="http://schemas.openxmlformats.org/officeDocument/2006/relationships" id="260" ns0:id="rId11"/>
    <p:sldId xmlns:ns0="http://schemas.openxmlformats.org/officeDocument/2006/relationships" id="261" ns0:id="rId12"/>
    <p:sldId xmlns:ns0="http://schemas.openxmlformats.org/officeDocument/2006/relationships" id="262" ns0:id="rId13"/>
    <p:sldId xmlns:ns0="http://schemas.openxmlformats.org/officeDocument/2006/relationships" id="263" ns0:id="rId14"/>
    <p:sldId xmlns:ns0="http://schemas.openxmlformats.org/officeDocument/2006/relationships" id="264" ns0:id="rId15"/>
    <p:sldId xmlns:ns0="http://schemas.openxmlformats.org/officeDocument/2006/relationships" id="265" ns0:id="rId16"/>
    <p:sldId xmlns:ns0="http://schemas.openxmlformats.org/officeDocument/2006/relationships" id="266" ns0:id="rId17"/>
    <p:sldId xmlns:ns0="http://schemas.openxmlformats.org/officeDocument/2006/relationships" id="267" ns0:id="rId18"/>
    <p:sldId xmlns:ns0="http://schemas.openxmlformats.org/officeDocument/2006/relationships" id="268" ns0:id="rId19"/>
    <p:sldId xmlns:ns0="http://schemas.openxmlformats.org/officeDocument/2006/relationships" id="269" ns0:id="rId20"/>
    <p:sldId xmlns:ns0="http://schemas.openxmlformats.org/officeDocument/2006/relationships" id="270" ns0:id="rId21"/>
    <p:sldId xmlns:ns0="http://schemas.openxmlformats.org/officeDocument/2006/relationships" id="271" ns0:id="rId22"/>
    <p:sldId xmlns:ns0="http://schemas.openxmlformats.org/officeDocument/2006/relationships" id="272" ns0:id="rId23"/>
    <p:sldId xmlns:ns0="http://schemas.openxmlformats.org/officeDocument/2006/relationships" id="273" ns0:id="rId24"/>
    <p:sldId xmlns:ns0="http://schemas.openxmlformats.org/officeDocument/2006/relationships" id="274" ns0:id="rId25"/>
    <p:sldId xmlns:ns0="http://schemas.openxmlformats.org/officeDocument/2006/relationships" id="275" ns0:id="rId26"/>
    <p:sldId xmlns:ns0="http://schemas.openxmlformats.org/officeDocument/2006/relationships" id="276" ns0:id="rId27"/>
    <p:sldId xmlns:ns0="http://schemas.openxmlformats.org/officeDocument/2006/relationships" id="277" ns0:id="rId28"/>
    <p:sldId xmlns:ns0="http://schemas.openxmlformats.org/officeDocument/2006/relationships" id="278" ns0:id="rId29"/>
    <p:sldId xmlns:ns0="http://schemas.openxmlformats.org/officeDocument/2006/relationships" id="279" ns0:id="rId30"/>
    <p:sldId xmlns:ns0="http://schemas.openxmlformats.org/officeDocument/2006/relationships" id="280" ns0:id="rId31"/>
    <p:sldId xmlns:ns0="http://schemas.openxmlformats.org/officeDocument/2006/relationships" id="281" ns0:id="rId32"/>
    <p:sldId xmlns:ns0="http://schemas.openxmlformats.org/officeDocument/2006/relationships" id="282" ns0:id="rId33"/>
    <p:sldId xmlns:ns0="http://schemas.openxmlformats.org/officeDocument/2006/relationships" id="283" ns0:id="rId34"/>
    <p:sldId xmlns:ns0="http://schemas.openxmlformats.org/officeDocument/2006/relationships" id="284" ns0:id="rId35"/>
    <p:sldId xmlns:ns0="http://schemas.openxmlformats.org/officeDocument/2006/relationships" id="285" ns0:id="rId36"/>
    <p:sldId xmlns:ns0="http://schemas.openxmlformats.org/officeDocument/2006/relationships" id="286" ns0:id="rId37"/>
    <p:sldId xmlns:ns0="http://schemas.openxmlformats.org/officeDocument/2006/relationships" id="287" ns0:id="rId38"/>
    <p:sldId xmlns:ns0="http://schemas.openxmlformats.org/officeDocument/2006/relationships" id="288" ns0:id="rId39"/>
    <p:sldId xmlns:ns0="http://schemas.openxmlformats.org/officeDocument/2006/relationships" id="289" ns0:id="rId40"/>
    <p:sldId xmlns:ns0="http://schemas.openxmlformats.org/officeDocument/2006/relationships" id="290" ns0:id="rId41"/>
    <p:sldId xmlns:ns0="http://schemas.openxmlformats.org/officeDocument/2006/relationships" id="291" ns0:id="rId42"/>
    <p:sldId xmlns:ns0="http://schemas.openxmlformats.org/officeDocument/2006/relationships" id="292" ns0:id="rId43"/>
    <p:sldId xmlns:ns0="http://schemas.openxmlformats.org/officeDocument/2006/relationships" id="293" ns0:id="rId44"/>
    <p:sldId xmlns:ns0="http://schemas.openxmlformats.org/officeDocument/2006/relationships" id="294" ns0:id="rId45"/>
    <p:sldId xmlns:ns0="http://schemas.openxmlformats.org/officeDocument/2006/relationships" id="295" ns0:id="rId46"/>
    <p:sldId xmlns:ns0="http://schemas.openxmlformats.org/officeDocument/2006/relationships" id="296" ns0:id="rId47"/>
    <p:sldId xmlns:ns0="http://schemas.openxmlformats.org/officeDocument/2006/relationships" id="297" ns0:id="rId48"/>
    <p:sldId xmlns:ns0="http://schemas.openxmlformats.org/officeDocument/2006/relationships" id="298" ns0:id="rId49"/>
    <p:sldId xmlns:ns0="http://schemas.openxmlformats.org/officeDocument/2006/relationships" id="299" ns0:id="rId5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5f2eafc1c3c436f" Type="http://schemas.openxmlformats.org/officeDocument/2006/relationships/slideMaster" Target="slideMasters/slideMaster1.xml"/><Relationship Id="R383f8cbfc79a4d86" Type="http://schemas.openxmlformats.org/officeDocument/2006/relationships/theme" Target="theme/theme1.xml"/><Relationship Id="R8dd52c38e44e4341" Type="http://schemas.openxmlformats.org/officeDocument/2006/relationships/viewProps" Target="viewProps.xml"/><Relationship Id="Ra9d8f7c8a9324bff" Type="http://schemas.openxmlformats.org/officeDocument/2006/relationships/tableStyles" Target="tableStyles.xml"/><Relationship Id="Re2246cf756d44e01" Type="http://schemas.openxmlformats.org/officeDocument/2006/relationships/notesMaster" Target="notesMasters/notesMaster1.xml"/><Relationship Id="Rfab06bc7f14646de" Type="http://schemas.openxmlformats.org/officeDocument/2006/relationships/presProps" Target="presProp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Employers</c:v>
                </c:pt>
              </c:strCache>
            </c:strRef>
          </c:tx>
          <c:spPr>
            <a:solidFill>
              <a:srgbClr val="002368"/>
            </a:solidFill>
            <a:ln>
              <a:noFill/>
            </a:ln>
          </c:spPr>
          <c:invertIfNegative val="0"/>
          <c:dLbls>
            <c:numFmt formatCode="[&lt;25]&quot;&quot;;#,##0" sourceLinked="0"/>
            <c:txPr>
              <a:bodyPr/>
              <a:lstStyle/>
              <a:p>
                <a:pPr>
                  <a:defRPr sz="900">
                    <a:solidFill>
                      <a:srgbClr val="FFFFFF"/>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Sheet1!$B$2:$B$7</c:f>
              <c:numCache>
                <c:formatCode>General</c:formatCode>
                <c:ptCount val="6"/>
                <c:pt idx="0">
                  <c:v>768</c:v>
                </c:pt>
                <c:pt idx="1">
                  <c:v>131</c:v>
                </c:pt>
                <c:pt idx="2">
                  <c:v>46</c:v>
                </c:pt>
                <c:pt idx="3">
                  <c:v>64</c:v>
                </c:pt>
                <c:pt idx="4">
                  <c:v>177</c:v>
                </c:pt>
                <c:pt idx="5">
                  <c:v>35</c:v>
                </c:pt>
              </c:numCache>
            </c:numRef>
          </c:val>
        </c:ser>
        <c:ser>
          <c:idx val="1"/>
          <c:order val="1"/>
          <c:tx>
            <c:strRef>
              <c:f>Sheet1!$C$1</c:f>
              <c:strCache>
                <c:ptCount val="1"/>
                <c:pt idx="0">
                  <c:v>Introducers</c:v>
                </c:pt>
              </c:strCache>
            </c:strRef>
          </c:tx>
          <c:spPr>
            <a:solidFill>
              <a:srgbClr val="FFC952"/>
            </a:solidFill>
            <a:ln>
              <a:noFill/>
            </a:ln>
          </c:spPr>
          <c:invertIfNegative val="0"/>
          <c:dLbls>
            <c:numFmt formatCode="[&lt;25]&quot;&quot;;#,##0" sourceLinked="0"/>
            <c:txPr>
              <a:bodyPr/>
              <a:lstStyle/>
              <a:p>
                <a:pPr>
                  <a:defRPr sz="900">
                    <a:solidFill>
                      <a:srgbClr val="002368"/>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Sheet1!$C$2:$C$7</c:f>
              <c:numCache>
                <c:formatCode>General</c:formatCode>
                <c:ptCount val="6"/>
                <c:pt idx="0">
                  <c:v>9</c:v>
                </c:pt>
                <c:pt idx="1">
                  <c:v>0</c:v>
                </c:pt>
                <c:pt idx="2">
                  <c:v>0</c:v>
                </c:pt>
                <c:pt idx="3">
                  <c:v>0</c:v>
                </c:pt>
                <c:pt idx="4">
                  <c:v>1</c:v>
                </c:pt>
                <c:pt idx="5">
                  <c:v>0</c:v>
                </c:pt>
              </c:numCache>
            </c:numRef>
          </c:val>
        </c:ser>
        <c:ser>
          <c:idx val="2"/>
          <c:order val="2"/>
          <c:tx>
            <c:strRef>
              <c:f>Sheet1!$D$1</c:f>
              <c:strCache>
                <c:ptCount val="1"/>
                <c:pt idx="0">
                  <c:v>Welfare</c:v>
                </c:pt>
              </c:strCache>
            </c:strRef>
          </c:tx>
          <c:spPr>
            <a:solidFill>
              <a:srgbClr val="80BFEC"/>
            </a:solidFill>
            <a:ln>
              <a:noFill/>
            </a:ln>
          </c:spPr>
          <c:invertIfNegative val="0"/>
          <c:dLbls>
            <c:numFmt formatCode="[&lt;25]&quot;&quot;;#,##0" sourceLinked="0"/>
            <c:txPr>
              <a:bodyPr/>
              <a:lstStyle/>
              <a:p>
                <a:pPr>
                  <a:defRPr sz="900">
                    <a:solidFill>
                      <a:srgbClr val="002368"/>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Sheet1!$D$2:$D$7</c:f>
              <c:numCache>
                <c:formatCode>General</c:formatCode>
                <c:ptCount val="6"/>
                <c:pt idx="0">
                  <c:v>220</c:v>
                </c:pt>
                <c:pt idx="1">
                  <c:v>44</c:v>
                </c:pt>
                <c:pt idx="2">
                  <c:v>20</c:v>
                </c:pt>
                <c:pt idx="3">
                  <c:v>19</c:v>
                </c:pt>
                <c:pt idx="4">
                  <c:v>89</c:v>
                </c:pt>
                <c:pt idx="5">
                  <c:v>20</c:v>
                </c:pt>
              </c:numCache>
            </c:numRef>
          </c:val>
        </c:ser>
        <c:ser>
          <c:idx val="3"/>
          <c:order val="3"/>
          <c:tx>
            <c:strRef>
              <c:f>Sheet1!$E$1</c:f>
              <c:strCache>
                <c:ptCount val="1"/>
                <c:pt idx="0">
                  <c:v>Government</c:v>
                </c:pt>
              </c:strCache>
            </c:strRef>
          </c:tx>
          <c:spPr>
            <a:solidFill>
              <a:srgbClr val="8091B3"/>
            </a:solidFill>
            <a:ln>
              <a:noFill/>
            </a:ln>
          </c:spPr>
          <c:invertIfNegative val="0"/>
          <c:dLbls>
            <c:numFmt formatCode="[&lt;25]&quot;&quot;;#,##0" sourceLinked="0"/>
            <c:txPr>
              <a:bodyPr/>
              <a:lstStyle/>
              <a:p>
                <a:pPr>
                  <a:defRPr sz="900">
                    <a:solidFill>
                      <a:srgbClr val="FFFFFF"/>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Sheet1!$E$2:$E$7</c:f>
              <c:numCache>
                <c:formatCode>General</c:formatCode>
                <c:ptCount val="6"/>
                <c:pt idx="0">
                  <c:v>50</c:v>
                </c:pt>
                <c:pt idx="1">
                  <c:v>43</c:v>
                </c:pt>
                <c:pt idx="2">
                  <c:v>40</c:v>
                </c:pt>
                <c:pt idx="3">
                  <c:v>38</c:v>
                </c:pt>
                <c:pt idx="4">
                  <c:v>46</c:v>
                </c:pt>
                <c:pt idx="5">
                  <c:v>4</c:v>
                </c:pt>
              </c:numCache>
            </c:numRef>
          </c:val>
        </c:ser>
        <c:dLbls>
          <c:numFmt formatCode="#,##0" sourceLinked="0"/>
          <c:txPr>
            <a:bodyPr/>
            <a:lstStyle/>
            <a:p>
              <a:pPr>
                <a:defRPr sz="900" b="1">
                  <a:solidFill>
                    <a:srgbClr val="FFFFFF"/>
                  </a:solidFill>
                  <a:latin typeface="Arial"/>
                </a:defRPr>
              </a:pPr>
            </a:p>
          </c:txPr>
          <c:dLblPos val="ctr"/>
          <c:showLegendKey val="0"/>
          <c:showVal val="1"/>
          <c:showCatName val="0"/>
          <c:showSerName val="0"/>
          <c:showPercent val="0"/>
          <c:showBubbleSize val="0"/>
          <c:showLeaderLines val="1"/>
        </c:dLbls>
        <c:gapWidth val="45"/>
        <c:overlap val="100"/>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1100">
                <a:solidFill>
                  <a:srgbClr val="002368"/>
                </a:solidFill>
                <a:latin typeface="Arial"/>
              </a:defRPr>
            </a:pPr>
          </a:p>
        </c:txPr>
        <c:crossAx val="-2113994440"/>
        <c:crosses val="autoZero"/>
        <c:auto val="1"/>
        <c:lblAlgn val="ctr"/>
        <c:lblOffset val="100"/>
        <c:noMultiLvlLbl val="0"/>
      </c:catAx>
      <c:valAx>
        <c:axId val="-2113994440"/>
        <c:scaling>
          <c:min val="0.0"/>
        </c:scaling>
        <c:delete/>
        <c:axPos val="b"/>
        <c:majorTickMark val="out"/>
        <c:minorTickMark val="none"/>
        <c:tickLblPos val="nextTo"/>
        <c:crossAx val="-2068027336"/>
        <c:crosses val="autoZero"/>
      </c:valAx>
    </c:plotArea>
    <c:legend>
      <c:legendPos val="t"/>
      <c:overlay val="0"/>
      <c:txPr>
        <a:bodyPr/>
        <a:lstStyle/>
        <a:p>
          <a:pPr>
            <a:defRPr sz="1000">
              <a:solidFill>
                <a:srgbClr val="002368"/>
              </a:solidFill>
              <a:latin typeface="Arial"/>
            </a:defRPr>
          </a:pPr>
        </a:p>
      </c:txPr>
    </c:legend>
    <c:dispBlanksAs val="gap"/>
  </c:chart>
  <c:txPr>
    <a:bodyPr/>
    <a:lstStyle/>
    <a:p>
      <a:pPr>
        <a:defRPr sz="1100">
          <a:solidFill>
            <a:srgbClr val="002368"/>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Leads</c:v>
                </c:pt>
              </c:strCache>
            </c:strRef>
          </c:tx>
          <c:spPr>
            <a:solidFill>
              <a:srgbClr val="002368"/>
            </a:solidFill>
            <a:ln>
              <a:noFill/>
            </a:ln>
          </c:spPr>
          <c:invertIfNegative val="0"/>
          <c:cat>
            <c:strRef>
              <c:f>Sheet1!$A$2:$A$13</c:f>
              <c:strCache>
                <c:ptCount val="12"/>
                <c:pt idx="0">
                  <c:v>Safari operators and travel agencies</c:v>
                </c:pt>
                <c:pt idx="1">
                  <c:v>Hotels, lodges and camps</c:v>
                </c:pt>
                <c:pt idx="2">
                  <c:v>Hospitals and clinics</c:v>
                </c:pt>
                <c:pt idx="3">
                  <c:v>Banks and other companies</c:v>
                </c:pt>
                <c:pt idx="4">
                  <c:v>NGOs and research bodies</c:v>
                </c:pt>
                <c:pt idx="5">
                  <c:v>Colleges and universities</c:v>
                </c:pt>
                <c:pt idx="6">
                  <c:v>Public bodies (HR route)</c:v>
                </c:pt>
                <c:pt idx="7">
                  <c:v>Manufacturing</c:v>
                </c:pt>
                <c:pt idx="8">
                  <c:v>Retail</c:v>
                </c:pt>
                <c:pt idx="9">
                  <c:v>Farms and estates</c:v>
                </c:pt>
                <c:pt idx="10">
                  <c:v>International organisations</c:v>
                </c:pt>
                <c:pt idx="11">
                  <c:v>Aviation</c:v>
                </c:pt>
              </c:strCache>
            </c:strRef>
          </c:cat>
          <c:val>
            <c:numRef>
              <c:f>Sheet1!$B$2:$B$13</c:f>
              <c:numCache>
                <c:formatCode>General</c:formatCode>
                <c:ptCount val="12"/>
                <c:pt idx="0">
                  <c:v>480</c:v>
                </c:pt>
                <c:pt idx="1">
                  <c:v>194</c:v>
                </c:pt>
                <c:pt idx="2">
                  <c:v>188</c:v>
                </c:pt>
                <c:pt idx="3">
                  <c:v>87</c:v>
                </c:pt>
                <c:pt idx="4">
                  <c:v>62</c:v>
                </c:pt>
                <c:pt idx="5">
                  <c:v>23</c:v>
                </c:pt>
                <c:pt idx="6">
                  <c:v>19</c:v>
                </c:pt>
                <c:pt idx="7">
                  <c:v>19</c:v>
                </c:pt>
                <c:pt idx="8">
                  <c:v>17</c:v>
                </c:pt>
                <c:pt idx="9">
                  <c:v>14</c:v>
                </c:pt>
                <c:pt idx="10">
                  <c:v>10</c:v>
                </c:pt>
                <c:pt idx="11">
                  <c:v>5</c:v>
                </c:pt>
              </c:numCache>
            </c:numRef>
          </c:val>
        </c:ser>
        <c:ser>
          <c:idx val="1"/>
          <c:order val="1"/>
          <c:tx>
            <c:strRef>
              <c:f>Sheet1!$C$1</c:f>
              <c:strCache>
                <c:ptCount val="1"/>
                <c:pt idx="0">
                  <c:v>Ready for review</c:v>
                </c:pt>
              </c:strCache>
            </c:strRef>
          </c:tx>
          <c:spPr>
            <a:solidFill>
              <a:srgbClr val="80BFEC"/>
            </a:solidFill>
            <a:ln>
              <a:noFill/>
            </a:ln>
          </c:spPr>
          <c:invertIfNegative val="0"/>
          <c:cat>
            <c:strRef>
              <c:f>Sheet1!$A$2:$A$13</c:f>
              <c:strCache>
                <c:ptCount val="12"/>
                <c:pt idx="0">
                  <c:v>Safari operators and travel agencies</c:v>
                </c:pt>
                <c:pt idx="1">
                  <c:v>Hotels, lodges and camps</c:v>
                </c:pt>
                <c:pt idx="2">
                  <c:v>Hospitals and clinics</c:v>
                </c:pt>
                <c:pt idx="3">
                  <c:v>Banks and other companies</c:v>
                </c:pt>
                <c:pt idx="4">
                  <c:v>NGOs and research bodies</c:v>
                </c:pt>
                <c:pt idx="5">
                  <c:v>Colleges and universities</c:v>
                </c:pt>
                <c:pt idx="6">
                  <c:v>Public bodies (HR route)</c:v>
                </c:pt>
                <c:pt idx="7">
                  <c:v>Manufacturing</c:v>
                </c:pt>
                <c:pt idx="8">
                  <c:v>Retail</c:v>
                </c:pt>
                <c:pt idx="9">
                  <c:v>Farms and estates</c:v>
                </c:pt>
                <c:pt idx="10">
                  <c:v>International organisations</c:v>
                </c:pt>
                <c:pt idx="11">
                  <c:v>Aviation</c:v>
                </c:pt>
              </c:strCache>
            </c:strRef>
          </c:cat>
          <c:val>
            <c:numRef>
              <c:f>Sheet1!$C$2:$C$13</c:f>
              <c:numCache>
                <c:formatCode>General</c:formatCode>
                <c:ptCount val="12"/>
                <c:pt idx="0">
                  <c:v>432</c:v>
                </c:pt>
                <c:pt idx="1">
                  <c:v>123</c:v>
                </c:pt>
                <c:pt idx="2">
                  <c:v>37</c:v>
                </c:pt>
                <c:pt idx="3">
                  <c:v>70</c:v>
                </c:pt>
                <c:pt idx="4">
                  <c:v>28</c:v>
                </c:pt>
                <c:pt idx="5">
                  <c:v>19</c:v>
                </c:pt>
                <c:pt idx="6">
                  <c:v>12</c:v>
                </c:pt>
                <c:pt idx="7">
                  <c:v>11</c:v>
                </c:pt>
                <c:pt idx="8">
                  <c:v>6</c:v>
                </c:pt>
                <c:pt idx="9">
                  <c:v>3</c:v>
                </c:pt>
                <c:pt idx="10">
                  <c:v>9</c:v>
                </c:pt>
                <c:pt idx="11">
                  <c:v>2</c:v>
                </c:pt>
              </c:numCache>
            </c:numRef>
          </c:val>
        </c:ser>
        <c:dLbls>
          <c:numFmt formatCode="#,##0" sourceLinked="0"/>
          <c:txPr>
            <a:bodyPr/>
            <a:lstStyle/>
            <a:p>
              <a:pPr>
                <a:defRPr sz="900" b="1">
                  <a:solidFill>
                    <a:srgbClr val="002368"/>
                  </a:solidFill>
                  <a:latin typeface="Arial"/>
                </a:defRPr>
              </a:pPr>
            </a:p>
          </c:txPr>
          <c:showLegendKey val="0"/>
          <c:showVal val="1"/>
          <c:showCatName val="0"/>
          <c:showSerName val="0"/>
          <c:showPercent val="0"/>
          <c:showBubbleSize val="0"/>
          <c:showLeaderLines val="1"/>
        </c:dLbls>
        <c:gapWidth val="40"/>
        <c:overlap val="-10"/>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1000">
                <a:solidFill>
                  <a:srgbClr val="002368"/>
                </a:solidFill>
                <a:latin typeface="Arial"/>
              </a:defRPr>
            </a:pPr>
          </a:p>
        </c:txPr>
        <c:crossAx val="-2113994440"/>
        <c:crosses val="autoZero"/>
        <c:auto val="1"/>
        <c:lblAlgn val="ctr"/>
        <c:lblOffset val="100"/>
        <c:noMultiLvlLbl val="0"/>
      </c:catAx>
      <c:valAx>
        <c:axId val="-2113994440"/>
        <c:scaling>
          <c:min val="0.0"/>
        </c:scaling>
        <c:delete/>
        <c:axPos val="b"/>
        <c:majorTickMark val="out"/>
        <c:minorTickMark val="none"/>
        <c:tickLblPos val="nextTo"/>
        <c:crossAx val="-2068027336"/>
        <c:crosses val="autoZero"/>
      </c:valAx>
    </c:plotArea>
    <c:legend>
      <c:legendPos val="t"/>
      <c:overlay val="0"/>
      <c:txPr>
        <a:bodyPr/>
        <a:lstStyle/>
        <a:p>
          <a:pPr>
            <a:defRPr sz="1000">
              <a:solidFill>
                <a:srgbClr val="002368"/>
              </a:solidFill>
              <a:latin typeface="Arial"/>
            </a:defRPr>
          </a:pPr>
        </a:p>
      </c:txPr>
    </c:legend>
    <c:dispBlanksAs val="gap"/>
  </c:chart>
  <c:txPr>
    <a:bodyPr/>
    <a:lstStyle/>
    <a:p>
      <a:pPr>
        <a:defRPr sz="1000">
          <a:solidFill>
            <a:srgbClr val="002368"/>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High direct</c:v>
                </c:pt>
              </c:strCache>
            </c:strRef>
          </c:tx>
          <c:spPr>
            <a:solidFill>
              <a:srgbClr val="002368"/>
            </a:solidFill>
            <a:ln>
              <a:noFill/>
            </a:ln>
          </c:spPr>
          <c:invertIfNegative val="0"/>
          <c:dLbls>
            <c:numFmt formatCode="[&lt;10]&quot;&quot;;#,##0" sourceLinked="0"/>
            <c:txPr>
              <a:bodyPr/>
              <a:lstStyle/>
              <a:p>
                <a:pPr>
                  <a:defRPr sz="1100" b="1">
                    <a:solidFill>
                      <a:srgbClr val="FFFFFF"/>
                    </a:solidFill>
                  </a:defRPr>
                </a:pPr>
              </a:p>
            </c:txPr>
            <c:showLegendKey val="0"/>
            <c:showVal val="1"/>
            <c:showCatName val="0"/>
            <c:showSerName val="0"/>
            <c:showPercent val="0"/>
            <c:showBubbleSize val="0"/>
            <c:showLeaderLines val="1"/>
          </c:dLbls>
          <c:cat>
            <c:strRef>
              <c:f>Sheet1!$A$2:$A$4</c:f>
              <c:strCache>
                <c:ptCount val="3"/>
                <c:pt idx="0">
                  <c:v>Companies</c:v>
                </c:pt>
                <c:pt idx="1">
                  <c:v>Introducers</c:v>
                </c:pt>
                <c:pt idx="2">
                  <c:v>Welfare</c:v>
                </c:pt>
              </c:strCache>
            </c:strRef>
          </c:cat>
          <c:val>
            <c:numRef>
              <c:f>Sheet1!$B$2:$B$4</c:f>
              <c:numCache>
                <c:formatCode>General</c:formatCode>
                <c:ptCount val="3"/>
                <c:pt idx="0">
                  <c:v>36</c:v>
                </c:pt>
                <c:pt idx="1">
                  <c:v>4</c:v>
                </c:pt>
                <c:pt idx="2">
                  <c:v>14</c:v>
                </c:pt>
              </c:numCache>
            </c:numRef>
          </c:val>
        </c:ser>
        <c:ser>
          <c:idx val="1"/>
          <c:order val="1"/>
          <c:tx>
            <c:strRef>
              <c:f>Sheet1!$C$1</c:f>
              <c:strCache>
                <c:ptCount val="1"/>
                <c:pt idx="0">
                  <c:v>High indirect</c:v>
                </c:pt>
              </c:strCache>
            </c:strRef>
          </c:tx>
          <c:spPr>
            <a:solidFill>
              <a:srgbClr val="80BFEC"/>
            </a:solidFill>
            <a:ln>
              <a:noFill/>
            </a:ln>
          </c:spPr>
          <c:invertIfNegative val="0"/>
          <c:dLbls>
            <c:numFmt formatCode="[&lt;10]&quot;&quot;;#,##0" sourceLinked="0"/>
            <c:txPr>
              <a:bodyPr/>
              <a:lstStyle/>
              <a:p>
                <a:pPr>
                  <a:defRPr sz="1100" b="1">
                    <a:solidFill>
                      <a:srgbClr val="002368"/>
                    </a:solidFill>
                  </a:defRPr>
                </a:pPr>
              </a:p>
            </c:txPr>
            <c:showLegendKey val="0"/>
            <c:showVal val="1"/>
            <c:showCatName val="0"/>
            <c:showSerName val="0"/>
            <c:showPercent val="0"/>
            <c:showBubbleSize val="0"/>
            <c:showLeaderLines val="1"/>
          </c:dLbls>
          <c:cat>
            <c:strRef>
              <c:f>Sheet1!$A$2:$A$4</c:f>
              <c:strCache>
                <c:ptCount val="3"/>
                <c:pt idx="0">
                  <c:v>Companies</c:v>
                </c:pt>
                <c:pt idx="1">
                  <c:v>Introducers</c:v>
                </c:pt>
                <c:pt idx="2">
                  <c:v>Welfare</c:v>
                </c:pt>
              </c:strCache>
            </c:strRef>
          </c:cat>
          <c:val>
            <c:numRef>
              <c:f>Sheet1!$C$2:$C$4</c:f>
              <c:numCache>
                <c:formatCode>General</c:formatCode>
                <c:ptCount val="3"/>
                <c:pt idx="0">
                  <c:v>228</c:v>
                </c:pt>
                <c:pt idx="1">
                  <c:v>8</c:v>
                </c:pt>
                <c:pt idx="2">
                  <c:v>55</c:v>
                </c:pt>
              </c:numCache>
            </c:numRef>
          </c:val>
        </c:ser>
        <c:dLbls>
          <c:numFmt formatCode="#,##0" sourceLinked="0"/>
          <c:txPr>
            <a:bodyPr/>
            <a:lstStyle/>
            <a:p>
              <a:pPr>
                <a:defRPr sz="1100" b="1">
                  <a:solidFill>
                    <a:srgbClr val="FFFFFF"/>
                  </a:solidFill>
                  <a:latin typeface="Arial"/>
                </a:defRPr>
              </a:pPr>
            </a:p>
          </c:txPr>
          <c:dLblPos val="ctr"/>
          <c:showLegendKey val="0"/>
          <c:showVal val="1"/>
          <c:showCatName val="0"/>
          <c:showSerName val="0"/>
          <c:showPercent val="0"/>
          <c:showBubbleSize val="0"/>
          <c:showLeaderLines val="1"/>
        </c:dLbls>
        <c:gapWidth val="70"/>
        <c:overlap val="100"/>
        <c:axId val="-2068027336"/>
        <c:axId val="-2113994440"/>
      </c:barChart>
      <c:catAx>
        <c:axId val="-2068027336"/>
        <c:scaling>
          <c:orientation val="minMax"/>
        </c:scaling>
        <c:delete val="0"/>
        <c:axPos val="b"/>
        <c:majorTickMark val="out"/>
        <c:minorTickMark val="none"/>
        <c:tickLblPos val="nextTo"/>
        <c:spPr>
          <a:ln>
            <a:noFill/>
          </a:ln>
        </c:spPr>
        <c:txPr>
          <a:bodyPr/>
          <a:lstStyle/>
          <a:p>
            <a:pPr>
              <a:defRPr sz="1100">
                <a:solidFill>
                  <a:srgbClr val="002368"/>
                </a:solidFill>
                <a:latin typeface="Arial"/>
              </a:defRPr>
            </a:pPr>
          </a:p>
        </c:txPr>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legend>
      <c:legendPos val="t"/>
      <c:overlay val="0"/>
      <c:txPr>
        <a:bodyPr/>
        <a:lstStyle/>
        <a:p>
          <a:pPr>
            <a:defRPr sz="1000">
              <a:solidFill>
                <a:srgbClr val="002368"/>
              </a:solidFill>
              <a:latin typeface="Arial"/>
            </a:defRPr>
          </a:pPr>
        </a:p>
      </c:txPr>
    </c:legend>
    <c:dispBlanksAs val="gap"/>
  </c:chart>
  <c:txPr>
    <a:bodyPr/>
    <a:lstStyle/>
    <a:p>
      <a:pPr>
        <a:defRPr sz="1100">
          <a:solidFill>
            <a:srgbClr val="002368"/>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938e489a839d4521"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Campus coordinates (website pins): Arusha City -3.3604966, 36.6609326; Usa River -3.3610030, 36.8644524; Ilboru -3.3497598, 36.6822737; Kijenge -3.3829460, 36.7107520; Boma Ng'ombe -3.3414560, 37.1457123. Until 11 October the campuses sat at ward or town centres 0.1 to 1.2 km away. The map shades every point within 25 km of the nearest campus. Each dot is an organisation lead placed by the lead map builder.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Distances are straight-line (great-circle), rounded to 0.1 km, not road distance. Location precision is recorded for every point (point/address under 0.5 km; locality 1–3 km; town up to 8 km; estimated ward points 1–5 km). Plausibility box for welfare and government research: latitude -3.62 to -3.10, longitude 36.42 to 37.40; the NGO register is read to 30 km so places just over the line are seen.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Subject endings by segment for case B: employers and public bodies '– staff education benefit'; variant A sponsors and funders '– student sponsorship'; welfare homes and programmes '– education of the children in your care'; introducers and networks '– an education benefit for your members'. Placeholders replace every name, role and organisation; the sender is shown as &lt;Sender name&gt;.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Savings groups: Kiswahili wording still to be drafted and reviewed by a native speaker; most have no email, so the call script carries it. Government: the first-touch rule does not apply.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Register status: Finance confirms that each term applies to the 2027 school year before any message that states it is sent (2027 enrolment plan tasks A1 and A2). OF05 referral package has expired; no referral rewards until a 2027 scheme is approved. OF08 (Rivertrees, 40%) is for Rivertrees only and is the model for a proposal after a meeting. No offer guarantees a place, transport route or capacity.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Outcome codes per stage: S0 researching, check_pending, held; S1 ready; S2 delivered, redirect_sent, bounced, opted_out, no_answer, escalated, name_obtained; S3 interested, details_requested, referred, not_now, declined; S4 booked, held, rescheduled, no_show, no_fit; S5 booked, held, cancelled, attendance_recorded, circulated; S6 sent, revised, accepted, rejected; S7 circulation_partner, benefit_partner, sponsorship, placement, group_rate, introduced, meeting_held, informed; S8 producing, dormant; S9 recirculated, renewed, repeat_convener, lapsed. A hard bounce is not a lost reason: it sends the lead back to the redirect step.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Segment variations: public bodies' front-desk call goes to the HR office or registry, never escalate to political or board heads; variant A sponsors get no offer details in the follow-up; SACCOS: a call to the chair or secretary, then a Kiswahili letter, dormant until the next members' meeting; welfare homes: a call, then a letter left at the office, never an unannounced visit; funders: email only; introducers: a call to the secretariat; government: a call after 5 working days, then a courtesy visit, re-deliver once before the next quarterly meeting, pause in an election period.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8d1688d4ee064f44"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0918ad14f994acd" Type="http://schemas.openxmlformats.org/officeDocument/2006/relationships/slideLayout" Target="../slideLayouts/slideLayout1.xml"/><Relationship Id="R74cd2e922e854c38"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0918ad14f994acd"/>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hyperlink" Target="file:///C:/Work/silverleaf-agentic-marketing/outputs/maps/Silverleaf%20Lead%20Map.html" TargetMode="External"/><Relationship Id="rId5"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 Id="rId4"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hyperlink" Target="file:///C:/Work/silverleaf-agentic-marketing/outputs/maps/Silverleaf%20Lead%20Map.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 Id="rId4"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 Id="rId4" Type="http://schemas.openxmlformats.org/officeDocument/2006/relationships/hyperlink" Target="file:///C:/Work/silverleaf-agentic-marketing/outputs/strategy/Silverleaf%20Partnership%20Pipelines%20-%20Draft.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 Id="rId4" Type="http://schemas.openxmlformats.org/officeDocument/2006/relationships/notesSlide" Target="../notesSlides/notesSlide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maps/Silverleaf%20Lead%20Map.html" TargetMode="External"/><Relationship Id="rId3" Type="http://schemas.openxmlformats.org/officeDocument/2006/relationships/hyperlink" Target="../strategy/Silverleaf%20Partnership%20Pipelines%20-%20Draft.html" TargetMode="External"/><Relationship Id="rId4" Type="http://schemas.openxmlformats.org/officeDocument/2006/relationships/image" Target="../media/image3.png"/><Relationship Id="rId5" Type="http://schemas.openxmlformats.org/officeDocument/2006/relationships/hyperlink" Target="file:///C:/Work/silverleaf-agentic-marketing/outputs/maps/Silverleaf%20Lead%20Map.html" TargetMode="External"/><Relationship Id="rId6" Type="http://schemas.openxmlformats.org/officeDocument/2006/relationships/hyperlink" Target="file:///C:/Work/silverleaf-agentic-marketing/outputs/strategy/Silverleaf%20Partnership%20Pipelines%20-%20Draft.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hyperlink" Target="file:///C:/Work/silverleaf-agentic-marketing/outputs/maps/Silverleaf%20Lead%20Map.html" TargetMode="External"/><Relationship Id="rId5" Type="http://schemas.openxmlformats.org/officeDocument/2006/relationships/hyperlink" Target="file:///C:/Work/silverleaf-agentic-marketing/outputs/strategy/Silverleaf%20Partnership%20Pipelines%20-%20Draft.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2103120"/>
            <a:ext cx="5943600" cy="274320"/>
          </a:xfrm>
          <a:prstGeom prst="rect">
            <a:avLst/>
          </a:prstGeom>
          <a:noFill/>
        </p:spPr>
        <p:txBody>
          <a:bodyPr wrap="square" lIns="0" tIns="0" rIns="0" bIns="0" anchor="t">
            <a:spAutoFit/>
          </a:bodyPr>
          <a:lstStyle/>
          <a:p>
            <a:pPr algn="l"/>
            <a:r>
              <a:rPr sz="1200" b="0" i="0">
                <a:solidFill>
                  <a:srgbClr val="80BFEC"/>
                </a:solidFill>
                <a:latin typeface="Georgia"/>
              </a:rPr>
              <a:t>Marketing &amp; Partnerships  ·  Strategy review</a:t>
            </a:r>
          </a:p>
        </p:txBody>
      </p:sp>
      <p:sp>
        <p:nvSpPr>
          <p:cNvPr id="4" name="TextBox 3"/>
          <p:cNvSpPr txBox="1"/>
          <p:nvPr/>
        </p:nvSpPr>
        <p:spPr>
          <a:xfrm>
            <a:off x="640080" y="2395728"/>
            <a:ext cx="6309360" cy="1691640"/>
          </a:xfrm>
          <a:prstGeom prst="rect">
            <a:avLst/>
          </a:prstGeom>
          <a:noFill/>
        </p:spPr>
        <p:txBody>
          <a:bodyPr wrap="square" lIns="0" tIns="0" rIns="0" bIns="0" anchor="t">
            <a:spAutoFit/>
          </a:bodyPr>
          <a:lstStyle/>
          <a:p>
            <a:pPr algn="l"/>
            <a:r>
              <a:rPr sz="5200" b="1" i="0">
                <a:solidFill>
                  <a:srgbClr val="FFFFFF"/>
                </a:solidFill>
                <a:latin typeface="Arial"/>
              </a:rPr>
              <a:t>Partnership Lead</a:t>
            </a:r>
          </a:p>
          <a:p>
            <a:pPr algn="l"/>
            <a:r>
              <a:rPr sz="5200" b="1" i="0">
                <a:solidFill>
                  <a:srgbClr val="FFFFFF"/>
                </a:solidFill>
                <a:latin typeface="Arial"/>
              </a:rPr>
              <a:t>Strategy</a:t>
            </a:r>
          </a:p>
        </p:txBody>
      </p:sp>
      <p:sp>
        <p:nvSpPr>
          <p:cNvPr id="5" name="TextBox 4"/>
          <p:cNvSpPr txBox="1"/>
          <p:nvPr/>
        </p:nvSpPr>
        <p:spPr>
          <a:xfrm>
            <a:off x="640080" y="4160520"/>
            <a:ext cx="5852160" cy="685800"/>
          </a:xfrm>
          <a:prstGeom prst="rect">
            <a:avLst/>
          </a:prstGeom>
          <a:noFill/>
        </p:spPr>
        <p:txBody>
          <a:bodyPr wrap="square" lIns="0" tIns="0" rIns="0" bIns="0" anchor="t">
            <a:spAutoFit/>
          </a:bodyPr>
          <a:lstStyle/>
          <a:p>
            <a:pPr algn="l"/>
            <a:r>
              <a:rPr sz="1700" b="0" i="0">
                <a:solidFill>
                  <a:srgbClr val="80BFEC"/>
                </a:solidFill>
                <a:latin typeface="Georgia"/>
              </a:rPr>
              <a:t>Catchment, segments, first-touch drafting and the partnership pipelines</a:t>
            </a:r>
          </a:p>
        </p:txBody>
      </p:sp>
      <p:sp>
        <p:nvSpPr>
          <p:cNvPr id="6" name="TextBox 5"/>
          <p:cNvSpPr txBox="1"/>
          <p:nvPr/>
        </p:nvSpPr>
        <p:spPr>
          <a:xfrm>
            <a:off x="640080" y="4828032"/>
            <a:ext cx="5486400" cy="274320"/>
          </a:xfrm>
          <a:prstGeom prst="rect">
            <a:avLst/>
          </a:prstGeom>
          <a:noFill/>
        </p:spPr>
        <p:txBody>
          <a:bodyPr wrap="square" lIns="0" tIns="0" rIns="0" bIns="0" anchor="t">
            <a:spAutoFit/>
          </a:bodyPr>
          <a:lstStyle/>
          <a:p>
            <a:pPr algn="l"/>
            <a:r>
              <a:rPr sz="1100" b="0" i="0">
                <a:solidFill>
                  <a:srgbClr val="8091B3"/>
                </a:solidFill>
                <a:latin typeface="Arial"/>
              </a:rPr>
              <a:t>October 2026  ·  drafts for review; a person sends every message</a:t>
            </a:r>
          </a:p>
        </p:txBody>
      </p:sp>
      <p:sp>
        <p:nvSpPr>
          <p:cNvPr id="7" name="TextBox 6"/>
          <p:cNvSpPr txBox="1"/>
          <p:nvPr/>
        </p:nvSpPr>
        <p:spPr>
          <a:xfrm>
            <a:off x="64008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1,924</a:t>
            </a:r>
          </a:p>
        </p:txBody>
      </p:sp>
      <p:sp>
        <p:nvSpPr>
          <p:cNvPr id="8" name="TextBox 7"/>
          <p:cNvSpPr txBox="1"/>
          <p:nvPr/>
        </p:nvSpPr>
        <p:spPr>
          <a:xfrm>
            <a:off x="64008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leads with a first</a:t>
            </a:r>
          </a:p>
          <a:p>
            <a:pPr algn="l"/>
            <a:r>
              <a:rPr sz="1000" b="0" i="0">
                <a:solidFill>
                  <a:srgbClr val="FFFFFF"/>
                </a:solidFill>
                <a:latin typeface="Arial"/>
              </a:rPr>
              <a:t>message, three lists</a:t>
            </a:r>
          </a:p>
        </p:txBody>
      </p:sp>
      <p:sp>
        <p:nvSpPr>
          <p:cNvPr id="9" name="TextBox 8"/>
          <p:cNvSpPr txBox="1"/>
          <p:nvPr/>
        </p:nvSpPr>
        <p:spPr>
          <a:xfrm>
            <a:off x="274320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1,805</a:t>
            </a:r>
          </a:p>
        </p:txBody>
      </p:sp>
      <p:sp>
        <p:nvSpPr>
          <p:cNvPr id="10" name="TextBox 9"/>
          <p:cNvSpPr txBox="1"/>
          <p:nvPr/>
        </p:nvSpPr>
        <p:spPr>
          <a:xfrm>
            <a:off x="274320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leads within 25 km</a:t>
            </a:r>
          </a:p>
          <a:p>
            <a:pPr algn="l"/>
            <a:r>
              <a:rPr sz="1000" b="0" i="0">
                <a:solidFill>
                  <a:srgbClr val="FFFFFF"/>
                </a:solidFill>
                <a:latin typeface="Arial"/>
              </a:rPr>
              <a:t>of a campus on the map</a:t>
            </a:r>
          </a:p>
        </p:txBody>
      </p:sp>
      <p:sp>
        <p:nvSpPr>
          <p:cNvPr id="11" name="TextBox 10"/>
          <p:cNvSpPr txBox="1"/>
          <p:nvPr/>
        </p:nvSpPr>
        <p:spPr>
          <a:xfrm>
            <a:off x="484632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345</a:t>
            </a:r>
          </a:p>
        </p:txBody>
      </p:sp>
      <p:sp>
        <p:nvSpPr>
          <p:cNvPr id="12" name="TextBox 11"/>
          <p:cNvSpPr txBox="1"/>
          <p:nvPr/>
        </p:nvSpPr>
        <p:spPr>
          <a:xfrm>
            <a:off x="484632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high-confidence email</a:t>
            </a:r>
          </a:p>
          <a:p>
            <a:pPr algn="l"/>
            <a:r>
              <a:rPr sz="1000" b="0" i="0">
                <a:solidFill>
                  <a:srgbClr val="FFFFFF"/>
                </a:solidFill>
                <a:latin typeface="Arial"/>
              </a:rPr>
              <a:t>routes (54 direct)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CONTENTS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this review covers</a:t>
            </a:r>
          </a:p>
        </p:txBody>
      </p:sp>
      <p:sp>
        <p:nvSpPr>
          <p:cNvPr id="4" name="Rounded Rectangle 3"/>
          <p:cNvSpPr/>
          <p:nvPr/>
        </p:nvSpPr>
        <p:spPr>
          <a:xfrm>
            <a:off x="548640" y="1463040"/>
            <a:ext cx="11091672" cy="868680"/>
          </a:xfrm>
          <a:prstGeom prst="roundRect">
            <a:avLst>
              <a:gd name="adj" fmla="val 7368"/>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68680" y="1618488"/>
            <a:ext cx="914400" cy="548640"/>
          </a:xfrm>
          <a:prstGeom prst="rect">
            <a:avLst/>
          </a:prstGeom>
          <a:noFill/>
        </p:spPr>
        <p:txBody>
          <a:bodyPr wrap="square" lIns="0" tIns="0" rIns="0" bIns="0" anchor="t">
            <a:spAutoFit/>
          </a:bodyPr>
          <a:lstStyle/>
          <a:p>
            <a:pPr algn="l"/>
            <a:r>
              <a:rPr sz="3000" b="0" i="0">
                <a:solidFill>
                  <a:srgbClr val="002368"/>
                </a:solidFill>
                <a:latin typeface="Georgia"/>
              </a:rPr>
              <a:t>01</a:t>
            </a:r>
          </a:p>
        </p:txBody>
      </p:sp>
      <p:sp>
        <p:nvSpPr>
          <p:cNvPr id="6" name="TextBox 5"/>
          <p:cNvSpPr txBox="1"/>
          <p:nvPr/>
        </p:nvSpPr>
        <p:spPr>
          <a:xfrm>
            <a:off x="1874519" y="1591056"/>
            <a:ext cx="4206240" cy="329184"/>
          </a:xfrm>
          <a:prstGeom prst="rect">
            <a:avLst/>
          </a:prstGeom>
          <a:noFill/>
        </p:spPr>
        <p:txBody>
          <a:bodyPr wrap="square" lIns="0" tIns="0" rIns="0" bIns="0" anchor="t">
            <a:spAutoFit/>
          </a:bodyPr>
          <a:lstStyle/>
          <a:p>
            <a:pPr algn="l"/>
            <a:r>
              <a:rPr sz="1700" b="1" i="0">
                <a:solidFill>
                  <a:srgbClr val="002368"/>
                </a:solidFill>
                <a:latin typeface="Arial"/>
              </a:rPr>
              <a:t>Catchment and lead capture</a:t>
            </a:r>
          </a:p>
        </p:txBody>
      </p:sp>
      <p:sp>
        <p:nvSpPr>
          <p:cNvPr id="7" name="TextBox 6"/>
          <p:cNvSpPr txBox="1"/>
          <p:nvPr/>
        </p:nvSpPr>
        <p:spPr>
          <a:xfrm>
            <a:off x="1874519" y="1938528"/>
            <a:ext cx="7863840" cy="292608"/>
          </a:xfrm>
          <a:prstGeom prst="rect">
            <a:avLst/>
          </a:prstGeom>
          <a:noFill/>
        </p:spPr>
        <p:txBody>
          <a:bodyPr wrap="square" lIns="0" tIns="0" rIns="0" bIns="0" anchor="t">
            <a:spAutoFit/>
          </a:bodyPr>
          <a:lstStyle/>
          <a:p>
            <a:pPr algn="l"/>
            <a:r>
              <a:rPr sz="1100" b="0" i="0">
                <a:solidFill>
                  <a:srgbClr val="000000"/>
                </a:solidFill>
                <a:latin typeface="Arial"/>
              </a:rPr>
              <a:t>The 25 km line, the distance bands, the gaps, and how 1,924 leads were collected</a:t>
            </a:r>
          </a:p>
        </p:txBody>
      </p:sp>
      <p:sp>
        <p:nvSpPr>
          <p:cNvPr id="8" name="TextBox 7"/>
          <p:cNvSpPr txBox="1"/>
          <p:nvPr/>
        </p:nvSpPr>
        <p:spPr>
          <a:xfrm>
            <a:off x="10241280" y="1737360"/>
            <a:ext cx="1097280" cy="329184"/>
          </a:xfrm>
          <a:prstGeom prst="rect">
            <a:avLst/>
          </a:prstGeom>
          <a:noFill/>
        </p:spPr>
        <p:txBody>
          <a:bodyPr wrap="square" lIns="0" tIns="0" rIns="0" bIns="0" anchor="t">
            <a:spAutoFit/>
          </a:bodyPr>
          <a:lstStyle/>
          <a:p>
            <a:pPr algn="r"/>
            <a:r>
              <a:rPr sz="1100" b="0" i="0">
                <a:solidFill>
                  <a:srgbClr val="818283"/>
                </a:solidFill>
                <a:latin typeface="Arial"/>
              </a:rPr>
              <a:t>Slide 05</a:t>
            </a:r>
          </a:p>
        </p:txBody>
      </p:sp>
      <p:sp>
        <p:nvSpPr>
          <p:cNvPr id="9" name="Rounded Rectangle 8"/>
          <p:cNvSpPr/>
          <p:nvPr/>
        </p:nvSpPr>
        <p:spPr>
          <a:xfrm>
            <a:off x="548640" y="2487168"/>
            <a:ext cx="11091672" cy="868680"/>
          </a:xfrm>
          <a:prstGeom prst="roundRect">
            <a:avLst>
              <a:gd name="adj" fmla="val 7368"/>
            </a:avLst>
          </a:prstGeom>
          <a:solidFill>
            <a:srgbClr val="FFFFFF"/>
          </a:solidFill>
          <a:ln w="12700">
            <a:solidFill>
              <a:srgbClr val="D9ECF9"/>
            </a:solidFill>
          </a:ln>
        </p:spPr>
        <p:txBody>
          <a:bodyPr rtlCol="0" anchor="ctr"/>
          <a:lstStyle/>
          <a:p>
            <a:pPr algn="ctr"/>
          </a:p>
        </p:txBody>
      </p:sp>
      <p:sp>
        <p:nvSpPr>
          <p:cNvPr id="10" name="TextBox 9"/>
          <p:cNvSpPr txBox="1"/>
          <p:nvPr/>
        </p:nvSpPr>
        <p:spPr>
          <a:xfrm>
            <a:off x="868680" y="2642616"/>
            <a:ext cx="914400" cy="548640"/>
          </a:xfrm>
          <a:prstGeom prst="rect">
            <a:avLst/>
          </a:prstGeom>
          <a:noFill/>
        </p:spPr>
        <p:txBody>
          <a:bodyPr wrap="square" lIns="0" tIns="0" rIns="0" bIns="0" anchor="t">
            <a:spAutoFit/>
          </a:bodyPr>
          <a:lstStyle/>
          <a:p>
            <a:pPr algn="l"/>
            <a:r>
              <a:rPr sz="3000" b="0" i="0">
                <a:solidFill>
                  <a:srgbClr val="002368"/>
                </a:solidFill>
                <a:latin typeface="Georgia"/>
              </a:rPr>
              <a:t>02</a:t>
            </a:r>
          </a:p>
        </p:txBody>
      </p:sp>
      <p:sp>
        <p:nvSpPr>
          <p:cNvPr id="11" name="TextBox 10"/>
          <p:cNvSpPr txBox="1"/>
          <p:nvPr/>
        </p:nvSpPr>
        <p:spPr>
          <a:xfrm>
            <a:off x="1874519" y="2615184"/>
            <a:ext cx="4206240" cy="329184"/>
          </a:xfrm>
          <a:prstGeom prst="rect">
            <a:avLst/>
          </a:prstGeom>
          <a:noFill/>
        </p:spPr>
        <p:txBody>
          <a:bodyPr wrap="square" lIns="0" tIns="0" rIns="0" bIns="0" anchor="t">
            <a:spAutoFit/>
          </a:bodyPr>
          <a:lstStyle/>
          <a:p>
            <a:pPr algn="l"/>
            <a:r>
              <a:rPr sz="1700" b="1" i="0">
                <a:solidFill>
                  <a:srgbClr val="002368"/>
                </a:solidFill>
                <a:latin typeface="Arial"/>
              </a:rPr>
              <a:t>Segments and confidence</a:t>
            </a:r>
          </a:p>
        </p:txBody>
      </p:sp>
      <p:sp>
        <p:nvSpPr>
          <p:cNvPr id="12" name="TextBox 11"/>
          <p:cNvSpPr txBox="1"/>
          <p:nvPr/>
        </p:nvSpPr>
        <p:spPr>
          <a:xfrm>
            <a:off x="1874519" y="2962656"/>
            <a:ext cx="7863840" cy="292608"/>
          </a:xfrm>
          <a:prstGeom prst="rect">
            <a:avLst/>
          </a:prstGeom>
          <a:noFill/>
        </p:spPr>
        <p:txBody>
          <a:bodyPr wrap="square" lIns="0" tIns="0" rIns="0" bIns="0" anchor="t">
            <a:spAutoFit/>
          </a:bodyPr>
          <a:lstStyle/>
          <a:p>
            <a:pPr algn="l"/>
            <a:r>
              <a:rPr sz="1100" b="0" i="0">
                <a:solidFill>
                  <a:srgbClr val="000000"/>
                </a:solidFill>
                <a:latin typeface="Arial"/>
              </a:rPr>
              <a:t>Four core segments, every subsegment, and how sure we are that a message reaches the decision-maker</a:t>
            </a:r>
          </a:p>
        </p:txBody>
      </p:sp>
      <p:sp>
        <p:nvSpPr>
          <p:cNvPr id="13" name="TextBox 12"/>
          <p:cNvSpPr txBox="1"/>
          <p:nvPr/>
        </p:nvSpPr>
        <p:spPr>
          <a:xfrm>
            <a:off x="10241280" y="2761488"/>
            <a:ext cx="1097280" cy="329184"/>
          </a:xfrm>
          <a:prstGeom prst="rect">
            <a:avLst/>
          </a:prstGeom>
          <a:noFill/>
        </p:spPr>
        <p:txBody>
          <a:bodyPr wrap="square" lIns="0" tIns="0" rIns="0" bIns="0" anchor="t">
            <a:spAutoFit/>
          </a:bodyPr>
          <a:lstStyle/>
          <a:p>
            <a:pPr algn="r"/>
            <a:r>
              <a:rPr sz="1100" b="0" i="0">
                <a:solidFill>
                  <a:srgbClr val="818283"/>
                </a:solidFill>
                <a:latin typeface="Arial"/>
              </a:rPr>
              <a:t>Slide 11</a:t>
            </a:r>
          </a:p>
        </p:txBody>
      </p:sp>
      <p:sp>
        <p:nvSpPr>
          <p:cNvPr id="14" name="Rounded Rectangle 13"/>
          <p:cNvSpPr/>
          <p:nvPr/>
        </p:nvSpPr>
        <p:spPr>
          <a:xfrm>
            <a:off x="548640" y="3511296"/>
            <a:ext cx="11091672" cy="868680"/>
          </a:xfrm>
          <a:prstGeom prst="roundRect">
            <a:avLst>
              <a:gd name="adj" fmla="val 7368"/>
            </a:avLst>
          </a:prstGeom>
          <a:solidFill>
            <a:srgbClr val="D9ECF9"/>
          </a:solidFill>
          <a:ln w="12700">
            <a:solidFill>
              <a:srgbClr val="D9ECF9"/>
            </a:solidFill>
          </a:ln>
        </p:spPr>
        <p:txBody>
          <a:bodyPr rtlCol="0" anchor="ctr"/>
          <a:lstStyle/>
          <a:p>
            <a:pPr algn="ctr"/>
          </a:p>
        </p:txBody>
      </p:sp>
      <p:sp>
        <p:nvSpPr>
          <p:cNvPr id="15" name="TextBox 14"/>
          <p:cNvSpPr txBox="1"/>
          <p:nvPr/>
        </p:nvSpPr>
        <p:spPr>
          <a:xfrm>
            <a:off x="868680" y="3666744"/>
            <a:ext cx="914400" cy="548640"/>
          </a:xfrm>
          <a:prstGeom prst="rect">
            <a:avLst/>
          </a:prstGeom>
          <a:noFill/>
        </p:spPr>
        <p:txBody>
          <a:bodyPr wrap="square" lIns="0" tIns="0" rIns="0" bIns="0" anchor="t">
            <a:spAutoFit/>
          </a:bodyPr>
          <a:lstStyle/>
          <a:p>
            <a:pPr algn="l"/>
            <a:r>
              <a:rPr sz="3000" b="0" i="0">
                <a:solidFill>
                  <a:srgbClr val="002368"/>
                </a:solidFill>
                <a:latin typeface="Georgia"/>
              </a:rPr>
              <a:t>03</a:t>
            </a:r>
          </a:p>
        </p:txBody>
      </p:sp>
      <p:sp>
        <p:nvSpPr>
          <p:cNvPr id="16" name="TextBox 15"/>
          <p:cNvSpPr txBox="1"/>
          <p:nvPr/>
        </p:nvSpPr>
        <p:spPr>
          <a:xfrm>
            <a:off x="1874519" y="3639312"/>
            <a:ext cx="4206240" cy="329184"/>
          </a:xfrm>
          <a:prstGeom prst="rect">
            <a:avLst/>
          </a:prstGeom>
          <a:noFill/>
        </p:spPr>
        <p:txBody>
          <a:bodyPr wrap="square" lIns="0" tIns="0" rIns="0" bIns="0" anchor="t">
            <a:spAutoFit/>
          </a:bodyPr>
          <a:lstStyle/>
          <a:p>
            <a:pPr algn="l"/>
            <a:r>
              <a:rPr sz="1700" b="1" i="0">
                <a:solidFill>
                  <a:srgbClr val="002368"/>
                </a:solidFill>
                <a:latin typeface="Arial"/>
              </a:rPr>
              <a:t>Drafting the first touch</a:t>
            </a:r>
          </a:p>
        </p:txBody>
      </p:sp>
      <p:sp>
        <p:nvSpPr>
          <p:cNvPr id="17" name="TextBox 16"/>
          <p:cNvSpPr txBox="1"/>
          <p:nvPr/>
        </p:nvSpPr>
        <p:spPr>
          <a:xfrm>
            <a:off x="1874519" y="3986784"/>
            <a:ext cx="7863840" cy="292608"/>
          </a:xfrm>
          <a:prstGeom prst="rect">
            <a:avLst/>
          </a:prstGeom>
          <a:noFill/>
        </p:spPr>
        <p:txBody>
          <a:bodyPr wrap="square" lIns="0" tIns="0" rIns="0" bIns="0" anchor="t">
            <a:spAutoFit/>
          </a:bodyPr>
          <a:lstStyle/>
          <a:p>
            <a:pPr algn="l"/>
            <a:r>
              <a:rPr sz="1100" b="0" i="0">
                <a:solidFill>
                  <a:srgbClr val="000000"/>
                </a:solidFill>
                <a:latin typeface="Arial"/>
              </a:rPr>
              <a:t>Request first, the three first-touch cases, offers, hooks, calls and the fallout thread</a:t>
            </a:r>
          </a:p>
        </p:txBody>
      </p:sp>
      <p:sp>
        <p:nvSpPr>
          <p:cNvPr id="18" name="TextBox 17"/>
          <p:cNvSpPr txBox="1"/>
          <p:nvPr/>
        </p:nvSpPr>
        <p:spPr>
          <a:xfrm>
            <a:off x="10241280" y="3785616"/>
            <a:ext cx="1097280" cy="329184"/>
          </a:xfrm>
          <a:prstGeom prst="rect">
            <a:avLst/>
          </a:prstGeom>
          <a:noFill/>
        </p:spPr>
        <p:txBody>
          <a:bodyPr wrap="square" lIns="0" tIns="0" rIns="0" bIns="0" anchor="t">
            <a:spAutoFit/>
          </a:bodyPr>
          <a:lstStyle/>
          <a:p>
            <a:pPr algn="r"/>
            <a:r>
              <a:rPr sz="1100" b="0" i="0">
                <a:solidFill>
                  <a:srgbClr val="818283"/>
                </a:solidFill>
                <a:latin typeface="Arial"/>
              </a:rPr>
              <a:t>Slide 18</a:t>
            </a:r>
          </a:p>
        </p:txBody>
      </p:sp>
      <p:sp>
        <p:nvSpPr>
          <p:cNvPr id="19" name="Rounded Rectangle 18"/>
          <p:cNvSpPr/>
          <p:nvPr/>
        </p:nvSpPr>
        <p:spPr>
          <a:xfrm>
            <a:off x="548640" y="4535424"/>
            <a:ext cx="11091672" cy="868680"/>
          </a:xfrm>
          <a:prstGeom prst="roundRect">
            <a:avLst>
              <a:gd name="adj" fmla="val 7368"/>
            </a:avLst>
          </a:prstGeom>
          <a:solidFill>
            <a:srgbClr val="FFFFFF"/>
          </a:solidFill>
          <a:ln w="12700">
            <a:solidFill>
              <a:srgbClr val="D9ECF9"/>
            </a:solidFill>
          </a:ln>
        </p:spPr>
        <p:txBody>
          <a:bodyPr rtlCol="0" anchor="ctr"/>
          <a:lstStyle/>
          <a:p>
            <a:pPr algn="ctr"/>
          </a:p>
        </p:txBody>
      </p:sp>
      <p:sp>
        <p:nvSpPr>
          <p:cNvPr id="20" name="TextBox 19"/>
          <p:cNvSpPr txBox="1"/>
          <p:nvPr/>
        </p:nvSpPr>
        <p:spPr>
          <a:xfrm>
            <a:off x="868680" y="4690872"/>
            <a:ext cx="914400" cy="548640"/>
          </a:xfrm>
          <a:prstGeom prst="rect">
            <a:avLst/>
          </a:prstGeom>
          <a:noFill/>
        </p:spPr>
        <p:txBody>
          <a:bodyPr wrap="square" lIns="0" tIns="0" rIns="0" bIns="0" anchor="t">
            <a:spAutoFit/>
          </a:bodyPr>
          <a:lstStyle/>
          <a:p>
            <a:pPr algn="l"/>
            <a:r>
              <a:rPr sz="3000" b="0" i="0">
                <a:solidFill>
                  <a:srgbClr val="002368"/>
                </a:solidFill>
                <a:latin typeface="Georgia"/>
              </a:rPr>
              <a:t>04</a:t>
            </a:r>
          </a:p>
        </p:txBody>
      </p:sp>
      <p:sp>
        <p:nvSpPr>
          <p:cNvPr id="21" name="TextBox 20"/>
          <p:cNvSpPr txBox="1"/>
          <p:nvPr/>
        </p:nvSpPr>
        <p:spPr>
          <a:xfrm>
            <a:off x="1874519" y="4663440"/>
            <a:ext cx="4206240" cy="329184"/>
          </a:xfrm>
          <a:prstGeom prst="rect">
            <a:avLst/>
          </a:prstGeom>
          <a:noFill/>
        </p:spPr>
        <p:txBody>
          <a:bodyPr wrap="square" lIns="0" tIns="0" rIns="0" bIns="0" anchor="t">
            <a:spAutoFit/>
          </a:bodyPr>
          <a:lstStyle/>
          <a:p>
            <a:pPr algn="l"/>
            <a:r>
              <a:rPr sz="1700" b="1" i="0">
                <a:solidFill>
                  <a:srgbClr val="002368"/>
                </a:solidFill>
                <a:latin typeface="Arial"/>
              </a:rPr>
              <a:t>Pipelines and tracking</a:t>
            </a:r>
          </a:p>
        </p:txBody>
      </p:sp>
      <p:sp>
        <p:nvSpPr>
          <p:cNvPr id="22" name="TextBox 21"/>
          <p:cNvSpPr txBox="1"/>
          <p:nvPr/>
        </p:nvSpPr>
        <p:spPr>
          <a:xfrm>
            <a:off x="1874519" y="5010912"/>
            <a:ext cx="7863840" cy="292608"/>
          </a:xfrm>
          <a:prstGeom prst="rect">
            <a:avLst/>
          </a:prstGeom>
          <a:noFill/>
        </p:spPr>
        <p:txBody>
          <a:bodyPr wrap="square" lIns="0" tIns="0" rIns="0" bIns="0" anchor="t">
            <a:spAutoFit/>
          </a:bodyPr>
          <a:lstStyle/>
          <a:p>
            <a:pPr algn="l"/>
            <a:r>
              <a:rPr sz="1100" b="0" i="0">
                <a:solidFill>
                  <a:srgbClr val="000000"/>
                </a:solidFill>
                <a:latin typeface="Arial"/>
              </a:rPr>
              <a:t>The shared spine, what follows the offer, and how results are tracked and reported</a:t>
            </a:r>
          </a:p>
        </p:txBody>
      </p:sp>
      <p:sp>
        <p:nvSpPr>
          <p:cNvPr id="23" name="TextBox 22"/>
          <p:cNvSpPr txBox="1"/>
          <p:nvPr/>
        </p:nvSpPr>
        <p:spPr>
          <a:xfrm>
            <a:off x="10241280" y="4809744"/>
            <a:ext cx="1097280" cy="329184"/>
          </a:xfrm>
          <a:prstGeom prst="rect">
            <a:avLst/>
          </a:prstGeom>
          <a:noFill/>
        </p:spPr>
        <p:txBody>
          <a:bodyPr wrap="square" lIns="0" tIns="0" rIns="0" bIns="0" anchor="t">
            <a:spAutoFit/>
          </a:bodyPr>
          <a:lstStyle/>
          <a:p>
            <a:pPr algn="r"/>
            <a:r>
              <a:rPr sz="1100" b="0" i="0">
                <a:solidFill>
                  <a:srgbClr val="818283"/>
                </a:solidFill>
                <a:latin typeface="Arial"/>
              </a:rPr>
              <a:t>Slide 27</a:t>
            </a:r>
          </a:p>
        </p:txBody>
      </p:sp>
      <p:sp>
        <p:nvSpPr>
          <p:cNvPr id="24" name="TextBox 23"/>
          <p:cNvSpPr txBox="1"/>
          <p:nvPr/>
        </p:nvSpPr>
        <p:spPr>
          <a:xfrm>
            <a:off x="548640" y="5623560"/>
            <a:ext cx="11064240" cy="329184"/>
          </a:xfrm>
          <a:prstGeom prst="rect">
            <a:avLst/>
          </a:prstGeom>
          <a:noFill/>
        </p:spPr>
        <p:txBody>
          <a:bodyPr wrap="square" lIns="0" tIns="0" rIns="0" bIns="0" anchor="t">
            <a:spAutoFit/>
          </a:bodyPr>
          <a:lstStyle/>
          <a:p>
            <a:pPr algn="l"/>
            <a:r>
              <a:rPr sz="1400" b="0" i="0">
                <a:solidFill>
                  <a:srgbClr val="002368"/>
                </a:solidFill>
                <a:latin typeface="Georgia"/>
              </a:rPr>
              <a:t>Then next steps, and an appendix: the segment funnels, fallout, data protection, open questions and sources.</a:t>
            </a:r>
          </a:p>
        </p:txBody>
      </p:sp>
      <p:pic>
        <p:nvPicPr>
          <p:cNvPr id="25" name="Picture 24" descr="image3.png"/>
          <p:cNvPicPr>
            <a:picLocks noChangeAspect="1"/>
          </p:cNvPicPr>
          <p:nvPr/>
        </p:nvPicPr>
        <p:blipFill>
          <a:blip r:embed="rId2"/>
          <a:stretch>
            <a:fillRect/>
          </a:stretch>
        </p:blipFill>
        <p:spPr>
          <a:xfrm>
            <a:off x="548640" y="6272784"/>
            <a:ext cx="1143000" cy="274320"/>
          </a:xfrm>
          <a:prstGeom prst="rect">
            <a:avLst/>
          </a:prstGeom>
        </p:spPr>
      </p:pic>
      <p:sp>
        <p:nvSpPr>
          <p:cNvPr id="2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lead-generation review, October 2026</a:t>
            </a:r>
          </a:p>
        </p:txBody>
      </p:sp>
      <p:sp>
        <p:nvSpPr>
          <p:cNvPr id="2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EXECUTIVE SUMMARY</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Where the partnership lead work stands</a:t>
            </a:r>
          </a:p>
        </p:txBody>
      </p:sp>
      <p:sp>
        <p:nvSpPr>
          <p:cNvPr id="4" name="Rounded Rectangle 3"/>
          <p:cNvSpPr/>
          <p:nvPr/>
        </p:nvSpPr>
        <p:spPr>
          <a:xfrm>
            <a:off x="548640" y="1371600"/>
            <a:ext cx="5440680" cy="4572000"/>
          </a:xfrm>
          <a:prstGeom prst="roundRect">
            <a:avLst>
              <a:gd name="adj" fmla="val 1400"/>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914400" y="1600200"/>
            <a:ext cx="4754880" cy="274320"/>
          </a:xfrm>
          <a:prstGeom prst="rect">
            <a:avLst/>
          </a:prstGeom>
          <a:noFill/>
        </p:spPr>
        <p:txBody>
          <a:bodyPr wrap="square" lIns="0" tIns="0" rIns="0" bIns="0" anchor="t">
            <a:spAutoFit/>
          </a:bodyPr>
          <a:lstStyle/>
          <a:p>
            <a:pPr algn="l"/>
            <a:r>
              <a:rPr sz="900" b="1" i="0" spc="200">
                <a:solidFill>
                  <a:srgbClr val="80BFEC"/>
                </a:solidFill>
                <a:latin typeface="Arial"/>
              </a:rPr>
              <a:t>THE LISTS</a:t>
            </a:r>
          </a:p>
        </p:txBody>
      </p:sp>
      <p:sp>
        <p:nvSpPr>
          <p:cNvPr id="6" name="TextBox 5"/>
          <p:cNvSpPr txBox="1"/>
          <p:nvPr/>
        </p:nvSpPr>
        <p:spPr>
          <a:xfrm>
            <a:off x="914400" y="1874519"/>
            <a:ext cx="2194560" cy="640080"/>
          </a:xfrm>
          <a:prstGeom prst="rect">
            <a:avLst/>
          </a:prstGeom>
          <a:noFill/>
        </p:spPr>
        <p:txBody>
          <a:bodyPr wrap="square" lIns="0" tIns="0" rIns="0" bIns="0" anchor="t">
            <a:spAutoFit/>
          </a:bodyPr>
          <a:lstStyle/>
          <a:p>
            <a:pPr algn="l"/>
            <a:r>
              <a:rPr sz="4000" b="0" i="0">
                <a:solidFill>
                  <a:srgbClr val="FFC952"/>
                </a:solidFill>
                <a:latin typeface="Georgia"/>
              </a:rPr>
              <a:t>2,107</a:t>
            </a:r>
          </a:p>
        </p:txBody>
      </p:sp>
      <p:sp>
        <p:nvSpPr>
          <p:cNvPr id="7" name="TextBox 6"/>
          <p:cNvSpPr txBox="1"/>
          <p:nvPr/>
        </p:nvSpPr>
        <p:spPr>
          <a:xfrm>
            <a:off x="3063240" y="1993392"/>
            <a:ext cx="2651760" cy="548640"/>
          </a:xfrm>
          <a:prstGeom prst="rect">
            <a:avLst/>
          </a:prstGeom>
          <a:noFill/>
        </p:spPr>
        <p:txBody>
          <a:bodyPr wrap="square" lIns="0" tIns="0" rIns="0" bIns="0" anchor="t">
            <a:spAutoFit/>
          </a:bodyPr>
          <a:lstStyle/>
          <a:p>
            <a:pPr algn="l"/>
            <a:r>
              <a:rPr sz="1100" b="0" i="0">
                <a:solidFill>
                  <a:srgbClr val="FFFFFF"/>
                </a:solidFill>
                <a:latin typeface="Arial"/>
              </a:rPr>
              <a:t>organisation records in the three databases</a:t>
            </a:r>
          </a:p>
        </p:txBody>
      </p:sp>
      <p:sp>
        <p:nvSpPr>
          <p:cNvPr id="8" name="TextBox 7"/>
          <p:cNvSpPr txBox="1"/>
          <p:nvPr/>
        </p:nvSpPr>
        <p:spPr>
          <a:xfrm>
            <a:off x="914400" y="2606040"/>
            <a:ext cx="2194560" cy="640080"/>
          </a:xfrm>
          <a:prstGeom prst="rect">
            <a:avLst/>
          </a:prstGeom>
          <a:noFill/>
        </p:spPr>
        <p:txBody>
          <a:bodyPr wrap="square" lIns="0" tIns="0" rIns="0" bIns="0" anchor="t">
            <a:spAutoFit/>
          </a:bodyPr>
          <a:lstStyle/>
          <a:p>
            <a:pPr algn="l"/>
            <a:r>
              <a:rPr sz="4000" b="0" i="0">
                <a:solidFill>
                  <a:srgbClr val="FFC952"/>
                </a:solidFill>
                <a:latin typeface="Georgia"/>
              </a:rPr>
              <a:t>1,924</a:t>
            </a:r>
          </a:p>
        </p:txBody>
      </p:sp>
      <p:sp>
        <p:nvSpPr>
          <p:cNvPr id="9" name="TextBox 8"/>
          <p:cNvSpPr txBox="1"/>
          <p:nvPr/>
        </p:nvSpPr>
        <p:spPr>
          <a:xfrm>
            <a:off x="3063240" y="2724912"/>
            <a:ext cx="2651760" cy="548640"/>
          </a:xfrm>
          <a:prstGeom prst="rect">
            <a:avLst/>
          </a:prstGeom>
          <a:noFill/>
        </p:spPr>
        <p:txBody>
          <a:bodyPr wrap="square" lIns="0" tIns="0" rIns="0" bIns="0" anchor="t">
            <a:spAutoFit/>
          </a:bodyPr>
          <a:lstStyle/>
          <a:p>
            <a:pPr algn="l"/>
            <a:r>
              <a:rPr sz="1100" b="0" i="0">
                <a:solidFill>
                  <a:srgbClr val="FFFFFF"/>
                </a:solidFill>
                <a:latin typeface="Arial"/>
              </a:rPr>
              <a:t>leads with a chosen first message (duplicates and out-of-scope records set aside)</a:t>
            </a:r>
          </a:p>
        </p:txBody>
      </p:sp>
      <p:cxnSp>
        <p:nvCxnSpPr>
          <p:cNvPr id="10" name="Connector 9"/>
          <p:cNvCxnSpPr/>
          <p:nvPr/>
        </p:nvCxnSpPr>
        <p:spPr>
          <a:xfrm>
            <a:off x="914400" y="3493008"/>
            <a:ext cx="4709160" cy="0"/>
          </a:xfrm>
          <a:prstGeom prst="line">
            <a:avLst/>
          </a:prstGeom>
          <a:ln w="9525">
            <a:solidFill>
              <a:srgbClr val="8091B3"/>
            </a:solidFill>
          </a:ln>
        </p:spPr>
      </p:cxnSp>
      <p:sp>
        <p:nvSpPr>
          <p:cNvPr id="11" name="TextBox 10"/>
          <p:cNvSpPr txBox="1"/>
          <p:nvPr/>
        </p:nvSpPr>
        <p:spPr>
          <a:xfrm>
            <a:off x="914400" y="3639312"/>
            <a:ext cx="1097280" cy="365760"/>
          </a:xfrm>
          <a:prstGeom prst="rect">
            <a:avLst/>
          </a:prstGeom>
          <a:noFill/>
        </p:spPr>
        <p:txBody>
          <a:bodyPr wrap="square" lIns="0" tIns="0" rIns="0" bIns="0" anchor="t">
            <a:spAutoFit/>
          </a:bodyPr>
          <a:lstStyle/>
          <a:p>
            <a:pPr algn="l"/>
            <a:r>
              <a:rPr sz="2000" b="0" i="0">
                <a:solidFill>
                  <a:srgbClr val="FFFFFF"/>
                </a:solidFill>
                <a:latin typeface="Georgia"/>
              </a:rPr>
              <a:t>1,118</a:t>
            </a:r>
          </a:p>
        </p:txBody>
      </p:sp>
      <p:sp>
        <p:nvSpPr>
          <p:cNvPr id="12" name="TextBox 11"/>
          <p:cNvSpPr txBox="1"/>
          <p:nvPr/>
        </p:nvSpPr>
        <p:spPr>
          <a:xfrm>
            <a:off x="2057400" y="3703320"/>
            <a:ext cx="3566160" cy="274320"/>
          </a:xfrm>
          <a:prstGeom prst="rect">
            <a:avLst/>
          </a:prstGeom>
          <a:noFill/>
        </p:spPr>
        <p:txBody>
          <a:bodyPr wrap="square" lIns="0" tIns="0" rIns="0" bIns="0" anchor="t">
            <a:spAutoFit/>
          </a:bodyPr>
          <a:lstStyle/>
          <a:p>
            <a:pPr algn="l"/>
            <a:r>
              <a:rPr sz="1100" b="0" i="0">
                <a:solidFill>
                  <a:srgbClr val="D9ECF9"/>
                </a:solidFill>
                <a:latin typeface="Arial"/>
              </a:rPr>
              <a:t>companies</a:t>
            </a:r>
          </a:p>
        </p:txBody>
      </p:sp>
      <p:sp>
        <p:nvSpPr>
          <p:cNvPr id="13" name="TextBox 12"/>
          <p:cNvSpPr txBox="1"/>
          <p:nvPr/>
        </p:nvSpPr>
        <p:spPr>
          <a:xfrm>
            <a:off x="914400" y="4069080"/>
            <a:ext cx="1097280" cy="365760"/>
          </a:xfrm>
          <a:prstGeom prst="rect">
            <a:avLst/>
          </a:prstGeom>
          <a:noFill/>
        </p:spPr>
        <p:txBody>
          <a:bodyPr wrap="square" lIns="0" tIns="0" rIns="0" bIns="0" anchor="t">
            <a:spAutoFit/>
          </a:bodyPr>
          <a:lstStyle/>
          <a:p>
            <a:pPr algn="l"/>
            <a:r>
              <a:rPr sz="2000" b="0" i="0">
                <a:solidFill>
                  <a:srgbClr val="FFFFFF"/>
                </a:solidFill>
                <a:latin typeface="Georgia"/>
              </a:rPr>
              <a:t>117</a:t>
            </a:r>
          </a:p>
        </p:txBody>
      </p:sp>
      <p:sp>
        <p:nvSpPr>
          <p:cNvPr id="14" name="TextBox 13"/>
          <p:cNvSpPr txBox="1"/>
          <p:nvPr/>
        </p:nvSpPr>
        <p:spPr>
          <a:xfrm>
            <a:off x="2057400" y="4133088"/>
            <a:ext cx="3566160" cy="274320"/>
          </a:xfrm>
          <a:prstGeom prst="rect">
            <a:avLst/>
          </a:prstGeom>
          <a:noFill/>
        </p:spPr>
        <p:txBody>
          <a:bodyPr wrap="square" lIns="0" tIns="0" rIns="0" bIns="0" anchor="t">
            <a:spAutoFit/>
          </a:bodyPr>
          <a:lstStyle/>
          <a:p>
            <a:pPr algn="l"/>
            <a:r>
              <a:rPr sz="1100" b="0" i="0">
                <a:solidFill>
                  <a:srgbClr val="D9ECF9"/>
                </a:solidFill>
                <a:latin typeface="Arial"/>
              </a:rPr>
              <a:t>savings groups (SACCOS)</a:t>
            </a:r>
          </a:p>
        </p:txBody>
      </p:sp>
      <p:sp>
        <p:nvSpPr>
          <p:cNvPr id="15" name="TextBox 14"/>
          <p:cNvSpPr txBox="1"/>
          <p:nvPr/>
        </p:nvSpPr>
        <p:spPr>
          <a:xfrm>
            <a:off x="914400" y="4498848"/>
            <a:ext cx="1097280" cy="365760"/>
          </a:xfrm>
          <a:prstGeom prst="rect">
            <a:avLst/>
          </a:prstGeom>
          <a:noFill/>
        </p:spPr>
        <p:txBody>
          <a:bodyPr wrap="square" lIns="0" tIns="0" rIns="0" bIns="0" anchor="t">
            <a:spAutoFit/>
          </a:bodyPr>
          <a:lstStyle/>
          <a:p>
            <a:pPr algn="l"/>
            <a:r>
              <a:rPr sz="2000" b="0" i="0">
                <a:solidFill>
                  <a:srgbClr val="FFFFFF"/>
                </a:solidFill>
                <a:latin typeface="Georgia"/>
              </a:rPr>
              <a:t>16</a:t>
            </a:r>
          </a:p>
        </p:txBody>
      </p:sp>
      <p:sp>
        <p:nvSpPr>
          <p:cNvPr id="16" name="TextBox 15"/>
          <p:cNvSpPr txBox="1"/>
          <p:nvPr/>
        </p:nvSpPr>
        <p:spPr>
          <a:xfrm>
            <a:off x="2057400" y="4562856"/>
            <a:ext cx="3566160" cy="274320"/>
          </a:xfrm>
          <a:prstGeom prst="rect">
            <a:avLst/>
          </a:prstGeom>
          <a:noFill/>
        </p:spPr>
        <p:txBody>
          <a:bodyPr wrap="square" lIns="0" tIns="0" rIns="0" bIns="0" anchor="t">
            <a:spAutoFit/>
          </a:bodyPr>
          <a:lstStyle/>
          <a:p>
            <a:pPr algn="l"/>
            <a:r>
              <a:rPr sz="1100" b="0" i="0">
                <a:solidFill>
                  <a:srgbClr val="D9ECF9"/>
                </a:solidFill>
                <a:latin typeface="Arial"/>
              </a:rPr>
              <a:t>introducers</a:t>
            </a:r>
          </a:p>
        </p:txBody>
      </p:sp>
      <p:sp>
        <p:nvSpPr>
          <p:cNvPr id="17" name="TextBox 16"/>
          <p:cNvSpPr txBox="1"/>
          <p:nvPr/>
        </p:nvSpPr>
        <p:spPr>
          <a:xfrm>
            <a:off x="914400" y="4928616"/>
            <a:ext cx="1097280" cy="365760"/>
          </a:xfrm>
          <a:prstGeom prst="rect">
            <a:avLst/>
          </a:prstGeom>
          <a:noFill/>
        </p:spPr>
        <p:txBody>
          <a:bodyPr wrap="square" lIns="0" tIns="0" rIns="0" bIns="0" anchor="t">
            <a:spAutoFit/>
          </a:bodyPr>
          <a:lstStyle/>
          <a:p>
            <a:pPr algn="l"/>
            <a:r>
              <a:rPr sz="2000" b="0" i="0">
                <a:solidFill>
                  <a:srgbClr val="FFFFFF"/>
                </a:solidFill>
                <a:latin typeface="Georgia"/>
              </a:rPr>
              <a:t>445</a:t>
            </a:r>
          </a:p>
        </p:txBody>
      </p:sp>
      <p:sp>
        <p:nvSpPr>
          <p:cNvPr id="18" name="TextBox 17"/>
          <p:cNvSpPr txBox="1"/>
          <p:nvPr/>
        </p:nvSpPr>
        <p:spPr>
          <a:xfrm>
            <a:off x="2057400" y="4992624"/>
            <a:ext cx="3566160" cy="274320"/>
          </a:xfrm>
          <a:prstGeom prst="rect">
            <a:avLst/>
          </a:prstGeom>
          <a:noFill/>
        </p:spPr>
        <p:txBody>
          <a:bodyPr wrap="square" lIns="0" tIns="0" rIns="0" bIns="0" anchor="t">
            <a:spAutoFit/>
          </a:bodyPr>
          <a:lstStyle/>
          <a:p>
            <a:pPr algn="l"/>
            <a:r>
              <a:rPr sz="1100" b="0" i="0">
                <a:solidFill>
                  <a:srgbClr val="D9ECF9"/>
                </a:solidFill>
                <a:latin typeface="Arial"/>
              </a:rPr>
              <a:t>welfare organisations</a:t>
            </a:r>
          </a:p>
        </p:txBody>
      </p:sp>
      <p:sp>
        <p:nvSpPr>
          <p:cNvPr id="19" name="TextBox 18"/>
          <p:cNvSpPr txBox="1"/>
          <p:nvPr/>
        </p:nvSpPr>
        <p:spPr>
          <a:xfrm>
            <a:off x="914400" y="5358383"/>
            <a:ext cx="1097280" cy="365760"/>
          </a:xfrm>
          <a:prstGeom prst="rect">
            <a:avLst/>
          </a:prstGeom>
          <a:noFill/>
        </p:spPr>
        <p:txBody>
          <a:bodyPr wrap="square" lIns="0" tIns="0" rIns="0" bIns="0" anchor="t">
            <a:spAutoFit/>
          </a:bodyPr>
          <a:lstStyle/>
          <a:p>
            <a:pPr algn="l"/>
            <a:r>
              <a:rPr sz="2000" b="0" i="0">
                <a:solidFill>
                  <a:srgbClr val="FFFFFF"/>
                </a:solidFill>
                <a:latin typeface="Georgia"/>
              </a:rPr>
              <a:t>228</a:t>
            </a:r>
          </a:p>
        </p:txBody>
      </p:sp>
      <p:sp>
        <p:nvSpPr>
          <p:cNvPr id="20" name="TextBox 19"/>
          <p:cNvSpPr txBox="1"/>
          <p:nvPr/>
        </p:nvSpPr>
        <p:spPr>
          <a:xfrm>
            <a:off x="2057400" y="5422392"/>
            <a:ext cx="3566160" cy="274320"/>
          </a:xfrm>
          <a:prstGeom prst="rect">
            <a:avLst/>
          </a:prstGeom>
          <a:noFill/>
        </p:spPr>
        <p:txBody>
          <a:bodyPr wrap="square" lIns="0" tIns="0" rIns="0" bIns="0" anchor="t">
            <a:spAutoFit/>
          </a:bodyPr>
          <a:lstStyle/>
          <a:p>
            <a:pPr algn="l"/>
            <a:r>
              <a:rPr sz="1100" b="0" i="0">
                <a:solidFill>
                  <a:srgbClr val="D9ECF9"/>
                </a:solidFill>
                <a:latin typeface="Arial"/>
              </a:rPr>
              <a:t>government offices</a:t>
            </a:r>
          </a:p>
        </p:txBody>
      </p:sp>
      <p:sp>
        <p:nvSpPr>
          <p:cNvPr id="21" name="Hexagon 20"/>
          <p:cNvSpPr/>
          <p:nvPr/>
        </p:nvSpPr>
        <p:spPr>
          <a:xfrm>
            <a:off x="6355080" y="141732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1</a:t>
            </a:r>
          </a:p>
        </p:txBody>
      </p:sp>
      <p:sp>
        <p:nvSpPr>
          <p:cNvPr id="22" name="TextBox 21"/>
          <p:cNvSpPr txBox="1"/>
          <p:nvPr/>
        </p:nvSpPr>
        <p:spPr>
          <a:xfrm>
            <a:off x="6949440" y="1371600"/>
            <a:ext cx="4663440" cy="292608"/>
          </a:xfrm>
          <a:prstGeom prst="rect">
            <a:avLst/>
          </a:prstGeom>
          <a:noFill/>
        </p:spPr>
        <p:txBody>
          <a:bodyPr wrap="square" lIns="0" tIns="0" rIns="0" bIns="0" anchor="t">
            <a:spAutoFit/>
          </a:bodyPr>
          <a:lstStyle/>
          <a:p>
            <a:pPr algn="l"/>
            <a:r>
              <a:rPr sz="1300" b="1" i="0">
                <a:solidFill>
                  <a:srgbClr val="002368"/>
                </a:solidFill>
                <a:latin typeface="Arial"/>
              </a:rPr>
              <a:t>On the map</a:t>
            </a:r>
          </a:p>
        </p:txBody>
      </p:sp>
      <p:sp>
        <p:nvSpPr>
          <p:cNvPr id="23" name="TextBox 22"/>
          <p:cNvSpPr txBox="1"/>
          <p:nvPr/>
        </p:nvSpPr>
        <p:spPr>
          <a:xfrm>
            <a:off x="6949440" y="1682496"/>
            <a:ext cx="4663440" cy="822960"/>
          </a:xfrm>
          <a:prstGeom prst="rect">
            <a:avLst/>
          </a:prstGeom>
          <a:noFill/>
        </p:spPr>
        <p:txBody>
          <a:bodyPr wrap="square" lIns="0" tIns="0" rIns="0" bIns="0" anchor="t">
            <a:spAutoFit/>
          </a:bodyPr>
          <a:lstStyle/>
          <a:p>
            <a:pPr algn="l"/>
            <a:r>
              <a:rPr sz="1100" b="0" i="0">
                <a:solidFill>
                  <a:srgbClr val="000000"/>
                </a:solidFill>
                <a:latin typeface="Arial"/>
              </a:rPr>
              <a:t>1,864 leads are drawn on the lead map and 1,805 sit within 25 km of a campus; 60 have no usable point yet.</a:t>
            </a:r>
          </a:p>
        </p:txBody>
      </p:sp>
      <p:sp>
        <p:nvSpPr>
          <p:cNvPr id="24" name="Hexagon 23"/>
          <p:cNvSpPr/>
          <p:nvPr/>
        </p:nvSpPr>
        <p:spPr>
          <a:xfrm>
            <a:off x="6355080" y="2578608"/>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2</a:t>
            </a:r>
          </a:p>
        </p:txBody>
      </p:sp>
      <p:sp>
        <p:nvSpPr>
          <p:cNvPr id="25" name="TextBox 24"/>
          <p:cNvSpPr txBox="1"/>
          <p:nvPr/>
        </p:nvSpPr>
        <p:spPr>
          <a:xfrm>
            <a:off x="6949440" y="2532888"/>
            <a:ext cx="4663440" cy="292608"/>
          </a:xfrm>
          <a:prstGeom prst="rect">
            <a:avLst/>
          </a:prstGeom>
          <a:noFill/>
        </p:spPr>
        <p:txBody>
          <a:bodyPr wrap="square" lIns="0" tIns="0" rIns="0" bIns="0" anchor="t">
            <a:spAutoFit/>
          </a:bodyPr>
          <a:lstStyle/>
          <a:p>
            <a:pPr algn="l"/>
            <a:r>
              <a:rPr sz="1300" b="1" i="0">
                <a:solidFill>
                  <a:srgbClr val="002368"/>
                </a:solidFill>
                <a:latin typeface="Arial"/>
              </a:rPr>
              <a:t>Reach</a:t>
            </a:r>
          </a:p>
        </p:txBody>
      </p:sp>
      <p:sp>
        <p:nvSpPr>
          <p:cNvPr id="26" name="TextBox 25"/>
          <p:cNvSpPr txBox="1"/>
          <p:nvPr/>
        </p:nvSpPr>
        <p:spPr>
          <a:xfrm>
            <a:off x="6949440" y="2843784"/>
            <a:ext cx="4663440" cy="822960"/>
          </a:xfrm>
          <a:prstGeom prst="rect">
            <a:avLst/>
          </a:prstGeom>
          <a:noFill/>
        </p:spPr>
        <p:txBody>
          <a:bodyPr wrap="square" lIns="0" tIns="0" rIns="0" bIns="0" anchor="t">
            <a:spAutoFit/>
          </a:bodyPr>
          <a:lstStyle/>
          <a:p>
            <a:pPr algn="l"/>
            <a:r>
              <a:rPr sz="1100" b="0" i="0">
                <a:solidFill>
                  <a:srgbClr val="000000"/>
                </a:solidFill>
                <a:latin typeface="Arial"/>
              </a:rPr>
              <a:t>345 email routes are high confidence: 54 reach the decision-maker directly, at their own or their role's inbox, and 291 reach them through a general inbox addressed to them.</a:t>
            </a:r>
          </a:p>
        </p:txBody>
      </p:sp>
      <p:sp>
        <p:nvSpPr>
          <p:cNvPr id="27" name="Hexagon 26"/>
          <p:cNvSpPr/>
          <p:nvPr/>
        </p:nvSpPr>
        <p:spPr>
          <a:xfrm>
            <a:off x="6355080" y="3739896"/>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3</a:t>
            </a:r>
          </a:p>
        </p:txBody>
      </p:sp>
      <p:sp>
        <p:nvSpPr>
          <p:cNvPr id="28" name="TextBox 27"/>
          <p:cNvSpPr txBox="1"/>
          <p:nvPr/>
        </p:nvSpPr>
        <p:spPr>
          <a:xfrm>
            <a:off x="6949440" y="3694176"/>
            <a:ext cx="4663440" cy="292608"/>
          </a:xfrm>
          <a:prstGeom prst="rect">
            <a:avLst/>
          </a:prstGeom>
          <a:noFill/>
        </p:spPr>
        <p:txBody>
          <a:bodyPr wrap="square" lIns="0" tIns="0" rIns="0" bIns="0" anchor="t">
            <a:spAutoFit/>
          </a:bodyPr>
          <a:lstStyle/>
          <a:p>
            <a:pPr algn="l"/>
            <a:r>
              <a:rPr sz="1300" b="1" i="0">
                <a:solidFill>
                  <a:srgbClr val="002368"/>
                </a:solidFill>
                <a:latin typeface="Arial"/>
              </a:rPr>
              <a:t>Drafts</a:t>
            </a:r>
          </a:p>
        </p:txBody>
      </p:sp>
      <p:sp>
        <p:nvSpPr>
          <p:cNvPr id="29" name="TextBox 28"/>
          <p:cNvSpPr txBox="1"/>
          <p:nvPr/>
        </p:nvSpPr>
        <p:spPr>
          <a:xfrm>
            <a:off x="6949440" y="4005072"/>
            <a:ext cx="4663440" cy="822960"/>
          </a:xfrm>
          <a:prstGeom prst="rect">
            <a:avLst/>
          </a:prstGeom>
          <a:noFill/>
        </p:spPr>
        <p:txBody>
          <a:bodyPr wrap="square" lIns="0" tIns="0" rIns="0" bIns="0" anchor="t">
            <a:spAutoFit/>
          </a:bodyPr>
          <a:lstStyle/>
          <a:p>
            <a:pPr algn="l"/>
            <a:r>
              <a:rPr sz="1100" b="0" i="0">
                <a:solidFill>
                  <a:srgbClr val="000000"/>
                </a:solidFill>
                <a:latin typeface="Arial"/>
              </a:rPr>
              <a:t>Email first touches: 63 direct (case A), 408 Attn (case B), 423 redirect requests (case C). 802 leads have no email and go on the call sheets; 228 government letters go by hand.</a:t>
            </a:r>
          </a:p>
        </p:txBody>
      </p:sp>
      <p:sp>
        <p:nvSpPr>
          <p:cNvPr id="30" name="Hexagon 29"/>
          <p:cNvSpPr/>
          <p:nvPr/>
        </p:nvSpPr>
        <p:spPr>
          <a:xfrm>
            <a:off x="6355080" y="4901184"/>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4</a:t>
            </a:r>
          </a:p>
        </p:txBody>
      </p:sp>
      <p:sp>
        <p:nvSpPr>
          <p:cNvPr id="31" name="TextBox 30"/>
          <p:cNvSpPr txBox="1"/>
          <p:nvPr/>
        </p:nvSpPr>
        <p:spPr>
          <a:xfrm>
            <a:off x="6949440" y="4855464"/>
            <a:ext cx="4663440" cy="292608"/>
          </a:xfrm>
          <a:prstGeom prst="rect">
            <a:avLst/>
          </a:prstGeom>
          <a:noFill/>
        </p:spPr>
        <p:txBody>
          <a:bodyPr wrap="square" lIns="0" tIns="0" rIns="0" bIns="0" anchor="t">
            <a:spAutoFit/>
          </a:bodyPr>
          <a:lstStyle/>
          <a:p>
            <a:pPr algn="l"/>
            <a:r>
              <a:rPr sz="1300" b="1" i="0">
                <a:solidFill>
                  <a:srgbClr val="002368"/>
                </a:solidFill>
                <a:latin typeface="Arial"/>
              </a:rPr>
              <a:t>Decisions</a:t>
            </a:r>
          </a:p>
        </p:txBody>
      </p:sp>
      <p:sp>
        <p:nvSpPr>
          <p:cNvPr id="32" name="TextBox 31"/>
          <p:cNvSpPr txBox="1"/>
          <p:nvPr/>
        </p:nvSpPr>
        <p:spPr>
          <a:xfrm>
            <a:off x="6949440" y="5166360"/>
            <a:ext cx="4663440" cy="822960"/>
          </a:xfrm>
          <a:prstGeom prst="rect">
            <a:avLst/>
          </a:prstGeom>
          <a:noFill/>
        </p:spPr>
        <p:txBody>
          <a:bodyPr wrap="square" lIns="0" tIns="0" rIns="0" bIns="0" anchor="t">
            <a:spAutoFit/>
          </a:bodyPr>
          <a:lstStyle/>
          <a:p>
            <a:pPr algn="l"/>
            <a:r>
              <a:rPr sz="1100" b="0" i="0">
                <a:solidFill>
                  <a:srgbClr val="000000"/>
                </a:solidFill>
                <a:latin typeface="Arial"/>
              </a:rPr>
              <a:t>The partnership pipeline is a draft awaiting approval, with 22 open questions and a recommendation for each. Nothing is sent automatically; a person sends every message.</a:t>
            </a:r>
          </a:p>
        </p:txBody>
      </p:sp>
      <p:pic>
        <p:nvPicPr>
          <p:cNvPr id="33" name="Picture 32" descr="image3.png"/>
          <p:cNvPicPr>
            <a:picLocks noChangeAspect="1"/>
          </p:cNvPicPr>
          <p:nvPr/>
        </p:nvPicPr>
        <p:blipFill>
          <a:blip r:embed="rId2"/>
          <a:stretch>
            <a:fillRect/>
          </a:stretch>
        </p:blipFill>
        <p:spPr>
          <a:xfrm>
            <a:off x="548640" y="6272784"/>
            <a:ext cx="1143000" cy="274320"/>
          </a:xfrm>
          <a:prstGeom prst="rect">
            <a:avLst/>
          </a:prstGeom>
        </p:spPr>
      </p:pic>
      <p:sp>
        <p:nvSpPr>
          <p:cNvPr id="34"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5"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contact segments, October 2026</a:t>
            </a:r>
          </a:p>
        </p:txBody>
      </p:sp>
      <p:sp>
        <p:nvSpPr>
          <p:cNvPr id="3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01</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SECTION ONE</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Catchment and lead capture</a:t>
            </a:r>
          </a:p>
        </p:txBody>
      </p:sp>
      <p:sp>
        <p:nvSpPr>
          <p:cNvPr id="6" name="TextBox 5"/>
          <p:cNvSpPr txBox="1"/>
          <p:nvPr/>
        </p:nvSpPr>
        <p:spPr>
          <a:xfrm>
            <a:off x="640080" y="4114800"/>
            <a:ext cx="5760720" cy="640080"/>
          </a:xfrm>
          <a:prstGeom prst="rect">
            <a:avLst/>
          </a:prstGeom>
          <a:noFill/>
        </p:spPr>
        <p:txBody>
          <a:bodyPr wrap="square" lIns="0" tIns="0" rIns="0" bIns="0" anchor="t">
            <a:spAutoFit/>
          </a:bodyPr>
          <a:lstStyle/>
          <a:p>
            <a:pPr algn="l"/>
            <a:r>
              <a:rPr sz="1600" b="0" i="0">
                <a:solidFill>
                  <a:srgbClr val="80BFEC"/>
                </a:solidFill>
                <a:latin typeface="Georgia"/>
              </a:rPr>
              <a:t>How close is close enough, and where the leads came from.</a:t>
            </a:r>
          </a:p>
        </p:txBody>
      </p:sp>
      <p:sp>
        <p:nvSpPr>
          <p:cNvPr id="7" name="TextBox 6"/>
          <p:cNvSpPr txBox="1"/>
          <p:nvPr/>
        </p:nvSpPr>
        <p:spPr>
          <a:xfrm>
            <a:off x="640080" y="4892040"/>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Five campuses and the 25 km line</a:t>
            </a:r>
          </a:p>
          <a:p>
            <a:pPr algn="l" marL="155448" indent="-155448">
              <a:spcAft>
                <a:spcPts val="400"/>
              </a:spcAft>
              <a:buFont typeface="Arial"/>
              <a:buChar char="•"/>
            </a:pPr>
            <a:r>
              <a:rPr sz="1100" b="0" i="0">
                <a:solidFill>
                  <a:srgbClr val="FFFFFF"/>
                </a:solidFill>
                <a:latin typeface="Arial"/>
              </a:rPr>
              <a:t>Distance bands, segment by segment</a:t>
            </a:r>
          </a:p>
          <a:p>
            <a:pPr algn="l" marL="155448" indent="-155448">
              <a:spcAft>
                <a:spcPts val="400"/>
              </a:spcAft>
              <a:buFont typeface="Arial"/>
              <a:buChar char="•"/>
            </a:pPr>
            <a:r>
              <a:rPr sz="1100" b="0" i="0">
                <a:solidFill>
                  <a:srgbClr val="FFFFFF"/>
                </a:solidFill>
                <a:latin typeface="Arial"/>
              </a:rPr>
              <a:t>Corrections never remove a lead</a:t>
            </a:r>
          </a:p>
          <a:p>
            <a:pPr algn="l" marL="155448" indent="-155448">
              <a:spcAft>
                <a:spcPts val="400"/>
              </a:spcAft>
              <a:buFont typeface="Arial"/>
              <a:buChar char="•"/>
            </a:pPr>
            <a:r>
              <a:rPr sz="1100" b="0" i="0">
                <a:solidFill>
                  <a:srgbClr val="FFFFFF"/>
                </a:solidFill>
                <a:latin typeface="Arial"/>
              </a:rPr>
              <a:t>Gaps and take-aways for the Silverleaf team</a:t>
            </a:r>
          </a:p>
          <a:p>
            <a:pPr algn="l" marL="155448" indent="-155448">
              <a:spcAft>
                <a:spcPts val="400"/>
              </a:spcAft>
              <a:buFont typeface="Arial"/>
              <a:buChar char="•"/>
            </a:pPr>
            <a:r>
              <a:rPr sz="1100" b="0" i="0">
                <a:solidFill>
                  <a:srgbClr val="FFFFFF"/>
                </a:solidFill>
                <a:latin typeface="Arial"/>
              </a:rPr>
              <a:t>How the leads were captured</a:t>
            </a:r>
          </a:p>
        </p:txBody>
      </p:sp>
      <p:sp>
        <p:nvSpPr>
          <p:cNvPr id="8" name="TextBox 7"/>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FFFFFF"/>
                </a:solidFill>
                <a:latin typeface="Georgia"/>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ANCHORS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Five campuses, one 25 km catchment</a:t>
            </a:r>
          </a:p>
        </p:txBody>
      </p:sp>
      <p:pic>
        <p:nvPicPr>
          <p:cNvPr id="4" name="Picture 3" descr="catchment_map.png"/>
          <p:cNvPicPr>
            <a:picLocks noChangeAspect="1"/>
          </p:cNvPicPr>
          <p:nvPr/>
        </p:nvPicPr>
        <p:blipFill>
          <a:blip r:embed="rId2"/>
          <a:stretch>
            <a:fillRect/>
          </a:stretch>
        </p:blipFill>
        <p:spPr>
          <a:xfrm>
            <a:off x="548640" y="1298448"/>
            <a:ext cx="7315200" cy="3928533"/>
          </a:xfrm>
          <a:prstGeom prst="rect">
            <a:avLst/>
          </a:prstGeom>
        </p:spPr>
      </p:pic>
      <p:sp>
        <p:nvSpPr>
          <p:cNvPr id="5" name="Oval 4"/>
          <p:cNvSpPr/>
          <p:nvPr/>
        </p:nvSpPr>
        <p:spPr>
          <a:xfrm>
            <a:off x="548640" y="5357164"/>
            <a:ext cx="109728" cy="109728"/>
          </a:xfrm>
          <a:prstGeom prst="ellipse">
            <a:avLst/>
          </a:prstGeom>
          <a:solidFill>
            <a:srgbClr val="002368"/>
          </a:solidFill>
          <a:ln>
            <a:noFill/>
          </a:ln>
        </p:spPr>
        <p:txBody>
          <a:bodyPr rtlCol="0" anchor="ctr"/>
          <a:lstStyle/>
          <a:p>
            <a:pPr algn="ctr"/>
          </a:p>
        </p:txBody>
      </p:sp>
      <p:sp>
        <p:nvSpPr>
          <p:cNvPr id="6" name="TextBox 5"/>
          <p:cNvSpPr txBox="1"/>
          <p:nvPr/>
        </p:nvSpPr>
        <p:spPr>
          <a:xfrm>
            <a:off x="713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Employers</a:t>
            </a:r>
          </a:p>
        </p:txBody>
      </p:sp>
      <p:sp>
        <p:nvSpPr>
          <p:cNvPr id="7" name="Oval 6"/>
          <p:cNvSpPr/>
          <p:nvPr/>
        </p:nvSpPr>
        <p:spPr>
          <a:xfrm>
            <a:off x="1691640" y="5357164"/>
            <a:ext cx="109728" cy="109728"/>
          </a:xfrm>
          <a:prstGeom prst="ellipse">
            <a:avLst/>
          </a:prstGeom>
          <a:solidFill>
            <a:srgbClr val="3E8FCF"/>
          </a:solidFill>
          <a:ln>
            <a:noFill/>
          </a:ln>
        </p:spPr>
        <p:txBody>
          <a:bodyPr rtlCol="0" anchor="ctr"/>
          <a:lstStyle/>
          <a:p>
            <a:pPr algn="ctr"/>
          </a:p>
        </p:txBody>
      </p:sp>
      <p:sp>
        <p:nvSpPr>
          <p:cNvPr id="8" name="TextBox 7"/>
          <p:cNvSpPr txBox="1"/>
          <p:nvPr/>
        </p:nvSpPr>
        <p:spPr>
          <a:xfrm>
            <a:off x="1856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Welfare</a:t>
            </a:r>
          </a:p>
        </p:txBody>
      </p:sp>
      <p:sp>
        <p:nvSpPr>
          <p:cNvPr id="9" name="Oval 8"/>
          <p:cNvSpPr/>
          <p:nvPr/>
        </p:nvSpPr>
        <p:spPr>
          <a:xfrm>
            <a:off x="2834640" y="5357164"/>
            <a:ext cx="109728" cy="109728"/>
          </a:xfrm>
          <a:prstGeom prst="ellipse">
            <a:avLst/>
          </a:prstGeom>
          <a:solidFill>
            <a:srgbClr val="FFC952"/>
          </a:solidFill>
          <a:ln>
            <a:noFill/>
          </a:ln>
        </p:spPr>
        <p:txBody>
          <a:bodyPr rtlCol="0" anchor="ctr"/>
          <a:lstStyle/>
          <a:p>
            <a:pPr algn="ctr"/>
          </a:p>
        </p:txBody>
      </p:sp>
      <p:sp>
        <p:nvSpPr>
          <p:cNvPr id="10" name="TextBox 9"/>
          <p:cNvSpPr txBox="1"/>
          <p:nvPr/>
        </p:nvSpPr>
        <p:spPr>
          <a:xfrm>
            <a:off x="2999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Government</a:t>
            </a:r>
          </a:p>
        </p:txBody>
      </p:sp>
      <p:sp>
        <p:nvSpPr>
          <p:cNvPr id="11" name="Oval 10"/>
          <p:cNvSpPr/>
          <p:nvPr/>
        </p:nvSpPr>
        <p:spPr>
          <a:xfrm>
            <a:off x="3977639" y="5357164"/>
            <a:ext cx="109728" cy="109728"/>
          </a:xfrm>
          <a:prstGeom prst="ellipse">
            <a:avLst/>
          </a:prstGeom>
          <a:solidFill>
            <a:srgbClr val="C0392B"/>
          </a:solidFill>
          <a:ln>
            <a:noFill/>
          </a:ln>
        </p:spPr>
        <p:txBody>
          <a:bodyPr rtlCol="0" anchor="ctr"/>
          <a:lstStyle/>
          <a:p>
            <a:pPr algn="ctr"/>
          </a:p>
        </p:txBody>
      </p:sp>
      <p:sp>
        <p:nvSpPr>
          <p:cNvPr id="12" name="TextBox 11"/>
          <p:cNvSpPr txBox="1"/>
          <p:nvPr/>
        </p:nvSpPr>
        <p:spPr>
          <a:xfrm>
            <a:off x="4142231"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Introducers</a:t>
            </a:r>
          </a:p>
        </p:txBody>
      </p:sp>
      <p:sp>
        <p:nvSpPr>
          <p:cNvPr id="13" name="TextBox 12"/>
          <p:cNvSpPr txBox="1"/>
          <p:nvPr/>
        </p:nvSpPr>
        <p:spPr>
          <a:xfrm>
            <a:off x="5212079" y="5302300"/>
            <a:ext cx="2743200" cy="219456"/>
          </a:xfrm>
          <a:prstGeom prst="rect">
            <a:avLst/>
          </a:prstGeom>
          <a:noFill/>
        </p:spPr>
        <p:txBody>
          <a:bodyPr wrap="square" lIns="0" tIns="0" rIns="0" bIns="0" anchor="ctr">
            <a:spAutoFit/>
          </a:bodyPr>
          <a:lstStyle/>
          <a:p>
            <a:pPr algn="l"/>
            <a:r>
              <a:rPr sz="900" b="0" i="0">
                <a:solidFill>
                  <a:srgbClr val="818283"/>
                </a:solidFill>
                <a:latin typeface="Arial"/>
              </a:rPr>
              <a:t>Dashed: 25 km line · dotted: 5 and 10 km</a:t>
            </a:r>
          </a:p>
        </p:txBody>
      </p:sp>
      <p:sp>
        <p:nvSpPr>
          <p:cNvPr id="14" name="TextBox 13"/>
          <p:cNvSpPr txBox="1"/>
          <p:nvPr/>
        </p:nvSpPr>
        <p:spPr>
          <a:xfrm>
            <a:off x="8183879" y="1325880"/>
            <a:ext cx="3474720" cy="201168"/>
          </a:xfrm>
          <a:prstGeom prst="rect">
            <a:avLst/>
          </a:prstGeom>
          <a:noFill/>
        </p:spPr>
        <p:txBody>
          <a:bodyPr wrap="square" lIns="0" tIns="0" rIns="0" bIns="0" anchor="t">
            <a:spAutoFit/>
          </a:bodyPr>
          <a:lstStyle/>
          <a:p>
            <a:pPr algn="l"/>
            <a:r>
              <a:rPr sz="900" b="1" i="0" spc="200">
                <a:solidFill>
                  <a:srgbClr val="818283"/>
                </a:solidFill>
                <a:latin typeface="Arial"/>
              </a:rPr>
              <a:t>CAMPUS POINTS</a:t>
            </a:r>
          </a:p>
        </p:txBody>
      </p:sp>
      <p:sp>
        <p:nvSpPr>
          <p:cNvPr id="15" name="Hexagon 14"/>
          <p:cNvSpPr/>
          <p:nvPr/>
        </p:nvSpPr>
        <p:spPr>
          <a:xfrm>
            <a:off x="8183879" y="1618488"/>
            <a:ext cx="329184" cy="292608"/>
          </a:xfrm>
          <a:prstGeom prst="hexagon">
            <a:avLst>
              <a:gd name="adj" fmla="val 25000"/>
              <a:gd name="vf" fmla="val 115470"/>
            </a:avLst>
          </a:prstGeom>
          <a:solidFill>
            <a:srgbClr val="002368"/>
          </a:solidFill>
          <a:ln>
            <a:noFill/>
          </a:ln>
        </p:spPr>
        <p:txBody>
          <a:bodyPr rtlCol="0" anchor="ctr" wrap="square" lIns="0" tIns="0" rIns="0" bIns="0"/>
          <a:lstStyle/>
          <a:p>
            <a:pPr algn="ctr"/>
            <a:r>
              <a:rPr sz="900" b="1" i="0">
                <a:solidFill>
                  <a:srgbClr val="FFFFFF"/>
                </a:solidFill>
                <a:latin typeface="Arial"/>
              </a:rPr>
              <a:t>P</a:t>
            </a:r>
          </a:p>
        </p:txBody>
      </p:sp>
      <p:sp>
        <p:nvSpPr>
          <p:cNvPr id="16" name="TextBox 15"/>
          <p:cNvSpPr txBox="1"/>
          <p:nvPr/>
        </p:nvSpPr>
        <p:spPr>
          <a:xfrm>
            <a:off x="8641080" y="1600200"/>
            <a:ext cx="3017520" cy="219456"/>
          </a:xfrm>
          <a:prstGeom prst="rect">
            <a:avLst/>
          </a:prstGeom>
          <a:noFill/>
        </p:spPr>
        <p:txBody>
          <a:bodyPr wrap="square" lIns="0" tIns="0" rIns="0" bIns="0" anchor="t">
            <a:spAutoFit/>
          </a:bodyPr>
          <a:lstStyle/>
          <a:p>
            <a:pPr algn="l"/>
            <a:r>
              <a:rPr sz="1100" b="1" i="0">
                <a:solidFill>
                  <a:srgbClr val="002368"/>
                </a:solidFill>
                <a:latin typeface="Arial"/>
              </a:rPr>
              <a:t>Arusha City (Sakina)</a:t>
            </a:r>
          </a:p>
        </p:txBody>
      </p:sp>
      <p:sp>
        <p:nvSpPr>
          <p:cNvPr id="17" name="TextBox 16"/>
          <p:cNvSpPr txBox="1"/>
          <p:nvPr/>
        </p:nvSpPr>
        <p:spPr>
          <a:xfrm>
            <a:off x="8641080" y="1810512"/>
            <a:ext cx="3017520" cy="201168"/>
          </a:xfrm>
          <a:prstGeom prst="rect">
            <a:avLst/>
          </a:prstGeom>
          <a:noFill/>
        </p:spPr>
        <p:txBody>
          <a:bodyPr wrap="square" lIns="0" tIns="0" rIns="0" bIns="0" anchor="t">
            <a:spAutoFit/>
          </a:bodyPr>
          <a:lstStyle/>
          <a:p>
            <a:pPr algn="l"/>
            <a:r>
              <a:rPr sz="950" b="0" i="0">
                <a:solidFill>
                  <a:srgbClr val="818283"/>
                </a:solidFill>
                <a:latin typeface="Arial"/>
              </a:rPr>
              <a:t>K1–K2, Std 1–7</a:t>
            </a:r>
          </a:p>
        </p:txBody>
      </p:sp>
      <p:sp>
        <p:nvSpPr>
          <p:cNvPr id="18" name="Hexagon 17"/>
          <p:cNvSpPr/>
          <p:nvPr/>
        </p:nvSpPr>
        <p:spPr>
          <a:xfrm>
            <a:off x="8183879" y="2075688"/>
            <a:ext cx="329184" cy="292608"/>
          </a:xfrm>
          <a:prstGeom prst="hexagon">
            <a:avLst>
              <a:gd name="adj" fmla="val 25000"/>
              <a:gd name="vf" fmla="val 115470"/>
            </a:avLst>
          </a:prstGeom>
          <a:solidFill>
            <a:srgbClr val="002368"/>
          </a:solidFill>
          <a:ln>
            <a:noFill/>
          </a:ln>
        </p:spPr>
        <p:txBody>
          <a:bodyPr rtlCol="0" anchor="ctr" wrap="square" lIns="0" tIns="0" rIns="0" bIns="0"/>
          <a:lstStyle/>
          <a:p>
            <a:pPr algn="ctr"/>
            <a:r>
              <a:rPr sz="900" b="1" i="0">
                <a:solidFill>
                  <a:srgbClr val="FFFFFF"/>
                </a:solidFill>
                <a:latin typeface="Arial"/>
              </a:rPr>
              <a:t>P</a:t>
            </a:r>
          </a:p>
        </p:txBody>
      </p:sp>
      <p:sp>
        <p:nvSpPr>
          <p:cNvPr id="19" name="TextBox 18"/>
          <p:cNvSpPr txBox="1"/>
          <p:nvPr/>
        </p:nvSpPr>
        <p:spPr>
          <a:xfrm>
            <a:off x="8641080" y="2057400"/>
            <a:ext cx="3017520" cy="219456"/>
          </a:xfrm>
          <a:prstGeom prst="rect">
            <a:avLst/>
          </a:prstGeom>
          <a:noFill/>
        </p:spPr>
        <p:txBody>
          <a:bodyPr wrap="square" lIns="0" tIns="0" rIns="0" bIns="0" anchor="t">
            <a:spAutoFit/>
          </a:bodyPr>
          <a:lstStyle/>
          <a:p>
            <a:pPr algn="l"/>
            <a:r>
              <a:rPr sz="1100" b="1" i="0">
                <a:solidFill>
                  <a:srgbClr val="002368"/>
                </a:solidFill>
                <a:latin typeface="Arial"/>
              </a:rPr>
              <a:t>Usa River</a:t>
            </a:r>
          </a:p>
        </p:txBody>
      </p:sp>
      <p:sp>
        <p:nvSpPr>
          <p:cNvPr id="20" name="TextBox 19"/>
          <p:cNvSpPr txBox="1"/>
          <p:nvPr/>
        </p:nvSpPr>
        <p:spPr>
          <a:xfrm>
            <a:off x="8641080" y="2267712"/>
            <a:ext cx="3017520" cy="201168"/>
          </a:xfrm>
          <a:prstGeom prst="rect">
            <a:avLst/>
          </a:prstGeom>
          <a:noFill/>
        </p:spPr>
        <p:txBody>
          <a:bodyPr wrap="square" lIns="0" tIns="0" rIns="0" bIns="0" anchor="t">
            <a:spAutoFit/>
          </a:bodyPr>
          <a:lstStyle/>
          <a:p>
            <a:pPr algn="l"/>
            <a:r>
              <a:rPr sz="950" b="0" i="0">
                <a:solidFill>
                  <a:srgbClr val="818283"/>
                </a:solidFill>
                <a:latin typeface="Arial"/>
              </a:rPr>
              <a:t>K1–K2, Std 1–7, boarding</a:t>
            </a:r>
          </a:p>
        </p:txBody>
      </p:sp>
      <p:sp>
        <p:nvSpPr>
          <p:cNvPr id="21" name="Hexagon 20"/>
          <p:cNvSpPr/>
          <p:nvPr/>
        </p:nvSpPr>
        <p:spPr>
          <a:xfrm>
            <a:off x="8183879" y="2532888"/>
            <a:ext cx="329184" cy="292608"/>
          </a:xfrm>
          <a:prstGeom prst="hexagon">
            <a:avLst>
              <a:gd name="adj" fmla="val 25000"/>
              <a:gd name="vf" fmla="val 115470"/>
            </a:avLst>
          </a:prstGeom>
          <a:solidFill>
            <a:srgbClr val="80BFEC"/>
          </a:solidFill>
          <a:ln>
            <a:noFill/>
          </a:ln>
        </p:spPr>
        <p:txBody>
          <a:bodyPr rtlCol="0" anchor="ctr" wrap="square" lIns="0" tIns="0" rIns="0" bIns="0"/>
          <a:lstStyle/>
          <a:p>
            <a:pPr algn="ctr"/>
            <a:r>
              <a:rPr sz="900" b="1" i="0">
                <a:solidFill>
                  <a:srgbClr val="FFFFFF"/>
                </a:solidFill>
                <a:latin typeface="Arial"/>
              </a:rPr>
              <a:t/>
            </a:r>
          </a:p>
        </p:txBody>
      </p:sp>
      <p:sp>
        <p:nvSpPr>
          <p:cNvPr id="22" name="TextBox 21"/>
          <p:cNvSpPr txBox="1"/>
          <p:nvPr/>
        </p:nvSpPr>
        <p:spPr>
          <a:xfrm>
            <a:off x="8641080" y="2514600"/>
            <a:ext cx="3017520" cy="219456"/>
          </a:xfrm>
          <a:prstGeom prst="rect">
            <a:avLst/>
          </a:prstGeom>
          <a:noFill/>
        </p:spPr>
        <p:txBody>
          <a:bodyPr wrap="square" lIns="0" tIns="0" rIns="0" bIns="0" anchor="t">
            <a:spAutoFit/>
          </a:bodyPr>
          <a:lstStyle/>
          <a:p>
            <a:pPr algn="l"/>
            <a:r>
              <a:rPr sz="1100" b="1" i="0">
                <a:solidFill>
                  <a:srgbClr val="002368"/>
                </a:solidFill>
                <a:latin typeface="Arial"/>
              </a:rPr>
              <a:t>Ilboru</a:t>
            </a:r>
          </a:p>
        </p:txBody>
      </p:sp>
      <p:sp>
        <p:nvSpPr>
          <p:cNvPr id="23" name="TextBox 22"/>
          <p:cNvSpPr txBox="1"/>
          <p:nvPr/>
        </p:nvSpPr>
        <p:spPr>
          <a:xfrm>
            <a:off x="8641080" y="27249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24" name="Hexagon 23"/>
          <p:cNvSpPr/>
          <p:nvPr/>
        </p:nvSpPr>
        <p:spPr>
          <a:xfrm>
            <a:off x="8183879" y="2990088"/>
            <a:ext cx="329184" cy="292608"/>
          </a:xfrm>
          <a:prstGeom prst="hexagon">
            <a:avLst>
              <a:gd name="adj" fmla="val 25000"/>
              <a:gd name="vf" fmla="val 115470"/>
            </a:avLst>
          </a:prstGeom>
          <a:solidFill>
            <a:srgbClr val="80BFEC"/>
          </a:solidFill>
          <a:ln>
            <a:noFill/>
          </a:ln>
        </p:spPr>
        <p:txBody>
          <a:bodyPr rtlCol="0" anchor="ctr" wrap="square" lIns="0" tIns="0" rIns="0" bIns="0"/>
          <a:lstStyle/>
          <a:p>
            <a:pPr algn="ctr"/>
            <a:r>
              <a:rPr sz="900" b="1" i="0">
                <a:solidFill>
                  <a:srgbClr val="FFFFFF"/>
                </a:solidFill>
                <a:latin typeface="Arial"/>
              </a:rPr>
              <a:t/>
            </a:r>
          </a:p>
        </p:txBody>
      </p:sp>
      <p:sp>
        <p:nvSpPr>
          <p:cNvPr id="25" name="TextBox 24"/>
          <p:cNvSpPr txBox="1"/>
          <p:nvPr/>
        </p:nvSpPr>
        <p:spPr>
          <a:xfrm>
            <a:off x="8641080" y="2971800"/>
            <a:ext cx="3017520" cy="219456"/>
          </a:xfrm>
          <a:prstGeom prst="rect">
            <a:avLst/>
          </a:prstGeom>
          <a:noFill/>
        </p:spPr>
        <p:txBody>
          <a:bodyPr wrap="square" lIns="0" tIns="0" rIns="0" bIns="0" anchor="t">
            <a:spAutoFit/>
          </a:bodyPr>
          <a:lstStyle/>
          <a:p>
            <a:pPr algn="l"/>
            <a:r>
              <a:rPr sz="1100" b="1" i="0">
                <a:solidFill>
                  <a:srgbClr val="002368"/>
                </a:solidFill>
                <a:latin typeface="Arial"/>
              </a:rPr>
              <a:t>Kijenge</a:t>
            </a:r>
          </a:p>
        </p:txBody>
      </p:sp>
      <p:sp>
        <p:nvSpPr>
          <p:cNvPr id="26" name="TextBox 25"/>
          <p:cNvSpPr txBox="1"/>
          <p:nvPr/>
        </p:nvSpPr>
        <p:spPr>
          <a:xfrm>
            <a:off x="8641080" y="31821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27" name="Hexagon 26"/>
          <p:cNvSpPr/>
          <p:nvPr/>
        </p:nvSpPr>
        <p:spPr>
          <a:xfrm>
            <a:off x="8183879" y="3447288"/>
            <a:ext cx="329184" cy="292608"/>
          </a:xfrm>
          <a:prstGeom prst="hexagon">
            <a:avLst>
              <a:gd name="adj" fmla="val 25000"/>
              <a:gd name="vf" fmla="val 115470"/>
            </a:avLst>
          </a:prstGeom>
          <a:solidFill>
            <a:srgbClr val="80BFEC"/>
          </a:solidFill>
          <a:ln>
            <a:noFill/>
          </a:ln>
        </p:spPr>
        <p:txBody>
          <a:bodyPr rtlCol="0" anchor="ctr" wrap="square" lIns="0" tIns="0" rIns="0" bIns="0"/>
          <a:lstStyle/>
          <a:p>
            <a:pPr algn="ctr"/>
            <a:r>
              <a:rPr sz="900" b="1" i="0">
                <a:solidFill>
                  <a:srgbClr val="FFFFFF"/>
                </a:solidFill>
                <a:latin typeface="Arial"/>
              </a:rPr>
              <a:t/>
            </a:r>
          </a:p>
        </p:txBody>
      </p:sp>
      <p:sp>
        <p:nvSpPr>
          <p:cNvPr id="28" name="TextBox 27"/>
          <p:cNvSpPr txBox="1"/>
          <p:nvPr/>
        </p:nvSpPr>
        <p:spPr>
          <a:xfrm>
            <a:off x="8641080" y="3429000"/>
            <a:ext cx="3017520" cy="219456"/>
          </a:xfrm>
          <a:prstGeom prst="rect">
            <a:avLst/>
          </a:prstGeom>
          <a:noFill/>
        </p:spPr>
        <p:txBody>
          <a:bodyPr wrap="square" lIns="0" tIns="0" rIns="0" bIns="0" anchor="t">
            <a:spAutoFit/>
          </a:bodyPr>
          <a:lstStyle/>
          <a:p>
            <a:pPr algn="l"/>
            <a:r>
              <a:rPr sz="1100" b="1" i="0">
                <a:solidFill>
                  <a:srgbClr val="002368"/>
                </a:solidFill>
                <a:latin typeface="Arial"/>
              </a:rPr>
              <a:t>Boma Ng'ombe</a:t>
            </a:r>
          </a:p>
        </p:txBody>
      </p:sp>
      <p:sp>
        <p:nvSpPr>
          <p:cNvPr id="29" name="TextBox 28"/>
          <p:cNvSpPr txBox="1"/>
          <p:nvPr/>
        </p:nvSpPr>
        <p:spPr>
          <a:xfrm>
            <a:off x="8641080" y="36393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30" name="TextBox 29"/>
          <p:cNvSpPr txBox="1"/>
          <p:nvPr/>
        </p:nvSpPr>
        <p:spPr>
          <a:xfrm>
            <a:off x="8183879" y="3931920"/>
            <a:ext cx="3474720" cy="914400"/>
          </a:xfrm>
          <a:prstGeom prst="rect">
            <a:avLst/>
          </a:prstGeom>
          <a:noFill/>
        </p:spPr>
        <p:txBody>
          <a:bodyPr wrap="square" lIns="0" tIns="0" rIns="0" bIns="0" anchor="t">
            <a:spAutoFit/>
          </a:bodyPr>
          <a:lstStyle/>
          <a:p>
            <a:pPr algn="l"/>
            <a:r>
              <a:rPr sz="1050" b="0" i="0">
                <a:solidFill>
                  <a:srgbClr val="000000"/>
                </a:solidFill>
                <a:latin typeface="Arial"/>
              </a:rPr>
              <a:t>Every distance is measured from the map pin on each campus's own page of silverleaf.co.tz.</a:t>
            </a:r>
          </a:p>
        </p:txBody>
      </p:sp>
      <p:sp>
        <p:nvSpPr>
          <p:cNvPr id="31" name="Rounded Rectangle 30"/>
          <p:cNvSpPr/>
          <p:nvPr/>
        </p:nvSpPr>
        <p:spPr>
          <a:xfrm>
            <a:off x="8183879" y="4754880"/>
            <a:ext cx="3456432" cy="1207008"/>
          </a:xfrm>
          <a:prstGeom prst="roundRect">
            <a:avLst>
              <a:gd name="adj" fmla="val 5303"/>
            </a:avLst>
          </a:prstGeom>
          <a:solidFill>
            <a:srgbClr val="D9ECF9"/>
          </a:solidFill>
          <a:ln w="12700">
            <a:solidFill>
              <a:srgbClr val="D9ECF9"/>
            </a:solidFill>
          </a:ln>
        </p:spPr>
        <p:txBody>
          <a:bodyPr rtlCol="0" anchor="ctr"/>
          <a:lstStyle/>
          <a:p>
            <a:pPr algn="ctr"/>
          </a:p>
        </p:txBody>
      </p:sp>
      <p:sp>
        <p:nvSpPr>
          <p:cNvPr id="32" name="TextBox 31"/>
          <p:cNvSpPr txBox="1"/>
          <p:nvPr/>
        </p:nvSpPr>
        <p:spPr>
          <a:xfrm>
            <a:off x="8366760" y="4864608"/>
            <a:ext cx="3108960" cy="1005840"/>
          </a:xfrm>
          <a:prstGeom prst="rect">
            <a:avLst/>
          </a:prstGeom>
          <a:noFill/>
        </p:spPr>
        <p:txBody>
          <a:bodyPr wrap="square" lIns="0" tIns="0" rIns="0" bIns="0" anchor="t">
            <a:spAutoFit/>
          </a:bodyPr>
          <a:lstStyle/>
          <a:p>
            <a:pPr algn="l"/>
            <a:r>
              <a:rPr sz="1000" b="1" i="0">
                <a:solidFill>
                  <a:srgbClr val="002368"/>
                </a:solidFill>
                <a:latin typeface="Arial"/>
              </a:rPr>
              <a:t>Three clusters. </a:t>
            </a:r>
            <a:r>
              <a:rPr sz="1000" b="0" i="0">
                <a:solidFill>
                  <a:srgbClr val="000000"/>
                </a:solidFill>
                <a:latin typeface="Arial"/>
              </a:rPr>
              <a:t>Sakina, Ilboru and Kijenge lie within about 6 km of each other; Usa River is 17–23 km east; Boma Ng'ombe 31 km beyond. Only Usa River and Arusha City (P) teach primary.</a:t>
            </a:r>
          </a:p>
        </p:txBody>
      </p:sp>
      <p:pic>
        <p:nvPicPr>
          <p:cNvPr id="33" name="Picture 32" descr="image3.png"/>
          <p:cNvPicPr>
            <a:picLocks noChangeAspect="1"/>
          </p:cNvPicPr>
          <p:nvPr/>
        </p:nvPicPr>
        <p:blipFill>
          <a:blip r:embed="rId3"/>
          <a:stretch>
            <a:fillRect/>
          </a:stretch>
        </p:blipFill>
        <p:spPr>
          <a:xfrm>
            <a:off x="548640" y="6272784"/>
            <a:ext cx="1143000" cy="274320"/>
          </a:xfrm>
          <a:prstGeom prst="rect">
            <a:avLst/>
          </a:prstGeom>
        </p:spPr>
      </p:pic>
      <p:sp>
        <p:nvSpPr>
          <p:cNvPr id="34"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4">
                  <a:extLst>
                    <a:ext uri="{A12FA001-AC4F-418D-AE19-62706E023703}">
                      <ahyp:hlinkClr xmlns:ahyp="http://schemas.microsoft.com/office/drawing/2018/hyperlinkcolor" val="tx"/>
                    </a:ext>
                  </a:extLst>
                </a:hlinkClick>
              </a:rPr>
              <a:t>Open the lead map →</a:t>
            </a:r>
          </a:p>
        </p:txBody>
      </p:sp>
      <p:sp>
        <p:nvSpPr>
          <p:cNvPr id="35"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campus pages and lead databases, October 2026; map data © OpenStreetMap contributors</a:t>
            </a:r>
          </a:p>
        </p:txBody>
      </p:sp>
      <p:sp>
        <p:nvSpPr>
          <p:cNvPr id="3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DISTANCE BANDS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Nearer is better, in steps of 5 km</a:t>
            </a:r>
          </a:p>
        </p:txBody>
      </p:sp>
      <p:sp>
        <p:nvSpPr>
          <p:cNvPr id="4" name="Lead"/>
          <p:cNvSpPr txBox="1"/>
          <p:nvPr/>
        </p:nvSpPr>
        <p:spPr>
          <a:xfrm>
            <a:off x="548640" y="1216152"/>
            <a:ext cx="11064240" cy="365760"/>
          </a:xfrm>
          <a:prstGeom prst="rect">
            <a:avLst/>
          </a:prstGeom>
          <a:noFill/>
        </p:spPr>
        <p:txBody>
          <a:bodyPr wrap="square" lIns="0" tIns="0" rIns="0" bIns="0" anchor="t">
            <a:spAutoFit/>
          </a:bodyPr>
          <a:lstStyle/>
          <a:p>
            <a:pPr algn="l"/>
            <a:r>
              <a:rPr sz="1500" b="0" i="0">
                <a:solidFill>
                  <a:srgbClr val="002368"/>
                </a:solidFill>
                <a:latin typeface="Georgia"/>
              </a:rPr>
              <a:t>Straight-line distance to the nearest campus sorts every lead into one of six bands. Each segment applies the line differently.</a:t>
            </a:r>
          </a:p>
        </p:txBody>
      </p:sp>
      <p:sp>
        <p:nvSpPr>
          <p:cNvPr id="5" name="Rounded Rectangle 4"/>
          <p:cNvSpPr/>
          <p:nvPr/>
        </p:nvSpPr>
        <p:spPr>
          <a:xfrm>
            <a:off x="548640" y="1828800"/>
            <a:ext cx="1737360" cy="960120"/>
          </a:xfrm>
          <a:prstGeom prst="roundRect">
            <a:avLst>
              <a:gd name="adj" fmla="val 6666"/>
            </a:avLst>
          </a:prstGeom>
          <a:solidFill>
            <a:srgbClr val="002368"/>
          </a:solidFill>
          <a:ln w="12700">
            <a:solidFill>
              <a:srgbClr val="002368"/>
            </a:solidFill>
          </a:ln>
        </p:spPr>
        <p:txBody>
          <a:bodyPr rtlCol="0" anchor="ctr"/>
          <a:lstStyle/>
          <a:p>
            <a:pPr algn="ctr"/>
          </a:p>
        </p:txBody>
      </p:sp>
      <p:sp>
        <p:nvSpPr>
          <p:cNvPr id="6" name="TextBox 5"/>
          <p:cNvSpPr txBox="1"/>
          <p:nvPr/>
        </p:nvSpPr>
        <p:spPr>
          <a:xfrm>
            <a:off x="685800" y="1920240"/>
            <a:ext cx="1508760" cy="329184"/>
          </a:xfrm>
          <a:prstGeom prst="rect">
            <a:avLst/>
          </a:prstGeom>
          <a:noFill/>
        </p:spPr>
        <p:txBody>
          <a:bodyPr wrap="square" lIns="0" tIns="0" rIns="0" bIns="0" anchor="t">
            <a:spAutoFit/>
          </a:bodyPr>
          <a:lstStyle/>
          <a:p>
            <a:pPr algn="l"/>
            <a:r>
              <a:rPr sz="1400" b="1" i="0">
                <a:solidFill>
                  <a:srgbClr val="FFFFFF"/>
                </a:solidFill>
                <a:latin typeface="Arial"/>
              </a:rPr>
              <a:t>0–5 km</a:t>
            </a:r>
          </a:p>
        </p:txBody>
      </p:sp>
      <p:sp>
        <p:nvSpPr>
          <p:cNvPr id="7" name="TextBox 6"/>
          <p:cNvSpPr txBox="1"/>
          <p:nvPr/>
        </p:nvSpPr>
        <p:spPr>
          <a:xfrm>
            <a:off x="685800" y="2240280"/>
            <a:ext cx="1508760" cy="502920"/>
          </a:xfrm>
          <a:prstGeom prst="rect">
            <a:avLst/>
          </a:prstGeom>
          <a:noFill/>
        </p:spPr>
        <p:txBody>
          <a:bodyPr wrap="square" lIns="0" tIns="0" rIns="0" bIns="0" anchor="t">
            <a:spAutoFit/>
          </a:bodyPr>
          <a:lstStyle/>
          <a:p>
            <a:pPr algn="l"/>
            <a:r>
              <a:rPr sz="950" b="0" i="0">
                <a:solidFill>
                  <a:srgbClr val="FFFFFF"/>
                </a:solidFill>
                <a:latin typeface="Arial"/>
              </a:rPr>
              <a:t>First wave everywhere: a daily commute</a:t>
            </a:r>
          </a:p>
        </p:txBody>
      </p:sp>
      <p:sp>
        <p:nvSpPr>
          <p:cNvPr id="8" name="Rounded Rectangle 7"/>
          <p:cNvSpPr/>
          <p:nvPr/>
        </p:nvSpPr>
        <p:spPr>
          <a:xfrm>
            <a:off x="2414016" y="1828800"/>
            <a:ext cx="1737360" cy="960120"/>
          </a:xfrm>
          <a:prstGeom prst="roundRect">
            <a:avLst>
              <a:gd name="adj" fmla="val 6666"/>
            </a:avLst>
          </a:prstGeom>
          <a:solidFill>
            <a:srgbClr val="1C4A8A"/>
          </a:solidFill>
          <a:ln w="12700">
            <a:solidFill>
              <a:srgbClr val="1C4A8A"/>
            </a:solidFill>
          </a:ln>
        </p:spPr>
        <p:txBody>
          <a:bodyPr rtlCol="0" anchor="ctr"/>
          <a:lstStyle/>
          <a:p>
            <a:pPr algn="ctr"/>
          </a:p>
        </p:txBody>
      </p:sp>
      <p:sp>
        <p:nvSpPr>
          <p:cNvPr id="9" name="TextBox 8"/>
          <p:cNvSpPr txBox="1"/>
          <p:nvPr/>
        </p:nvSpPr>
        <p:spPr>
          <a:xfrm>
            <a:off x="2551176" y="1920240"/>
            <a:ext cx="1508760" cy="329184"/>
          </a:xfrm>
          <a:prstGeom prst="rect">
            <a:avLst/>
          </a:prstGeom>
          <a:noFill/>
        </p:spPr>
        <p:txBody>
          <a:bodyPr wrap="square" lIns="0" tIns="0" rIns="0" bIns="0" anchor="t">
            <a:spAutoFit/>
          </a:bodyPr>
          <a:lstStyle/>
          <a:p>
            <a:pPr algn="l"/>
            <a:r>
              <a:rPr sz="1400" b="1" i="0">
                <a:solidFill>
                  <a:srgbClr val="FFFFFF"/>
                </a:solidFill>
                <a:latin typeface="Arial"/>
              </a:rPr>
              <a:t>6–10 km</a:t>
            </a:r>
          </a:p>
        </p:txBody>
      </p:sp>
      <p:sp>
        <p:nvSpPr>
          <p:cNvPr id="10" name="TextBox 9"/>
          <p:cNvSpPr txBox="1"/>
          <p:nvPr/>
        </p:nvSpPr>
        <p:spPr>
          <a:xfrm>
            <a:off x="2551176" y="2240280"/>
            <a:ext cx="1508760" cy="502920"/>
          </a:xfrm>
          <a:prstGeom prst="rect">
            <a:avLst/>
          </a:prstGeom>
          <a:noFill/>
        </p:spPr>
        <p:txBody>
          <a:bodyPr wrap="square" lIns="0" tIns="0" rIns="0" bIns="0" anchor="t">
            <a:spAutoFit/>
          </a:bodyPr>
          <a:lstStyle/>
          <a:p>
            <a:pPr algn="l"/>
            <a:r>
              <a:rPr sz="950" b="0" i="0">
                <a:solidFill>
                  <a:srgbClr val="FFFFFF"/>
                </a:solidFill>
                <a:latin typeface="Arial"/>
              </a:rPr>
              <a:t>Still close: first wave for employers and wards</a:t>
            </a:r>
          </a:p>
        </p:txBody>
      </p:sp>
      <p:sp>
        <p:nvSpPr>
          <p:cNvPr id="11" name="Rounded Rectangle 10"/>
          <p:cNvSpPr/>
          <p:nvPr/>
        </p:nvSpPr>
        <p:spPr>
          <a:xfrm>
            <a:off x="4279392" y="1828800"/>
            <a:ext cx="1737360" cy="960120"/>
          </a:xfrm>
          <a:prstGeom prst="roundRect">
            <a:avLst>
              <a:gd name="adj" fmla="val 6666"/>
            </a:avLst>
          </a:prstGeom>
          <a:solidFill>
            <a:srgbClr val="3E7BBE"/>
          </a:solidFill>
          <a:ln w="12700">
            <a:solidFill>
              <a:srgbClr val="3E7BBE"/>
            </a:solidFill>
          </a:ln>
        </p:spPr>
        <p:txBody>
          <a:bodyPr rtlCol="0" anchor="ctr"/>
          <a:lstStyle/>
          <a:p>
            <a:pPr algn="ctr"/>
          </a:p>
        </p:txBody>
      </p:sp>
      <p:sp>
        <p:nvSpPr>
          <p:cNvPr id="12" name="TextBox 11"/>
          <p:cNvSpPr txBox="1"/>
          <p:nvPr/>
        </p:nvSpPr>
        <p:spPr>
          <a:xfrm>
            <a:off x="4416552" y="1920240"/>
            <a:ext cx="1508760" cy="329184"/>
          </a:xfrm>
          <a:prstGeom prst="rect">
            <a:avLst/>
          </a:prstGeom>
          <a:noFill/>
        </p:spPr>
        <p:txBody>
          <a:bodyPr wrap="square" lIns="0" tIns="0" rIns="0" bIns="0" anchor="t">
            <a:spAutoFit/>
          </a:bodyPr>
          <a:lstStyle/>
          <a:p>
            <a:pPr algn="l"/>
            <a:r>
              <a:rPr sz="1400" b="1" i="0">
                <a:solidFill>
                  <a:srgbClr val="FFFFFF"/>
                </a:solidFill>
                <a:latin typeface="Arial"/>
              </a:rPr>
              <a:t>11–15 km</a:t>
            </a:r>
          </a:p>
        </p:txBody>
      </p:sp>
      <p:sp>
        <p:nvSpPr>
          <p:cNvPr id="13" name="TextBox 12"/>
          <p:cNvSpPr txBox="1"/>
          <p:nvPr/>
        </p:nvSpPr>
        <p:spPr>
          <a:xfrm>
            <a:off x="4416552" y="2240280"/>
            <a:ext cx="1508760" cy="502920"/>
          </a:xfrm>
          <a:prstGeom prst="rect">
            <a:avLst/>
          </a:prstGeom>
          <a:noFill/>
        </p:spPr>
        <p:txBody>
          <a:bodyPr wrap="square" lIns="0" tIns="0" rIns="0" bIns="0" anchor="t">
            <a:spAutoFit/>
          </a:bodyPr>
          <a:lstStyle/>
          <a:p>
            <a:pPr algn="l"/>
            <a:r>
              <a:rPr sz="950" b="0" i="0">
                <a:solidFill>
                  <a:srgbClr val="FFFFFF"/>
                </a:solidFill>
                <a:latin typeface="Arial"/>
              </a:rPr>
              <a:t>Reachable with school transport</a:t>
            </a:r>
          </a:p>
        </p:txBody>
      </p:sp>
      <p:sp>
        <p:nvSpPr>
          <p:cNvPr id="14" name="Rounded Rectangle 13"/>
          <p:cNvSpPr/>
          <p:nvPr/>
        </p:nvSpPr>
        <p:spPr>
          <a:xfrm>
            <a:off x="6144768" y="1828800"/>
            <a:ext cx="1737360" cy="960120"/>
          </a:xfrm>
          <a:prstGeom prst="roundRect">
            <a:avLst>
              <a:gd name="adj" fmla="val 6666"/>
            </a:avLst>
          </a:prstGeom>
          <a:solidFill>
            <a:srgbClr val="80BFEC"/>
          </a:solidFill>
          <a:ln w="12700">
            <a:solidFill>
              <a:srgbClr val="80BFEC"/>
            </a:solidFill>
          </a:ln>
        </p:spPr>
        <p:txBody>
          <a:bodyPr rtlCol="0" anchor="ctr"/>
          <a:lstStyle/>
          <a:p>
            <a:pPr algn="ctr"/>
          </a:p>
        </p:txBody>
      </p:sp>
      <p:sp>
        <p:nvSpPr>
          <p:cNvPr id="15" name="TextBox 14"/>
          <p:cNvSpPr txBox="1"/>
          <p:nvPr/>
        </p:nvSpPr>
        <p:spPr>
          <a:xfrm>
            <a:off x="6281928" y="1920240"/>
            <a:ext cx="1508760" cy="329184"/>
          </a:xfrm>
          <a:prstGeom prst="rect">
            <a:avLst/>
          </a:prstGeom>
          <a:noFill/>
        </p:spPr>
        <p:txBody>
          <a:bodyPr wrap="square" lIns="0" tIns="0" rIns="0" bIns="0" anchor="t">
            <a:spAutoFit/>
          </a:bodyPr>
          <a:lstStyle/>
          <a:p>
            <a:pPr algn="l"/>
            <a:r>
              <a:rPr sz="1400" b="1" i="0">
                <a:solidFill>
                  <a:srgbClr val="002368"/>
                </a:solidFill>
                <a:latin typeface="Arial"/>
              </a:rPr>
              <a:t>16–20 km</a:t>
            </a:r>
          </a:p>
        </p:txBody>
      </p:sp>
      <p:sp>
        <p:nvSpPr>
          <p:cNvPr id="16" name="TextBox 15"/>
          <p:cNvSpPr txBox="1"/>
          <p:nvPr/>
        </p:nvSpPr>
        <p:spPr>
          <a:xfrm>
            <a:off x="6281928" y="2240280"/>
            <a:ext cx="1508760" cy="502920"/>
          </a:xfrm>
          <a:prstGeom prst="rect">
            <a:avLst/>
          </a:prstGeom>
          <a:noFill/>
        </p:spPr>
        <p:txBody>
          <a:bodyPr wrap="square" lIns="0" tIns="0" rIns="0" bIns="0" anchor="t">
            <a:spAutoFit/>
          </a:bodyPr>
          <a:lstStyle/>
          <a:p>
            <a:pPr algn="l"/>
            <a:r>
              <a:rPr sz="950" b="0" i="0">
                <a:solidFill>
                  <a:srgbClr val="002368"/>
                </a:solidFill>
                <a:latin typeface="Arial"/>
              </a:rPr>
              <a:t>Transport; a later wave for wards</a:t>
            </a:r>
          </a:p>
        </p:txBody>
      </p:sp>
      <p:sp>
        <p:nvSpPr>
          <p:cNvPr id="17" name="Rounded Rectangle 16"/>
          <p:cNvSpPr/>
          <p:nvPr/>
        </p:nvSpPr>
        <p:spPr>
          <a:xfrm>
            <a:off x="8010144" y="1828800"/>
            <a:ext cx="1737360" cy="960120"/>
          </a:xfrm>
          <a:prstGeom prst="roundRect">
            <a:avLst>
              <a:gd name="adj" fmla="val 6666"/>
            </a:avLst>
          </a:prstGeom>
          <a:solidFill>
            <a:srgbClr val="D9ECF9"/>
          </a:solidFill>
          <a:ln w="12700">
            <a:solidFill>
              <a:srgbClr val="D9ECF9"/>
            </a:solidFill>
          </a:ln>
        </p:spPr>
        <p:txBody>
          <a:bodyPr rtlCol="0" anchor="ctr"/>
          <a:lstStyle/>
          <a:p>
            <a:pPr algn="ctr"/>
          </a:p>
        </p:txBody>
      </p:sp>
      <p:sp>
        <p:nvSpPr>
          <p:cNvPr id="18" name="TextBox 17"/>
          <p:cNvSpPr txBox="1"/>
          <p:nvPr/>
        </p:nvSpPr>
        <p:spPr>
          <a:xfrm>
            <a:off x="8147304" y="1920240"/>
            <a:ext cx="1508760" cy="329184"/>
          </a:xfrm>
          <a:prstGeom prst="rect">
            <a:avLst/>
          </a:prstGeom>
          <a:noFill/>
        </p:spPr>
        <p:txBody>
          <a:bodyPr wrap="square" lIns="0" tIns="0" rIns="0" bIns="0" anchor="t">
            <a:spAutoFit/>
          </a:bodyPr>
          <a:lstStyle/>
          <a:p>
            <a:pPr algn="l"/>
            <a:r>
              <a:rPr sz="1400" b="1" i="0">
                <a:solidFill>
                  <a:srgbClr val="002368"/>
                </a:solidFill>
                <a:latin typeface="Arial"/>
              </a:rPr>
              <a:t>21–25 km</a:t>
            </a:r>
          </a:p>
        </p:txBody>
      </p:sp>
      <p:sp>
        <p:nvSpPr>
          <p:cNvPr id="19" name="TextBox 18"/>
          <p:cNvSpPr txBox="1"/>
          <p:nvPr/>
        </p:nvSpPr>
        <p:spPr>
          <a:xfrm>
            <a:off x="8147304" y="2240280"/>
            <a:ext cx="1508760" cy="502920"/>
          </a:xfrm>
          <a:prstGeom prst="rect">
            <a:avLst/>
          </a:prstGeom>
          <a:noFill/>
        </p:spPr>
        <p:txBody>
          <a:bodyPr wrap="square" lIns="0" tIns="0" rIns="0" bIns="0" anchor="t">
            <a:spAutoFit/>
          </a:bodyPr>
          <a:lstStyle/>
          <a:p>
            <a:pPr algn="l"/>
            <a:r>
              <a:rPr sz="950" b="0" i="0">
                <a:solidFill>
                  <a:srgbClr val="002368"/>
                </a:solidFill>
                <a:latin typeface="Arial"/>
              </a:rPr>
              <a:t>Edge of the transport area; lowest priority</a:t>
            </a:r>
          </a:p>
        </p:txBody>
      </p:sp>
      <p:sp>
        <p:nvSpPr>
          <p:cNvPr id="20" name="Rounded Rectangle 19"/>
          <p:cNvSpPr/>
          <p:nvPr/>
        </p:nvSpPr>
        <p:spPr>
          <a:xfrm>
            <a:off x="9875519" y="1828800"/>
            <a:ext cx="1737360" cy="960120"/>
          </a:xfrm>
          <a:prstGeom prst="roundRect">
            <a:avLst>
              <a:gd name="adj" fmla="val 6666"/>
            </a:avLst>
          </a:prstGeom>
          <a:solidFill>
            <a:srgbClr val="ECECEC"/>
          </a:solidFill>
          <a:ln w="12700">
            <a:solidFill>
              <a:srgbClr val="ECECEC"/>
            </a:solidFill>
          </a:ln>
        </p:spPr>
        <p:txBody>
          <a:bodyPr rtlCol="0" anchor="ctr"/>
          <a:lstStyle/>
          <a:p>
            <a:pPr algn="ctr"/>
          </a:p>
        </p:txBody>
      </p:sp>
      <p:sp>
        <p:nvSpPr>
          <p:cNvPr id="21" name="TextBox 20"/>
          <p:cNvSpPr txBox="1"/>
          <p:nvPr/>
        </p:nvSpPr>
        <p:spPr>
          <a:xfrm>
            <a:off x="10012680" y="1920240"/>
            <a:ext cx="1508760" cy="329184"/>
          </a:xfrm>
          <a:prstGeom prst="rect">
            <a:avLst/>
          </a:prstGeom>
          <a:noFill/>
        </p:spPr>
        <p:txBody>
          <a:bodyPr wrap="square" lIns="0" tIns="0" rIns="0" bIns="0" anchor="t">
            <a:spAutoFit/>
          </a:bodyPr>
          <a:lstStyle/>
          <a:p>
            <a:pPr algn="l"/>
            <a:r>
              <a:rPr sz="1400" b="1" i="0">
                <a:solidFill>
                  <a:srgbClr val="002368"/>
                </a:solidFill>
                <a:latin typeface="Arial"/>
              </a:rPr>
              <a:t>Beyond 25 km</a:t>
            </a:r>
          </a:p>
        </p:txBody>
      </p:sp>
      <p:sp>
        <p:nvSpPr>
          <p:cNvPr id="22" name="TextBox 21"/>
          <p:cNvSpPr txBox="1"/>
          <p:nvPr/>
        </p:nvSpPr>
        <p:spPr>
          <a:xfrm>
            <a:off x="10012680" y="2240280"/>
            <a:ext cx="1508760" cy="502920"/>
          </a:xfrm>
          <a:prstGeom prst="rect">
            <a:avLst/>
          </a:prstGeom>
          <a:noFill/>
        </p:spPr>
        <p:txBody>
          <a:bodyPr wrap="square" lIns="0" tIns="0" rIns="0" bIns="0" anchor="t">
            <a:spAutoFit/>
          </a:bodyPr>
          <a:lstStyle/>
          <a:p>
            <a:pPr algn="l"/>
            <a:r>
              <a:rPr sz="950" b="0" i="0">
                <a:solidFill>
                  <a:srgbClr val="002368"/>
                </a:solidFill>
                <a:latin typeface="Arial"/>
              </a:rPr>
              <a:t>Outside the catchment</a:t>
            </a:r>
          </a:p>
        </p:txBody>
      </p:sp>
      <p:sp>
        <p:nvSpPr>
          <p:cNvPr id="23" name="Rounded Rectangle 22"/>
          <p:cNvSpPr/>
          <p:nvPr/>
        </p:nvSpPr>
        <p:spPr>
          <a:xfrm>
            <a:off x="548640" y="3063240"/>
            <a:ext cx="5449824" cy="1325880"/>
          </a:xfrm>
          <a:prstGeom prst="roundRect">
            <a:avLst>
              <a:gd name="adj" fmla="val 4827"/>
            </a:avLst>
          </a:prstGeom>
          <a:solidFill>
            <a:srgbClr val="FFFFFF"/>
          </a:solidFill>
          <a:ln w="12700">
            <a:solidFill>
              <a:srgbClr val="D9ECF9"/>
            </a:solidFill>
          </a:ln>
        </p:spPr>
        <p:txBody>
          <a:bodyPr rtlCol="0" anchor="ctr"/>
          <a:lstStyle/>
          <a:p>
            <a:pPr algn="ctr"/>
          </a:p>
        </p:txBody>
      </p:sp>
      <p:sp>
        <p:nvSpPr>
          <p:cNvPr id="24" name="TextBox 23"/>
          <p:cNvSpPr txBox="1"/>
          <p:nvPr/>
        </p:nvSpPr>
        <p:spPr>
          <a:xfrm>
            <a:off x="777240" y="3200400"/>
            <a:ext cx="5029200" cy="274320"/>
          </a:xfrm>
          <a:prstGeom prst="rect">
            <a:avLst/>
          </a:prstGeom>
          <a:noFill/>
        </p:spPr>
        <p:txBody>
          <a:bodyPr wrap="square" lIns="0" tIns="0" rIns="0" bIns="0" anchor="t">
            <a:spAutoFit/>
          </a:bodyPr>
          <a:lstStyle/>
          <a:p>
            <a:pPr algn="l"/>
            <a:r>
              <a:rPr sz="1300" b="1" i="0">
                <a:solidFill>
                  <a:srgbClr val="002368"/>
                </a:solidFill>
                <a:latin typeface="Arial"/>
              </a:rPr>
              <a:t>Employers</a:t>
            </a:r>
          </a:p>
        </p:txBody>
      </p:sp>
      <p:sp>
        <p:nvSpPr>
          <p:cNvPr id="25" name="TextBox 24"/>
          <p:cNvSpPr txBox="1"/>
          <p:nvPr/>
        </p:nvSpPr>
        <p:spPr>
          <a:xfrm>
            <a:off x="777240" y="3502152"/>
            <a:ext cx="5029200" cy="868680"/>
          </a:xfrm>
          <a:prstGeom prst="rect">
            <a:avLst/>
          </a:prstGeom>
          <a:noFill/>
        </p:spPr>
        <p:txBody>
          <a:bodyPr wrap="square" lIns="0" tIns="0" rIns="0" bIns="0" anchor="t">
            <a:spAutoFit/>
          </a:bodyPr>
          <a:lstStyle/>
          <a:p>
            <a:pPr algn="l"/>
            <a:r>
              <a:rPr sz="1050" b="0" i="0">
                <a:solidFill>
                  <a:srgbClr val="000000"/>
                </a:solidFill>
                <a:latin typeface="Arial"/>
              </a:rPr>
              <a:t>Distance ranks, it never rules out: staff live in many places. Reach score +2 at 0–5 km, +1 at 6–10 km, −3 beyond 40 km. A business operating outside Arusha–Kilimanjaro is held (39 businesses), each case reviewed and sourced.</a:t>
            </a:r>
          </a:p>
        </p:txBody>
      </p:sp>
      <p:sp>
        <p:nvSpPr>
          <p:cNvPr id="26" name="Rounded Rectangle 25"/>
          <p:cNvSpPr/>
          <p:nvPr/>
        </p:nvSpPr>
        <p:spPr>
          <a:xfrm>
            <a:off x="6190488" y="3063240"/>
            <a:ext cx="5449824" cy="1325880"/>
          </a:xfrm>
          <a:prstGeom prst="roundRect">
            <a:avLst>
              <a:gd name="adj" fmla="val 4827"/>
            </a:avLst>
          </a:prstGeom>
          <a:solidFill>
            <a:srgbClr val="FFFFFF"/>
          </a:solidFill>
          <a:ln w="12700">
            <a:solidFill>
              <a:srgbClr val="D9ECF9"/>
            </a:solidFill>
          </a:ln>
        </p:spPr>
        <p:txBody>
          <a:bodyPr rtlCol="0" anchor="ctr"/>
          <a:lstStyle/>
          <a:p>
            <a:pPr algn="ctr"/>
          </a:p>
        </p:txBody>
      </p:sp>
      <p:sp>
        <p:nvSpPr>
          <p:cNvPr id="27" name="TextBox 26"/>
          <p:cNvSpPr txBox="1"/>
          <p:nvPr/>
        </p:nvSpPr>
        <p:spPr>
          <a:xfrm>
            <a:off x="6419088" y="3200400"/>
            <a:ext cx="5029200" cy="274320"/>
          </a:xfrm>
          <a:prstGeom prst="rect">
            <a:avLst/>
          </a:prstGeom>
          <a:noFill/>
        </p:spPr>
        <p:txBody>
          <a:bodyPr wrap="square" lIns="0" tIns="0" rIns="0" bIns="0" anchor="t">
            <a:spAutoFit/>
          </a:bodyPr>
          <a:lstStyle/>
          <a:p>
            <a:pPr algn="l"/>
            <a:r>
              <a:rPr sz="1300" b="1" i="0">
                <a:solidFill>
                  <a:srgbClr val="002368"/>
                </a:solidFill>
                <a:latin typeface="Arial"/>
              </a:rPr>
              <a:t>Introducers</a:t>
            </a:r>
          </a:p>
        </p:txBody>
      </p:sp>
      <p:sp>
        <p:nvSpPr>
          <p:cNvPr id="28" name="TextBox 27"/>
          <p:cNvSpPr txBox="1"/>
          <p:nvPr/>
        </p:nvSpPr>
        <p:spPr>
          <a:xfrm>
            <a:off x="6419088" y="3502152"/>
            <a:ext cx="5029200" cy="868680"/>
          </a:xfrm>
          <a:prstGeom prst="rect">
            <a:avLst/>
          </a:prstGeom>
          <a:noFill/>
        </p:spPr>
        <p:txBody>
          <a:bodyPr wrap="square" lIns="0" tIns="0" rIns="0" bIns="0" anchor="t">
            <a:spAutoFit/>
          </a:bodyPr>
          <a:lstStyle/>
          <a:p>
            <a:pPr algn="l"/>
            <a:r>
              <a:rPr sz="1050" b="0" i="0">
                <a:solidFill>
                  <a:srgbClr val="000000"/>
                </a:solidFill>
                <a:latin typeface="Arial"/>
              </a:rPr>
              <a:t>No distance rule. A chamber or association is judged by how many members employ staff near the campuses, so national bodies are in scope.</a:t>
            </a:r>
          </a:p>
        </p:txBody>
      </p:sp>
      <p:sp>
        <p:nvSpPr>
          <p:cNvPr id="29" name="Rounded Rectangle 28"/>
          <p:cNvSpPr/>
          <p:nvPr/>
        </p:nvSpPr>
        <p:spPr>
          <a:xfrm>
            <a:off x="548640" y="4526280"/>
            <a:ext cx="5449824" cy="1325880"/>
          </a:xfrm>
          <a:prstGeom prst="roundRect">
            <a:avLst>
              <a:gd name="adj" fmla="val 4827"/>
            </a:avLst>
          </a:prstGeom>
          <a:solidFill>
            <a:srgbClr val="FFFFFF"/>
          </a:solidFill>
          <a:ln w="12700">
            <a:solidFill>
              <a:srgbClr val="D9ECF9"/>
            </a:solidFill>
          </a:ln>
        </p:spPr>
        <p:txBody>
          <a:bodyPr rtlCol="0" anchor="ctr"/>
          <a:lstStyle/>
          <a:p>
            <a:pPr algn="ctr"/>
          </a:p>
        </p:txBody>
      </p:sp>
      <p:sp>
        <p:nvSpPr>
          <p:cNvPr id="30" name="TextBox 29"/>
          <p:cNvSpPr txBox="1"/>
          <p:nvPr/>
        </p:nvSpPr>
        <p:spPr>
          <a:xfrm>
            <a:off x="777240" y="4663440"/>
            <a:ext cx="5029200" cy="274320"/>
          </a:xfrm>
          <a:prstGeom prst="rect">
            <a:avLst/>
          </a:prstGeom>
          <a:noFill/>
        </p:spPr>
        <p:txBody>
          <a:bodyPr wrap="square" lIns="0" tIns="0" rIns="0" bIns="0" anchor="t">
            <a:spAutoFit/>
          </a:bodyPr>
          <a:lstStyle/>
          <a:p>
            <a:pPr algn="l"/>
            <a:r>
              <a:rPr sz="1300" b="1" i="0">
                <a:solidFill>
                  <a:srgbClr val="002368"/>
                </a:solidFill>
                <a:latin typeface="Arial"/>
              </a:rPr>
              <a:t>Welfare</a:t>
            </a:r>
          </a:p>
        </p:txBody>
      </p:sp>
      <p:sp>
        <p:nvSpPr>
          <p:cNvPr id="31" name="TextBox 30"/>
          <p:cNvSpPr txBox="1"/>
          <p:nvPr/>
        </p:nvSpPr>
        <p:spPr>
          <a:xfrm>
            <a:off x="777240" y="4965192"/>
            <a:ext cx="5029200" cy="868680"/>
          </a:xfrm>
          <a:prstGeom prst="rect">
            <a:avLst/>
          </a:prstGeom>
          <a:noFill/>
        </p:spPr>
        <p:txBody>
          <a:bodyPr wrap="square" lIns="0" tIns="0" rIns="0" bIns="0" anchor="t">
            <a:spAutoFit/>
          </a:bodyPr>
          <a:lstStyle/>
          <a:p>
            <a:pPr algn="l"/>
            <a:r>
              <a:rPr sz="1050" b="0" i="0">
                <a:solidFill>
                  <a:srgbClr val="000000"/>
                </a:solidFill>
                <a:latin typeface="Arial"/>
              </a:rPr>
              <a:t>Homes, programmes and centres are held beyond 25 km or while the location is unresolved. A funder needs a verified link to a home within 25 km. Networks are exempt. Distance points 15 / 12 / 9 / 6 / 3 by band.</a:t>
            </a:r>
          </a:p>
        </p:txBody>
      </p:sp>
      <p:sp>
        <p:nvSpPr>
          <p:cNvPr id="32" name="Rounded Rectangle 31"/>
          <p:cNvSpPr/>
          <p:nvPr/>
        </p:nvSpPr>
        <p:spPr>
          <a:xfrm>
            <a:off x="6190488" y="4526280"/>
            <a:ext cx="5449824" cy="1325880"/>
          </a:xfrm>
          <a:prstGeom prst="roundRect">
            <a:avLst>
              <a:gd name="adj" fmla="val 4827"/>
            </a:avLst>
          </a:prstGeom>
          <a:solidFill>
            <a:srgbClr val="FFFFFF"/>
          </a:solidFill>
          <a:ln w="12700">
            <a:solidFill>
              <a:srgbClr val="D9ECF9"/>
            </a:solidFill>
          </a:ln>
        </p:spPr>
        <p:txBody>
          <a:bodyPr rtlCol="0" anchor="ctr"/>
          <a:lstStyle/>
          <a:p>
            <a:pPr algn="ctr"/>
          </a:p>
        </p:txBody>
      </p:sp>
      <p:sp>
        <p:nvSpPr>
          <p:cNvPr id="33" name="TextBox 32"/>
          <p:cNvSpPr txBox="1"/>
          <p:nvPr/>
        </p:nvSpPr>
        <p:spPr>
          <a:xfrm>
            <a:off x="6419088" y="4663440"/>
            <a:ext cx="5029200" cy="274320"/>
          </a:xfrm>
          <a:prstGeom prst="rect">
            <a:avLst/>
          </a:prstGeom>
          <a:noFill/>
        </p:spPr>
        <p:txBody>
          <a:bodyPr wrap="square" lIns="0" tIns="0" rIns="0" bIns="0" anchor="t">
            <a:spAutoFit/>
          </a:bodyPr>
          <a:lstStyle/>
          <a:p>
            <a:pPr algn="l"/>
            <a:r>
              <a:rPr sz="1300" b="1" i="0">
                <a:solidFill>
                  <a:srgbClr val="002368"/>
                </a:solidFill>
                <a:latin typeface="Arial"/>
              </a:rPr>
              <a:t>Government</a:t>
            </a:r>
          </a:p>
        </p:txBody>
      </p:sp>
      <p:sp>
        <p:nvSpPr>
          <p:cNvPr id="34" name="TextBox 33"/>
          <p:cNvSpPr txBox="1"/>
          <p:nvPr/>
        </p:nvSpPr>
        <p:spPr>
          <a:xfrm>
            <a:off x="6419088" y="4965192"/>
            <a:ext cx="5029200" cy="868680"/>
          </a:xfrm>
          <a:prstGeom prst="rect">
            <a:avLst/>
          </a:prstGeom>
          <a:noFill/>
        </p:spPr>
        <p:txBody>
          <a:bodyPr wrap="square" lIns="0" tIns="0" rIns="0" bIns="0" anchor="t">
            <a:spAutoFit/>
          </a:bodyPr>
          <a:lstStyle/>
          <a:p>
            <a:pPr algn="l"/>
            <a:r>
              <a:rPr sz="1050" b="0" i="0">
                <a:solidFill>
                  <a:srgbClr val="000000"/>
                </a:solidFill>
                <a:latin typeface="Arial"/>
              </a:rPr>
              <a:t>A ward is in scope when its reference point is within 25 km; transport score 25 × the average band weight to the nearest campus and the nearest primary campus. Wards within 10 km come first.</a:t>
            </a:r>
          </a:p>
        </p:txBody>
      </p:sp>
      <p:pic>
        <p:nvPicPr>
          <p:cNvPr id="35" name="Picture 34" descr="image3.png"/>
          <p:cNvPicPr>
            <a:picLocks noChangeAspect="1"/>
          </p:cNvPicPr>
          <p:nvPr/>
        </p:nvPicPr>
        <p:blipFill>
          <a:blip r:embed="rId2"/>
          <a:stretch>
            <a:fillRect/>
          </a:stretch>
        </p:blipFill>
        <p:spPr>
          <a:xfrm>
            <a:off x="548640" y="6272784"/>
            <a:ext cx="1143000" cy="274320"/>
          </a:xfrm>
          <a:prstGeom prst="rect">
            <a:avLst/>
          </a:prstGeom>
        </p:spPr>
      </p:pic>
      <p:sp>
        <p:nvSpPr>
          <p:cNvPr id="36"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7"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catchment criteria and offer register</a:t>
            </a:r>
          </a:p>
        </p:txBody>
      </p:sp>
      <p:sp>
        <p:nvSpPr>
          <p:cNvPr id="3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WHERE THE LEADS SIT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Most leads sit within 5 km of a campus</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LEADS ON THE MAP BY DISTANCE BAND AND SEGMENT</a:t>
            </a:r>
          </a:p>
        </p:txBody>
      </p:sp>
      <p:graphicFrame>
        <p:nvGraphicFramePr>
          <p:cNvPr id="5" name="Chart 4"/>
          <p:cNvGraphicFramePr>
            <a:graphicFrameLocks noGrp="1"/>
          </p:cNvGraphicFramePr>
          <p:nvPr/>
        </p:nvGraphicFramePr>
        <p:xfrm>
          <a:off x="411480" y="1508760"/>
          <a:ext cx="6766560" cy="3749039"/>
        </p:xfrm>
        <a:graphic>
          <a:graphicData uri="http://schemas.openxmlformats.org/drawingml/2006/chart">
            <c:chart xmlns:c="http://schemas.openxmlformats.org/drawingml/2006/chart" r:id="rId2"/>
          </a:graphicData>
        </a:graphic>
      </p:graphicFrame>
      <p:sp>
        <p:nvSpPr>
          <p:cNvPr id="6" name="TextBox 5"/>
          <p:cNvSpPr txBox="1"/>
          <p:nvPr/>
        </p:nvSpPr>
        <p:spPr>
          <a:xfrm>
            <a:off x="548640" y="5349240"/>
            <a:ext cx="6583680" cy="548640"/>
          </a:xfrm>
          <a:prstGeom prst="rect">
            <a:avLst/>
          </a:prstGeom>
          <a:noFill/>
        </p:spPr>
        <p:txBody>
          <a:bodyPr wrap="square" lIns="0" tIns="0" rIns="0" bIns="0" anchor="t">
            <a:spAutoFit/>
          </a:bodyPr>
          <a:lstStyle/>
          <a:p>
            <a:pPr algn="l"/>
            <a:r>
              <a:rPr sz="1000" b="0" i="0">
                <a:solidFill>
                  <a:srgbClr val="818283"/>
                </a:solidFill>
                <a:latin typeface="Arial"/>
              </a:rPr>
              <a:t>Labels shown for 25 or more. 1,864 leads drawn; 1,805 within 25 km. The 21–25 km bulge is mostly Moshi, inside Boma Ng'ombe's circle. 60 leads have no usable point (30 of them funders abroad).</a:t>
            </a:r>
          </a:p>
        </p:txBody>
      </p:sp>
      <p:sp>
        <p:nvSpPr>
          <p:cNvPr id="7" name="Rounded Rectangle 6"/>
          <p:cNvSpPr/>
          <p:nvPr/>
        </p:nvSpPr>
        <p:spPr>
          <a:xfrm>
            <a:off x="7406640" y="1325880"/>
            <a:ext cx="4233672" cy="4617720"/>
          </a:xfrm>
          <a:prstGeom prst="roundRect">
            <a:avLst>
              <a:gd name="adj" fmla="val 1511"/>
            </a:avLst>
          </a:prstGeom>
          <a:solidFill>
            <a:srgbClr val="D9ECF9"/>
          </a:solidFill>
          <a:ln w="12700">
            <a:solidFill>
              <a:srgbClr val="D9ECF9"/>
            </a:solidFill>
          </a:ln>
        </p:spPr>
        <p:txBody>
          <a:bodyPr rtlCol="0" anchor="ctr"/>
          <a:lstStyle/>
          <a:p>
            <a:pPr algn="ctr"/>
          </a:p>
        </p:txBody>
      </p:sp>
      <p:pic>
        <p:nvPicPr>
          <p:cNvPr id="8" name="Picture 7" descr="image4.png"/>
          <p:cNvPicPr>
            <a:picLocks noChangeAspect="1"/>
          </p:cNvPicPr>
          <p:nvPr/>
        </p:nvPicPr>
        <p:blipFill>
          <a:blip r:embed="rId3"/>
          <a:stretch>
            <a:fillRect/>
          </a:stretch>
        </p:blipFill>
        <p:spPr>
          <a:xfrm>
            <a:off x="10744200" y="1508760"/>
            <a:ext cx="594360" cy="774469"/>
          </a:xfrm>
          <a:prstGeom prst="rect">
            <a:avLst/>
          </a:prstGeom>
        </p:spPr>
      </p:pic>
      <p:sp>
        <p:nvSpPr>
          <p:cNvPr id="9" name="TextBox 8"/>
          <p:cNvSpPr txBox="1"/>
          <p:nvPr/>
        </p:nvSpPr>
        <p:spPr>
          <a:xfrm>
            <a:off x="7680960" y="1554480"/>
            <a:ext cx="2926080" cy="822960"/>
          </a:xfrm>
          <a:prstGeom prst="rect">
            <a:avLst/>
          </a:prstGeom>
          <a:noFill/>
        </p:spPr>
        <p:txBody>
          <a:bodyPr wrap="square" lIns="0" tIns="0" rIns="0" bIns="0" anchor="t">
            <a:spAutoFit/>
          </a:bodyPr>
          <a:lstStyle/>
          <a:p>
            <a:pPr algn="l"/>
            <a:r>
              <a:rPr sz="2000" b="0" i="0">
                <a:solidFill>
                  <a:srgbClr val="002368"/>
                </a:solidFill>
                <a:latin typeface="Georgia"/>
              </a:rPr>
              <a:t>Corrections never remove a lead.</a:t>
            </a:r>
          </a:p>
        </p:txBody>
      </p:sp>
      <p:sp>
        <p:nvSpPr>
          <p:cNvPr id="10" name="TextBox 9"/>
          <p:cNvSpPr txBox="1"/>
          <p:nvPr/>
        </p:nvSpPr>
        <p:spPr>
          <a:xfrm>
            <a:off x="7680960" y="2450592"/>
            <a:ext cx="3749039" cy="685800"/>
          </a:xfrm>
          <a:prstGeom prst="rect">
            <a:avLst/>
          </a:prstGeom>
          <a:noFill/>
        </p:spPr>
        <p:txBody>
          <a:bodyPr wrap="square" lIns="0" tIns="0" rIns="0" bIns="0" anchor="t">
            <a:spAutoFit/>
          </a:bodyPr>
          <a:lstStyle/>
          <a:p>
            <a:pPr algn="l"/>
            <a:r>
              <a:rPr sz="1050" b="0" i="0">
                <a:solidFill>
                  <a:srgbClr val="000000"/>
                </a:solidFill>
                <a:latin typeface="Arial"/>
              </a:rPr>
              <a:t>When a campus pin is corrected, a lead may move nearer another campus, but a lead inside the catchment or its bands is never dropped.</a:t>
            </a:r>
          </a:p>
        </p:txBody>
      </p:sp>
      <p:sp>
        <p:nvSpPr>
          <p:cNvPr id="11" name="TextBox 10"/>
          <p:cNvSpPr txBox="1"/>
          <p:nvPr/>
        </p:nvSpPr>
        <p:spPr>
          <a:xfrm>
            <a:off x="7680960" y="3310128"/>
            <a:ext cx="3749039" cy="237744"/>
          </a:xfrm>
          <a:prstGeom prst="rect">
            <a:avLst/>
          </a:prstGeom>
          <a:noFill/>
        </p:spPr>
        <p:txBody>
          <a:bodyPr wrap="square" lIns="0" tIns="0" rIns="0" bIns="0" anchor="t">
            <a:spAutoFit/>
          </a:bodyPr>
          <a:lstStyle/>
          <a:p>
            <a:pPr algn="l"/>
            <a:r>
              <a:rPr sz="1100" b="1" i="0">
                <a:solidFill>
                  <a:srgbClr val="002368"/>
                </a:solidFill>
                <a:latin typeface="Arial"/>
              </a:rPr>
              <a:t>Welfare</a:t>
            </a:r>
          </a:p>
        </p:txBody>
      </p:sp>
      <p:sp>
        <p:nvSpPr>
          <p:cNvPr id="12" name="TextBox 11"/>
          <p:cNvSpPr txBox="1"/>
          <p:nvPr/>
        </p:nvSpPr>
        <p:spPr>
          <a:xfrm>
            <a:off x="7680960" y="3557016"/>
            <a:ext cx="3749039" cy="594360"/>
          </a:xfrm>
          <a:prstGeom prst="rect">
            <a:avLst/>
          </a:prstGeom>
          <a:noFill/>
        </p:spPr>
        <p:txBody>
          <a:bodyPr wrap="square" lIns="0" tIns="0" rIns="0" bIns="0" anchor="t">
            <a:spAutoFit/>
          </a:bodyPr>
          <a:lstStyle/>
          <a:p>
            <a:pPr algn="l"/>
            <a:r>
              <a:rPr sz="1000" b="0" i="0">
                <a:solidFill>
                  <a:srgbClr val="000000"/>
                </a:solidFill>
                <a:latin typeface="Arial"/>
              </a:rPr>
              <a:t>None crossed 25 km outward; two moved inside (24.9 km); 19 now nearer a different campus.</a:t>
            </a:r>
          </a:p>
        </p:txBody>
      </p:sp>
      <p:sp>
        <p:nvSpPr>
          <p:cNvPr id="13" name="TextBox 12"/>
          <p:cNvSpPr txBox="1"/>
          <p:nvPr/>
        </p:nvSpPr>
        <p:spPr>
          <a:xfrm>
            <a:off x="7680960" y="4178808"/>
            <a:ext cx="3749039" cy="237744"/>
          </a:xfrm>
          <a:prstGeom prst="rect">
            <a:avLst/>
          </a:prstGeom>
          <a:noFill/>
        </p:spPr>
        <p:txBody>
          <a:bodyPr wrap="square" lIns="0" tIns="0" rIns="0" bIns="0" anchor="t">
            <a:spAutoFit/>
          </a:bodyPr>
          <a:lstStyle/>
          <a:p>
            <a:pPr algn="l"/>
            <a:r>
              <a:rPr sz="1100" b="1" i="0">
                <a:solidFill>
                  <a:srgbClr val="002368"/>
                </a:solidFill>
                <a:latin typeface="Arial"/>
              </a:rPr>
              <a:t>Government</a:t>
            </a:r>
          </a:p>
        </p:txBody>
      </p:sp>
      <p:sp>
        <p:nvSpPr>
          <p:cNvPr id="14" name="TextBox 13"/>
          <p:cNvSpPr txBox="1"/>
          <p:nvPr/>
        </p:nvSpPr>
        <p:spPr>
          <a:xfrm>
            <a:off x="7680960" y="4425696"/>
            <a:ext cx="3749039" cy="594360"/>
          </a:xfrm>
          <a:prstGeom prst="rect">
            <a:avLst/>
          </a:prstGeom>
          <a:noFill/>
        </p:spPr>
        <p:txBody>
          <a:bodyPr wrap="square" lIns="0" tIns="0" rIns="0" bIns="0" anchor="t">
            <a:spAutoFit/>
          </a:bodyPr>
          <a:lstStyle/>
          <a:p>
            <a:pPr algn="l"/>
            <a:r>
              <a:rPr sz="1000" b="0" i="0">
                <a:solidFill>
                  <a:srgbClr val="000000"/>
                </a:solidFill>
                <a:latin typeface="Arial"/>
              </a:rPr>
              <a:t>Gararagua ward moved from 24.2 to 25.4 km and stays in scope; Msaranga ward came into scope.</a:t>
            </a:r>
          </a:p>
        </p:txBody>
      </p:sp>
      <p:sp>
        <p:nvSpPr>
          <p:cNvPr id="15" name="TextBox 14"/>
          <p:cNvSpPr txBox="1"/>
          <p:nvPr/>
        </p:nvSpPr>
        <p:spPr>
          <a:xfrm>
            <a:off x="7680960" y="5047488"/>
            <a:ext cx="3749039" cy="237744"/>
          </a:xfrm>
          <a:prstGeom prst="rect">
            <a:avLst/>
          </a:prstGeom>
          <a:noFill/>
        </p:spPr>
        <p:txBody>
          <a:bodyPr wrap="square" lIns="0" tIns="0" rIns="0" bIns="0" anchor="t">
            <a:spAutoFit/>
          </a:bodyPr>
          <a:lstStyle/>
          <a:p>
            <a:pPr algn="l"/>
            <a:r>
              <a:rPr sz="1100" b="1" i="0">
                <a:solidFill>
                  <a:srgbClr val="002368"/>
                </a:solidFill>
                <a:latin typeface="Arial"/>
              </a:rPr>
              <a:t>Employers</a:t>
            </a:r>
          </a:p>
        </p:txBody>
      </p:sp>
      <p:sp>
        <p:nvSpPr>
          <p:cNvPr id="16" name="TextBox 15"/>
          <p:cNvSpPr txBox="1"/>
          <p:nvPr/>
        </p:nvSpPr>
        <p:spPr>
          <a:xfrm>
            <a:off x="7680960" y="5294375"/>
            <a:ext cx="3749039" cy="594360"/>
          </a:xfrm>
          <a:prstGeom prst="rect">
            <a:avLst/>
          </a:prstGeom>
          <a:noFill/>
        </p:spPr>
        <p:txBody>
          <a:bodyPr wrap="square" lIns="0" tIns="0" rIns="0" bIns="0" anchor="t">
            <a:spAutoFit/>
          </a:bodyPr>
          <a:lstStyle/>
          <a:p>
            <a:pPr algn="l"/>
            <a:r>
              <a:rPr sz="1000" b="0" i="0">
                <a:solidFill>
                  <a:srgbClr val="000000"/>
                </a:solidFill>
                <a:latin typeface="Arial"/>
              </a:rPr>
              <a:t>Distance never removes a company. 51 now nearer another campus; 32 changed reach tier.</a:t>
            </a:r>
          </a:p>
        </p:txBody>
      </p:sp>
      <p:pic>
        <p:nvPicPr>
          <p:cNvPr id="17" name="Picture 16" descr="image3.png"/>
          <p:cNvPicPr>
            <a:picLocks noChangeAspect="1"/>
          </p:cNvPicPr>
          <p:nvPr/>
        </p:nvPicPr>
        <p:blipFill>
          <a:blip r:embed="rId4"/>
          <a:stretch>
            <a:fillRect/>
          </a:stretch>
        </p:blipFill>
        <p:spPr>
          <a:xfrm>
            <a:off x="548640" y="6272784"/>
            <a:ext cx="1143000" cy="274320"/>
          </a:xfrm>
          <a:prstGeom prst="rect">
            <a:avLst/>
          </a:prstGeom>
        </p:spPr>
      </p:pic>
      <p:sp>
        <p:nvSpPr>
          <p:cNvPr id="18"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5">
                  <a:extLst>
                    <a:ext uri="{A12FA001-AC4F-418D-AE19-62706E023703}">
                      <ahyp:hlinkClr xmlns:ahyp="http://schemas.microsoft.com/office/drawing/2018/hyperlinkcolor" val="tx"/>
                    </a:ext>
                  </a:extLst>
                </a:hlinkClick>
              </a:rPr>
              <a:t>Open the lead map →</a:t>
            </a:r>
          </a:p>
        </p:txBody>
      </p:sp>
      <p:sp>
        <p:nvSpPr>
          <p:cNvPr id="19"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map and catchment criteria, October 2026</a:t>
            </a:r>
          </a:p>
        </p:txBody>
      </p:sp>
      <p:sp>
        <p:nvSpPr>
          <p:cNvPr id="2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GAPS AND TAKE-AWAYS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Fix the Google Maps listings parents find</a:t>
            </a:r>
          </a:p>
        </p:txBody>
      </p:sp>
      <p:sp>
        <p:nvSpPr>
          <p:cNvPr id="4" name="Rounded Rectangle 3"/>
          <p:cNvSpPr/>
          <p:nvPr/>
        </p:nvSpPr>
        <p:spPr>
          <a:xfrm>
            <a:off x="548640" y="1325880"/>
            <a:ext cx="6035040" cy="4617720"/>
          </a:xfrm>
          <a:prstGeom prst="roundRect">
            <a:avLst>
              <a:gd name="adj" fmla="val 1386"/>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868680" y="1554480"/>
            <a:ext cx="5486400" cy="274320"/>
          </a:xfrm>
          <a:prstGeom prst="rect">
            <a:avLst/>
          </a:prstGeom>
          <a:noFill/>
        </p:spPr>
        <p:txBody>
          <a:bodyPr wrap="square" lIns="0" tIns="0" rIns="0" bIns="0" anchor="t">
            <a:spAutoFit/>
          </a:bodyPr>
          <a:lstStyle/>
          <a:p>
            <a:pPr algn="l"/>
            <a:r>
              <a:rPr sz="900" b="1" i="0" spc="200">
                <a:solidFill>
                  <a:srgbClr val="80BFEC"/>
                </a:solidFill>
                <a:latin typeface="Arial"/>
              </a:rPr>
              <a:t>TAKE-AWAYS FOR THE SILVERLEAF TEAM</a:t>
            </a:r>
          </a:p>
        </p:txBody>
      </p:sp>
      <p:sp>
        <p:nvSpPr>
          <p:cNvPr id="6" name="TextBox 5"/>
          <p:cNvSpPr txBox="1"/>
          <p:nvPr/>
        </p:nvSpPr>
        <p:spPr>
          <a:xfrm>
            <a:off x="868680" y="1874519"/>
            <a:ext cx="5486400" cy="457200"/>
          </a:xfrm>
          <a:prstGeom prst="rect">
            <a:avLst/>
          </a:prstGeom>
          <a:noFill/>
        </p:spPr>
        <p:txBody>
          <a:bodyPr wrap="square" lIns="0" tIns="0" rIns="0" bIns="0" anchor="t">
            <a:spAutoFit/>
          </a:bodyPr>
          <a:lstStyle/>
          <a:p>
            <a:pPr algn="l"/>
            <a:r>
              <a:rPr sz="1500" b="0" i="0">
                <a:solidFill>
                  <a:srgbClr val="FFFFFF"/>
                </a:solidFill>
                <a:latin typeface="Georgia"/>
              </a:rPr>
              <a:t>For whoever manages Silverleaf's Google profile</a:t>
            </a:r>
          </a:p>
        </p:txBody>
      </p:sp>
      <p:sp>
        <p:nvSpPr>
          <p:cNvPr id="7" name="Hexagon 6"/>
          <p:cNvSpPr/>
          <p:nvPr/>
        </p:nvSpPr>
        <p:spPr>
          <a:xfrm>
            <a:off x="868680" y="2487168"/>
            <a:ext cx="347472" cy="301752"/>
          </a:xfrm>
          <a:prstGeom prst="hexagon">
            <a:avLst>
              <a:gd name="adj" fmla="val 25000"/>
              <a:gd name="vf" fmla="val 115470"/>
            </a:avLst>
          </a:prstGeom>
          <a:solidFill>
            <a:srgbClr val="80BFEC"/>
          </a:solidFill>
          <a:ln>
            <a:noFill/>
          </a:ln>
        </p:spPr>
        <p:txBody>
          <a:bodyPr rtlCol="0" anchor="ctr" wrap="square" lIns="0" tIns="0" rIns="0" bIns="0"/>
          <a:lstStyle/>
          <a:p>
            <a:pPr algn="ctr"/>
            <a:r>
              <a:rPr sz="1000" b="1" i="0">
                <a:solidFill>
                  <a:srgbClr val="002368"/>
                </a:solidFill>
                <a:latin typeface="Arial"/>
              </a:rPr>
              <a:t>1</a:t>
            </a:r>
          </a:p>
        </p:txBody>
      </p:sp>
      <p:sp>
        <p:nvSpPr>
          <p:cNvPr id="8" name="TextBox 7"/>
          <p:cNvSpPr txBox="1"/>
          <p:nvPr/>
        </p:nvSpPr>
        <p:spPr>
          <a:xfrm>
            <a:off x="1371600" y="2468880"/>
            <a:ext cx="4983480" cy="256032"/>
          </a:xfrm>
          <a:prstGeom prst="rect">
            <a:avLst/>
          </a:prstGeom>
          <a:noFill/>
        </p:spPr>
        <p:txBody>
          <a:bodyPr wrap="square" lIns="0" tIns="0" rIns="0" bIns="0" anchor="t">
            <a:spAutoFit/>
          </a:bodyPr>
          <a:lstStyle/>
          <a:p>
            <a:pPr algn="l"/>
            <a:r>
              <a:rPr sz="1200" b="1" i="0">
                <a:solidFill>
                  <a:srgbClr val="FFFFFF"/>
                </a:solidFill>
                <a:latin typeface="Arial"/>
              </a:rPr>
              <a:t>Kijenge Campus is pinned about 70 km away</a:t>
            </a:r>
          </a:p>
        </p:txBody>
      </p:sp>
      <p:sp>
        <p:nvSpPr>
          <p:cNvPr id="9" name="TextBox 8"/>
          <p:cNvSpPr txBox="1"/>
          <p:nvPr/>
        </p:nvSpPr>
        <p:spPr>
          <a:xfrm>
            <a:off x="1371600" y="2743200"/>
            <a:ext cx="4983480" cy="548640"/>
          </a:xfrm>
          <a:prstGeom prst="rect">
            <a:avLst/>
          </a:prstGeom>
          <a:noFill/>
        </p:spPr>
        <p:txBody>
          <a:bodyPr wrap="square" lIns="0" tIns="0" rIns="0" bIns="0" anchor="t">
            <a:spAutoFit/>
          </a:bodyPr>
          <a:lstStyle/>
          <a:p>
            <a:pPr algn="l"/>
            <a:r>
              <a:rPr sz="1050" b="0" i="0">
                <a:solidFill>
                  <a:srgbClr val="D9ECF9"/>
                </a:solidFill>
                <a:latin typeface="Arial"/>
              </a:rPr>
              <a:t>Parents who search for it get wrong directions. Move the pin to the website's point.</a:t>
            </a:r>
          </a:p>
        </p:txBody>
      </p:sp>
      <p:sp>
        <p:nvSpPr>
          <p:cNvPr id="10" name="Hexagon 9"/>
          <p:cNvSpPr/>
          <p:nvPr/>
        </p:nvSpPr>
        <p:spPr>
          <a:xfrm>
            <a:off x="868680" y="3337560"/>
            <a:ext cx="347472" cy="301752"/>
          </a:xfrm>
          <a:prstGeom prst="hexagon">
            <a:avLst>
              <a:gd name="adj" fmla="val 25000"/>
              <a:gd name="vf" fmla="val 115470"/>
            </a:avLst>
          </a:prstGeom>
          <a:solidFill>
            <a:srgbClr val="80BFEC"/>
          </a:solidFill>
          <a:ln>
            <a:noFill/>
          </a:ln>
        </p:spPr>
        <p:txBody>
          <a:bodyPr rtlCol="0" anchor="ctr" wrap="square" lIns="0" tIns="0" rIns="0" bIns="0"/>
          <a:lstStyle/>
          <a:p>
            <a:pPr algn="ctr"/>
            <a:r>
              <a:rPr sz="1000" b="1" i="0">
                <a:solidFill>
                  <a:srgbClr val="002368"/>
                </a:solidFill>
                <a:latin typeface="Arial"/>
              </a:rPr>
              <a:t>2</a:t>
            </a:r>
          </a:p>
        </p:txBody>
      </p:sp>
      <p:sp>
        <p:nvSpPr>
          <p:cNvPr id="11" name="TextBox 10"/>
          <p:cNvSpPr txBox="1"/>
          <p:nvPr/>
        </p:nvSpPr>
        <p:spPr>
          <a:xfrm>
            <a:off x="1371600" y="3319272"/>
            <a:ext cx="4983480" cy="256032"/>
          </a:xfrm>
          <a:prstGeom prst="rect">
            <a:avLst/>
          </a:prstGeom>
          <a:noFill/>
        </p:spPr>
        <p:txBody>
          <a:bodyPr wrap="square" lIns="0" tIns="0" rIns="0" bIns="0" anchor="t">
            <a:spAutoFit/>
          </a:bodyPr>
          <a:lstStyle/>
          <a:p>
            <a:pPr algn="l"/>
            <a:r>
              <a:rPr sz="1200" b="1" i="0">
                <a:solidFill>
                  <a:srgbClr val="FFFFFF"/>
                </a:solidFill>
                <a:latin typeface="Arial"/>
              </a:rPr>
              <a:t>Two listings match no campus</a:t>
            </a:r>
          </a:p>
        </p:txBody>
      </p:sp>
      <p:sp>
        <p:nvSpPr>
          <p:cNvPr id="12" name="TextBox 11"/>
          <p:cNvSpPr txBox="1"/>
          <p:nvPr/>
        </p:nvSpPr>
        <p:spPr>
          <a:xfrm>
            <a:off x="1371600" y="3593592"/>
            <a:ext cx="4983480" cy="548640"/>
          </a:xfrm>
          <a:prstGeom prst="rect">
            <a:avLst/>
          </a:prstGeom>
          <a:noFill/>
        </p:spPr>
        <p:txBody>
          <a:bodyPr wrap="square" lIns="0" tIns="0" rIns="0" bIns="0" anchor="t">
            <a:spAutoFit/>
          </a:bodyPr>
          <a:lstStyle/>
          <a:p>
            <a:pPr algn="l"/>
            <a:r>
              <a:rPr sz="1050" b="0" i="0">
                <a:solidFill>
                  <a:srgbClr val="D9ECF9"/>
                </a:solidFill>
                <a:latin typeface="Arial"/>
              </a:rPr>
              <a:t>"Silverleaf Primary School" near Usa River and "Silverleaf Academy Office" in Moshi: correct or remove them.</a:t>
            </a:r>
          </a:p>
        </p:txBody>
      </p:sp>
      <p:sp>
        <p:nvSpPr>
          <p:cNvPr id="13" name="Hexagon 12"/>
          <p:cNvSpPr/>
          <p:nvPr/>
        </p:nvSpPr>
        <p:spPr>
          <a:xfrm>
            <a:off x="868680" y="4187952"/>
            <a:ext cx="347472" cy="301752"/>
          </a:xfrm>
          <a:prstGeom prst="hexagon">
            <a:avLst>
              <a:gd name="adj" fmla="val 25000"/>
              <a:gd name="vf" fmla="val 115470"/>
            </a:avLst>
          </a:prstGeom>
          <a:solidFill>
            <a:srgbClr val="80BFEC"/>
          </a:solidFill>
          <a:ln>
            <a:noFill/>
          </a:ln>
        </p:spPr>
        <p:txBody>
          <a:bodyPr rtlCol="0" anchor="ctr" wrap="square" lIns="0" tIns="0" rIns="0" bIns="0"/>
          <a:lstStyle/>
          <a:p>
            <a:pPr algn="ctr"/>
            <a:r>
              <a:rPr sz="1000" b="1" i="0">
                <a:solidFill>
                  <a:srgbClr val="002368"/>
                </a:solidFill>
                <a:latin typeface="Arial"/>
              </a:rPr>
              <a:t>3</a:t>
            </a:r>
          </a:p>
        </p:txBody>
      </p:sp>
      <p:sp>
        <p:nvSpPr>
          <p:cNvPr id="14" name="TextBox 13"/>
          <p:cNvSpPr txBox="1"/>
          <p:nvPr/>
        </p:nvSpPr>
        <p:spPr>
          <a:xfrm>
            <a:off x="1371600" y="4169664"/>
            <a:ext cx="4983480" cy="256032"/>
          </a:xfrm>
          <a:prstGeom prst="rect">
            <a:avLst/>
          </a:prstGeom>
          <a:noFill/>
        </p:spPr>
        <p:txBody>
          <a:bodyPr wrap="square" lIns="0" tIns="0" rIns="0" bIns="0" anchor="t">
            <a:spAutoFit/>
          </a:bodyPr>
          <a:lstStyle/>
          <a:p>
            <a:pPr algn="l"/>
            <a:r>
              <a:rPr sz="1200" b="1" i="0">
                <a:solidFill>
                  <a:srgbClr val="FFFFFF"/>
                </a:solidFill>
                <a:latin typeface="Arial"/>
              </a:rPr>
              <a:t>Two campuses have no listing</a:t>
            </a:r>
          </a:p>
        </p:txBody>
      </p:sp>
      <p:sp>
        <p:nvSpPr>
          <p:cNvPr id="15" name="TextBox 14"/>
          <p:cNvSpPr txBox="1"/>
          <p:nvPr/>
        </p:nvSpPr>
        <p:spPr>
          <a:xfrm>
            <a:off x="1371600" y="4443984"/>
            <a:ext cx="4983480" cy="548640"/>
          </a:xfrm>
          <a:prstGeom prst="rect">
            <a:avLst/>
          </a:prstGeom>
          <a:noFill/>
        </p:spPr>
        <p:txBody>
          <a:bodyPr wrap="square" lIns="0" tIns="0" rIns="0" bIns="0" anchor="t">
            <a:spAutoFit/>
          </a:bodyPr>
          <a:lstStyle/>
          <a:p>
            <a:pPr algn="l"/>
            <a:r>
              <a:rPr sz="1050" b="0" i="0">
                <a:solidFill>
                  <a:srgbClr val="D9ECF9"/>
                </a:solidFill>
                <a:latin typeface="Arial"/>
              </a:rPr>
              <a:t>Add Arusha City (Sakina) and Boma Ng'ombe, using the pins on the website's campus pages.</a:t>
            </a:r>
          </a:p>
        </p:txBody>
      </p:sp>
      <p:sp>
        <p:nvSpPr>
          <p:cNvPr id="16" name="Hexagon 15"/>
          <p:cNvSpPr/>
          <p:nvPr/>
        </p:nvSpPr>
        <p:spPr>
          <a:xfrm>
            <a:off x="868680" y="5038344"/>
            <a:ext cx="347472" cy="301752"/>
          </a:xfrm>
          <a:prstGeom prst="hexagon">
            <a:avLst>
              <a:gd name="adj" fmla="val 25000"/>
              <a:gd name="vf" fmla="val 115470"/>
            </a:avLst>
          </a:prstGeom>
          <a:solidFill>
            <a:srgbClr val="80BFEC"/>
          </a:solidFill>
          <a:ln>
            <a:noFill/>
          </a:ln>
        </p:spPr>
        <p:txBody>
          <a:bodyPr rtlCol="0" anchor="ctr" wrap="square" lIns="0" tIns="0" rIns="0" bIns="0"/>
          <a:lstStyle/>
          <a:p>
            <a:pPr algn="ctr"/>
            <a:r>
              <a:rPr sz="1000" b="1" i="0">
                <a:solidFill>
                  <a:srgbClr val="002368"/>
                </a:solidFill>
                <a:latin typeface="Arial"/>
              </a:rPr>
              <a:t>4</a:t>
            </a:r>
          </a:p>
        </p:txBody>
      </p:sp>
      <p:sp>
        <p:nvSpPr>
          <p:cNvPr id="17" name="TextBox 16"/>
          <p:cNvSpPr txBox="1"/>
          <p:nvPr/>
        </p:nvSpPr>
        <p:spPr>
          <a:xfrm>
            <a:off x="1371600" y="5020056"/>
            <a:ext cx="4983480" cy="256032"/>
          </a:xfrm>
          <a:prstGeom prst="rect">
            <a:avLst/>
          </a:prstGeom>
          <a:noFill/>
        </p:spPr>
        <p:txBody>
          <a:bodyPr wrap="square" lIns="0" tIns="0" rIns="0" bIns="0" anchor="t">
            <a:spAutoFit/>
          </a:bodyPr>
          <a:lstStyle/>
          <a:p>
            <a:pPr algn="l"/>
            <a:r>
              <a:rPr sz="1200" b="1" i="0">
                <a:solidFill>
                  <a:srgbClr val="FFFFFF"/>
                </a:solidFill>
                <a:latin typeface="Arial"/>
              </a:rPr>
              <a:t>Keep the website pins accurate</a:t>
            </a:r>
          </a:p>
        </p:txBody>
      </p:sp>
      <p:sp>
        <p:nvSpPr>
          <p:cNvPr id="18" name="TextBox 17"/>
          <p:cNvSpPr txBox="1"/>
          <p:nvPr/>
        </p:nvSpPr>
        <p:spPr>
          <a:xfrm>
            <a:off x="1371600" y="5294376"/>
            <a:ext cx="4983480" cy="548640"/>
          </a:xfrm>
          <a:prstGeom prst="rect">
            <a:avLst/>
          </a:prstGeom>
          <a:noFill/>
        </p:spPr>
        <p:txBody>
          <a:bodyPr wrap="square" lIns="0" tIns="0" rIns="0" bIns="0" anchor="t">
            <a:spAutoFit/>
          </a:bodyPr>
          <a:lstStyle/>
          <a:p>
            <a:pPr algn="l"/>
            <a:r>
              <a:rPr sz="1050" b="0" i="0">
                <a:solidFill>
                  <a:srgbClr val="D9ECF9"/>
                </a:solidFill>
                <a:latin typeface="Arial"/>
              </a:rPr>
              <a:t>They are the reference for every distance. If a campus moves, correct the page and tell the lead team so distances are recomputed.</a:t>
            </a:r>
          </a:p>
        </p:txBody>
      </p:sp>
      <p:sp>
        <p:nvSpPr>
          <p:cNvPr id="19" name="TextBox 18"/>
          <p:cNvSpPr txBox="1"/>
          <p:nvPr/>
        </p:nvSpPr>
        <p:spPr>
          <a:xfrm>
            <a:off x="6903720" y="1371600"/>
            <a:ext cx="4572000" cy="201168"/>
          </a:xfrm>
          <a:prstGeom prst="rect">
            <a:avLst/>
          </a:prstGeom>
          <a:noFill/>
        </p:spPr>
        <p:txBody>
          <a:bodyPr wrap="square" lIns="0" tIns="0" rIns="0" bIns="0" anchor="t">
            <a:spAutoFit/>
          </a:bodyPr>
          <a:lstStyle/>
          <a:p>
            <a:pPr algn="l"/>
            <a:r>
              <a:rPr sz="900" b="1" i="0" spc="200">
                <a:solidFill>
                  <a:srgbClr val="818283"/>
                </a:solidFill>
                <a:latin typeface="Arial"/>
              </a:rPr>
              <a:t>KNOWN GAPS AND PROPOSED FIXES</a:t>
            </a:r>
          </a:p>
        </p:txBody>
      </p:sp>
      <p:sp>
        <p:nvSpPr>
          <p:cNvPr id="20" name="TextBox 19"/>
          <p:cNvSpPr txBox="1"/>
          <p:nvPr/>
        </p:nvSpPr>
        <p:spPr>
          <a:xfrm>
            <a:off x="6903720" y="1664208"/>
            <a:ext cx="914400" cy="457200"/>
          </a:xfrm>
          <a:prstGeom prst="rect">
            <a:avLst/>
          </a:prstGeom>
          <a:noFill/>
        </p:spPr>
        <p:txBody>
          <a:bodyPr wrap="square" lIns="0" tIns="0" rIns="0" bIns="0" anchor="t">
            <a:spAutoFit/>
          </a:bodyPr>
          <a:lstStyle/>
          <a:p>
            <a:pPr algn="l"/>
            <a:r>
              <a:rPr sz="1600" b="0" i="0">
                <a:solidFill>
                  <a:srgbClr val="80BFEC"/>
                </a:solidFill>
                <a:latin typeface="Georgia"/>
              </a:rPr>
              <a:t>01</a:t>
            </a:r>
          </a:p>
        </p:txBody>
      </p:sp>
      <p:sp>
        <p:nvSpPr>
          <p:cNvPr id="21" name="TextBox 20"/>
          <p:cNvSpPr txBox="1"/>
          <p:nvPr/>
        </p:nvSpPr>
        <p:spPr>
          <a:xfrm>
            <a:off x="7452360" y="1682496"/>
            <a:ext cx="4160520" cy="256032"/>
          </a:xfrm>
          <a:prstGeom prst="rect">
            <a:avLst/>
          </a:prstGeom>
          <a:noFill/>
        </p:spPr>
        <p:txBody>
          <a:bodyPr wrap="square" lIns="0" tIns="0" rIns="0" bIns="0" anchor="t">
            <a:spAutoFit/>
          </a:bodyPr>
          <a:lstStyle/>
          <a:p>
            <a:pPr algn="l"/>
            <a:r>
              <a:rPr sz="1200" b="1" i="0">
                <a:solidFill>
                  <a:srgbClr val="002368"/>
                </a:solidFill>
                <a:latin typeface="Arial"/>
              </a:rPr>
              <a:t>Straight line only</a:t>
            </a:r>
          </a:p>
        </p:txBody>
      </p:sp>
      <p:sp>
        <p:nvSpPr>
          <p:cNvPr id="22" name="TextBox 21"/>
          <p:cNvSpPr txBox="1"/>
          <p:nvPr/>
        </p:nvSpPr>
        <p:spPr>
          <a:xfrm>
            <a:off x="7452360" y="1956816"/>
            <a:ext cx="4160520" cy="685800"/>
          </a:xfrm>
          <a:prstGeom prst="rect">
            <a:avLst/>
          </a:prstGeom>
          <a:noFill/>
        </p:spPr>
        <p:txBody>
          <a:bodyPr wrap="square" lIns="0" tIns="0" rIns="0" bIns="0" anchor="t">
            <a:spAutoFit/>
          </a:bodyPr>
          <a:lstStyle/>
          <a:p>
            <a:pPr algn="l"/>
            <a:r>
              <a:rPr sz="1050" b="0" i="0">
                <a:solidFill>
                  <a:srgbClr val="000000"/>
                </a:solidFill>
                <a:latin typeface="Arial"/>
              </a:rPr>
              <a:t>For leads at 11–25 km a road distance or drive time would be fairer. Not yet built.</a:t>
            </a:r>
          </a:p>
        </p:txBody>
      </p:sp>
      <p:cxnSp>
        <p:nvCxnSpPr>
          <p:cNvPr id="23" name="Connector 22"/>
          <p:cNvCxnSpPr/>
          <p:nvPr/>
        </p:nvCxnSpPr>
        <p:spPr>
          <a:xfrm>
            <a:off x="6903720" y="2642616"/>
            <a:ext cx="4736592" cy="0"/>
          </a:xfrm>
          <a:prstGeom prst="line">
            <a:avLst/>
          </a:prstGeom>
          <a:ln w="9525">
            <a:solidFill>
              <a:srgbClr val="ECECEC"/>
            </a:solidFill>
          </a:ln>
        </p:spPr>
      </p:cxnSp>
      <p:sp>
        <p:nvSpPr>
          <p:cNvPr id="24" name="TextBox 23"/>
          <p:cNvSpPr txBox="1"/>
          <p:nvPr/>
        </p:nvSpPr>
        <p:spPr>
          <a:xfrm>
            <a:off x="6903720" y="2734056"/>
            <a:ext cx="914400" cy="457200"/>
          </a:xfrm>
          <a:prstGeom prst="rect">
            <a:avLst/>
          </a:prstGeom>
          <a:noFill/>
        </p:spPr>
        <p:txBody>
          <a:bodyPr wrap="square" lIns="0" tIns="0" rIns="0" bIns="0" anchor="t">
            <a:spAutoFit/>
          </a:bodyPr>
          <a:lstStyle/>
          <a:p>
            <a:pPr algn="l"/>
            <a:r>
              <a:rPr sz="1600" b="0" i="0">
                <a:solidFill>
                  <a:srgbClr val="80BFEC"/>
                </a:solidFill>
                <a:latin typeface="Georgia"/>
              </a:rPr>
              <a:t>02</a:t>
            </a:r>
          </a:p>
        </p:txBody>
      </p:sp>
      <p:sp>
        <p:nvSpPr>
          <p:cNvPr id="25" name="TextBox 24"/>
          <p:cNvSpPr txBox="1"/>
          <p:nvPr/>
        </p:nvSpPr>
        <p:spPr>
          <a:xfrm>
            <a:off x="7452360" y="2752344"/>
            <a:ext cx="4160520" cy="256032"/>
          </a:xfrm>
          <a:prstGeom prst="rect">
            <a:avLst/>
          </a:prstGeom>
          <a:noFill/>
        </p:spPr>
        <p:txBody>
          <a:bodyPr wrap="square" lIns="0" tIns="0" rIns="0" bIns="0" anchor="t">
            <a:spAutoFit/>
          </a:bodyPr>
          <a:lstStyle/>
          <a:p>
            <a:pPr algn="l"/>
            <a:r>
              <a:rPr sz="1200" b="1" i="0">
                <a:solidFill>
                  <a:srgbClr val="002368"/>
                </a:solidFill>
                <a:latin typeface="Arial"/>
              </a:rPr>
              <a:t>440 companies on an earlier distance</a:t>
            </a:r>
          </a:p>
        </p:txBody>
      </p:sp>
      <p:sp>
        <p:nvSpPr>
          <p:cNvPr id="26" name="TextBox 25"/>
          <p:cNvSpPr txBox="1"/>
          <p:nvPr/>
        </p:nvSpPr>
        <p:spPr>
          <a:xfrm>
            <a:off x="7452360" y="3026664"/>
            <a:ext cx="4160520" cy="685800"/>
          </a:xfrm>
          <a:prstGeom prst="rect">
            <a:avLst/>
          </a:prstGeom>
          <a:noFill/>
        </p:spPr>
        <p:txBody>
          <a:bodyPr wrap="square" lIns="0" tIns="0" rIns="0" bIns="0" anchor="t">
            <a:spAutoFit/>
          </a:bodyPr>
          <a:lstStyle/>
          <a:p>
            <a:pPr algn="l"/>
            <a:r>
              <a:rPr sz="1050" b="0" i="0">
                <a:solidFill>
                  <a:srgbClr val="000000"/>
                </a:solidFill>
                <a:latin typeface="Arial"/>
              </a:rPr>
              <a:t>Placing them from their own address would give each company coordinates of its own.</a:t>
            </a:r>
          </a:p>
        </p:txBody>
      </p:sp>
      <p:cxnSp>
        <p:nvCxnSpPr>
          <p:cNvPr id="27" name="Connector 26"/>
          <p:cNvCxnSpPr/>
          <p:nvPr/>
        </p:nvCxnSpPr>
        <p:spPr>
          <a:xfrm>
            <a:off x="6903720" y="3712464"/>
            <a:ext cx="4736592" cy="0"/>
          </a:xfrm>
          <a:prstGeom prst="line">
            <a:avLst/>
          </a:prstGeom>
          <a:ln w="9525">
            <a:solidFill>
              <a:srgbClr val="ECECEC"/>
            </a:solidFill>
          </a:ln>
        </p:spPr>
      </p:cxnSp>
      <p:sp>
        <p:nvSpPr>
          <p:cNvPr id="28" name="TextBox 27"/>
          <p:cNvSpPr txBox="1"/>
          <p:nvPr/>
        </p:nvSpPr>
        <p:spPr>
          <a:xfrm>
            <a:off x="6903720" y="3803904"/>
            <a:ext cx="914400" cy="457200"/>
          </a:xfrm>
          <a:prstGeom prst="rect">
            <a:avLst/>
          </a:prstGeom>
          <a:noFill/>
        </p:spPr>
        <p:txBody>
          <a:bodyPr wrap="square" lIns="0" tIns="0" rIns="0" bIns="0" anchor="t">
            <a:spAutoFit/>
          </a:bodyPr>
          <a:lstStyle/>
          <a:p>
            <a:pPr algn="l"/>
            <a:r>
              <a:rPr sz="1600" b="0" i="0">
                <a:solidFill>
                  <a:srgbClr val="80BFEC"/>
                </a:solidFill>
                <a:latin typeface="Georgia"/>
              </a:rPr>
              <a:t>03</a:t>
            </a:r>
          </a:p>
        </p:txBody>
      </p:sp>
      <p:sp>
        <p:nvSpPr>
          <p:cNvPr id="29" name="TextBox 28"/>
          <p:cNvSpPr txBox="1"/>
          <p:nvPr/>
        </p:nvSpPr>
        <p:spPr>
          <a:xfrm>
            <a:off x="7452360" y="3822191"/>
            <a:ext cx="4160520" cy="256032"/>
          </a:xfrm>
          <a:prstGeom prst="rect">
            <a:avLst/>
          </a:prstGeom>
          <a:noFill/>
        </p:spPr>
        <p:txBody>
          <a:bodyPr wrap="square" lIns="0" tIns="0" rIns="0" bIns="0" anchor="t">
            <a:spAutoFit/>
          </a:bodyPr>
          <a:lstStyle/>
          <a:p>
            <a:pPr algn="l"/>
            <a:r>
              <a:rPr sz="1200" b="1" i="0">
                <a:solidFill>
                  <a:srgbClr val="002368"/>
                </a:solidFill>
                <a:latin typeface="Arial"/>
              </a:rPr>
              <a:t>Companies without a campus</a:t>
            </a:r>
          </a:p>
        </p:txBody>
      </p:sp>
      <p:sp>
        <p:nvSpPr>
          <p:cNvPr id="30" name="TextBox 29"/>
          <p:cNvSpPr txBox="1"/>
          <p:nvPr/>
        </p:nvSpPr>
        <p:spPr>
          <a:xfrm>
            <a:off x="7452360" y="4096512"/>
            <a:ext cx="4160520" cy="685800"/>
          </a:xfrm>
          <a:prstGeom prst="rect">
            <a:avLst/>
          </a:prstGeom>
          <a:noFill/>
        </p:spPr>
        <p:txBody>
          <a:bodyPr wrap="square" lIns="0" tIns="0" rIns="0" bIns="0" anchor="t">
            <a:spAutoFit/>
          </a:bodyPr>
          <a:lstStyle/>
          <a:p>
            <a:pPr algn="l"/>
            <a:r>
              <a:rPr sz="1050" b="0" i="0">
                <a:solidFill>
                  <a:srgbClr val="000000"/>
                </a:solidFill>
                <a:latin typeface="Arial"/>
              </a:rPr>
              <a:t>About 50 have no nearest campus recorded; most have an address or town that can be placed at locality level.</a:t>
            </a:r>
          </a:p>
        </p:txBody>
      </p:sp>
      <p:cxnSp>
        <p:nvCxnSpPr>
          <p:cNvPr id="31" name="Connector 30"/>
          <p:cNvCxnSpPr/>
          <p:nvPr/>
        </p:nvCxnSpPr>
        <p:spPr>
          <a:xfrm>
            <a:off x="6903720" y="4782312"/>
            <a:ext cx="4736592" cy="0"/>
          </a:xfrm>
          <a:prstGeom prst="line">
            <a:avLst/>
          </a:prstGeom>
          <a:ln w="9525">
            <a:solidFill>
              <a:srgbClr val="ECECEC"/>
            </a:solidFill>
          </a:ln>
        </p:spPr>
      </p:cxnSp>
      <p:sp>
        <p:nvSpPr>
          <p:cNvPr id="32" name="TextBox 31"/>
          <p:cNvSpPr txBox="1"/>
          <p:nvPr/>
        </p:nvSpPr>
        <p:spPr>
          <a:xfrm>
            <a:off x="6903720" y="4873752"/>
            <a:ext cx="914400" cy="457200"/>
          </a:xfrm>
          <a:prstGeom prst="rect">
            <a:avLst/>
          </a:prstGeom>
          <a:noFill/>
        </p:spPr>
        <p:txBody>
          <a:bodyPr wrap="square" lIns="0" tIns="0" rIns="0" bIns="0" anchor="t">
            <a:spAutoFit/>
          </a:bodyPr>
          <a:lstStyle/>
          <a:p>
            <a:pPr algn="l"/>
            <a:r>
              <a:rPr sz="1600" b="0" i="0">
                <a:solidFill>
                  <a:srgbClr val="80BFEC"/>
                </a:solidFill>
                <a:latin typeface="Georgia"/>
              </a:rPr>
              <a:t>04</a:t>
            </a:r>
          </a:p>
        </p:txBody>
      </p:sp>
      <p:sp>
        <p:nvSpPr>
          <p:cNvPr id="33" name="TextBox 32"/>
          <p:cNvSpPr txBox="1"/>
          <p:nvPr/>
        </p:nvSpPr>
        <p:spPr>
          <a:xfrm>
            <a:off x="7452360" y="4892040"/>
            <a:ext cx="4160520" cy="256032"/>
          </a:xfrm>
          <a:prstGeom prst="rect">
            <a:avLst/>
          </a:prstGeom>
          <a:noFill/>
        </p:spPr>
        <p:txBody>
          <a:bodyPr wrap="square" lIns="0" tIns="0" rIns="0" bIns="0" anchor="t">
            <a:spAutoFit/>
          </a:bodyPr>
          <a:lstStyle/>
          <a:p>
            <a:pPr algn="l"/>
            <a:r>
              <a:rPr sz="1200" b="1" i="0">
                <a:solidFill>
                  <a:srgbClr val="002368"/>
                </a:solidFill>
                <a:latin typeface="Arial"/>
              </a:rPr>
              <a:t>Ward locations are estimates</a:t>
            </a:r>
          </a:p>
        </p:txBody>
      </p:sp>
      <p:sp>
        <p:nvSpPr>
          <p:cNvPr id="34" name="TextBox 33"/>
          <p:cNvSpPr txBox="1"/>
          <p:nvPr/>
        </p:nvSpPr>
        <p:spPr>
          <a:xfrm>
            <a:off x="7452360" y="5166360"/>
            <a:ext cx="4160520" cy="685800"/>
          </a:xfrm>
          <a:prstGeom prst="rect">
            <a:avLst/>
          </a:prstGeom>
          <a:noFill/>
        </p:spPr>
        <p:txBody>
          <a:bodyPr wrap="square" lIns="0" tIns="0" rIns="0" bIns="0" anchor="t">
            <a:spAutoFit/>
          </a:bodyPr>
          <a:lstStyle/>
          <a:p>
            <a:pPr algn="l"/>
            <a:r>
              <a:rPr sz="1050" b="0" i="0">
                <a:solidFill>
                  <a:srgbClr val="000000"/>
                </a:solidFill>
                <a:latin typeface="Arial"/>
              </a:rPr>
              <a:t>OpenStreetMap has no ward boundaries here; official boundaries would replace the single reference points.</a:t>
            </a:r>
          </a:p>
        </p:txBody>
      </p:sp>
      <p:pic>
        <p:nvPicPr>
          <p:cNvPr id="35" name="Picture 34" descr="image3.png"/>
          <p:cNvPicPr>
            <a:picLocks noChangeAspect="1"/>
          </p:cNvPicPr>
          <p:nvPr/>
        </p:nvPicPr>
        <p:blipFill>
          <a:blip r:embed="rId2"/>
          <a:stretch>
            <a:fillRect/>
          </a:stretch>
        </p:blipFill>
        <p:spPr>
          <a:xfrm>
            <a:off x="548640" y="6272784"/>
            <a:ext cx="1143000" cy="274320"/>
          </a:xfrm>
          <a:prstGeom prst="rect">
            <a:avLst/>
          </a:prstGeom>
        </p:spPr>
      </p:pic>
      <p:sp>
        <p:nvSpPr>
          <p:cNvPr id="36"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7"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catchment criteria; Google Maps listings, October 2026</a:t>
            </a:r>
          </a:p>
        </p:txBody>
      </p:sp>
      <p:sp>
        <p:nvSpPr>
          <p:cNvPr id="3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LEAD CAPTURE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Seven sources built the three lists</a:t>
            </a:r>
          </a:p>
        </p:txBody>
      </p:sp>
      <p:sp>
        <p:nvSpPr>
          <p:cNvPr id="4" name="Lead"/>
          <p:cNvSpPr txBox="1"/>
          <p:nvPr/>
        </p:nvSpPr>
        <p:spPr>
          <a:xfrm>
            <a:off x="548640" y="1216152"/>
            <a:ext cx="11064240" cy="365760"/>
          </a:xfrm>
          <a:prstGeom prst="rect">
            <a:avLst/>
          </a:prstGeom>
          <a:noFill/>
        </p:spPr>
        <p:txBody>
          <a:bodyPr wrap="square" lIns="0" tIns="0" rIns="0" bIns="0" anchor="t">
            <a:spAutoFit/>
          </a:bodyPr>
          <a:lstStyle/>
          <a:p>
            <a:pPr algn="l"/>
            <a:r>
              <a:rPr sz="1500" b="0" i="0">
                <a:solidFill>
                  <a:srgbClr val="002368"/>
                </a:solidFill>
                <a:latin typeface="Georgia"/>
              </a:rPr>
              <a:t>Systematic sources first, then targeted lookups; every record keeps its source and the date it was checked.</a:t>
            </a:r>
          </a:p>
        </p:txBody>
      </p:sp>
      <p:sp>
        <p:nvSpPr>
          <p:cNvPr id="5" name="Hexagon 4"/>
          <p:cNvSpPr/>
          <p:nvPr/>
        </p:nvSpPr>
        <p:spPr>
          <a:xfrm>
            <a:off x="548640" y="182880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01</a:t>
            </a:r>
          </a:p>
        </p:txBody>
      </p:sp>
      <p:sp>
        <p:nvSpPr>
          <p:cNvPr id="6" name="TextBox 5"/>
          <p:cNvSpPr txBox="1"/>
          <p:nvPr/>
        </p:nvSpPr>
        <p:spPr>
          <a:xfrm>
            <a:off x="1115568" y="1883664"/>
            <a:ext cx="2103120" cy="292608"/>
          </a:xfrm>
          <a:prstGeom prst="rect">
            <a:avLst/>
          </a:prstGeom>
          <a:noFill/>
        </p:spPr>
        <p:txBody>
          <a:bodyPr wrap="square" lIns="0" tIns="0" rIns="0" bIns="0" anchor="t">
            <a:spAutoFit/>
          </a:bodyPr>
          <a:lstStyle/>
          <a:p>
            <a:pPr algn="l"/>
            <a:r>
              <a:rPr sz="1300" b="1" i="0">
                <a:solidFill>
                  <a:srgbClr val="002368"/>
                </a:solidFill>
                <a:latin typeface="Arial"/>
              </a:rPr>
              <a:t>Master list</a:t>
            </a:r>
          </a:p>
        </p:txBody>
      </p:sp>
      <p:sp>
        <p:nvSpPr>
          <p:cNvPr id="7" name="TextBox 6"/>
          <p:cNvSpPr txBox="1"/>
          <p:nvPr/>
        </p:nvSpPr>
        <p:spPr>
          <a:xfrm>
            <a:off x="548640" y="2359152"/>
            <a:ext cx="2606040" cy="914400"/>
          </a:xfrm>
          <a:prstGeom prst="rect">
            <a:avLst/>
          </a:prstGeom>
          <a:noFill/>
        </p:spPr>
        <p:txBody>
          <a:bodyPr wrap="square" lIns="0" tIns="0" rIns="0" bIns="0" anchor="t">
            <a:spAutoFit/>
          </a:bodyPr>
          <a:lstStyle/>
          <a:p>
            <a:pPr algn="l"/>
            <a:r>
              <a:rPr sz="1050" b="0" i="0">
                <a:solidFill>
                  <a:srgbClr val="000000"/>
                </a:solidFill>
                <a:latin typeface="Arial"/>
              </a:rPr>
              <a:t>TATO 476 · TCDC 115 · OSM 241 records to start; 1,376 master records in all</a:t>
            </a:r>
          </a:p>
        </p:txBody>
      </p:sp>
      <p:sp>
        <p:nvSpPr>
          <p:cNvPr id="8" name="Rounded Rectangle 7"/>
          <p:cNvSpPr/>
          <p:nvPr/>
        </p:nvSpPr>
        <p:spPr>
          <a:xfrm>
            <a:off x="548640" y="331012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Companies, SACCOS</a:t>
            </a:r>
          </a:p>
        </p:txBody>
      </p:sp>
      <p:sp>
        <p:nvSpPr>
          <p:cNvPr id="9" name="Hexagon 8"/>
          <p:cNvSpPr/>
          <p:nvPr/>
        </p:nvSpPr>
        <p:spPr>
          <a:xfrm>
            <a:off x="3383280" y="1828800"/>
            <a:ext cx="457200" cy="402336"/>
          </a:xfrm>
          <a:prstGeom prst="hexagon">
            <a:avLst>
              <a:gd name="adj" fmla="val 25000"/>
              <a:gd name="vf" fmla="val 115470"/>
            </a:avLst>
          </a:prstGeom>
          <a:solidFill>
            <a:srgbClr val="FFC952"/>
          </a:solidFill>
          <a:ln>
            <a:noFill/>
          </a:ln>
        </p:spPr>
        <p:txBody>
          <a:bodyPr rtlCol="0" anchor="ctr" wrap="square" lIns="0" tIns="0" rIns="0" bIns="0"/>
          <a:lstStyle/>
          <a:p>
            <a:pPr algn="ctr"/>
            <a:r>
              <a:rPr sz="1100" b="1" i="0">
                <a:solidFill>
                  <a:srgbClr val="002368"/>
                </a:solidFill>
                <a:latin typeface="Arial"/>
              </a:rPr>
              <a:t>02</a:t>
            </a:r>
          </a:p>
        </p:txBody>
      </p:sp>
      <p:sp>
        <p:nvSpPr>
          <p:cNvPr id="10" name="TextBox 9"/>
          <p:cNvSpPr txBox="1"/>
          <p:nvPr/>
        </p:nvSpPr>
        <p:spPr>
          <a:xfrm>
            <a:off x="3950208" y="1883664"/>
            <a:ext cx="2103120" cy="292608"/>
          </a:xfrm>
          <a:prstGeom prst="rect">
            <a:avLst/>
          </a:prstGeom>
          <a:noFill/>
        </p:spPr>
        <p:txBody>
          <a:bodyPr wrap="square" lIns="0" tIns="0" rIns="0" bIns="0" anchor="t">
            <a:spAutoFit/>
          </a:bodyPr>
          <a:lstStyle/>
          <a:p>
            <a:pPr algn="l"/>
            <a:r>
              <a:rPr sz="1300" b="1" i="0">
                <a:solidFill>
                  <a:srgbClr val="002368"/>
                </a:solidFill>
                <a:latin typeface="Arial"/>
              </a:rPr>
              <a:t>Gap census</a:t>
            </a:r>
          </a:p>
        </p:txBody>
      </p:sp>
      <p:sp>
        <p:nvSpPr>
          <p:cNvPr id="11" name="TextBox 10"/>
          <p:cNvSpPr txBox="1"/>
          <p:nvPr/>
        </p:nvSpPr>
        <p:spPr>
          <a:xfrm>
            <a:off x="3383280" y="2359152"/>
            <a:ext cx="2606040" cy="914400"/>
          </a:xfrm>
          <a:prstGeom prst="rect">
            <a:avLst/>
          </a:prstGeom>
          <a:noFill/>
        </p:spPr>
        <p:txBody>
          <a:bodyPr wrap="square" lIns="0" tIns="0" rIns="0" bIns="0" anchor="t">
            <a:spAutoFit/>
          </a:bodyPr>
          <a:lstStyle/>
          <a:p>
            <a:pPr algn="l"/>
            <a:r>
              <a:rPr sz="1050" b="0" i="0">
                <a:solidFill>
                  <a:srgbClr val="000000"/>
                </a:solidFill>
                <a:latin typeface="Arial"/>
              </a:rPr>
              <a:t>OpenStreetMap, 12 categories around each campus · 505 candidates · 404 employers, 80 villages and 1 home added</a:t>
            </a:r>
          </a:p>
        </p:txBody>
      </p:sp>
      <p:sp>
        <p:nvSpPr>
          <p:cNvPr id="12" name="Rounded Rectangle 11"/>
          <p:cNvSpPr/>
          <p:nvPr/>
        </p:nvSpPr>
        <p:spPr>
          <a:xfrm>
            <a:off x="3383280" y="331012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Catchment sweep</a:t>
            </a:r>
          </a:p>
        </p:txBody>
      </p:sp>
      <p:sp>
        <p:nvSpPr>
          <p:cNvPr id="13" name="Hexagon 12"/>
          <p:cNvSpPr/>
          <p:nvPr/>
        </p:nvSpPr>
        <p:spPr>
          <a:xfrm>
            <a:off x="6217920" y="182880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03</a:t>
            </a:r>
          </a:p>
        </p:txBody>
      </p:sp>
      <p:sp>
        <p:nvSpPr>
          <p:cNvPr id="14" name="TextBox 13"/>
          <p:cNvSpPr txBox="1"/>
          <p:nvPr/>
        </p:nvSpPr>
        <p:spPr>
          <a:xfrm>
            <a:off x="6784848" y="1883664"/>
            <a:ext cx="2103120" cy="292608"/>
          </a:xfrm>
          <a:prstGeom prst="rect">
            <a:avLst/>
          </a:prstGeom>
          <a:noFill/>
        </p:spPr>
        <p:txBody>
          <a:bodyPr wrap="square" lIns="0" tIns="0" rIns="0" bIns="0" anchor="t">
            <a:spAutoFit/>
          </a:bodyPr>
          <a:lstStyle/>
          <a:p>
            <a:pPr algn="l"/>
            <a:r>
              <a:rPr sz="1300" b="1" i="0">
                <a:solidFill>
                  <a:srgbClr val="002368"/>
                </a:solidFill>
                <a:latin typeface="Arial"/>
              </a:rPr>
              <a:t>NGO register</a:t>
            </a:r>
          </a:p>
        </p:txBody>
      </p:sp>
      <p:sp>
        <p:nvSpPr>
          <p:cNvPr id="15" name="TextBox 14"/>
          <p:cNvSpPr txBox="1"/>
          <p:nvPr/>
        </p:nvSpPr>
        <p:spPr>
          <a:xfrm>
            <a:off x="6217920" y="2359152"/>
            <a:ext cx="2606040" cy="914400"/>
          </a:xfrm>
          <a:prstGeom prst="rect">
            <a:avLst/>
          </a:prstGeom>
          <a:noFill/>
        </p:spPr>
        <p:txBody>
          <a:bodyPr wrap="square" lIns="0" tIns="0" rIns="0" bIns="0" anchor="t">
            <a:spAutoFit/>
          </a:bodyPr>
          <a:lstStyle/>
          <a:p>
            <a:pPr algn="l"/>
            <a:r>
              <a:rPr sz="1050" b="0" i="0">
                <a:solidFill>
                  <a:srgbClr val="000000"/>
                </a:solidFill>
                <a:latin typeface="Arial"/>
              </a:rPr>
              <a:t>898 register entries read · 503 welfare records, 445 in scope, 58 out of scope</a:t>
            </a:r>
          </a:p>
        </p:txBody>
      </p:sp>
      <p:sp>
        <p:nvSpPr>
          <p:cNvPr id="16" name="Rounded Rectangle 15"/>
          <p:cNvSpPr/>
          <p:nvPr/>
        </p:nvSpPr>
        <p:spPr>
          <a:xfrm>
            <a:off x="6217920" y="331012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Welfare list</a:t>
            </a:r>
          </a:p>
        </p:txBody>
      </p:sp>
      <p:sp>
        <p:nvSpPr>
          <p:cNvPr id="17" name="Hexagon 16"/>
          <p:cNvSpPr/>
          <p:nvPr/>
        </p:nvSpPr>
        <p:spPr>
          <a:xfrm>
            <a:off x="9052560" y="182880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04</a:t>
            </a:r>
          </a:p>
        </p:txBody>
      </p:sp>
      <p:sp>
        <p:nvSpPr>
          <p:cNvPr id="18" name="TextBox 17"/>
          <p:cNvSpPr txBox="1"/>
          <p:nvPr/>
        </p:nvSpPr>
        <p:spPr>
          <a:xfrm>
            <a:off x="9619488" y="1883664"/>
            <a:ext cx="2103120" cy="292608"/>
          </a:xfrm>
          <a:prstGeom prst="rect">
            <a:avLst/>
          </a:prstGeom>
          <a:noFill/>
        </p:spPr>
        <p:txBody>
          <a:bodyPr wrap="square" lIns="0" tIns="0" rIns="0" bIns="0" anchor="t">
            <a:spAutoFit/>
          </a:bodyPr>
          <a:lstStyle/>
          <a:p>
            <a:pPr algn="l"/>
            <a:r>
              <a:rPr sz="1300" b="1" i="0">
                <a:solidFill>
                  <a:srgbClr val="002368"/>
                </a:solidFill>
                <a:latin typeface="Arial"/>
              </a:rPr>
              <a:t>Council data</a:t>
            </a:r>
          </a:p>
        </p:txBody>
      </p:sp>
      <p:sp>
        <p:nvSpPr>
          <p:cNvPr id="19" name="TextBox 18"/>
          <p:cNvSpPr txBox="1"/>
          <p:nvPr/>
        </p:nvSpPr>
        <p:spPr>
          <a:xfrm>
            <a:off x="9052560" y="2359152"/>
            <a:ext cx="2606040" cy="914400"/>
          </a:xfrm>
          <a:prstGeom prst="rect">
            <a:avLst/>
          </a:prstGeom>
          <a:noFill/>
        </p:spPr>
        <p:txBody>
          <a:bodyPr wrap="square" lIns="0" tIns="0" rIns="0" bIns="0" anchor="t">
            <a:spAutoFit/>
          </a:bodyPr>
          <a:lstStyle/>
          <a:p>
            <a:pPr algn="l"/>
            <a:r>
              <a:rPr sz="1050" b="0" i="0">
                <a:solidFill>
                  <a:srgbClr val="000000"/>
                </a:solidFill>
                <a:latin typeface="Arial"/>
              </a:rPr>
              <a:t>Council websites · 9 councils, 7 districts, 3 regions, 129 wards, 80 villages</a:t>
            </a:r>
          </a:p>
        </p:txBody>
      </p:sp>
      <p:sp>
        <p:nvSpPr>
          <p:cNvPr id="20" name="Rounded Rectangle 19"/>
          <p:cNvSpPr/>
          <p:nvPr/>
        </p:nvSpPr>
        <p:spPr>
          <a:xfrm>
            <a:off x="9052560" y="331012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Government list</a:t>
            </a:r>
          </a:p>
        </p:txBody>
      </p:sp>
      <p:sp>
        <p:nvSpPr>
          <p:cNvPr id="21" name="Hexagon 20"/>
          <p:cNvSpPr/>
          <p:nvPr/>
        </p:nvSpPr>
        <p:spPr>
          <a:xfrm>
            <a:off x="1965960" y="3931920"/>
            <a:ext cx="457200" cy="402336"/>
          </a:xfrm>
          <a:prstGeom prst="hexagon">
            <a:avLst>
              <a:gd name="adj" fmla="val 25000"/>
              <a:gd name="vf" fmla="val 115470"/>
            </a:avLst>
          </a:prstGeom>
          <a:solidFill>
            <a:srgbClr val="FFC952"/>
          </a:solidFill>
          <a:ln>
            <a:noFill/>
          </a:ln>
        </p:spPr>
        <p:txBody>
          <a:bodyPr rtlCol="0" anchor="ctr" wrap="square" lIns="0" tIns="0" rIns="0" bIns="0"/>
          <a:lstStyle/>
          <a:p>
            <a:pPr algn="ctr"/>
            <a:r>
              <a:rPr sz="1100" b="1" i="0">
                <a:solidFill>
                  <a:srgbClr val="002368"/>
                </a:solidFill>
                <a:latin typeface="Arial"/>
              </a:rPr>
              <a:t>05</a:t>
            </a:r>
          </a:p>
        </p:txBody>
      </p:sp>
      <p:sp>
        <p:nvSpPr>
          <p:cNvPr id="22" name="TextBox 21"/>
          <p:cNvSpPr txBox="1"/>
          <p:nvPr/>
        </p:nvSpPr>
        <p:spPr>
          <a:xfrm>
            <a:off x="2532888" y="3986783"/>
            <a:ext cx="2103120" cy="292608"/>
          </a:xfrm>
          <a:prstGeom prst="rect">
            <a:avLst/>
          </a:prstGeom>
          <a:noFill/>
        </p:spPr>
        <p:txBody>
          <a:bodyPr wrap="square" lIns="0" tIns="0" rIns="0" bIns="0" anchor="t">
            <a:spAutoFit/>
          </a:bodyPr>
          <a:lstStyle/>
          <a:p>
            <a:pPr algn="l"/>
            <a:r>
              <a:rPr sz="1300" b="1" i="0">
                <a:solidFill>
                  <a:srgbClr val="002368"/>
                </a:solidFill>
                <a:latin typeface="Arial"/>
              </a:rPr>
              <a:t>Google Maps ×4</a:t>
            </a:r>
          </a:p>
        </p:txBody>
      </p:sp>
      <p:sp>
        <p:nvSpPr>
          <p:cNvPr id="23" name="TextBox 22"/>
          <p:cNvSpPr txBox="1"/>
          <p:nvPr/>
        </p:nvSpPr>
        <p:spPr>
          <a:xfrm>
            <a:off x="1965960" y="4462272"/>
            <a:ext cx="2606040" cy="914400"/>
          </a:xfrm>
          <a:prstGeom prst="rect">
            <a:avLst/>
          </a:prstGeom>
          <a:noFill/>
        </p:spPr>
        <p:txBody>
          <a:bodyPr wrap="square" lIns="0" tIns="0" rIns="0" bIns="0" anchor="t">
            <a:spAutoFit/>
          </a:bodyPr>
          <a:lstStyle/>
          <a:p>
            <a:pPr algn="l"/>
            <a:r>
              <a:rPr sz="1050" b="0" i="0">
                <a:solidFill>
                  <a:srgbClr val="000000"/>
                </a:solidFill>
                <a:latin typeface="Arial"/>
              </a:rPr>
              <a:t>391 lookups in four rounds (120, 100, 120, 51) · 248 accepted, 25 to review, 118 a different place</a:t>
            </a:r>
          </a:p>
        </p:txBody>
      </p:sp>
      <p:sp>
        <p:nvSpPr>
          <p:cNvPr id="24" name="Rounded Rectangle 23"/>
          <p:cNvSpPr/>
          <p:nvPr/>
        </p:nvSpPr>
        <p:spPr>
          <a:xfrm>
            <a:off x="1965960" y="541324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Pins, phones</a:t>
            </a:r>
          </a:p>
        </p:txBody>
      </p:sp>
      <p:sp>
        <p:nvSpPr>
          <p:cNvPr id="25" name="Hexagon 24"/>
          <p:cNvSpPr/>
          <p:nvPr/>
        </p:nvSpPr>
        <p:spPr>
          <a:xfrm>
            <a:off x="4800600" y="393192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06</a:t>
            </a:r>
          </a:p>
        </p:txBody>
      </p:sp>
      <p:sp>
        <p:nvSpPr>
          <p:cNvPr id="26" name="TextBox 25"/>
          <p:cNvSpPr txBox="1"/>
          <p:nvPr/>
        </p:nvSpPr>
        <p:spPr>
          <a:xfrm>
            <a:off x="5367528" y="3986783"/>
            <a:ext cx="2103120" cy="292608"/>
          </a:xfrm>
          <a:prstGeom prst="rect">
            <a:avLst/>
          </a:prstGeom>
          <a:noFill/>
        </p:spPr>
        <p:txBody>
          <a:bodyPr wrap="square" lIns="0" tIns="0" rIns="0" bIns="0" anchor="t">
            <a:spAutoFit/>
          </a:bodyPr>
          <a:lstStyle/>
          <a:p>
            <a:pPr algn="l"/>
            <a:r>
              <a:rPr sz="1300" b="1" i="0">
                <a:solidFill>
                  <a:srgbClr val="002368"/>
                </a:solidFill>
                <a:latin typeface="Arial"/>
              </a:rPr>
              <a:t>User-named</a:t>
            </a:r>
          </a:p>
        </p:txBody>
      </p:sp>
      <p:sp>
        <p:nvSpPr>
          <p:cNvPr id="27" name="TextBox 26"/>
          <p:cNvSpPr txBox="1"/>
          <p:nvPr/>
        </p:nvSpPr>
        <p:spPr>
          <a:xfrm>
            <a:off x="4800600" y="4462272"/>
            <a:ext cx="2606040" cy="914400"/>
          </a:xfrm>
          <a:prstGeom prst="rect">
            <a:avLst/>
          </a:prstGeom>
          <a:noFill/>
        </p:spPr>
        <p:txBody>
          <a:bodyPr wrap="square" lIns="0" tIns="0" rIns="0" bIns="0" anchor="t">
            <a:spAutoFit/>
          </a:bodyPr>
          <a:lstStyle/>
          <a:p>
            <a:pPr algn="l"/>
            <a:r>
              <a:rPr sz="1050" b="0" i="0">
                <a:solidFill>
                  <a:srgbClr val="000000"/>
                </a:solidFill>
                <a:latin typeface="Arial"/>
              </a:rPr>
              <a:t>14 employers you named, placed from their Maps pins · 51 named leads located: 35 placed</a:t>
            </a:r>
          </a:p>
        </p:txBody>
      </p:sp>
      <p:sp>
        <p:nvSpPr>
          <p:cNvPr id="28" name="Rounded Rectangle 27"/>
          <p:cNvSpPr/>
          <p:nvPr/>
        </p:nvSpPr>
        <p:spPr>
          <a:xfrm>
            <a:off x="4800600" y="541324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Companies</a:t>
            </a:r>
          </a:p>
        </p:txBody>
      </p:sp>
      <p:sp>
        <p:nvSpPr>
          <p:cNvPr id="29" name="Hexagon 28"/>
          <p:cNvSpPr/>
          <p:nvPr/>
        </p:nvSpPr>
        <p:spPr>
          <a:xfrm>
            <a:off x="7635240" y="393192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07</a:t>
            </a:r>
          </a:p>
        </p:txBody>
      </p:sp>
      <p:sp>
        <p:nvSpPr>
          <p:cNvPr id="30" name="TextBox 29"/>
          <p:cNvSpPr txBox="1"/>
          <p:nvPr/>
        </p:nvSpPr>
        <p:spPr>
          <a:xfrm>
            <a:off x="8202167" y="3986783"/>
            <a:ext cx="2103120" cy="292608"/>
          </a:xfrm>
          <a:prstGeom prst="rect">
            <a:avLst/>
          </a:prstGeom>
          <a:noFill/>
        </p:spPr>
        <p:txBody>
          <a:bodyPr wrap="square" lIns="0" tIns="0" rIns="0" bIns="0" anchor="t">
            <a:spAutoFit/>
          </a:bodyPr>
          <a:lstStyle/>
          <a:p>
            <a:pPr algn="l"/>
            <a:r>
              <a:rPr sz="1300" b="1" i="0">
                <a:solidFill>
                  <a:srgbClr val="002368"/>
                </a:solidFill>
                <a:latin typeface="Arial"/>
              </a:rPr>
              <a:t>Deep crawl</a:t>
            </a:r>
          </a:p>
        </p:txBody>
      </p:sp>
      <p:sp>
        <p:nvSpPr>
          <p:cNvPr id="31" name="TextBox 30"/>
          <p:cNvSpPr txBox="1"/>
          <p:nvPr/>
        </p:nvSpPr>
        <p:spPr>
          <a:xfrm>
            <a:off x="7635240" y="4462272"/>
            <a:ext cx="2606040" cy="914400"/>
          </a:xfrm>
          <a:prstGeom prst="rect">
            <a:avLst/>
          </a:prstGeom>
          <a:noFill/>
        </p:spPr>
        <p:txBody>
          <a:bodyPr wrap="square" lIns="0" tIns="0" rIns="0" bIns="0" anchor="t">
            <a:spAutoFit/>
          </a:bodyPr>
          <a:lstStyle/>
          <a:p>
            <a:pPr algn="l"/>
            <a:r>
              <a:rPr sz="1050" b="0" i="0">
                <a:solidFill>
                  <a:srgbClr val="000000"/>
                </a:solidFill>
                <a:latin typeface="Arial"/>
              </a:rPr>
              <a:t>Own websites, up to 15 pages: emails on 507 of 627 sites (81%), named people on 217</a:t>
            </a:r>
          </a:p>
        </p:txBody>
      </p:sp>
      <p:sp>
        <p:nvSpPr>
          <p:cNvPr id="32" name="Rounded Rectangle 31"/>
          <p:cNvSpPr/>
          <p:nvPr/>
        </p:nvSpPr>
        <p:spPr>
          <a:xfrm>
            <a:off x="7635240" y="541324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Own websites</a:t>
            </a:r>
          </a:p>
        </p:txBody>
      </p:sp>
      <p:sp>
        <p:nvSpPr>
          <p:cNvPr id="33" name="TextBox 32"/>
          <p:cNvSpPr txBox="1"/>
          <p:nvPr/>
        </p:nvSpPr>
        <p:spPr>
          <a:xfrm>
            <a:off x="548640" y="5852160"/>
            <a:ext cx="11064240" cy="274320"/>
          </a:xfrm>
          <a:prstGeom prst="rect">
            <a:avLst/>
          </a:prstGeom>
          <a:noFill/>
        </p:spPr>
        <p:txBody>
          <a:bodyPr wrap="square" lIns="0" tIns="0" rIns="0" bIns="0" anchor="t">
            <a:spAutoFit/>
          </a:bodyPr>
          <a:lstStyle/>
          <a:p>
            <a:pPr algn="l"/>
            <a:r>
              <a:rPr sz="900" b="0" i="0">
                <a:solidFill>
                  <a:srgbClr val="818283"/>
                </a:solidFill>
                <a:latin typeface="Arial"/>
              </a:rPr>
              <a:t>Gold: the catchment sweep around the five campuses. Google Maps gives pins, addresses and phones, never people.</a:t>
            </a:r>
          </a:p>
        </p:txBody>
      </p:sp>
      <p:pic>
        <p:nvPicPr>
          <p:cNvPr id="34" name="Picture 33" descr="image3.png"/>
          <p:cNvPicPr>
            <a:picLocks noChangeAspect="1"/>
          </p:cNvPicPr>
          <p:nvPr/>
        </p:nvPicPr>
        <p:blipFill>
          <a:blip r:embed="rId2"/>
          <a:stretch>
            <a:fillRect/>
          </a:stretch>
        </p:blipFill>
        <p:spPr>
          <a:xfrm>
            <a:off x="548640" y="6272784"/>
            <a:ext cx="1143000" cy="274320"/>
          </a:xfrm>
          <a:prstGeom prst="rect">
            <a:avLst/>
          </a:prstGeom>
        </p:spPr>
      </p:pic>
      <p:sp>
        <p:nvSpPr>
          <p:cNvPr id="35"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6"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OpenStreetMap; NGO register; council websites; Google Maps, October 2026</a:t>
            </a:r>
          </a:p>
        </p:txBody>
      </p:sp>
      <p:sp>
        <p:nvSpPr>
          <p:cNvPr id="3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02</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SECTION TWO</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Segments and confidence</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Who we write to, what we ask, and how sure we are it reaches the decision-maker.</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Four core segments</a:t>
            </a:r>
          </a:p>
          <a:p>
            <a:pPr algn="l" marL="155448" indent="-155448">
              <a:spcAft>
                <a:spcPts val="400"/>
              </a:spcAft>
              <a:buFont typeface="Arial"/>
              <a:buChar char="•"/>
            </a:pPr>
            <a:r>
              <a:rPr sz="1100" b="0" i="0">
                <a:solidFill>
                  <a:srgbClr val="FFFFFF"/>
                </a:solidFill>
                <a:latin typeface="Arial"/>
              </a:rPr>
              <a:t>Employer subsegments: kind, variant, reach tier</a:t>
            </a:r>
          </a:p>
          <a:p>
            <a:pPr algn="l" marL="155448" indent="-155448">
              <a:spcAft>
                <a:spcPts val="400"/>
              </a:spcAft>
              <a:buFont typeface="Arial"/>
              <a:buChar char="•"/>
            </a:pPr>
            <a:r>
              <a:rPr sz="1100" b="0" i="0">
                <a:solidFill>
                  <a:srgbClr val="FFFFFF"/>
                </a:solidFill>
                <a:latin typeface="Arial"/>
              </a:rPr>
              <a:t>Introducers, savings groups, welfare and government</a:t>
            </a:r>
          </a:p>
          <a:p>
            <a:pPr algn="l" marL="155448" indent="-155448">
              <a:spcAft>
                <a:spcPts val="400"/>
              </a:spcAft>
              <a:buFont typeface="Arial"/>
              <a:buChar char="•"/>
            </a:pPr>
            <a:r>
              <a:rPr sz="1100" b="0" i="0">
                <a:solidFill>
                  <a:srgbClr val="FFFFFF"/>
                </a:solidFill>
                <a:latin typeface="Arial"/>
              </a:rPr>
              <a:t>The confidence layer and the contact segments</a:t>
            </a:r>
          </a:p>
          <a:p>
            <a:pPr algn="l" marL="155448" indent="-155448">
              <a:spcAft>
                <a:spcPts val="400"/>
              </a:spcAft>
              <a:buFont typeface="Arial"/>
              <a:buChar char="•"/>
            </a:pPr>
            <a:r>
              <a:rPr sz="1100" b="0" i="0">
                <a:solidFill>
                  <a:srgbClr val="FFFFFF"/>
                </a:solidFill>
                <a:latin typeface="Arial"/>
              </a:rPr>
              <a:t>The on-the-ground recipient rule</a:t>
            </a:r>
          </a:p>
        </p:txBody>
      </p:sp>
      <p:sp>
        <p:nvSpPr>
          <p:cNvPr id="8" name="TextBox 7"/>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FFFFFF"/>
                </a:solidFill>
                <a:latin typeface="Georg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CORE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Four audiences, four different requests</a:t>
            </a:r>
          </a:p>
        </p:txBody>
      </p:sp>
      <p:sp>
        <p:nvSpPr>
          <p:cNvPr id="4" name="Lead"/>
          <p:cNvSpPr txBox="1"/>
          <p:nvPr/>
        </p:nvSpPr>
        <p:spPr>
          <a:xfrm>
            <a:off x="548640" y="1216152"/>
            <a:ext cx="11064240" cy="365760"/>
          </a:xfrm>
          <a:prstGeom prst="rect">
            <a:avLst/>
          </a:prstGeom>
          <a:noFill/>
        </p:spPr>
        <p:txBody>
          <a:bodyPr wrap="square" lIns="0" tIns="0" rIns="0" bIns="0" anchor="t">
            <a:spAutoFit/>
          </a:bodyPr>
          <a:lstStyle/>
          <a:p>
            <a:pPr algn="l"/>
            <a:r>
              <a:rPr sz="1500" b="0" i="0">
                <a:solidFill>
                  <a:srgbClr val="002368"/>
                </a:solidFill>
                <a:latin typeface="Georgia"/>
              </a:rPr>
              <a:t>Each audience has its own reason to talk to us, its own request and its own decision-maker.</a:t>
            </a:r>
          </a:p>
        </p:txBody>
      </p:sp>
      <p:sp>
        <p:nvSpPr>
          <p:cNvPr id="5" name="Rounded Rectangle 4"/>
          <p:cNvSpPr/>
          <p:nvPr/>
        </p:nvSpPr>
        <p:spPr>
          <a:xfrm>
            <a:off x="548640" y="1828800"/>
            <a:ext cx="2651760" cy="4069080"/>
          </a:xfrm>
          <a:prstGeom prst="roundRect">
            <a:avLst>
              <a:gd name="adj" fmla="val 2413"/>
            </a:avLst>
          </a:prstGeom>
          <a:solidFill>
            <a:srgbClr val="002368"/>
          </a:solidFill>
          <a:ln w="12700">
            <a:solidFill>
              <a:srgbClr val="002368"/>
            </a:solidFill>
          </a:ln>
        </p:spPr>
        <p:txBody>
          <a:bodyPr rtlCol="0" anchor="ctr"/>
          <a:lstStyle/>
          <a:p>
            <a:pPr algn="ctr"/>
          </a:p>
        </p:txBody>
      </p:sp>
      <p:sp>
        <p:nvSpPr>
          <p:cNvPr id="6" name="TextBox 5"/>
          <p:cNvSpPr txBox="1"/>
          <p:nvPr/>
        </p:nvSpPr>
        <p:spPr>
          <a:xfrm>
            <a:off x="777240" y="2011680"/>
            <a:ext cx="914400" cy="457200"/>
          </a:xfrm>
          <a:prstGeom prst="rect">
            <a:avLst/>
          </a:prstGeom>
          <a:noFill/>
        </p:spPr>
        <p:txBody>
          <a:bodyPr wrap="square" lIns="0" tIns="0" rIns="0" bIns="0" anchor="t">
            <a:spAutoFit/>
          </a:bodyPr>
          <a:lstStyle/>
          <a:p>
            <a:pPr algn="l"/>
            <a:r>
              <a:rPr sz="2400" b="0" i="0">
                <a:solidFill>
                  <a:srgbClr val="FFC952"/>
                </a:solidFill>
                <a:latin typeface="Georgia"/>
              </a:rPr>
              <a:t>01</a:t>
            </a:r>
          </a:p>
        </p:txBody>
      </p:sp>
      <p:sp>
        <p:nvSpPr>
          <p:cNvPr id="7" name="TextBox 6"/>
          <p:cNvSpPr txBox="1"/>
          <p:nvPr/>
        </p:nvSpPr>
        <p:spPr>
          <a:xfrm>
            <a:off x="777240" y="2514600"/>
            <a:ext cx="2286000" cy="320040"/>
          </a:xfrm>
          <a:prstGeom prst="rect">
            <a:avLst/>
          </a:prstGeom>
          <a:noFill/>
        </p:spPr>
        <p:txBody>
          <a:bodyPr wrap="square" lIns="0" tIns="0" rIns="0" bIns="0" anchor="t">
            <a:spAutoFit/>
          </a:bodyPr>
          <a:lstStyle/>
          <a:p>
            <a:pPr algn="l"/>
            <a:r>
              <a:rPr sz="1600" b="1" i="0">
                <a:solidFill>
                  <a:srgbClr val="FFFFFF"/>
                </a:solidFill>
                <a:latin typeface="Arial"/>
              </a:rPr>
              <a:t>Employers</a:t>
            </a:r>
          </a:p>
        </p:txBody>
      </p:sp>
      <p:sp>
        <p:nvSpPr>
          <p:cNvPr id="8" name="TextBox 7"/>
          <p:cNvSpPr txBox="1"/>
          <p:nvPr/>
        </p:nvSpPr>
        <p:spPr>
          <a:xfrm>
            <a:off x="777240" y="2926080"/>
            <a:ext cx="2286000" cy="640080"/>
          </a:xfrm>
          <a:prstGeom prst="rect">
            <a:avLst/>
          </a:prstGeom>
          <a:noFill/>
        </p:spPr>
        <p:txBody>
          <a:bodyPr wrap="square" lIns="0" tIns="0" rIns="0" bIns="0" anchor="t">
            <a:spAutoFit/>
          </a:bodyPr>
          <a:lstStyle/>
          <a:p>
            <a:pPr algn="l"/>
            <a:r>
              <a:rPr sz="3600" b="0" i="0">
                <a:solidFill>
                  <a:srgbClr val="FFC952"/>
                </a:solidFill>
                <a:latin typeface="Georgia"/>
              </a:rPr>
              <a:t>1,235</a:t>
            </a:r>
          </a:p>
        </p:txBody>
      </p:sp>
      <p:sp>
        <p:nvSpPr>
          <p:cNvPr id="9" name="TextBox 8"/>
          <p:cNvSpPr txBox="1"/>
          <p:nvPr/>
        </p:nvSpPr>
        <p:spPr>
          <a:xfrm>
            <a:off x="777240" y="3584448"/>
            <a:ext cx="2286000" cy="457200"/>
          </a:xfrm>
          <a:prstGeom prst="rect">
            <a:avLst/>
          </a:prstGeom>
          <a:noFill/>
        </p:spPr>
        <p:txBody>
          <a:bodyPr wrap="square" lIns="0" tIns="0" rIns="0" bIns="0" anchor="t">
            <a:spAutoFit/>
          </a:bodyPr>
          <a:lstStyle/>
          <a:p>
            <a:pPr algn="l"/>
            <a:r>
              <a:rPr sz="1000" b="0" i="0">
                <a:solidFill>
                  <a:srgbClr val="D9ECF9"/>
                </a:solidFill>
                <a:latin typeface="Arial"/>
              </a:rPr>
              <a:t>1,118 companies + 117 savings groups</a:t>
            </a:r>
          </a:p>
        </p:txBody>
      </p:sp>
      <p:cxnSp>
        <p:nvCxnSpPr>
          <p:cNvPr id="10" name="Connector 9"/>
          <p:cNvCxnSpPr/>
          <p:nvPr/>
        </p:nvCxnSpPr>
        <p:spPr>
          <a:xfrm>
            <a:off x="777240" y="4114800"/>
            <a:ext cx="2194560" cy="0"/>
          </a:xfrm>
          <a:prstGeom prst="line">
            <a:avLst/>
          </a:prstGeom>
          <a:ln w="9525">
            <a:solidFill>
              <a:srgbClr val="8091B3"/>
            </a:solidFill>
          </a:ln>
        </p:spPr>
      </p:cxnSp>
      <p:sp>
        <p:nvSpPr>
          <p:cNvPr id="11" name="TextBox 10"/>
          <p:cNvSpPr txBox="1"/>
          <p:nvPr/>
        </p:nvSpPr>
        <p:spPr>
          <a:xfrm>
            <a:off x="777240" y="4224528"/>
            <a:ext cx="2286000" cy="228600"/>
          </a:xfrm>
          <a:prstGeom prst="rect">
            <a:avLst/>
          </a:prstGeom>
          <a:noFill/>
        </p:spPr>
        <p:txBody>
          <a:bodyPr wrap="square" lIns="0" tIns="0" rIns="0" bIns="0" anchor="t">
            <a:spAutoFit/>
          </a:bodyPr>
          <a:lstStyle/>
          <a:p>
            <a:pPr algn="l"/>
            <a:r>
              <a:rPr sz="800" b="1" i="0" spc="150">
                <a:solidFill>
                  <a:srgbClr val="80BFEC"/>
                </a:solidFill>
                <a:latin typeface="Arial"/>
              </a:rPr>
              <a:t>WHAT THEY ARE TO US</a:t>
            </a:r>
          </a:p>
        </p:txBody>
      </p:sp>
      <p:sp>
        <p:nvSpPr>
          <p:cNvPr id="12" name="TextBox 11"/>
          <p:cNvSpPr txBox="1"/>
          <p:nvPr/>
        </p:nvSpPr>
        <p:spPr>
          <a:xfrm>
            <a:off x="777240" y="4462272"/>
            <a:ext cx="2286000" cy="274320"/>
          </a:xfrm>
          <a:prstGeom prst="rect">
            <a:avLst/>
          </a:prstGeom>
          <a:noFill/>
        </p:spPr>
        <p:txBody>
          <a:bodyPr wrap="square" lIns="0" tIns="0" rIns="0" bIns="0" anchor="t">
            <a:spAutoFit/>
          </a:bodyPr>
          <a:lstStyle/>
          <a:p>
            <a:pPr algn="l"/>
            <a:r>
              <a:rPr sz="1100" b="1" i="0">
                <a:solidFill>
                  <a:srgbClr val="FFFFFF"/>
                </a:solidFill>
                <a:latin typeface="Arial"/>
              </a:rPr>
              <a:t>Customers through their staff</a:t>
            </a:r>
          </a:p>
        </p:txBody>
      </p:sp>
      <p:sp>
        <p:nvSpPr>
          <p:cNvPr id="13" name="TextBox 12"/>
          <p:cNvSpPr txBox="1"/>
          <p:nvPr/>
        </p:nvSpPr>
        <p:spPr>
          <a:xfrm>
            <a:off x="777240" y="4800600"/>
            <a:ext cx="2286000" cy="228600"/>
          </a:xfrm>
          <a:prstGeom prst="rect">
            <a:avLst/>
          </a:prstGeom>
          <a:noFill/>
        </p:spPr>
        <p:txBody>
          <a:bodyPr wrap="square" lIns="0" tIns="0" rIns="0" bIns="0" anchor="t">
            <a:spAutoFit/>
          </a:bodyPr>
          <a:lstStyle/>
          <a:p>
            <a:pPr algn="l"/>
            <a:r>
              <a:rPr sz="800" b="1" i="0" spc="150">
                <a:solidFill>
                  <a:srgbClr val="80BFEC"/>
                </a:solidFill>
                <a:latin typeface="Arial"/>
              </a:rPr>
              <a:t>WHAT WE ASK</a:t>
            </a:r>
          </a:p>
        </p:txBody>
      </p:sp>
      <p:sp>
        <p:nvSpPr>
          <p:cNvPr id="14" name="TextBox 13"/>
          <p:cNvSpPr txBox="1"/>
          <p:nvPr/>
        </p:nvSpPr>
        <p:spPr>
          <a:xfrm>
            <a:off x="777240" y="5029200"/>
            <a:ext cx="2286000" cy="777240"/>
          </a:xfrm>
          <a:prstGeom prst="rect">
            <a:avLst/>
          </a:prstGeom>
          <a:noFill/>
        </p:spPr>
        <p:txBody>
          <a:bodyPr wrap="square" lIns="0" tIns="0" rIns="0" bIns="0" anchor="t">
            <a:spAutoFit/>
          </a:bodyPr>
          <a:lstStyle/>
          <a:p>
            <a:pPr algn="l"/>
            <a:r>
              <a:rPr sz="1050" b="0" i="0">
                <a:solidFill>
                  <a:srgbClr val="D9ECF9"/>
                </a:solidFill>
                <a:latin typeface="Arial"/>
              </a:rPr>
              <a:t>A partnership on a staff education benefit; sponsorship for the 14 that fund education</a:t>
            </a:r>
          </a:p>
        </p:txBody>
      </p:sp>
      <p:sp>
        <p:nvSpPr>
          <p:cNvPr id="15" name="Rounded Rectangle 14"/>
          <p:cNvSpPr/>
          <p:nvPr/>
        </p:nvSpPr>
        <p:spPr>
          <a:xfrm>
            <a:off x="3355848" y="1828800"/>
            <a:ext cx="2651760" cy="4069080"/>
          </a:xfrm>
          <a:prstGeom prst="roundRect">
            <a:avLst>
              <a:gd name="adj" fmla="val 2413"/>
            </a:avLst>
          </a:prstGeom>
          <a:solidFill>
            <a:srgbClr val="80BFEC"/>
          </a:solidFill>
          <a:ln w="12700">
            <a:solidFill>
              <a:srgbClr val="80BFEC"/>
            </a:solidFill>
          </a:ln>
        </p:spPr>
        <p:txBody>
          <a:bodyPr rtlCol="0" anchor="ctr"/>
          <a:lstStyle/>
          <a:p>
            <a:pPr algn="ctr"/>
          </a:p>
        </p:txBody>
      </p:sp>
      <p:sp>
        <p:nvSpPr>
          <p:cNvPr id="16" name="TextBox 15"/>
          <p:cNvSpPr txBox="1"/>
          <p:nvPr/>
        </p:nvSpPr>
        <p:spPr>
          <a:xfrm>
            <a:off x="3584448"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02</a:t>
            </a:r>
          </a:p>
        </p:txBody>
      </p:sp>
      <p:sp>
        <p:nvSpPr>
          <p:cNvPr id="17" name="TextBox 16"/>
          <p:cNvSpPr txBox="1"/>
          <p:nvPr/>
        </p:nvSpPr>
        <p:spPr>
          <a:xfrm>
            <a:off x="3584448"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Introducers</a:t>
            </a:r>
          </a:p>
        </p:txBody>
      </p:sp>
      <p:sp>
        <p:nvSpPr>
          <p:cNvPr id="18" name="TextBox 17"/>
          <p:cNvSpPr txBox="1"/>
          <p:nvPr/>
        </p:nvSpPr>
        <p:spPr>
          <a:xfrm>
            <a:off x="3584448"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16</a:t>
            </a:r>
          </a:p>
        </p:txBody>
      </p:sp>
      <p:sp>
        <p:nvSpPr>
          <p:cNvPr id="19" name="TextBox 18"/>
          <p:cNvSpPr txBox="1"/>
          <p:nvPr/>
        </p:nvSpPr>
        <p:spPr>
          <a:xfrm>
            <a:off x="3584448"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chambers, associations, an HR body</a:t>
            </a:r>
          </a:p>
        </p:txBody>
      </p:sp>
      <p:cxnSp>
        <p:nvCxnSpPr>
          <p:cNvPr id="20" name="Connector 19"/>
          <p:cNvCxnSpPr/>
          <p:nvPr/>
        </p:nvCxnSpPr>
        <p:spPr>
          <a:xfrm>
            <a:off x="3584448" y="4114800"/>
            <a:ext cx="2194560" cy="0"/>
          </a:xfrm>
          <a:prstGeom prst="line">
            <a:avLst/>
          </a:prstGeom>
          <a:ln w="9525">
            <a:solidFill>
              <a:srgbClr val="80BFEC"/>
            </a:solidFill>
          </a:ln>
        </p:spPr>
      </p:cxnSp>
      <p:sp>
        <p:nvSpPr>
          <p:cNvPr id="21" name="TextBox 20"/>
          <p:cNvSpPr txBox="1"/>
          <p:nvPr/>
        </p:nvSpPr>
        <p:spPr>
          <a:xfrm>
            <a:off x="3584448"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22" name="TextBox 21"/>
          <p:cNvSpPr txBox="1"/>
          <p:nvPr/>
        </p:nvSpPr>
        <p:spPr>
          <a:xfrm>
            <a:off x="3584448"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Multipliers</a:t>
            </a:r>
          </a:p>
        </p:txBody>
      </p:sp>
      <p:sp>
        <p:nvSpPr>
          <p:cNvPr id="23" name="TextBox 22"/>
          <p:cNvSpPr txBox="1"/>
          <p:nvPr/>
        </p:nvSpPr>
        <p:spPr>
          <a:xfrm>
            <a:off x="3584448"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24" name="TextBox 23"/>
          <p:cNvSpPr txBox="1"/>
          <p:nvPr/>
        </p:nvSpPr>
        <p:spPr>
          <a:xfrm>
            <a:off x="3584448"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Share the staff benefit with member employers</a:t>
            </a:r>
          </a:p>
        </p:txBody>
      </p:sp>
      <p:sp>
        <p:nvSpPr>
          <p:cNvPr id="25" name="Rounded Rectangle 24"/>
          <p:cNvSpPr/>
          <p:nvPr/>
        </p:nvSpPr>
        <p:spPr>
          <a:xfrm>
            <a:off x="6163055" y="1828800"/>
            <a:ext cx="2651760" cy="4069080"/>
          </a:xfrm>
          <a:prstGeom prst="roundRect">
            <a:avLst>
              <a:gd name="adj" fmla="val 2413"/>
            </a:avLst>
          </a:prstGeom>
          <a:solidFill>
            <a:srgbClr val="D9ECF9"/>
          </a:solidFill>
          <a:ln w="12700">
            <a:solidFill>
              <a:srgbClr val="D9ECF9"/>
            </a:solidFill>
          </a:ln>
        </p:spPr>
        <p:txBody>
          <a:bodyPr rtlCol="0" anchor="ctr"/>
          <a:lstStyle/>
          <a:p>
            <a:pPr algn="ctr"/>
          </a:p>
        </p:txBody>
      </p:sp>
      <p:sp>
        <p:nvSpPr>
          <p:cNvPr id="26" name="TextBox 25"/>
          <p:cNvSpPr txBox="1"/>
          <p:nvPr/>
        </p:nvSpPr>
        <p:spPr>
          <a:xfrm>
            <a:off x="6391655"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03</a:t>
            </a:r>
          </a:p>
        </p:txBody>
      </p:sp>
      <p:sp>
        <p:nvSpPr>
          <p:cNvPr id="27" name="TextBox 26"/>
          <p:cNvSpPr txBox="1"/>
          <p:nvPr/>
        </p:nvSpPr>
        <p:spPr>
          <a:xfrm>
            <a:off x="6391655"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Welfare</a:t>
            </a:r>
          </a:p>
        </p:txBody>
      </p:sp>
      <p:sp>
        <p:nvSpPr>
          <p:cNvPr id="28" name="TextBox 27"/>
          <p:cNvSpPr txBox="1"/>
          <p:nvPr/>
        </p:nvSpPr>
        <p:spPr>
          <a:xfrm>
            <a:off x="6391655"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445</a:t>
            </a:r>
          </a:p>
        </p:txBody>
      </p:sp>
      <p:sp>
        <p:nvSpPr>
          <p:cNvPr id="29" name="TextBox 28"/>
          <p:cNvSpPr txBox="1"/>
          <p:nvPr/>
        </p:nvSpPr>
        <p:spPr>
          <a:xfrm>
            <a:off x="6391655"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homes, programmes, centres, funders, networks</a:t>
            </a:r>
          </a:p>
        </p:txBody>
      </p:sp>
      <p:cxnSp>
        <p:nvCxnSpPr>
          <p:cNvPr id="30" name="Connector 29"/>
          <p:cNvCxnSpPr/>
          <p:nvPr/>
        </p:nvCxnSpPr>
        <p:spPr>
          <a:xfrm>
            <a:off x="6391655" y="4114800"/>
            <a:ext cx="2194560" cy="0"/>
          </a:xfrm>
          <a:prstGeom prst="line">
            <a:avLst/>
          </a:prstGeom>
          <a:ln w="9525">
            <a:solidFill>
              <a:srgbClr val="80BFEC"/>
            </a:solidFill>
          </a:ln>
        </p:spPr>
      </p:cxnSp>
      <p:sp>
        <p:nvSpPr>
          <p:cNvPr id="31" name="TextBox 30"/>
          <p:cNvSpPr txBox="1"/>
          <p:nvPr/>
        </p:nvSpPr>
        <p:spPr>
          <a:xfrm>
            <a:off x="6391655"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32" name="TextBox 31"/>
          <p:cNvSpPr txBox="1"/>
          <p:nvPr/>
        </p:nvSpPr>
        <p:spPr>
          <a:xfrm>
            <a:off x="6391655"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Partners and funders</a:t>
            </a:r>
          </a:p>
        </p:txBody>
      </p:sp>
      <p:sp>
        <p:nvSpPr>
          <p:cNvPr id="33" name="TextBox 32"/>
          <p:cNvSpPr txBox="1"/>
          <p:nvPr/>
        </p:nvSpPr>
        <p:spPr>
          <a:xfrm>
            <a:off x="6391655"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34" name="TextBox 33"/>
          <p:cNvSpPr txBox="1"/>
          <p:nvPr/>
        </p:nvSpPr>
        <p:spPr>
          <a:xfrm>
            <a:off x="6391655"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A partnership on the children's education, or student sponsorship</a:t>
            </a:r>
          </a:p>
        </p:txBody>
      </p:sp>
      <p:sp>
        <p:nvSpPr>
          <p:cNvPr id="35" name="Rounded Rectangle 34"/>
          <p:cNvSpPr/>
          <p:nvPr/>
        </p:nvSpPr>
        <p:spPr>
          <a:xfrm>
            <a:off x="8970263" y="1828800"/>
            <a:ext cx="2651760" cy="4069080"/>
          </a:xfrm>
          <a:prstGeom prst="roundRect">
            <a:avLst>
              <a:gd name="adj" fmla="val 2413"/>
            </a:avLst>
          </a:prstGeom>
          <a:solidFill>
            <a:srgbClr val="ECECEC"/>
          </a:solidFill>
          <a:ln w="12700">
            <a:solidFill>
              <a:srgbClr val="ECECEC"/>
            </a:solidFill>
          </a:ln>
        </p:spPr>
        <p:txBody>
          <a:bodyPr rtlCol="0" anchor="ctr"/>
          <a:lstStyle/>
          <a:p>
            <a:pPr algn="ctr"/>
          </a:p>
        </p:txBody>
      </p:sp>
      <p:sp>
        <p:nvSpPr>
          <p:cNvPr id="36" name="TextBox 35"/>
          <p:cNvSpPr txBox="1"/>
          <p:nvPr/>
        </p:nvSpPr>
        <p:spPr>
          <a:xfrm>
            <a:off x="9198863"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04</a:t>
            </a:r>
          </a:p>
        </p:txBody>
      </p:sp>
      <p:sp>
        <p:nvSpPr>
          <p:cNvPr id="37" name="TextBox 36"/>
          <p:cNvSpPr txBox="1"/>
          <p:nvPr/>
        </p:nvSpPr>
        <p:spPr>
          <a:xfrm>
            <a:off x="9198863"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Government</a:t>
            </a:r>
          </a:p>
        </p:txBody>
      </p:sp>
      <p:sp>
        <p:nvSpPr>
          <p:cNvPr id="38" name="TextBox 37"/>
          <p:cNvSpPr txBox="1"/>
          <p:nvPr/>
        </p:nvSpPr>
        <p:spPr>
          <a:xfrm>
            <a:off x="9198863"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228</a:t>
            </a:r>
          </a:p>
        </p:txBody>
      </p:sp>
      <p:sp>
        <p:nvSpPr>
          <p:cNvPr id="39" name="TextBox 38"/>
          <p:cNvSpPr txBox="1"/>
          <p:nvPr/>
        </p:nvSpPr>
        <p:spPr>
          <a:xfrm>
            <a:off x="9198863"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councils, districts, regions, wards, villages</a:t>
            </a:r>
          </a:p>
        </p:txBody>
      </p:sp>
      <p:cxnSp>
        <p:nvCxnSpPr>
          <p:cNvPr id="40" name="Connector 39"/>
          <p:cNvCxnSpPr/>
          <p:nvPr/>
        </p:nvCxnSpPr>
        <p:spPr>
          <a:xfrm>
            <a:off x="9198863" y="4114800"/>
            <a:ext cx="2194561" cy="0"/>
          </a:xfrm>
          <a:prstGeom prst="line">
            <a:avLst/>
          </a:prstGeom>
          <a:ln w="9525">
            <a:solidFill>
              <a:srgbClr val="80BFEC"/>
            </a:solidFill>
          </a:ln>
        </p:spPr>
      </p:cxnSp>
      <p:sp>
        <p:nvSpPr>
          <p:cNvPr id="41" name="TextBox 40"/>
          <p:cNvSpPr txBox="1"/>
          <p:nvPr/>
        </p:nvSpPr>
        <p:spPr>
          <a:xfrm>
            <a:off x="9198863"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42" name="TextBox 41"/>
          <p:cNvSpPr txBox="1"/>
          <p:nvPr/>
        </p:nvSpPr>
        <p:spPr>
          <a:xfrm>
            <a:off x="9198863"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A forum parents trust</a:t>
            </a:r>
          </a:p>
        </p:txBody>
      </p:sp>
      <p:sp>
        <p:nvSpPr>
          <p:cNvPr id="43" name="TextBox 42"/>
          <p:cNvSpPr txBox="1"/>
          <p:nvPr/>
        </p:nvSpPr>
        <p:spPr>
          <a:xfrm>
            <a:off x="9198863"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44" name="TextBox 43"/>
          <p:cNvSpPr txBox="1"/>
          <p:nvPr/>
        </p:nvSpPr>
        <p:spPr>
          <a:xfrm>
            <a:off x="9198863"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A free 15–20 minute Kiswahili talk at a community meeting</a:t>
            </a:r>
          </a:p>
        </p:txBody>
      </p:sp>
      <p:pic>
        <p:nvPicPr>
          <p:cNvPr id="45" name="Picture 44" descr="image3.png"/>
          <p:cNvPicPr>
            <a:picLocks noChangeAspect="1"/>
          </p:cNvPicPr>
          <p:nvPr/>
        </p:nvPicPr>
        <p:blipFill>
          <a:blip r:embed="rId2"/>
          <a:stretch>
            <a:fillRect/>
          </a:stretch>
        </p:blipFill>
        <p:spPr>
          <a:xfrm>
            <a:off x="548640" y="6272784"/>
            <a:ext cx="1143000" cy="274320"/>
          </a:xfrm>
          <a:prstGeom prst="rect">
            <a:avLst/>
          </a:prstGeom>
        </p:spPr>
      </p:pic>
      <p:sp>
        <p:nvSpPr>
          <p:cNvPr id="4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4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EMPLOYERS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Employers: kind, message variant and reach tier</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COMPANIES BY KIND OF EMPLOYER: LEADS AND READY FOR REVIEW</a:t>
            </a:r>
          </a:p>
        </p:txBody>
      </p:sp>
      <p:graphicFrame>
        <p:nvGraphicFramePr>
          <p:cNvPr id="5" name="Chart 4"/>
          <p:cNvGraphicFramePr>
            <a:graphicFrameLocks noGrp="1"/>
          </p:cNvGraphicFramePr>
          <p:nvPr/>
        </p:nvGraphicFramePr>
        <p:xfrm>
          <a:off x="411480" y="1463040"/>
          <a:ext cx="6858000" cy="4526280"/>
        </p:xfrm>
        <a:graphic>
          <a:graphicData uri="http://schemas.openxmlformats.org/drawingml/2006/chart">
            <c:chart xmlns:c="http://schemas.openxmlformats.org/drawingml/2006/chart" r:id="rId2"/>
          </a:graphicData>
        </a:graphic>
      </p:graphicFrame>
      <p:sp>
        <p:nvSpPr>
          <p:cNvPr id="6" name="Rounded Rectangle 5"/>
          <p:cNvSpPr/>
          <p:nvPr/>
        </p:nvSpPr>
        <p:spPr>
          <a:xfrm>
            <a:off x="7452360" y="1325880"/>
            <a:ext cx="4187952" cy="1965960"/>
          </a:xfrm>
          <a:prstGeom prst="roundRect">
            <a:avLst>
              <a:gd name="adj" fmla="val 3255"/>
            </a:avLst>
          </a:prstGeom>
          <a:solidFill>
            <a:srgbClr val="D9ECF9"/>
          </a:solidFill>
          <a:ln w="12700">
            <a:solidFill>
              <a:srgbClr val="D9ECF9"/>
            </a:solidFill>
          </a:ln>
        </p:spPr>
        <p:txBody>
          <a:bodyPr rtlCol="0" anchor="ctr"/>
          <a:lstStyle/>
          <a:p>
            <a:pPr algn="ctr"/>
          </a:p>
        </p:txBody>
      </p:sp>
      <p:sp>
        <p:nvSpPr>
          <p:cNvPr id="7" name="TextBox 6"/>
          <p:cNvSpPr txBox="1"/>
          <p:nvPr/>
        </p:nvSpPr>
        <p:spPr>
          <a:xfrm>
            <a:off x="7680960" y="1463040"/>
            <a:ext cx="3749039" cy="228600"/>
          </a:xfrm>
          <a:prstGeom prst="rect">
            <a:avLst/>
          </a:prstGeom>
          <a:noFill/>
        </p:spPr>
        <p:txBody>
          <a:bodyPr wrap="square" lIns="0" tIns="0" rIns="0" bIns="0" anchor="t">
            <a:spAutoFit/>
          </a:bodyPr>
          <a:lstStyle/>
          <a:p>
            <a:pPr algn="l"/>
            <a:r>
              <a:rPr sz="900" b="1" i="0" spc="200">
                <a:solidFill>
                  <a:srgbClr val="818283"/>
                </a:solidFill>
                <a:latin typeface="Arial"/>
              </a:rPr>
              <a:t>MESSAGE VARIANT</a:t>
            </a:r>
          </a:p>
        </p:txBody>
      </p:sp>
      <p:sp>
        <p:nvSpPr>
          <p:cNvPr id="8" name="TextBox 7"/>
          <p:cNvSpPr txBox="1"/>
          <p:nvPr/>
        </p:nvSpPr>
        <p:spPr>
          <a:xfrm>
            <a:off x="7680960" y="1737360"/>
            <a:ext cx="1097280" cy="548640"/>
          </a:xfrm>
          <a:prstGeom prst="rect">
            <a:avLst/>
          </a:prstGeom>
          <a:noFill/>
        </p:spPr>
        <p:txBody>
          <a:bodyPr wrap="square" lIns="0" tIns="0" rIns="0" bIns="0" anchor="t">
            <a:spAutoFit/>
          </a:bodyPr>
          <a:lstStyle/>
          <a:p>
            <a:pPr algn="l"/>
            <a:r>
              <a:rPr sz="3000" b="0" i="0">
                <a:solidFill>
                  <a:srgbClr val="002368"/>
                </a:solidFill>
                <a:latin typeface="Georgia"/>
              </a:rPr>
              <a:t>14</a:t>
            </a:r>
          </a:p>
        </p:txBody>
      </p:sp>
      <p:sp>
        <p:nvSpPr>
          <p:cNvPr id="9" name="TextBox 8"/>
          <p:cNvSpPr txBox="1"/>
          <p:nvPr/>
        </p:nvSpPr>
        <p:spPr>
          <a:xfrm>
            <a:off x="8641080" y="1783080"/>
            <a:ext cx="2834640" cy="548640"/>
          </a:xfrm>
          <a:prstGeom prst="rect">
            <a:avLst/>
          </a:prstGeom>
          <a:noFill/>
        </p:spPr>
        <p:txBody>
          <a:bodyPr wrap="square" lIns="0" tIns="0" rIns="0" bIns="0" anchor="t">
            <a:spAutoFit/>
          </a:bodyPr>
          <a:lstStyle/>
          <a:p>
            <a:pPr algn="l"/>
            <a:r>
              <a:rPr sz="1000" b="1" i="0">
                <a:solidFill>
                  <a:srgbClr val="002368"/>
                </a:solidFill>
                <a:latin typeface="Arial"/>
              </a:rPr>
              <a:t>A · Sponsorship. </a:t>
            </a:r>
            <a:r>
              <a:rPr sz="1000" b="0" i="0">
                <a:solidFill>
                  <a:srgbClr val="000000"/>
                </a:solidFill>
                <a:latin typeface="Arial"/>
              </a:rPr>
              <a:t>Companies with sourced education or community giving; all safari operators.</a:t>
            </a:r>
          </a:p>
        </p:txBody>
      </p:sp>
      <p:sp>
        <p:nvSpPr>
          <p:cNvPr id="10" name="TextBox 9"/>
          <p:cNvSpPr txBox="1"/>
          <p:nvPr/>
        </p:nvSpPr>
        <p:spPr>
          <a:xfrm>
            <a:off x="7680960" y="2423160"/>
            <a:ext cx="1097280" cy="548640"/>
          </a:xfrm>
          <a:prstGeom prst="rect">
            <a:avLst/>
          </a:prstGeom>
          <a:noFill/>
        </p:spPr>
        <p:txBody>
          <a:bodyPr wrap="square" lIns="0" tIns="0" rIns="0" bIns="0" anchor="t">
            <a:spAutoFit/>
          </a:bodyPr>
          <a:lstStyle/>
          <a:p>
            <a:pPr algn="l"/>
            <a:r>
              <a:rPr sz="3000" b="0" i="0">
                <a:solidFill>
                  <a:srgbClr val="002368"/>
                </a:solidFill>
                <a:latin typeface="Georgia"/>
              </a:rPr>
              <a:t>1,104</a:t>
            </a:r>
          </a:p>
        </p:txBody>
      </p:sp>
      <p:sp>
        <p:nvSpPr>
          <p:cNvPr id="11" name="TextBox 10"/>
          <p:cNvSpPr txBox="1"/>
          <p:nvPr/>
        </p:nvSpPr>
        <p:spPr>
          <a:xfrm>
            <a:off x="8641080" y="2468880"/>
            <a:ext cx="2834640" cy="731520"/>
          </a:xfrm>
          <a:prstGeom prst="rect">
            <a:avLst/>
          </a:prstGeom>
          <a:noFill/>
        </p:spPr>
        <p:txBody>
          <a:bodyPr wrap="square" lIns="0" tIns="0" rIns="0" bIns="0" anchor="t">
            <a:spAutoFit/>
          </a:bodyPr>
          <a:lstStyle/>
          <a:p>
            <a:pPr algn="l"/>
            <a:r>
              <a:rPr sz="1000" b="1" i="0">
                <a:solidFill>
                  <a:srgbClr val="002368"/>
                </a:solidFill>
                <a:latin typeface="Arial"/>
              </a:rPr>
              <a:t>B · Staff benefit. </a:t>
            </a:r>
            <a:r>
              <a:rPr sz="1000" b="0" i="0">
                <a:solidFill>
                  <a:srgbClr val="000000"/>
                </a:solidFill>
                <a:latin typeface="Arial"/>
              </a:rPr>
              <a:t>Every other company: a partnership on an education benefit for staff's children.</a:t>
            </a:r>
          </a:p>
        </p:txBody>
      </p:sp>
      <p:sp>
        <p:nvSpPr>
          <p:cNvPr id="12" name="Rounded Rectangle 11"/>
          <p:cNvSpPr/>
          <p:nvPr/>
        </p:nvSpPr>
        <p:spPr>
          <a:xfrm>
            <a:off x="7452360" y="3429000"/>
            <a:ext cx="4187952" cy="2560320"/>
          </a:xfrm>
          <a:prstGeom prst="roundRect">
            <a:avLst>
              <a:gd name="adj" fmla="val 2500"/>
            </a:avLst>
          </a:prstGeom>
          <a:solidFill>
            <a:srgbClr val="FFFFFF"/>
          </a:solidFill>
          <a:ln w="12700">
            <a:solidFill>
              <a:srgbClr val="D9ECF9"/>
            </a:solidFill>
          </a:ln>
        </p:spPr>
        <p:txBody>
          <a:bodyPr rtlCol="0" anchor="ctr"/>
          <a:lstStyle/>
          <a:p>
            <a:pPr algn="ctr"/>
          </a:p>
        </p:txBody>
      </p:sp>
      <p:sp>
        <p:nvSpPr>
          <p:cNvPr id="13" name="TextBox 12"/>
          <p:cNvSpPr txBox="1"/>
          <p:nvPr/>
        </p:nvSpPr>
        <p:spPr>
          <a:xfrm>
            <a:off x="7680960" y="3566160"/>
            <a:ext cx="3749039" cy="228600"/>
          </a:xfrm>
          <a:prstGeom prst="rect">
            <a:avLst/>
          </a:prstGeom>
          <a:noFill/>
        </p:spPr>
        <p:txBody>
          <a:bodyPr wrap="square" lIns="0" tIns="0" rIns="0" bIns="0" anchor="t">
            <a:spAutoFit/>
          </a:bodyPr>
          <a:lstStyle/>
          <a:p>
            <a:pPr algn="l"/>
            <a:r>
              <a:rPr sz="900" b="1" i="0" spc="200">
                <a:solidFill>
                  <a:srgbClr val="818283"/>
                </a:solidFill>
                <a:latin typeface="Arial"/>
              </a:rPr>
              <a:t>REACH TIER (ALL 1,118 COMPANIES)</a:t>
            </a:r>
          </a:p>
        </p:txBody>
      </p:sp>
      <p:sp>
        <p:nvSpPr>
          <p:cNvPr id="14" name="Rounded Rectangle 13"/>
          <p:cNvSpPr/>
          <p:nvPr/>
        </p:nvSpPr>
        <p:spPr>
          <a:xfrm>
            <a:off x="7680960" y="3886200"/>
            <a:ext cx="868680" cy="1051560"/>
          </a:xfrm>
          <a:prstGeom prst="roundRect">
            <a:avLst>
              <a:gd name="adj" fmla="val 7368"/>
            </a:avLst>
          </a:prstGeom>
          <a:solidFill>
            <a:srgbClr val="002368"/>
          </a:solidFill>
          <a:ln w="12700">
            <a:solidFill>
              <a:srgbClr val="002368"/>
            </a:solidFill>
          </a:ln>
        </p:spPr>
        <p:txBody>
          <a:bodyPr rtlCol="0" anchor="ctr"/>
          <a:lstStyle/>
          <a:p>
            <a:pPr algn="ctr"/>
          </a:p>
        </p:txBody>
      </p:sp>
      <p:sp>
        <p:nvSpPr>
          <p:cNvPr id="15" name="TextBox 14"/>
          <p:cNvSpPr txBox="1"/>
          <p:nvPr/>
        </p:nvSpPr>
        <p:spPr>
          <a:xfrm>
            <a:off x="7680960" y="3950208"/>
            <a:ext cx="868680" cy="365760"/>
          </a:xfrm>
          <a:prstGeom prst="rect">
            <a:avLst/>
          </a:prstGeom>
          <a:noFill/>
        </p:spPr>
        <p:txBody>
          <a:bodyPr wrap="square" lIns="0" tIns="0" rIns="0" bIns="0" anchor="t">
            <a:spAutoFit/>
          </a:bodyPr>
          <a:lstStyle/>
          <a:p>
            <a:pPr algn="ctr"/>
            <a:r>
              <a:rPr sz="1600" b="0" i="0">
                <a:solidFill>
                  <a:srgbClr val="FFFFFF"/>
                </a:solidFill>
                <a:latin typeface="Georgia"/>
              </a:rPr>
              <a:t>P1</a:t>
            </a:r>
          </a:p>
        </p:txBody>
      </p:sp>
      <p:sp>
        <p:nvSpPr>
          <p:cNvPr id="16" name="TextBox 15"/>
          <p:cNvSpPr txBox="1"/>
          <p:nvPr/>
        </p:nvSpPr>
        <p:spPr>
          <a:xfrm>
            <a:off x="7680960" y="4297680"/>
            <a:ext cx="868680" cy="320040"/>
          </a:xfrm>
          <a:prstGeom prst="rect">
            <a:avLst/>
          </a:prstGeom>
          <a:noFill/>
        </p:spPr>
        <p:txBody>
          <a:bodyPr wrap="square" lIns="0" tIns="0" rIns="0" bIns="0" anchor="t">
            <a:spAutoFit/>
          </a:bodyPr>
          <a:lstStyle/>
          <a:p>
            <a:pPr algn="ctr"/>
            <a:r>
              <a:rPr sz="1500" b="1" i="0">
                <a:solidFill>
                  <a:srgbClr val="FFFFFF"/>
                </a:solidFill>
                <a:latin typeface="Arial"/>
              </a:rPr>
              <a:t>100</a:t>
            </a:r>
          </a:p>
        </p:txBody>
      </p:sp>
      <p:sp>
        <p:nvSpPr>
          <p:cNvPr id="17" name="TextBox 16"/>
          <p:cNvSpPr txBox="1"/>
          <p:nvPr/>
        </p:nvSpPr>
        <p:spPr>
          <a:xfrm>
            <a:off x="7680960" y="4617720"/>
            <a:ext cx="868680" cy="274320"/>
          </a:xfrm>
          <a:prstGeom prst="rect">
            <a:avLst/>
          </a:prstGeom>
          <a:noFill/>
        </p:spPr>
        <p:txBody>
          <a:bodyPr wrap="square" lIns="0" tIns="0" rIns="0" bIns="0" anchor="t">
            <a:spAutoFit/>
          </a:bodyPr>
          <a:lstStyle/>
          <a:p>
            <a:pPr algn="ctr"/>
            <a:r>
              <a:rPr sz="850" b="0" i="0">
                <a:solidFill>
                  <a:srgbClr val="FFFFFF"/>
                </a:solidFill>
                <a:latin typeface="Arial"/>
              </a:rPr>
              <a:t>First wave</a:t>
            </a:r>
          </a:p>
        </p:txBody>
      </p:sp>
      <p:sp>
        <p:nvSpPr>
          <p:cNvPr id="18" name="Rounded Rectangle 17"/>
          <p:cNvSpPr/>
          <p:nvPr/>
        </p:nvSpPr>
        <p:spPr>
          <a:xfrm>
            <a:off x="8659368" y="3886200"/>
            <a:ext cx="868680" cy="1051560"/>
          </a:xfrm>
          <a:prstGeom prst="roundRect">
            <a:avLst>
              <a:gd name="adj" fmla="val 7368"/>
            </a:avLst>
          </a:prstGeom>
          <a:solidFill>
            <a:srgbClr val="80BFEC"/>
          </a:solidFill>
          <a:ln w="12700">
            <a:solidFill>
              <a:srgbClr val="80BFEC"/>
            </a:solidFill>
          </a:ln>
        </p:spPr>
        <p:txBody>
          <a:bodyPr rtlCol="0" anchor="ctr"/>
          <a:lstStyle/>
          <a:p>
            <a:pPr algn="ctr"/>
          </a:p>
        </p:txBody>
      </p:sp>
      <p:sp>
        <p:nvSpPr>
          <p:cNvPr id="19" name="TextBox 18"/>
          <p:cNvSpPr txBox="1"/>
          <p:nvPr/>
        </p:nvSpPr>
        <p:spPr>
          <a:xfrm>
            <a:off x="8659368" y="3950208"/>
            <a:ext cx="868680" cy="365760"/>
          </a:xfrm>
          <a:prstGeom prst="rect">
            <a:avLst/>
          </a:prstGeom>
          <a:noFill/>
        </p:spPr>
        <p:txBody>
          <a:bodyPr wrap="square" lIns="0" tIns="0" rIns="0" bIns="0" anchor="t">
            <a:spAutoFit/>
          </a:bodyPr>
          <a:lstStyle/>
          <a:p>
            <a:pPr algn="ctr"/>
            <a:r>
              <a:rPr sz="1600" b="0" i="0">
                <a:solidFill>
                  <a:srgbClr val="002368"/>
                </a:solidFill>
                <a:latin typeface="Georgia"/>
              </a:rPr>
              <a:t>P2</a:t>
            </a:r>
          </a:p>
        </p:txBody>
      </p:sp>
      <p:sp>
        <p:nvSpPr>
          <p:cNvPr id="20" name="TextBox 19"/>
          <p:cNvSpPr txBox="1"/>
          <p:nvPr/>
        </p:nvSpPr>
        <p:spPr>
          <a:xfrm>
            <a:off x="8659368" y="4297680"/>
            <a:ext cx="868680" cy="320040"/>
          </a:xfrm>
          <a:prstGeom prst="rect">
            <a:avLst/>
          </a:prstGeom>
          <a:noFill/>
        </p:spPr>
        <p:txBody>
          <a:bodyPr wrap="square" lIns="0" tIns="0" rIns="0" bIns="0" anchor="t">
            <a:spAutoFit/>
          </a:bodyPr>
          <a:lstStyle/>
          <a:p>
            <a:pPr algn="ctr"/>
            <a:r>
              <a:rPr sz="1500" b="1" i="0">
                <a:solidFill>
                  <a:srgbClr val="002368"/>
                </a:solidFill>
                <a:latin typeface="Arial"/>
              </a:rPr>
              <a:t>150</a:t>
            </a:r>
          </a:p>
        </p:txBody>
      </p:sp>
      <p:sp>
        <p:nvSpPr>
          <p:cNvPr id="21" name="TextBox 20"/>
          <p:cNvSpPr txBox="1"/>
          <p:nvPr/>
        </p:nvSpPr>
        <p:spPr>
          <a:xfrm>
            <a:off x="8659368" y="4617720"/>
            <a:ext cx="868680" cy="274320"/>
          </a:xfrm>
          <a:prstGeom prst="rect">
            <a:avLst/>
          </a:prstGeom>
          <a:noFill/>
        </p:spPr>
        <p:txBody>
          <a:bodyPr wrap="square" lIns="0" tIns="0" rIns="0" bIns="0" anchor="t">
            <a:spAutoFit/>
          </a:bodyPr>
          <a:lstStyle/>
          <a:p>
            <a:pPr algn="ctr"/>
            <a:r>
              <a:rPr sz="850" b="0" i="0">
                <a:solidFill>
                  <a:srgbClr val="002368"/>
                </a:solidFill>
                <a:latin typeface="Arial"/>
              </a:rPr>
              <a:t>Second wave</a:t>
            </a:r>
          </a:p>
        </p:txBody>
      </p:sp>
      <p:sp>
        <p:nvSpPr>
          <p:cNvPr id="22" name="Rounded Rectangle 21"/>
          <p:cNvSpPr/>
          <p:nvPr/>
        </p:nvSpPr>
        <p:spPr>
          <a:xfrm>
            <a:off x="9637776" y="3886200"/>
            <a:ext cx="868680" cy="1051560"/>
          </a:xfrm>
          <a:prstGeom prst="roundRect">
            <a:avLst>
              <a:gd name="adj" fmla="val 7368"/>
            </a:avLst>
          </a:prstGeom>
          <a:solidFill>
            <a:srgbClr val="D9ECF9"/>
          </a:solidFill>
          <a:ln w="12700">
            <a:solidFill>
              <a:srgbClr val="D9ECF9"/>
            </a:solidFill>
          </a:ln>
        </p:spPr>
        <p:txBody>
          <a:bodyPr rtlCol="0" anchor="ctr"/>
          <a:lstStyle/>
          <a:p>
            <a:pPr algn="ctr"/>
          </a:p>
        </p:txBody>
      </p:sp>
      <p:sp>
        <p:nvSpPr>
          <p:cNvPr id="23" name="TextBox 22"/>
          <p:cNvSpPr txBox="1"/>
          <p:nvPr/>
        </p:nvSpPr>
        <p:spPr>
          <a:xfrm>
            <a:off x="9637776" y="3950208"/>
            <a:ext cx="868680" cy="365760"/>
          </a:xfrm>
          <a:prstGeom prst="rect">
            <a:avLst/>
          </a:prstGeom>
          <a:noFill/>
        </p:spPr>
        <p:txBody>
          <a:bodyPr wrap="square" lIns="0" tIns="0" rIns="0" bIns="0" anchor="t">
            <a:spAutoFit/>
          </a:bodyPr>
          <a:lstStyle/>
          <a:p>
            <a:pPr algn="ctr"/>
            <a:r>
              <a:rPr sz="1600" b="0" i="0">
                <a:solidFill>
                  <a:srgbClr val="002368"/>
                </a:solidFill>
                <a:latin typeface="Georgia"/>
              </a:rPr>
              <a:t>P3</a:t>
            </a:r>
          </a:p>
        </p:txBody>
      </p:sp>
      <p:sp>
        <p:nvSpPr>
          <p:cNvPr id="24" name="TextBox 23"/>
          <p:cNvSpPr txBox="1"/>
          <p:nvPr/>
        </p:nvSpPr>
        <p:spPr>
          <a:xfrm>
            <a:off x="9637776" y="4297680"/>
            <a:ext cx="868680" cy="320040"/>
          </a:xfrm>
          <a:prstGeom prst="rect">
            <a:avLst/>
          </a:prstGeom>
          <a:noFill/>
        </p:spPr>
        <p:txBody>
          <a:bodyPr wrap="square" lIns="0" tIns="0" rIns="0" bIns="0" anchor="t">
            <a:spAutoFit/>
          </a:bodyPr>
          <a:lstStyle/>
          <a:p>
            <a:pPr algn="ctr"/>
            <a:r>
              <a:rPr sz="1500" b="1" i="0">
                <a:solidFill>
                  <a:srgbClr val="002368"/>
                </a:solidFill>
                <a:latin typeface="Arial"/>
              </a:rPr>
              <a:t>853</a:t>
            </a:r>
          </a:p>
        </p:txBody>
      </p:sp>
      <p:sp>
        <p:nvSpPr>
          <p:cNvPr id="25" name="TextBox 24"/>
          <p:cNvSpPr txBox="1"/>
          <p:nvPr/>
        </p:nvSpPr>
        <p:spPr>
          <a:xfrm>
            <a:off x="9637776" y="4617720"/>
            <a:ext cx="868680" cy="274320"/>
          </a:xfrm>
          <a:prstGeom prst="rect">
            <a:avLst/>
          </a:prstGeom>
          <a:noFill/>
        </p:spPr>
        <p:txBody>
          <a:bodyPr wrap="square" lIns="0" tIns="0" rIns="0" bIns="0" anchor="t">
            <a:spAutoFit/>
          </a:bodyPr>
          <a:lstStyle/>
          <a:p>
            <a:pPr algn="ctr"/>
            <a:r>
              <a:rPr sz="850" b="0" i="0">
                <a:solidFill>
                  <a:srgbClr val="002368"/>
                </a:solidFill>
                <a:latin typeface="Arial"/>
              </a:rPr>
              <a:t>The rest</a:t>
            </a:r>
          </a:p>
        </p:txBody>
      </p:sp>
      <p:sp>
        <p:nvSpPr>
          <p:cNvPr id="26" name="Rounded Rectangle 25"/>
          <p:cNvSpPr/>
          <p:nvPr/>
        </p:nvSpPr>
        <p:spPr>
          <a:xfrm>
            <a:off x="10616184" y="3886200"/>
            <a:ext cx="868680" cy="1051560"/>
          </a:xfrm>
          <a:prstGeom prst="roundRect">
            <a:avLst>
              <a:gd name="adj" fmla="val 7368"/>
            </a:avLst>
          </a:prstGeom>
          <a:solidFill>
            <a:srgbClr val="ECECEC"/>
          </a:solidFill>
          <a:ln w="12700">
            <a:solidFill>
              <a:srgbClr val="ECECEC"/>
            </a:solidFill>
          </a:ln>
        </p:spPr>
        <p:txBody>
          <a:bodyPr rtlCol="0" anchor="ctr"/>
          <a:lstStyle/>
          <a:p>
            <a:pPr algn="ctr"/>
          </a:p>
        </p:txBody>
      </p:sp>
      <p:sp>
        <p:nvSpPr>
          <p:cNvPr id="27" name="TextBox 26"/>
          <p:cNvSpPr txBox="1"/>
          <p:nvPr/>
        </p:nvSpPr>
        <p:spPr>
          <a:xfrm>
            <a:off x="10616184" y="3950208"/>
            <a:ext cx="868680" cy="365760"/>
          </a:xfrm>
          <a:prstGeom prst="rect">
            <a:avLst/>
          </a:prstGeom>
          <a:noFill/>
        </p:spPr>
        <p:txBody>
          <a:bodyPr wrap="square" lIns="0" tIns="0" rIns="0" bIns="0" anchor="t">
            <a:spAutoFit/>
          </a:bodyPr>
          <a:lstStyle/>
          <a:p>
            <a:pPr algn="ctr"/>
            <a:r>
              <a:rPr sz="1600" b="0" i="0">
                <a:solidFill>
                  <a:srgbClr val="818283"/>
                </a:solidFill>
                <a:latin typeface="Georgia"/>
              </a:rPr>
              <a:t>X</a:t>
            </a:r>
          </a:p>
        </p:txBody>
      </p:sp>
      <p:sp>
        <p:nvSpPr>
          <p:cNvPr id="28" name="TextBox 27"/>
          <p:cNvSpPr txBox="1"/>
          <p:nvPr/>
        </p:nvSpPr>
        <p:spPr>
          <a:xfrm>
            <a:off x="10616184" y="4297680"/>
            <a:ext cx="868680" cy="320040"/>
          </a:xfrm>
          <a:prstGeom prst="rect">
            <a:avLst/>
          </a:prstGeom>
          <a:noFill/>
        </p:spPr>
        <p:txBody>
          <a:bodyPr wrap="square" lIns="0" tIns="0" rIns="0" bIns="0" anchor="t">
            <a:spAutoFit/>
          </a:bodyPr>
          <a:lstStyle/>
          <a:p>
            <a:pPr algn="ctr"/>
            <a:r>
              <a:rPr sz="1500" b="1" i="0">
                <a:solidFill>
                  <a:srgbClr val="818283"/>
                </a:solidFill>
                <a:latin typeface="Arial"/>
              </a:rPr>
              <a:t>15</a:t>
            </a:r>
          </a:p>
        </p:txBody>
      </p:sp>
      <p:sp>
        <p:nvSpPr>
          <p:cNvPr id="29" name="TextBox 28"/>
          <p:cNvSpPr txBox="1"/>
          <p:nvPr/>
        </p:nvSpPr>
        <p:spPr>
          <a:xfrm>
            <a:off x="10616184" y="4617720"/>
            <a:ext cx="868680" cy="274320"/>
          </a:xfrm>
          <a:prstGeom prst="rect">
            <a:avLst/>
          </a:prstGeom>
          <a:noFill/>
        </p:spPr>
        <p:txBody>
          <a:bodyPr wrap="square" lIns="0" tIns="0" rIns="0" bIns="0" anchor="t">
            <a:spAutoFit/>
          </a:bodyPr>
          <a:lstStyle/>
          <a:p>
            <a:pPr algn="ctr"/>
            <a:r>
              <a:rPr sz="850" b="0" i="0">
                <a:solidFill>
                  <a:srgbClr val="818283"/>
                </a:solidFill>
                <a:latin typeface="Arial"/>
              </a:rPr>
              <a:t>Held</a:t>
            </a:r>
          </a:p>
        </p:txBody>
      </p:sp>
      <p:sp>
        <p:nvSpPr>
          <p:cNvPr id="30" name="TextBox 29"/>
          <p:cNvSpPr txBox="1"/>
          <p:nvPr/>
        </p:nvSpPr>
        <p:spPr>
          <a:xfrm>
            <a:off x="7680960" y="5074920"/>
            <a:ext cx="3794760" cy="868680"/>
          </a:xfrm>
          <a:prstGeom prst="rect">
            <a:avLst/>
          </a:prstGeom>
          <a:noFill/>
        </p:spPr>
        <p:txBody>
          <a:bodyPr wrap="square" lIns="0" tIns="0" rIns="0" bIns="0" anchor="t">
            <a:spAutoFit/>
          </a:bodyPr>
          <a:lstStyle/>
          <a:p>
            <a:pPr algn="l"/>
            <a:r>
              <a:rPr sz="1000" b="0" i="0">
                <a:solidFill>
                  <a:srgbClr val="000000"/>
                </a:solidFill>
                <a:latin typeface="Arial"/>
              </a:rPr>
              <a:t>The tier scores the kind of employer, published staff numbers, verified workforce facts, named people on file and distance to a campus.</a:t>
            </a:r>
          </a:p>
        </p:txBody>
      </p:sp>
      <p:pic>
        <p:nvPicPr>
          <p:cNvPr id="31" name="Picture 30" descr="image3.png"/>
          <p:cNvPicPr>
            <a:picLocks noChangeAspect="1"/>
          </p:cNvPicPr>
          <p:nvPr/>
        </p:nvPicPr>
        <p:blipFill>
          <a:blip r:embed="rId3"/>
          <a:stretch>
            <a:fillRect/>
          </a:stretch>
        </p:blipFill>
        <p:spPr>
          <a:xfrm>
            <a:off x="548640" y="6272784"/>
            <a:ext cx="1143000" cy="274320"/>
          </a:xfrm>
          <a:prstGeom prst="rect">
            <a:avLst/>
          </a:prstGeom>
        </p:spPr>
      </p:pic>
      <p:sp>
        <p:nvSpPr>
          <p:cNvPr id="32"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33"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MULTIPLIERS AND MEMBERS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Introducers multiply; savings groups reach members</a:t>
            </a:r>
          </a:p>
        </p:txBody>
      </p:sp>
      <p:sp>
        <p:nvSpPr>
          <p:cNvPr id="4" name="Rounded Rectangle 3"/>
          <p:cNvSpPr/>
          <p:nvPr/>
        </p:nvSpPr>
        <p:spPr>
          <a:xfrm>
            <a:off x="548640" y="1325880"/>
            <a:ext cx="5440680" cy="4617720"/>
          </a:xfrm>
          <a:prstGeom prst="roundRect">
            <a:avLst>
              <a:gd name="adj" fmla="val 138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68680" y="1554480"/>
            <a:ext cx="914400" cy="548640"/>
          </a:xfrm>
          <a:prstGeom prst="rect">
            <a:avLst/>
          </a:prstGeom>
          <a:noFill/>
        </p:spPr>
        <p:txBody>
          <a:bodyPr wrap="square" lIns="0" tIns="0" rIns="0" bIns="0" anchor="t">
            <a:spAutoFit/>
          </a:bodyPr>
          <a:lstStyle/>
          <a:p>
            <a:pPr algn="l"/>
            <a:r>
              <a:rPr sz="3600" b="0" i="0">
                <a:solidFill>
                  <a:srgbClr val="002368"/>
                </a:solidFill>
                <a:latin typeface="Georgia"/>
              </a:rPr>
              <a:t>16</a:t>
            </a:r>
          </a:p>
        </p:txBody>
      </p:sp>
      <p:sp>
        <p:nvSpPr>
          <p:cNvPr id="6" name="TextBox 5"/>
          <p:cNvSpPr txBox="1"/>
          <p:nvPr/>
        </p:nvSpPr>
        <p:spPr>
          <a:xfrm>
            <a:off x="1691640" y="1627632"/>
            <a:ext cx="4114800" cy="548640"/>
          </a:xfrm>
          <a:prstGeom prst="rect">
            <a:avLst/>
          </a:prstGeom>
          <a:noFill/>
        </p:spPr>
        <p:txBody>
          <a:bodyPr wrap="square" lIns="0" tIns="0" rIns="0" bIns="0" anchor="t">
            <a:spAutoFit/>
          </a:bodyPr>
          <a:lstStyle/>
          <a:p>
            <a:pPr algn="l"/>
            <a:r>
              <a:rPr sz="1100" b="0" i="0">
                <a:solidFill>
                  <a:srgbClr val="000000"/>
                </a:solidFill>
                <a:latin typeface="Arial"/>
              </a:rPr>
              <a:t>introducers: associations, chambers and HR bodies whose members are the employers we want</a:t>
            </a:r>
          </a:p>
        </p:txBody>
      </p:sp>
      <p:sp>
        <p:nvSpPr>
          <p:cNvPr id="7" name="Hexagon 6"/>
          <p:cNvSpPr/>
          <p:nvPr/>
        </p:nvSpPr>
        <p:spPr>
          <a:xfrm>
            <a:off x="868680" y="2331720"/>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3</a:t>
            </a:r>
          </a:p>
        </p:txBody>
      </p:sp>
      <p:sp>
        <p:nvSpPr>
          <p:cNvPr id="8" name="TextBox 7"/>
          <p:cNvSpPr txBox="1"/>
          <p:nvPr/>
        </p:nvSpPr>
        <p:spPr>
          <a:xfrm>
            <a:off x="1417320" y="2313432"/>
            <a:ext cx="4389120" cy="237744"/>
          </a:xfrm>
          <a:prstGeom prst="rect">
            <a:avLst/>
          </a:prstGeom>
          <a:noFill/>
        </p:spPr>
        <p:txBody>
          <a:bodyPr wrap="square" lIns="0" tIns="0" rIns="0" bIns="0" anchor="t">
            <a:spAutoFit/>
          </a:bodyPr>
          <a:lstStyle/>
          <a:p>
            <a:pPr algn="l"/>
            <a:r>
              <a:rPr sz="1150" b="1" i="0">
                <a:solidFill>
                  <a:srgbClr val="002368"/>
                </a:solidFill>
                <a:latin typeface="Arial"/>
              </a:rPr>
              <a:t>Chambers of commerce</a:t>
            </a:r>
          </a:p>
        </p:txBody>
      </p:sp>
      <p:sp>
        <p:nvSpPr>
          <p:cNvPr id="9" name="TextBox 8"/>
          <p:cNvSpPr txBox="1"/>
          <p:nvPr/>
        </p:nvSpPr>
        <p:spPr>
          <a:xfrm>
            <a:off x="1417320" y="2560320"/>
            <a:ext cx="4389120" cy="274320"/>
          </a:xfrm>
          <a:prstGeom prst="rect">
            <a:avLst/>
          </a:prstGeom>
          <a:noFill/>
        </p:spPr>
        <p:txBody>
          <a:bodyPr wrap="square" lIns="0" tIns="0" rIns="0" bIns="0" anchor="t">
            <a:spAutoFit/>
          </a:bodyPr>
          <a:lstStyle/>
          <a:p>
            <a:pPr algn="l"/>
            <a:r>
              <a:rPr sz="1000" b="0" i="0">
                <a:solidFill>
                  <a:srgbClr val="000000"/>
                </a:solidFill>
                <a:latin typeface="Arial"/>
              </a:rPr>
              <a:t>TNCC national, Arusha and Kilimanjaro regional</a:t>
            </a:r>
          </a:p>
        </p:txBody>
      </p:sp>
      <p:sp>
        <p:nvSpPr>
          <p:cNvPr id="10" name="Hexagon 9"/>
          <p:cNvSpPr/>
          <p:nvPr/>
        </p:nvSpPr>
        <p:spPr>
          <a:xfrm>
            <a:off x="868680" y="2898648"/>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5</a:t>
            </a:r>
          </a:p>
        </p:txBody>
      </p:sp>
      <p:sp>
        <p:nvSpPr>
          <p:cNvPr id="11" name="TextBox 10"/>
          <p:cNvSpPr txBox="1"/>
          <p:nvPr/>
        </p:nvSpPr>
        <p:spPr>
          <a:xfrm>
            <a:off x="1417320" y="2880360"/>
            <a:ext cx="4389120" cy="237744"/>
          </a:xfrm>
          <a:prstGeom prst="rect">
            <a:avLst/>
          </a:prstGeom>
          <a:noFill/>
        </p:spPr>
        <p:txBody>
          <a:bodyPr wrap="square" lIns="0" tIns="0" rIns="0" bIns="0" anchor="t">
            <a:spAutoFit/>
          </a:bodyPr>
          <a:lstStyle/>
          <a:p>
            <a:pPr algn="l"/>
            <a:r>
              <a:rPr sz="1150" b="1" i="0">
                <a:solidFill>
                  <a:srgbClr val="002368"/>
                </a:solidFill>
                <a:latin typeface="Arial"/>
              </a:rPr>
              <a:t>Employers' associations</a:t>
            </a:r>
          </a:p>
        </p:txBody>
      </p:sp>
      <p:sp>
        <p:nvSpPr>
          <p:cNvPr id="12" name="TextBox 11"/>
          <p:cNvSpPr txBox="1"/>
          <p:nvPr/>
        </p:nvSpPr>
        <p:spPr>
          <a:xfrm>
            <a:off x="1417320" y="3127248"/>
            <a:ext cx="4389120" cy="274320"/>
          </a:xfrm>
          <a:prstGeom prst="rect">
            <a:avLst/>
          </a:prstGeom>
          <a:noFill/>
        </p:spPr>
        <p:txBody>
          <a:bodyPr wrap="square" lIns="0" tIns="0" rIns="0" bIns="0" anchor="t">
            <a:spAutoFit/>
          </a:bodyPr>
          <a:lstStyle/>
          <a:p>
            <a:pPr algn="l"/>
            <a:r>
              <a:rPr sz="1000" b="0" i="0">
                <a:solidFill>
                  <a:srgbClr val="000000"/>
                </a:solidFill>
                <a:latin typeface="Arial"/>
              </a:rPr>
              <a:t>ATE national and Northern Zone, CTI national and Arusha/Moshi, TPSF</a:t>
            </a:r>
          </a:p>
        </p:txBody>
      </p:sp>
      <p:sp>
        <p:nvSpPr>
          <p:cNvPr id="13" name="Hexagon 12"/>
          <p:cNvSpPr/>
          <p:nvPr/>
        </p:nvSpPr>
        <p:spPr>
          <a:xfrm>
            <a:off x="868680" y="3465576"/>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6</a:t>
            </a:r>
          </a:p>
        </p:txBody>
      </p:sp>
      <p:sp>
        <p:nvSpPr>
          <p:cNvPr id="14" name="TextBox 13"/>
          <p:cNvSpPr txBox="1"/>
          <p:nvPr/>
        </p:nvSpPr>
        <p:spPr>
          <a:xfrm>
            <a:off x="1417320" y="3447288"/>
            <a:ext cx="4389120" cy="237744"/>
          </a:xfrm>
          <a:prstGeom prst="rect">
            <a:avLst/>
          </a:prstGeom>
          <a:noFill/>
        </p:spPr>
        <p:txBody>
          <a:bodyPr wrap="square" lIns="0" tIns="0" rIns="0" bIns="0" anchor="t">
            <a:spAutoFit/>
          </a:bodyPr>
          <a:lstStyle/>
          <a:p>
            <a:pPr algn="l"/>
            <a:r>
              <a:rPr sz="1150" b="1" i="0">
                <a:solidFill>
                  <a:srgbClr val="002368"/>
                </a:solidFill>
                <a:latin typeface="Arial"/>
              </a:rPr>
              <a:t>Sector associations</a:t>
            </a:r>
          </a:p>
        </p:txBody>
      </p:sp>
      <p:sp>
        <p:nvSpPr>
          <p:cNvPr id="15" name="TextBox 14"/>
          <p:cNvSpPr txBox="1"/>
          <p:nvPr/>
        </p:nvSpPr>
        <p:spPr>
          <a:xfrm>
            <a:off x="1417320" y="3694176"/>
            <a:ext cx="4389120" cy="274320"/>
          </a:xfrm>
          <a:prstGeom prst="rect">
            <a:avLst/>
          </a:prstGeom>
          <a:noFill/>
        </p:spPr>
        <p:txBody>
          <a:bodyPr wrap="square" lIns="0" tIns="0" rIns="0" bIns="0" anchor="t">
            <a:spAutoFit/>
          </a:bodyPr>
          <a:lstStyle/>
          <a:p>
            <a:pPr algn="l"/>
            <a:r>
              <a:rPr sz="1000" b="0" i="0">
                <a:solidFill>
                  <a:srgbClr val="000000"/>
                </a:solidFill>
                <a:latin typeface="Arial"/>
              </a:rPr>
              <a:t>TATO, HAT, TBA, TAHA, APHFTA, CSSC</a:t>
            </a:r>
          </a:p>
        </p:txBody>
      </p:sp>
      <p:sp>
        <p:nvSpPr>
          <p:cNvPr id="16" name="Hexagon 15"/>
          <p:cNvSpPr/>
          <p:nvPr/>
        </p:nvSpPr>
        <p:spPr>
          <a:xfrm>
            <a:off x="868680" y="4032504"/>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17" name="TextBox 16"/>
          <p:cNvSpPr txBox="1"/>
          <p:nvPr/>
        </p:nvSpPr>
        <p:spPr>
          <a:xfrm>
            <a:off x="1417320" y="4014216"/>
            <a:ext cx="4389120" cy="237744"/>
          </a:xfrm>
          <a:prstGeom prst="rect">
            <a:avLst/>
          </a:prstGeom>
          <a:noFill/>
        </p:spPr>
        <p:txBody>
          <a:bodyPr wrap="square" lIns="0" tIns="0" rIns="0" bIns="0" anchor="t">
            <a:spAutoFit/>
          </a:bodyPr>
          <a:lstStyle/>
          <a:p>
            <a:pPr algn="l"/>
            <a:r>
              <a:rPr sz="1150" b="1" i="0">
                <a:solidFill>
                  <a:srgbClr val="002368"/>
                </a:solidFill>
                <a:latin typeface="Arial"/>
              </a:rPr>
              <a:t>HR body</a:t>
            </a:r>
          </a:p>
        </p:txBody>
      </p:sp>
      <p:sp>
        <p:nvSpPr>
          <p:cNvPr id="18" name="TextBox 17"/>
          <p:cNvSpPr txBox="1"/>
          <p:nvPr/>
        </p:nvSpPr>
        <p:spPr>
          <a:xfrm>
            <a:off x="1417320" y="4261104"/>
            <a:ext cx="4389120" cy="274320"/>
          </a:xfrm>
          <a:prstGeom prst="rect">
            <a:avLst/>
          </a:prstGeom>
          <a:noFill/>
        </p:spPr>
        <p:txBody>
          <a:bodyPr wrap="square" lIns="0" tIns="0" rIns="0" bIns="0" anchor="t">
            <a:spAutoFit/>
          </a:bodyPr>
          <a:lstStyle/>
          <a:p>
            <a:pPr algn="l"/>
            <a:r>
              <a:rPr sz="1000" b="0" i="0">
                <a:solidFill>
                  <a:srgbClr val="000000"/>
                </a:solidFill>
                <a:latin typeface="Arial"/>
              </a:rPr>
              <a:t>Women HR Association of Tanzania (WHAT)</a:t>
            </a:r>
          </a:p>
        </p:txBody>
      </p:sp>
      <p:sp>
        <p:nvSpPr>
          <p:cNvPr id="19" name="Hexagon 18"/>
          <p:cNvSpPr/>
          <p:nvPr/>
        </p:nvSpPr>
        <p:spPr>
          <a:xfrm>
            <a:off x="868680" y="4599431"/>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20" name="TextBox 19"/>
          <p:cNvSpPr txBox="1"/>
          <p:nvPr/>
        </p:nvSpPr>
        <p:spPr>
          <a:xfrm>
            <a:off x="1417320" y="4581144"/>
            <a:ext cx="4389120" cy="237744"/>
          </a:xfrm>
          <a:prstGeom prst="rect">
            <a:avLst/>
          </a:prstGeom>
          <a:noFill/>
        </p:spPr>
        <p:txBody>
          <a:bodyPr wrap="square" lIns="0" tIns="0" rIns="0" bIns="0" anchor="t">
            <a:spAutoFit/>
          </a:bodyPr>
          <a:lstStyle/>
          <a:p>
            <a:pPr algn="l"/>
            <a:r>
              <a:rPr sz="1150" b="1" i="0">
                <a:solidFill>
                  <a:srgbClr val="002368"/>
                </a:solidFill>
                <a:latin typeface="Arial"/>
              </a:rPr>
              <a:t>Other</a:t>
            </a:r>
          </a:p>
        </p:txBody>
      </p:sp>
      <p:sp>
        <p:nvSpPr>
          <p:cNvPr id="21" name="TextBox 20"/>
          <p:cNvSpPr txBox="1"/>
          <p:nvPr/>
        </p:nvSpPr>
        <p:spPr>
          <a:xfrm>
            <a:off x="1417320" y="4828031"/>
            <a:ext cx="4389120" cy="274320"/>
          </a:xfrm>
          <a:prstGeom prst="rect">
            <a:avLst/>
          </a:prstGeom>
          <a:noFill/>
        </p:spPr>
        <p:txBody>
          <a:bodyPr wrap="square" lIns="0" tIns="0" rIns="0" bIns="0" anchor="t">
            <a:spAutoFit/>
          </a:bodyPr>
          <a:lstStyle/>
          <a:p>
            <a:pPr algn="l"/>
            <a:r>
              <a:rPr sz="1000" b="0" i="0">
                <a:solidFill>
                  <a:srgbClr val="000000"/>
                </a:solidFill>
                <a:latin typeface="Arial"/>
              </a:rPr>
              <a:t>East African Business Council</a:t>
            </a:r>
          </a:p>
        </p:txBody>
      </p:sp>
      <p:sp>
        <p:nvSpPr>
          <p:cNvPr id="22" name="TextBox 21"/>
          <p:cNvSpPr txBox="1"/>
          <p:nvPr/>
        </p:nvSpPr>
        <p:spPr>
          <a:xfrm>
            <a:off x="868680" y="5212080"/>
            <a:ext cx="4937760" cy="640080"/>
          </a:xfrm>
          <a:prstGeom prst="rect">
            <a:avLst/>
          </a:prstGeom>
          <a:noFill/>
        </p:spPr>
        <p:txBody>
          <a:bodyPr wrap="square" lIns="0" tIns="0" rIns="0" bIns="0" anchor="t">
            <a:spAutoFit/>
          </a:bodyPr>
          <a:lstStyle/>
          <a:p>
            <a:pPr algn="l"/>
            <a:r>
              <a:rPr sz="1050" b="0" i="0">
                <a:solidFill>
                  <a:srgbClr val="002368"/>
                </a:solidFill>
                <a:latin typeface="Georgia"/>
              </a:rPr>
              <a:t>One yes can reach dozens of companies. Recipient: the executive secretary, CEO or secretariat; an elected chair only when no executive is named.</a:t>
            </a:r>
          </a:p>
        </p:txBody>
      </p:sp>
      <p:sp>
        <p:nvSpPr>
          <p:cNvPr id="23" name="Rounded Rectangle 22"/>
          <p:cNvSpPr/>
          <p:nvPr/>
        </p:nvSpPr>
        <p:spPr>
          <a:xfrm>
            <a:off x="6199632" y="1325880"/>
            <a:ext cx="5440680" cy="4617720"/>
          </a:xfrm>
          <a:prstGeom prst="roundRect">
            <a:avLst>
              <a:gd name="adj" fmla="val 1386"/>
            </a:avLst>
          </a:prstGeom>
          <a:solidFill>
            <a:srgbClr val="002368"/>
          </a:solidFill>
          <a:ln w="12700">
            <a:solidFill>
              <a:srgbClr val="002368"/>
            </a:solidFill>
          </a:ln>
        </p:spPr>
        <p:txBody>
          <a:bodyPr rtlCol="0" anchor="ctr"/>
          <a:lstStyle/>
          <a:p>
            <a:pPr algn="ctr"/>
          </a:p>
        </p:txBody>
      </p:sp>
      <p:sp>
        <p:nvSpPr>
          <p:cNvPr id="24" name="TextBox 23"/>
          <p:cNvSpPr txBox="1"/>
          <p:nvPr/>
        </p:nvSpPr>
        <p:spPr>
          <a:xfrm>
            <a:off x="6519672" y="1554480"/>
            <a:ext cx="1097280" cy="548640"/>
          </a:xfrm>
          <a:prstGeom prst="rect">
            <a:avLst/>
          </a:prstGeom>
          <a:noFill/>
        </p:spPr>
        <p:txBody>
          <a:bodyPr wrap="square" lIns="0" tIns="0" rIns="0" bIns="0" anchor="t">
            <a:spAutoFit/>
          </a:bodyPr>
          <a:lstStyle/>
          <a:p>
            <a:pPr algn="l"/>
            <a:r>
              <a:rPr sz="3600" b="0" i="0">
                <a:solidFill>
                  <a:srgbClr val="FFC952"/>
                </a:solidFill>
                <a:latin typeface="Georgia"/>
              </a:rPr>
              <a:t>117</a:t>
            </a:r>
          </a:p>
        </p:txBody>
      </p:sp>
      <p:sp>
        <p:nvSpPr>
          <p:cNvPr id="25" name="TextBox 24"/>
          <p:cNvSpPr txBox="1"/>
          <p:nvPr/>
        </p:nvSpPr>
        <p:spPr>
          <a:xfrm>
            <a:off x="7543800" y="1627632"/>
            <a:ext cx="3840480" cy="548640"/>
          </a:xfrm>
          <a:prstGeom prst="rect">
            <a:avLst/>
          </a:prstGeom>
          <a:noFill/>
        </p:spPr>
        <p:txBody>
          <a:bodyPr wrap="square" lIns="0" tIns="0" rIns="0" bIns="0" anchor="t">
            <a:spAutoFit/>
          </a:bodyPr>
          <a:lstStyle/>
          <a:p>
            <a:pPr algn="l"/>
            <a:r>
              <a:rPr sz="1100" b="0" i="0">
                <a:solidFill>
                  <a:srgbClr val="FFFFFF"/>
                </a:solidFill>
                <a:latin typeface="Arial"/>
              </a:rPr>
              <a:t>savings groups (SACCOS): members, not staff, approached through the committee in Kiswahili</a:t>
            </a:r>
          </a:p>
        </p:txBody>
      </p:sp>
      <p:sp>
        <p:nvSpPr>
          <p:cNvPr id="26" name="TextBox 25"/>
          <p:cNvSpPr txBox="1"/>
          <p:nvPr/>
        </p:nvSpPr>
        <p:spPr>
          <a:xfrm>
            <a:off x="6519672" y="2377440"/>
            <a:ext cx="731520" cy="457200"/>
          </a:xfrm>
          <a:prstGeom prst="rect">
            <a:avLst/>
          </a:prstGeom>
          <a:noFill/>
        </p:spPr>
        <p:txBody>
          <a:bodyPr wrap="square" lIns="0" tIns="0" rIns="0" bIns="0" anchor="t">
            <a:spAutoFit/>
          </a:bodyPr>
          <a:lstStyle/>
          <a:p>
            <a:pPr algn="l"/>
            <a:r>
              <a:rPr sz="2200" b="0" i="0">
                <a:solidFill>
                  <a:srgbClr val="80BFEC"/>
                </a:solidFill>
                <a:latin typeface="Georgia"/>
              </a:rPr>
              <a:t>48</a:t>
            </a:r>
          </a:p>
        </p:txBody>
      </p:sp>
      <p:sp>
        <p:nvSpPr>
          <p:cNvPr id="27" name="TextBox 26"/>
          <p:cNvSpPr txBox="1"/>
          <p:nvPr/>
        </p:nvSpPr>
        <p:spPr>
          <a:xfrm>
            <a:off x="7269480" y="2395728"/>
            <a:ext cx="4114800" cy="256032"/>
          </a:xfrm>
          <a:prstGeom prst="rect">
            <a:avLst/>
          </a:prstGeom>
          <a:noFill/>
        </p:spPr>
        <p:txBody>
          <a:bodyPr wrap="square" lIns="0" tIns="0" rIns="0" bIns="0" anchor="t">
            <a:spAutoFit/>
          </a:bodyPr>
          <a:lstStyle/>
          <a:p>
            <a:pPr algn="l"/>
            <a:r>
              <a:rPr sz="1150" b="1" i="0">
                <a:solidFill>
                  <a:srgbClr val="FFFFFF"/>
                </a:solidFill>
                <a:latin typeface="Arial"/>
              </a:rPr>
              <a:t>Employer- or institution-based</a:t>
            </a:r>
          </a:p>
        </p:txBody>
      </p:sp>
      <p:sp>
        <p:nvSpPr>
          <p:cNvPr id="28" name="TextBox 27"/>
          <p:cNvSpPr txBox="1"/>
          <p:nvPr/>
        </p:nvSpPr>
        <p:spPr>
          <a:xfrm>
            <a:off x="7269480" y="2660904"/>
            <a:ext cx="4114800" cy="411480"/>
          </a:xfrm>
          <a:prstGeom prst="rect">
            <a:avLst/>
          </a:prstGeom>
          <a:noFill/>
        </p:spPr>
        <p:txBody>
          <a:bodyPr wrap="square" lIns="0" tIns="0" rIns="0" bIns="0" anchor="t">
            <a:spAutoFit/>
          </a:bodyPr>
          <a:lstStyle/>
          <a:p>
            <a:pPr algn="l"/>
            <a:r>
              <a:rPr sz="1000" b="0" i="0">
                <a:solidFill>
                  <a:srgbClr val="D9ECF9"/>
                </a:solidFill>
                <a:latin typeface="Arial"/>
              </a:rPr>
              <a:t>One employer's staff: run one combined deal with the employer</a:t>
            </a:r>
          </a:p>
        </p:txBody>
      </p:sp>
      <p:sp>
        <p:nvSpPr>
          <p:cNvPr id="29" name="TextBox 28"/>
          <p:cNvSpPr txBox="1"/>
          <p:nvPr/>
        </p:nvSpPr>
        <p:spPr>
          <a:xfrm>
            <a:off x="6519672" y="3154680"/>
            <a:ext cx="731520" cy="457200"/>
          </a:xfrm>
          <a:prstGeom prst="rect">
            <a:avLst/>
          </a:prstGeom>
          <a:noFill/>
        </p:spPr>
        <p:txBody>
          <a:bodyPr wrap="square" lIns="0" tIns="0" rIns="0" bIns="0" anchor="t">
            <a:spAutoFit/>
          </a:bodyPr>
          <a:lstStyle/>
          <a:p>
            <a:pPr algn="l"/>
            <a:r>
              <a:rPr sz="2200" b="0" i="0">
                <a:solidFill>
                  <a:srgbClr val="80BFEC"/>
                </a:solidFill>
                <a:latin typeface="Georgia"/>
              </a:rPr>
              <a:t>67</a:t>
            </a:r>
          </a:p>
        </p:txBody>
      </p:sp>
      <p:sp>
        <p:nvSpPr>
          <p:cNvPr id="30" name="TextBox 29"/>
          <p:cNvSpPr txBox="1"/>
          <p:nvPr/>
        </p:nvSpPr>
        <p:spPr>
          <a:xfrm>
            <a:off x="7269480" y="3172968"/>
            <a:ext cx="4114800" cy="256032"/>
          </a:xfrm>
          <a:prstGeom prst="rect">
            <a:avLst/>
          </a:prstGeom>
          <a:noFill/>
        </p:spPr>
        <p:txBody>
          <a:bodyPr wrap="square" lIns="0" tIns="0" rIns="0" bIns="0" anchor="t">
            <a:spAutoFit/>
          </a:bodyPr>
          <a:lstStyle/>
          <a:p>
            <a:pPr algn="l"/>
            <a:r>
              <a:rPr sz="1150" b="1" i="0">
                <a:solidFill>
                  <a:srgbClr val="FFFFFF"/>
                </a:solidFill>
                <a:latin typeface="Arial"/>
              </a:rPr>
              <a:t>Community or open-bond</a:t>
            </a:r>
          </a:p>
        </p:txBody>
      </p:sp>
      <p:sp>
        <p:nvSpPr>
          <p:cNvPr id="31" name="TextBox 30"/>
          <p:cNvSpPr txBox="1"/>
          <p:nvPr/>
        </p:nvSpPr>
        <p:spPr>
          <a:xfrm>
            <a:off x="7269480" y="3438144"/>
            <a:ext cx="4114800" cy="411480"/>
          </a:xfrm>
          <a:prstGeom prst="rect">
            <a:avLst/>
          </a:prstGeom>
          <a:noFill/>
        </p:spPr>
        <p:txBody>
          <a:bodyPr wrap="square" lIns="0" tIns="0" rIns="0" bIns="0" anchor="t">
            <a:spAutoFit/>
          </a:bodyPr>
          <a:lstStyle/>
          <a:p>
            <a:pPr algn="l"/>
            <a:r>
              <a:rPr sz="1000" b="0" i="0">
                <a:solidFill>
                  <a:srgbClr val="D9ECF9"/>
                </a:solidFill>
                <a:latin typeface="Arial"/>
              </a:rPr>
              <a:t>Broader membership; the members' meeting is the main event</a:t>
            </a:r>
          </a:p>
        </p:txBody>
      </p:sp>
      <p:sp>
        <p:nvSpPr>
          <p:cNvPr id="32" name="TextBox 31"/>
          <p:cNvSpPr txBox="1"/>
          <p:nvPr/>
        </p:nvSpPr>
        <p:spPr>
          <a:xfrm>
            <a:off x="6519672" y="3931920"/>
            <a:ext cx="731520" cy="457200"/>
          </a:xfrm>
          <a:prstGeom prst="rect">
            <a:avLst/>
          </a:prstGeom>
          <a:noFill/>
        </p:spPr>
        <p:txBody>
          <a:bodyPr wrap="square" lIns="0" tIns="0" rIns="0" bIns="0" anchor="t">
            <a:spAutoFit/>
          </a:bodyPr>
          <a:lstStyle/>
          <a:p>
            <a:pPr algn="l"/>
            <a:r>
              <a:rPr sz="2200" b="0" i="0">
                <a:solidFill>
                  <a:srgbClr val="80BFEC"/>
                </a:solidFill>
                <a:latin typeface="Georgia"/>
              </a:rPr>
              <a:t>2</a:t>
            </a:r>
          </a:p>
        </p:txBody>
      </p:sp>
      <p:sp>
        <p:nvSpPr>
          <p:cNvPr id="33" name="TextBox 32"/>
          <p:cNvSpPr txBox="1"/>
          <p:nvPr/>
        </p:nvSpPr>
        <p:spPr>
          <a:xfrm>
            <a:off x="7269480" y="3950207"/>
            <a:ext cx="4114800" cy="256032"/>
          </a:xfrm>
          <a:prstGeom prst="rect">
            <a:avLst/>
          </a:prstGeom>
          <a:noFill/>
        </p:spPr>
        <p:txBody>
          <a:bodyPr wrap="square" lIns="0" tIns="0" rIns="0" bIns="0" anchor="t">
            <a:spAutoFit/>
          </a:bodyPr>
          <a:lstStyle/>
          <a:p>
            <a:pPr algn="l"/>
            <a:r>
              <a:rPr sz="1150" b="1" i="0">
                <a:solidFill>
                  <a:srgbClr val="FFFFFF"/>
                </a:solidFill>
                <a:latin typeface="Arial"/>
              </a:rPr>
              <a:t>Unclassified (from map data)</a:t>
            </a:r>
          </a:p>
        </p:txBody>
      </p:sp>
      <p:sp>
        <p:nvSpPr>
          <p:cNvPr id="34" name="TextBox 33"/>
          <p:cNvSpPr txBox="1"/>
          <p:nvPr/>
        </p:nvSpPr>
        <p:spPr>
          <a:xfrm>
            <a:off x="7269480" y="4215383"/>
            <a:ext cx="4114800" cy="411480"/>
          </a:xfrm>
          <a:prstGeom prst="rect">
            <a:avLst/>
          </a:prstGeom>
          <a:noFill/>
        </p:spPr>
        <p:txBody>
          <a:bodyPr wrap="square" lIns="0" tIns="0" rIns="0" bIns="0" anchor="t">
            <a:spAutoFit/>
          </a:bodyPr>
          <a:lstStyle/>
          <a:p>
            <a:pPr algn="l"/>
            <a:r>
              <a:rPr sz="1000" b="0" i="0">
                <a:solidFill>
                  <a:srgbClr val="D9ECF9"/>
                </a:solidFill>
                <a:latin typeface="Arial"/>
              </a:rPr>
              <a:t>Treated as community until the type is known</a:t>
            </a:r>
          </a:p>
        </p:txBody>
      </p:sp>
      <p:sp>
        <p:nvSpPr>
          <p:cNvPr id="35" name="Rounded Rectangle 34"/>
          <p:cNvSpPr/>
          <p:nvPr/>
        </p:nvSpPr>
        <p:spPr>
          <a:xfrm>
            <a:off x="6519672" y="4709160"/>
            <a:ext cx="4800600" cy="1051560"/>
          </a:xfrm>
          <a:prstGeom prst="roundRect">
            <a:avLst>
              <a:gd name="adj" fmla="val 6086"/>
            </a:avLst>
          </a:prstGeom>
          <a:solidFill>
            <a:srgbClr val="FFF7E5"/>
          </a:solidFill>
          <a:ln w="12700">
            <a:solidFill>
              <a:srgbClr val="FFF7E5"/>
            </a:solidFill>
          </a:ln>
        </p:spPr>
        <p:txBody>
          <a:bodyPr rtlCol="0" anchor="ctr"/>
          <a:lstStyle/>
          <a:p>
            <a:pPr algn="ctr"/>
          </a:p>
        </p:txBody>
      </p:sp>
      <p:sp>
        <p:nvSpPr>
          <p:cNvPr id="36" name="Hexagon 35"/>
          <p:cNvSpPr/>
          <p:nvPr/>
        </p:nvSpPr>
        <p:spPr>
          <a:xfrm>
            <a:off x="6702552" y="4892040"/>
            <a:ext cx="292608" cy="25603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a:t>
            </a:r>
          </a:p>
        </p:txBody>
      </p:sp>
      <p:sp>
        <p:nvSpPr>
          <p:cNvPr id="37" name="TextBox 36"/>
          <p:cNvSpPr txBox="1"/>
          <p:nvPr/>
        </p:nvSpPr>
        <p:spPr>
          <a:xfrm>
            <a:off x="7132320" y="4828032"/>
            <a:ext cx="4069080" cy="868680"/>
          </a:xfrm>
          <a:prstGeom prst="rect">
            <a:avLst/>
          </a:prstGeom>
          <a:noFill/>
        </p:spPr>
        <p:txBody>
          <a:bodyPr wrap="square" lIns="0" tIns="0" rIns="0" bIns="0" anchor="t">
            <a:spAutoFit/>
          </a:bodyPr>
          <a:lstStyle/>
          <a:p>
            <a:pPr algn="l"/>
            <a:r>
              <a:rPr sz="1000" b="1" i="0">
                <a:solidFill>
                  <a:srgbClr val="002368"/>
                </a:solidFill>
                <a:latin typeface="Arial"/>
              </a:rPr>
              <a:t>1 ready, 116 without email. </a:t>
            </a:r>
            <a:r>
              <a:rPr sz="1000" b="0" i="0">
                <a:solidFill>
                  <a:srgbClr val="000000"/>
                </a:solidFill>
                <a:latin typeface="Arial"/>
              </a:rPr>
              <a:t>Gates before S1: a native-speaker Kiswahili review, and Finance agreeing to extend the member rate (OF07, documented for KINEFA only).</a:t>
            </a:r>
          </a:p>
        </p:txBody>
      </p:sp>
      <p:pic>
        <p:nvPicPr>
          <p:cNvPr id="38" name="Picture 37" descr="image3.png"/>
          <p:cNvPicPr>
            <a:picLocks noChangeAspect="1"/>
          </p:cNvPicPr>
          <p:nvPr/>
        </p:nvPicPr>
        <p:blipFill>
          <a:blip r:embed="rId2"/>
          <a:stretch>
            <a:fillRect/>
          </a:stretch>
        </p:blipFill>
        <p:spPr>
          <a:xfrm>
            <a:off x="548640" y="6272784"/>
            <a:ext cx="1143000" cy="274320"/>
          </a:xfrm>
          <a:prstGeom prst="rect">
            <a:avLst/>
          </a:prstGeom>
        </p:spPr>
      </p:pic>
      <p:sp>
        <p:nvSpPr>
          <p:cNvPr id="39"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4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WELFARE AND GOVERNMENT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Welfare by kind and priority; government by office level</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WELFARE: 445 IN SCOPE (58 MORE OUT OF SCOPE, NOT WRITTEN TO)</a:t>
            </a:r>
          </a:p>
        </p:txBody>
      </p:sp>
      <p:graphicFrame>
        <p:nvGraphicFramePr>
          <p:cNvPr id="5" name="Table 4"/>
          <p:cNvGraphicFramePr>
            <a:graphicFrameLocks noGrp="1"/>
          </p:cNvGraphicFramePr>
          <p:nvPr/>
        </p:nvGraphicFramePr>
        <p:xfrm>
          <a:off x="548640" y="1536192"/>
          <a:ext cx="5486400" cy="2304288"/>
        </p:xfrm>
        <a:graphic>
          <a:graphicData uri="http://schemas.openxmlformats.org/drawingml/2006/table">
            <a:tbl>
              <a:tblPr firstRow="0" bandRow="0">
                <a:tableStyleId>{2D5ABB26-0587-4C30-8999-92F81FD0307C}</a:tableStyleId>
              </a:tblPr>
              <a:tblGrid>
                <a:gridCol w="2148840"/>
                <a:gridCol w="566928"/>
                <a:gridCol w="749808"/>
                <a:gridCol w="566928"/>
                <a:gridCol w="722376"/>
                <a:gridCol w="731520"/>
              </a:tblGrid>
              <a:tr h="384048">
                <a:tc>
                  <a:txBody>
                    <a:bodyPr wrap="square"/>
                    <a:lstStyle/>
                    <a:p>
                      <a:r>
                        <a:rPr sz="900" b="1" i="0" spc="100">
                          <a:solidFill>
                            <a:srgbClr val="818283"/>
                          </a:solidFill>
                          <a:latin typeface="Arial"/>
                        </a:rPr>
                        <a:t>KIND</a:t>
                      </a:r>
                    </a:p>
                  </a:txBody>
                  <a:tcPr marL="0"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HIGH</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MEDIUM</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LOW</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TOTAL</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READY</a:t>
                      </a:r>
                    </a:p>
                  </a:txBody>
                  <a:tcPr marL="54864" marR="54864" marT="36576" marB="36576" anchor="ctr">
                    <a:lnL w="0">
                      <a:noFill/>
                    </a:lnL>
                    <a:lnR w="0">
                      <a:noFill/>
                    </a:lnR>
                    <a:lnT w="0">
                      <a:noFill/>
                    </a:lnT>
                    <a:lnB w="12700">
                      <a:solidFill>
                        <a:srgbClr val="80BFEC"/>
                      </a:solidFill>
                    </a:lnB>
                    <a:noFill/>
                  </a:tcPr>
                </a:tc>
              </a:tr>
              <a:tr h="384048">
                <a:tc>
                  <a:txBody>
                    <a:bodyPr wrap="square"/>
                    <a:lstStyle/>
                    <a:p>
                      <a:r>
                        <a:rPr sz="1050" b="1" i="0">
                          <a:solidFill>
                            <a:srgbClr val="002368"/>
                          </a:solidFill>
                          <a:latin typeface="Arial"/>
                        </a:rPr>
                        <a:t>Residential care (children's homes)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23</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20</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57</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100</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17</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Family-based and sponsorship programmes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12</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14</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138</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164</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25</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Specialised centres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3</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6</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61</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70</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5</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Funders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3</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7</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94</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104</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34</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Welfare networks (introducers)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7</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7</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5</a:t>
                      </a:r>
                    </a:p>
                  </a:txBody>
                  <a:tcPr marL="54864" marR="54864" marT="36576" marB="36576" anchor="ctr">
                    <a:lnL w="0">
                      <a:noFill/>
                    </a:lnL>
                    <a:lnR w="0">
                      <a:noFill/>
                    </a:lnR>
                    <a:lnT w="0">
                      <a:noFill/>
                    </a:lnT>
                    <a:lnB w="9525">
                      <a:solidFill>
                        <a:srgbClr val="ECECEC"/>
                      </a:solidFill>
                    </a:lnB>
                    <a:noFill/>
                  </a:tcPr>
                </a:tc>
              </a:tr>
            </a:tbl>
          </a:graphicData>
        </a:graphic>
      </p:graphicFrame>
      <p:sp>
        <p:nvSpPr>
          <p:cNvPr id="6" name="TextBox 5"/>
          <p:cNvSpPr txBox="1"/>
          <p:nvPr/>
        </p:nvSpPr>
        <p:spPr>
          <a:xfrm>
            <a:off x="548640" y="3977639"/>
            <a:ext cx="5486400" cy="1097280"/>
          </a:xfrm>
          <a:prstGeom prst="rect">
            <a:avLst/>
          </a:prstGeom>
          <a:noFill/>
        </p:spPr>
        <p:txBody>
          <a:bodyPr wrap="square" lIns="0" tIns="0" rIns="0" bIns="0" anchor="t">
            <a:spAutoFit/>
          </a:bodyPr>
          <a:lstStyle/>
          <a:p>
            <a:pPr algn="l" marL="155448" indent="-155448">
              <a:spcAft>
                <a:spcPts val="400"/>
              </a:spcAft>
              <a:buFont typeface="Arial"/>
              <a:buChar char="•"/>
            </a:pPr>
            <a:r>
              <a:rPr sz="1050" b="0" i="0">
                <a:solidFill>
                  <a:srgbClr val="000000"/>
                </a:solidFill>
                <a:latin typeface="Arial"/>
              </a:rPr>
              <a:t>Two requests: a partnership on the education of the children in their care (homes, programmes, centres), or sponsorship (funders, only with a verified link to a home near a campus).</a:t>
            </a:r>
          </a:p>
          <a:p>
            <a:pPr algn="l" marL="155448" indent="-155448">
              <a:spcAft>
                <a:spcPts val="400"/>
              </a:spcAft>
              <a:buFont typeface="Arial"/>
              <a:buChar char="•"/>
            </a:pPr>
            <a:r>
              <a:rPr sz="1050" b="0" i="0">
                <a:solidFill>
                  <a:srgbClr val="000000"/>
                </a:solidFill>
                <a:latin typeface="Arial"/>
              </a:rPr>
              <a:t>Recipient: the leader on the ground; a senior executive abroad is the escalation contact.</a:t>
            </a:r>
          </a:p>
        </p:txBody>
      </p:sp>
      <p:sp>
        <p:nvSpPr>
          <p:cNvPr id="7" name="TextBox 6"/>
          <p:cNvSpPr txBox="1"/>
          <p:nvPr/>
        </p:nvSpPr>
        <p:spPr>
          <a:xfrm>
            <a:off x="635508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GOVERNMENT: 228 OFFICES, LETTERS BY HAND</a:t>
            </a:r>
          </a:p>
        </p:txBody>
      </p:sp>
      <p:graphicFrame>
        <p:nvGraphicFramePr>
          <p:cNvPr id="8" name="Table 7"/>
          <p:cNvGraphicFramePr>
            <a:graphicFrameLocks noGrp="1"/>
          </p:cNvGraphicFramePr>
          <p:nvPr/>
        </p:nvGraphicFramePr>
        <p:xfrm>
          <a:off x="6355080" y="1536192"/>
          <a:ext cx="5285232" cy="2304288"/>
        </p:xfrm>
        <a:graphic>
          <a:graphicData uri="http://schemas.openxmlformats.org/drawingml/2006/table">
            <a:tbl>
              <a:tblPr firstRow="0" bandRow="0">
                <a:tableStyleId>{2D5ABB26-0587-4C30-8999-92F81FD0307C}</a:tableStyleId>
              </a:tblPr>
              <a:tblGrid>
                <a:gridCol w="1783080"/>
                <a:gridCol w="868680"/>
                <a:gridCol w="2633472"/>
              </a:tblGrid>
              <a:tr h="384048">
                <a:tc>
                  <a:txBody>
                    <a:bodyPr wrap="square"/>
                    <a:lstStyle/>
                    <a:p>
                      <a:r>
                        <a:rPr sz="900" b="1" i="0" spc="100">
                          <a:solidFill>
                            <a:srgbClr val="818283"/>
                          </a:solidFill>
                          <a:latin typeface="Arial"/>
                        </a:rPr>
                        <a:t>SUBSEGMENT</a:t>
                      </a:r>
                    </a:p>
                  </a:txBody>
                  <a:tcPr marL="0"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OFFICES</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ORDER AND REQUEST</a:t>
                      </a:r>
                    </a:p>
                  </a:txBody>
                  <a:tcPr marL="54864" marR="54864" marT="36576" marB="36576" anchor="ctr">
                    <a:lnL w="0">
                      <a:noFill/>
                    </a:lnL>
                    <a:lnR w="0">
                      <a:noFill/>
                    </a:lnR>
                    <a:lnT w="0">
                      <a:noFill/>
                    </a:lnT>
                    <a:lnB w="12700">
                      <a:solidFill>
                        <a:srgbClr val="80BFEC"/>
                      </a:solidFill>
                    </a:lnB>
                    <a:noFill/>
                  </a:tcPr>
                </a:tc>
              </a:tr>
              <a:tr h="384048">
                <a:tc>
                  <a:txBody>
                    <a:bodyPr wrap="square"/>
                    <a:lstStyle/>
                    <a:p>
                      <a:r>
                        <a:rPr sz="1050" b="1" i="0">
                          <a:solidFill>
                            <a:srgbClr val="002368"/>
                          </a:solidFill>
                          <a:latin typeface="Arial"/>
                        </a:rPr>
                        <a:t>Pilot councils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4</a:t>
                      </a:r>
                    </a:p>
                  </a:txBody>
                  <a:tcPr marL="54864" marR="54864" marT="36576" marB="36576" anchor="ctr">
                    <a:lnL w="0">
                      <a:noFill/>
                    </a:lnL>
                    <a:lnR w="0">
                      <a:noFill/>
                    </a:lnR>
                    <a:lnT w="0">
                      <a:noFill/>
                    </a:lnT>
                    <a:lnB w="9525">
                      <a:solidFill>
                        <a:srgbClr val="ECECEC"/>
                      </a:solidFill>
                    </a:lnB>
                    <a:noFill/>
                  </a:tcPr>
                </a:tc>
                <a:tc>
                  <a:txBody>
                    <a:bodyPr wrap="square"/>
                    <a:lstStyle/>
                    <a:p>
                      <a:r>
                        <a:rPr sz="1050" b="0" i="0">
                          <a:solidFill>
                            <a:srgbClr val="000000"/>
                          </a:solidFill>
                          <a:latin typeface="Arial"/>
                        </a:rPr>
                        <a:t>First: protocol introduction to the ward officers</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Other councils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5</a:t>
                      </a:r>
                    </a:p>
                  </a:txBody>
                  <a:tcPr marL="54864" marR="54864" marT="36576" marB="36576" anchor="ctr">
                    <a:lnL w="0">
                      <a:noFill/>
                    </a:lnL>
                    <a:lnR w="0">
                      <a:noFill/>
                    </a:lnR>
                    <a:lnT w="0">
                      <a:noFill/>
                    </a:lnT>
                    <a:lnB w="9525">
                      <a:solidFill>
                        <a:srgbClr val="ECECEC"/>
                      </a:solidFill>
                    </a:lnB>
                    <a:noFill/>
                  </a:tcPr>
                </a:tc>
                <a:tc>
                  <a:txBody>
                    <a:bodyPr wrap="square"/>
                    <a:lstStyle/>
                    <a:p>
                      <a:r>
                        <a:rPr sz="1050" b="0" i="0">
                          <a:solidFill>
                            <a:srgbClr val="000000"/>
                          </a:solidFill>
                          <a:latin typeface="Arial"/>
                        </a:rPr>
                        <a:t>After the pilot</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District and regional</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7 + 3</a:t>
                      </a:r>
                    </a:p>
                  </a:txBody>
                  <a:tcPr marL="54864" marR="54864" marT="36576" marB="36576" anchor="ctr">
                    <a:lnL w="0">
                      <a:noFill/>
                    </a:lnL>
                    <a:lnR w="0">
                      <a:noFill/>
                    </a:lnR>
                    <a:lnT w="0">
                      <a:noFill/>
                    </a:lnT>
                    <a:lnB w="9525">
                      <a:solidFill>
                        <a:srgbClr val="ECECEC"/>
                      </a:solidFill>
                    </a:lnB>
                    <a:noFill/>
                  </a:tcPr>
                </a:tc>
                <a:tc>
                  <a:txBody>
                    <a:bodyPr wrap="square"/>
                    <a:lstStyle/>
                    <a:p>
                      <a:r>
                        <a:rPr sz="1050" b="0" i="0">
                          <a:solidFill>
                            <a:srgbClr val="000000"/>
                          </a:solidFill>
                          <a:latin typeface="Arial"/>
                        </a:rPr>
                        <a:t>Courtesy notice only</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Ward offices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129</a:t>
                      </a:r>
                    </a:p>
                  </a:txBody>
                  <a:tcPr marL="54864" marR="54864" marT="36576" marB="36576" anchor="ctr">
                    <a:lnL w="0">
                      <a:noFill/>
                    </a:lnL>
                    <a:lnR w="0">
                      <a:noFill/>
                    </a:lnR>
                    <a:lnT w="0">
                      <a:noFill/>
                    </a:lnT>
                    <a:lnB w="9525">
                      <a:solidFill>
                        <a:srgbClr val="ECECEC"/>
                      </a:solidFill>
                    </a:lnB>
                    <a:noFill/>
                  </a:tcPr>
                </a:tc>
                <a:tc>
                  <a:txBody>
                    <a:bodyPr wrap="square"/>
                    <a:lstStyle/>
                    <a:p>
                      <a:r>
                        <a:rPr sz="1050" b="0" i="0">
                          <a:solidFill>
                            <a:srgbClr val="000000"/>
                          </a:solidFill>
                          <a:latin typeface="Arial"/>
                        </a:rPr>
                        <a:t>After the council introduction; nearest first</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Village offices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80</a:t>
                      </a:r>
                    </a:p>
                  </a:txBody>
                  <a:tcPr marL="54864" marR="54864" marT="36576" marB="36576" anchor="ctr">
                    <a:lnL w="0">
                      <a:noFill/>
                    </a:lnL>
                    <a:lnR w="0">
                      <a:noFill/>
                    </a:lnR>
                    <a:lnT w="0">
                      <a:noFill/>
                    </a:lnT>
                    <a:lnB w="9525">
                      <a:solidFill>
                        <a:srgbClr val="ECECEC"/>
                      </a:solidFill>
                    </a:lnB>
                    <a:noFill/>
                  </a:tcPr>
                </a:tc>
                <a:tc>
                  <a:txBody>
                    <a:bodyPr wrap="square"/>
                    <a:lstStyle/>
                    <a:p>
                      <a:r>
                        <a:rPr sz="1050" b="0" i="0">
                          <a:solidFill>
                            <a:srgbClr val="000000"/>
                          </a:solidFill>
                          <a:latin typeface="Arial"/>
                        </a:rPr>
                        <a:t>Same; 36 Hai, 34 Meru, 9 Arusha DC, 1 city</a:t>
                      </a:r>
                    </a:p>
                  </a:txBody>
                  <a:tcPr marL="54864" marR="54864" marT="36576" marB="36576" anchor="ctr">
                    <a:lnL w="0">
                      <a:noFill/>
                    </a:lnL>
                    <a:lnR w="0">
                      <a:noFill/>
                    </a:lnR>
                    <a:lnT w="0">
                      <a:noFill/>
                    </a:lnT>
                    <a:lnB w="9525">
                      <a:solidFill>
                        <a:srgbClr val="ECECEC"/>
                      </a:solidFill>
                    </a:lnB>
                    <a:noFill/>
                  </a:tcPr>
                </a:tc>
              </a:tr>
            </a:tbl>
          </a:graphicData>
        </a:graphic>
      </p:graphicFrame>
      <p:sp>
        <p:nvSpPr>
          <p:cNvPr id="9" name="TextBox 8"/>
          <p:cNvSpPr txBox="1"/>
          <p:nvPr/>
        </p:nvSpPr>
        <p:spPr>
          <a:xfrm>
            <a:off x="6355080" y="4023360"/>
            <a:ext cx="1280160" cy="457200"/>
          </a:xfrm>
          <a:prstGeom prst="rect">
            <a:avLst/>
          </a:prstGeom>
          <a:noFill/>
        </p:spPr>
        <p:txBody>
          <a:bodyPr wrap="square" lIns="0" tIns="0" rIns="0" bIns="0" anchor="t">
            <a:spAutoFit/>
          </a:bodyPr>
          <a:lstStyle/>
          <a:p>
            <a:pPr algn="l"/>
            <a:r>
              <a:rPr sz="2400" b="0" i="0">
                <a:solidFill>
                  <a:srgbClr val="002368"/>
                </a:solidFill>
                <a:latin typeface="Georgia"/>
              </a:rPr>
              <a:t>58</a:t>
            </a:r>
          </a:p>
        </p:txBody>
      </p:sp>
      <p:sp>
        <p:nvSpPr>
          <p:cNvPr id="10" name="TextBox 9"/>
          <p:cNvSpPr txBox="1"/>
          <p:nvPr/>
        </p:nvSpPr>
        <p:spPr>
          <a:xfrm>
            <a:off x="6355080" y="4480560"/>
            <a:ext cx="1280160" cy="365760"/>
          </a:xfrm>
          <a:prstGeom prst="rect">
            <a:avLst/>
          </a:prstGeom>
          <a:noFill/>
        </p:spPr>
        <p:txBody>
          <a:bodyPr wrap="square" lIns="0" tIns="0" rIns="0" bIns="0" anchor="t">
            <a:spAutoFit/>
          </a:bodyPr>
          <a:lstStyle/>
          <a:p>
            <a:pPr algn="l"/>
            <a:r>
              <a:rPr sz="950" b="0" i="0">
                <a:solidFill>
                  <a:srgbClr val="818283"/>
                </a:solidFill>
                <a:latin typeface="Arial"/>
              </a:rPr>
              <a:t>wards within 10 km</a:t>
            </a:r>
          </a:p>
        </p:txBody>
      </p:sp>
      <p:sp>
        <p:nvSpPr>
          <p:cNvPr id="11" name="TextBox 10"/>
          <p:cNvSpPr txBox="1"/>
          <p:nvPr/>
        </p:nvSpPr>
        <p:spPr>
          <a:xfrm>
            <a:off x="7680960" y="4023360"/>
            <a:ext cx="1280160" cy="457200"/>
          </a:xfrm>
          <a:prstGeom prst="rect">
            <a:avLst/>
          </a:prstGeom>
          <a:noFill/>
        </p:spPr>
        <p:txBody>
          <a:bodyPr wrap="square" lIns="0" tIns="0" rIns="0" bIns="0" anchor="t">
            <a:spAutoFit/>
          </a:bodyPr>
          <a:lstStyle/>
          <a:p>
            <a:pPr algn="l"/>
            <a:r>
              <a:rPr sz="2400" b="0" i="0">
                <a:solidFill>
                  <a:srgbClr val="002368"/>
                </a:solidFill>
                <a:latin typeface="Georgia"/>
              </a:rPr>
              <a:t>35</a:t>
            </a:r>
          </a:p>
        </p:txBody>
      </p:sp>
      <p:sp>
        <p:nvSpPr>
          <p:cNvPr id="12" name="TextBox 11"/>
          <p:cNvSpPr txBox="1"/>
          <p:nvPr/>
        </p:nvSpPr>
        <p:spPr>
          <a:xfrm>
            <a:off x="7680960" y="4480560"/>
            <a:ext cx="1280160" cy="365760"/>
          </a:xfrm>
          <a:prstGeom prst="rect">
            <a:avLst/>
          </a:prstGeom>
          <a:noFill/>
        </p:spPr>
        <p:txBody>
          <a:bodyPr wrap="square" lIns="0" tIns="0" rIns="0" bIns="0" anchor="t">
            <a:spAutoFit/>
          </a:bodyPr>
          <a:lstStyle/>
          <a:p>
            <a:pPr algn="l"/>
            <a:r>
              <a:rPr sz="950" b="0" i="0">
                <a:solidFill>
                  <a:srgbClr val="818283"/>
                </a:solidFill>
                <a:latin typeface="Arial"/>
              </a:rPr>
              <a:t>at 10–20 km</a:t>
            </a:r>
          </a:p>
        </p:txBody>
      </p:sp>
      <p:sp>
        <p:nvSpPr>
          <p:cNvPr id="13" name="TextBox 12"/>
          <p:cNvSpPr txBox="1"/>
          <p:nvPr/>
        </p:nvSpPr>
        <p:spPr>
          <a:xfrm>
            <a:off x="9006840" y="4023360"/>
            <a:ext cx="1280160" cy="457200"/>
          </a:xfrm>
          <a:prstGeom prst="rect">
            <a:avLst/>
          </a:prstGeom>
          <a:noFill/>
        </p:spPr>
        <p:txBody>
          <a:bodyPr wrap="square" lIns="0" tIns="0" rIns="0" bIns="0" anchor="t">
            <a:spAutoFit/>
          </a:bodyPr>
          <a:lstStyle/>
          <a:p>
            <a:pPr algn="l"/>
            <a:r>
              <a:rPr sz="2400" b="0" i="0">
                <a:solidFill>
                  <a:srgbClr val="002368"/>
                </a:solidFill>
                <a:latin typeface="Georgia"/>
              </a:rPr>
              <a:t>32</a:t>
            </a:r>
          </a:p>
        </p:txBody>
      </p:sp>
      <p:sp>
        <p:nvSpPr>
          <p:cNvPr id="14" name="TextBox 13"/>
          <p:cNvSpPr txBox="1"/>
          <p:nvPr/>
        </p:nvSpPr>
        <p:spPr>
          <a:xfrm>
            <a:off x="9006840" y="4480560"/>
            <a:ext cx="1280160" cy="365760"/>
          </a:xfrm>
          <a:prstGeom prst="rect">
            <a:avLst/>
          </a:prstGeom>
          <a:noFill/>
        </p:spPr>
        <p:txBody>
          <a:bodyPr wrap="square" lIns="0" tIns="0" rIns="0" bIns="0" anchor="t">
            <a:spAutoFit/>
          </a:bodyPr>
          <a:lstStyle/>
          <a:p>
            <a:pPr algn="l"/>
            <a:r>
              <a:rPr sz="950" b="0" i="0">
                <a:solidFill>
                  <a:srgbClr val="818283"/>
                </a:solidFill>
                <a:latin typeface="Arial"/>
              </a:rPr>
              <a:t>beyond 20 km</a:t>
            </a:r>
          </a:p>
        </p:txBody>
      </p:sp>
      <p:sp>
        <p:nvSpPr>
          <p:cNvPr id="15" name="TextBox 14"/>
          <p:cNvSpPr txBox="1"/>
          <p:nvPr/>
        </p:nvSpPr>
        <p:spPr>
          <a:xfrm>
            <a:off x="10332720" y="4023360"/>
            <a:ext cx="1280160" cy="457200"/>
          </a:xfrm>
          <a:prstGeom prst="rect">
            <a:avLst/>
          </a:prstGeom>
          <a:noFill/>
        </p:spPr>
        <p:txBody>
          <a:bodyPr wrap="square" lIns="0" tIns="0" rIns="0" bIns="0" anchor="t">
            <a:spAutoFit/>
          </a:bodyPr>
          <a:lstStyle/>
          <a:p>
            <a:pPr algn="l"/>
            <a:r>
              <a:rPr sz="2400" b="0" i="0">
                <a:solidFill>
                  <a:srgbClr val="002368"/>
                </a:solidFill>
                <a:latin typeface="Georgia"/>
              </a:rPr>
              <a:t>4</a:t>
            </a:r>
          </a:p>
        </p:txBody>
      </p:sp>
      <p:sp>
        <p:nvSpPr>
          <p:cNvPr id="16" name="TextBox 15"/>
          <p:cNvSpPr txBox="1"/>
          <p:nvPr/>
        </p:nvSpPr>
        <p:spPr>
          <a:xfrm>
            <a:off x="10332720" y="4480560"/>
            <a:ext cx="1280160" cy="365760"/>
          </a:xfrm>
          <a:prstGeom prst="rect">
            <a:avLst/>
          </a:prstGeom>
          <a:noFill/>
        </p:spPr>
        <p:txBody>
          <a:bodyPr wrap="square" lIns="0" tIns="0" rIns="0" bIns="0" anchor="t">
            <a:spAutoFit/>
          </a:bodyPr>
          <a:lstStyle/>
          <a:p>
            <a:pPr algn="l"/>
            <a:r>
              <a:rPr sz="950" b="0" i="0">
                <a:solidFill>
                  <a:srgbClr val="818283"/>
                </a:solidFill>
                <a:latin typeface="Arial"/>
              </a:rPr>
              <a:t>to locate</a:t>
            </a:r>
          </a:p>
        </p:txBody>
      </p:sp>
      <p:sp>
        <p:nvSpPr>
          <p:cNvPr id="17" name="TextBox 16"/>
          <p:cNvSpPr txBox="1"/>
          <p:nvPr/>
        </p:nvSpPr>
        <p:spPr>
          <a:xfrm>
            <a:off x="6355080" y="4983480"/>
            <a:ext cx="5285232" cy="914400"/>
          </a:xfrm>
          <a:prstGeom prst="rect">
            <a:avLst/>
          </a:prstGeom>
          <a:noFill/>
        </p:spPr>
        <p:txBody>
          <a:bodyPr wrap="square" lIns="0" tIns="0" rIns="0" bIns="0" anchor="t">
            <a:spAutoFit/>
          </a:bodyPr>
          <a:lstStyle/>
          <a:p>
            <a:pPr algn="l"/>
            <a:r>
              <a:rPr sz="1000" b="0" i="0">
                <a:solidFill>
                  <a:srgbClr val="000000"/>
                </a:solidFill>
                <a:latin typeface="Arial"/>
              </a:rPr>
              <a:t>Pilot councils: Arusha City, Arusha District, Hai and Meru. Villages: 29 within 10 km, 41 at 10–20 km, 10 beyond. Mtaa offices: none recorded yet (a gap). 11 offices publish an official inbox for an advance copy.</a:t>
            </a:r>
          </a:p>
        </p:txBody>
      </p:sp>
      <p:pic>
        <p:nvPicPr>
          <p:cNvPr id="18" name="Picture 17" descr="image3.png"/>
          <p:cNvPicPr>
            <a:picLocks noChangeAspect="1"/>
          </p:cNvPicPr>
          <p:nvPr/>
        </p:nvPicPr>
        <p:blipFill>
          <a:blip r:embed="rId2"/>
          <a:stretch>
            <a:fillRect/>
          </a:stretch>
        </p:blipFill>
        <p:spPr>
          <a:xfrm>
            <a:off x="548640" y="6272784"/>
            <a:ext cx="1143000" cy="274320"/>
          </a:xfrm>
          <a:prstGeom prst="rect">
            <a:avLst/>
          </a:prstGeom>
        </p:spPr>
      </p:pic>
      <p:sp>
        <p:nvSpPr>
          <p:cNvPr id="19"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2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CONFIDENCE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How sure we are that a message reaches the person who can say yes</a:t>
            </a:r>
          </a:p>
        </p:txBody>
      </p:sp>
      <p:sp>
        <p:nvSpPr>
          <p:cNvPr id="4" name="Rounded Rectangle 3"/>
          <p:cNvSpPr/>
          <p:nvPr/>
        </p:nvSpPr>
        <p:spPr>
          <a:xfrm>
            <a:off x="548640" y="1371600"/>
            <a:ext cx="3931920" cy="530352"/>
          </a:xfrm>
          <a:prstGeom prst="roundRect">
            <a:avLst>
              <a:gd name="adj" fmla="val 12068"/>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731520" y="1408176"/>
            <a:ext cx="1463040" cy="457200"/>
          </a:xfrm>
          <a:prstGeom prst="rect">
            <a:avLst/>
          </a:prstGeom>
          <a:noFill/>
        </p:spPr>
        <p:txBody>
          <a:bodyPr wrap="square" lIns="0" tIns="0" rIns="0" bIns="0" anchor="ctr">
            <a:spAutoFit/>
          </a:bodyPr>
          <a:lstStyle/>
          <a:p>
            <a:pPr algn="l"/>
            <a:r>
              <a:rPr sz="1150" b="1" i="0">
                <a:solidFill>
                  <a:srgbClr val="FFFFFF"/>
                </a:solidFill>
                <a:latin typeface="Arial"/>
              </a:rPr>
              <a:t>High · direct</a:t>
            </a:r>
          </a:p>
        </p:txBody>
      </p:sp>
      <p:sp>
        <p:nvSpPr>
          <p:cNvPr id="6" name="TextBox 5"/>
          <p:cNvSpPr txBox="1"/>
          <p:nvPr/>
        </p:nvSpPr>
        <p:spPr>
          <a:xfrm>
            <a:off x="2194560" y="1408176"/>
            <a:ext cx="2194560" cy="457200"/>
          </a:xfrm>
          <a:prstGeom prst="rect">
            <a:avLst/>
          </a:prstGeom>
          <a:noFill/>
        </p:spPr>
        <p:txBody>
          <a:bodyPr wrap="square" lIns="0" tIns="0" rIns="0" bIns="0" anchor="ctr">
            <a:spAutoFit/>
          </a:bodyPr>
          <a:lstStyle/>
          <a:p>
            <a:pPr algn="l"/>
            <a:r>
              <a:rPr sz="850" b="0" i="0">
                <a:solidFill>
                  <a:srgbClr val="FFFFFF"/>
                </a:solidFill>
                <a:latin typeface="Arial"/>
              </a:rPr>
              <a:t>The person's own address, or the inbox for their role (hr@, md@, dg@)</a:t>
            </a:r>
          </a:p>
        </p:txBody>
      </p:sp>
      <p:sp>
        <p:nvSpPr>
          <p:cNvPr id="7" name="Rounded Rectangle 6"/>
          <p:cNvSpPr/>
          <p:nvPr/>
        </p:nvSpPr>
        <p:spPr>
          <a:xfrm>
            <a:off x="548640" y="1993392"/>
            <a:ext cx="3931920" cy="530352"/>
          </a:xfrm>
          <a:prstGeom prst="roundRect">
            <a:avLst>
              <a:gd name="adj" fmla="val 12068"/>
            </a:avLst>
          </a:prstGeom>
          <a:solidFill>
            <a:srgbClr val="1C4A8A"/>
          </a:solidFill>
          <a:ln w="12700">
            <a:solidFill>
              <a:srgbClr val="1C4A8A"/>
            </a:solidFill>
          </a:ln>
        </p:spPr>
        <p:txBody>
          <a:bodyPr rtlCol="0" anchor="ctr"/>
          <a:lstStyle/>
          <a:p>
            <a:pPr algn="ctr"/>
          </a:p>
        </p:txBody>
      </p:sp>
      <p:sp>
        <p:nvSpPr>
          <p:cNvPr id="8" name="TextBox 7"/>
          <p:cNvSpPr txBox="1"/>
          <p:nvPr/>
        </p:nvSpPr>
        <p:spPr>
          <a:xfrm>
            <a:off x="731520" y="2029968"/>
            <a:ext cx="1463040" cy="457200"/>
          </a:xfrm>
          <a:prstGeom prst="rect">
            <a:avLst/>
          </a:prstGeom>
          <a:noFill/>
        </p:spPr>
        <p:txBody>
          <a:bodyPr wrap="square" lIns="0" tIns="0" rIns="0" bIns="0" anchor="ctr">
            <a:spAutoFit/>
          </a:bodyPr>
          <a:lstStyle/>
          <a:p>
            <a:pPr algn="l"/>
            <a:r>
              <a:rPr sz="1150" b="1" i="0">
                <a:solidFill>
                  <a:srgbClr val="FFFFFF"/>
                </a:solidFill>
                <a:latin typeface="Arial"/>
              </a:rPr>
              <a:t>High · indirect</a:t>
            </a:r>
          </a:p>
        </p:txBody>
      </p:sp>
      <p:sp>
        <p:nvSpPr>
          <p:cNvPr id="9" name="TextBox 8"/>
          <p:cNvSpPr txBox="1"/>
          <p:nvPr/>
        </p:nvSpPr>
        <p:spPr>
          <a:xfrm>
            <a:off x="2194560" y="2029968"/>
            <a:ext cx="2194560" cy="457200"/>
          </a:xfrm>
          <a:prstGeom prst="rect">
            <a:avLst/>
          </a:prstGeom>
          <a:noFill/>
        </p:spPr>
        <p:txBody>
          <a:bodyPr wrap="square" lIns="0" tIns="0" rIns="0" bIns="0" anchor="ctr">
            <a:spAutoFit/>
          </a:bodyPr>
          <a:lstStyle/>
          <a:p>
            <a:pPr algn="l"/>
            <a:r>
              <a:rPr sz="850" b="0" i="0">
                <a:solidFill>
                  <a:srgbClr val="FFFFFF"/>
                </a:solidFill>
                <a:latin typeface="Arial"/>
              </a:rPr>
              <a:t>A general inbox (info@, reservations@) addressed to the named person</a:t>
            </a:r>
          </a:p>
        </p:txBody>
      </p:sp>
      <p:sp>
        <p:nvSpPr>
          <p:cNvPr id="10" name="Rounded Rectangle 9"/>
          <p:cNvSpPr/>
          <p:nvPr/>
        </p:nvSpPr>
        <p:spPr>
          <a:xfrm>
            <a:off x="548640" y="2615184"/>
            <a:ext cx="3931920" cy="530352"/>
          </a:xfrm>
          <a:prstGeom prst="roundRect">
            <a:avLst>
              <a:gd name="adj" fmla="val 12068"/>
            </a:avLst>
          </a:prstGeom>
          <a:solidFill>
            <a:srgbClr val="80BFEC"/>
          </a:solidFill>
          <a:ln w="12700">
            <a:solidFill>
              <a:srgbClr val="80BFEC"/>
            </a:solidFill>
          </a:ln>
        </p:spPr>
        <p:txBody>
          <a:bodyPr rtlCol="0" anchor="ctr"/>
          <a:lstStyle/>
          <a:p>
            <a:pPr algn="ctr"/>
          </a:p>
        </p:txBody>
      </p:sp>
      <p:sp>
        <p:nvSpPr>
          <p:cNvPr id="11" name="TextBox 10"/>
          <p:cNvSpPr txBox="1"/>
          <p:nvPr/>
        </p:nvSpPr>
        <p:spPr>
          <a:xfrm>
            <a:off x="731520" y="2651760"/>
            <a:ext cx="1463040" cy="457200"/>
          </a:xfrm>
          <a:prstGeom prst="rect">
            <a:avLst/>
          </a:prstGeom>
          <a:noFill/>
        </p:spPr>
        <p:txBody>
          <a:bodyPr wrap="square" lIns="0" tIns="0" rIns="0" bIns="0" anchor="ctr">
            <a:spAutoFit/>
          </a:bodyPr>
          <a:lstStyle/>
          <a:p>
            <a:pPr algn="l"/>
            <a:r>
              <a:rPr sz="1150" b="1" i="0">
                <a:solidFill>
                  <a:srgbClr val="002368"/>
                </a:solidFill>
                <a:latin typeface="Arial"/>
              </a:rPr>
              <a:t>Medium</a:t>
            </a:r>
          </a:p>
        </p:txBody>
      </p:sp>
      <p:sp>
        <p:nvSpPr>
          <p:cNvPr id="12" name="TextBox 11"/>
          <p:cNvSpPr txBox="1"/>
          <p:nvPr/>
        </p:nvSpPr>
        <p:spPr>
          <a:xfrm>
            <a:off x="2194560" y="2651760"/>
            <a:ext cx="2194560" cy="457200"/>
          </a:xfrm>
          <a:prstGeom prst="rect">
            <a:avLst/>
          </a:prstGeom>
          <a:noFill/>
        </p:spPr>
        <p:txBody>
          <a:bodyPr wrap="square" lIns="0" tIns="0" rIns="0" bIns="0" anchor="ctr">
            <a:spAutoFit/>
          </a:bodyPr>
          <a:lstStyle/>
          <a:p>
            <a:pPr algn="l"/>
            <a:r>
              <a:rPr sz="850" b="0" i="0">
                <a:solidFill>
                  <a:srgbClr val="002368"/>
                </a:solidFill>
                <a:latin typeface="Arial"/>
              </a:rPr>
              <a:t>Ready, but to the organisation's inbox and needs routing, or a free-mail inbox it publishes</a:t>
            </a:r>
          </a:p>
        </p:txBody>
      </p:sp>
      <p:sp>
        <p:nvSpPr>
          <p:cNvPr id="13" name="Rounded Rectangle 12"/>
          <p:cNvSpPr/>
          <p:nvPr/>
        </p:nvSpPr>
        <p:spPr>
          <a:xfrm>
            <a:off x="548640" y="3236976"/>
            <a:ext cx="3931920" cy="530352"/>
          </a:xfrm>
          <a:prstGeom prst="roundRect">
            <a:avLst>
              <a:gd name="adj" fmla="val 12068"/>
            </a:avLst>
          </a:prstGeom>
          <a:solidFill>
            <a:srgbClr val="D9ECF9"/>
          </a:solidFill>
          <a:ln w="12700">
            <a:solidFill>
              <a:srgbClr val="D9ECF9"/>
            </a:solidFill>
          </a:ln>
        </p:spPr>
        <p:txBody>
          <a:bodyPr rtlCol="0" anchor="ctr"/>
          <a:lstStyle/>
          <a:p>
            <a:pPr algn="ctr"/>
          </a:p>
        </p:txBody>
      </p:sp>
      <p:sp>
        <p:nvSpPr>
          <p:cNvPr id="14" name="TextBox 13"/>
          <p:cNvSpPr txBox="1"/>
          <p:nvPr/>
        </p:nvSpPr>
        <p:spPr>
          <a:xfrm>
            <a:off x="731520" y="3273552"/>
            <a:ext cx="1463040" cy="457200"/>
          </a:xfrm>
          <a:prstGeom prst="rect">
            <a:avLst/>
          </a:prstGeom>
          <a:noFill/>
        </p:spPr>
        <p:txBody>
          <a:bodyPr wrap="square" lIns="0" tIns="0" rIns="0" bIns="0" anchor="ctr">
            <a:spAutoFit/>
          </a:bodyPr>
          <a:lstStyle/>
          <a:p>
            <a:pPr algn="l"/>
            <a:r>
              <a:rPr sz="1150" b="1" i="0">
                <a:solidFill>
                  <a:srgbClr val="002368"/>
                </a:solidFill>
                <a:latin typeface="Arial"/>
              </a:rPr>
              <a:t>Low</a:t>
            </a:r>
          </a:p>
        </p:txBody>
      </p:sp>
      <p:sp>
        <p:nvSpPr>
          <p:cNvPr id="15" name="TextBox 14"/>
          <p:cNvSpPr txBox="1"/>
          <p:nvPr/>
        </p:nvSpPr>
        <p:spPr>
          <a:xfrm>
            <a:off x="2194560" y="3273552"/>
            <a:ext cx="2194560" cy="457200"/>
          </a:xfrm>
          <a:prstGeom prst="rect">
            <a:avLst/>
          </a:prstGeom>
          <a:noFill/>
        </p:spPr>
        <p:txBody>
          <a:bodyPr wrap="square" lIns="0" tIns="0" rIns="0" bIns="0" anchor="ctr">
            <a:spAutoFit/>
          </a:bodyPr>
          <a:lstStyle/>
          <a:p>
            <a:pPr algn="l"/>
            <a:r>
              <a:rPr sz="850" b="0" i="0">
                <a:solidFill>
                  <a:srgbClr val="002368"/>
                </a:solidFill>
                <a:latin typeface="Arial"/>
              </a:rPr>
              <a:t>Held or needs research: red flags, closure, unconfirmed role or inbox, unlinked funder, checks</a:t>
            </a:r>
          </a:p>
        </p:txBody>
      </p:sp>
      <p:sp>
        <p:nvSpPr>
          <p:cNvPr id="16" name="Rounded Rectangle 15"/>
          <p:cNvSpPr/>
          <p:nvPr/>
        </p:nvSpPr>
        <p:spPr>
          <a:xfrm>
            <a:off x="548640" y="3858768"/>
            <a:ext cx="3931920" cy="530352"/>
          </a:xfrm>
          <a:prstGeom prst="roundRect">
            <a:avLst>
              <a:gd name="adj" fmla="val 12068"/>
            </a:avLst>
          </a:prstGeom>
          <a:solidFill>
            <a:srgbClr val="ECECEC"/>
          </a:solidFill>
          <a:ln w="12700">
            <a:solidFill>
              <a:srgbClr val="ECECEC"/>
            </a:solidFill>
          </a:ln>
        </p:spPr>
        <p:txBody>
          <a:bodyPr rtlCol="0" anchor="ctr"/>
          <a:lstStyle/>
          <a:p>
            <a:pPr algn="ctr"/>
          </a:p>
        </p:txBody>
      </p:sp>
      <p:sp>
        <p:nvSpPr>
          <p:cNvPr id="17" name="TextBox 16"/>
          <p:cNvSpPr txBox="1"/>
          <p:nvPr/>
        </p:nvSpPr>
        <p:spPr>
          <a:xfrm>
            <a:off x="731520" y="3895344"/>
            <a:ext cx="1463040" cy="457200"/>
          </a:xfrm>
          <a:prstGeom prst="rect">
            <a:avLst/>
          </a:prstGeom>
          <a:noFill/>
        </p:spPr>
        <p:txBody>
          <a:bodyPr wrap="square" lIns="0" tIns="0" rIns="0" bIns="0" anchor="ctr">
            <a:spAutoFit/>
          </a:bodyPr>
          <a:lstStyle/>
          <a:p>
            <a:pPr algn="l"/>
            <a:r>
              <a:rPr sz="1150" b="1" i="0">
                <a:solidFill>
                  <a:srgbClr val="002368"/>
                </a:solidFill>
                <a:latin typeface="Arial"/>
              </a:rPr>
              <a:t>No email</a:t>
            </a:r>
          </a:p>
        </p:txBody>
      </p:sp>
      <p:sp>
        <p:nvSpPr>
          <p:cNvPr id="18" name="TextBox 17"/>
          <p:cNvSpPr txBox="1"/>
          <p:nvPr/>
        </p:nvSpPr>
        <p:spPr>
          <a:xfrm>
            <a:off x="2194560" y="3895344"/>
            <a:ext cx="2194560" cy="457200"/>
          </a:xfrm>
          <a:prstGeom prst="rect">
            <a:avLst/>
          </a:prstGeom>
          <a:noFill/>
        </p:spPr>
        <p:txBody>
          <a:bodyPr wrap="square" lIns="0" tIns="0" rIns="0" bIns="0" anchor="ctr">
            <a:spAutoFit/>
          </a:bodyPr>
          <a:lstStyle/>
          <a:p>
            <a:pPr algn="l"/>
            <a:r>
              <a:rPr sz="850" b="0" i="0">
                <a:solidFill>
                  <a:srgbClr val="002368"/>
                </a:solidFill>
                <a:latin typeface="Arial"/>
              </a:rPr>
              <a:t>A phone only, or no route: the call sheets</a:t>
            </a:r>
          </a:p>
        </p:txBody>
      </p:sp>
      <p:graphicFrame>
        <p:nvGraphicFramePr>
          <p:cNvPr id="19" name="Table 18"/>
          <p:cNvGraphicFramePr>
            <a:graphicFrameLocks noGrp="1"/>
          </p:cNvGraphicFramePr>
          <p:nvPr/>
        </p:nvGraphicFramePr>
        <p:xfrm>
          <a:off x="4754880" y="1371600"/>
          <a:ext cx="6885432" cy="2057400"/>
        </p:xfrm>
        <a:graphic>
          <a:graphicData uri="http://schemas.openxmlformats.org/drawingml/2006/table">
            <a:tbl>
              <a:tblPr firstRow="0" bandRow="0">
                <a:tableStyleId>{2D5ABB26-0587-4C30-8999-92F81FD0307C}</a:tableStyleId>
              </a:tblPr>
              <a:tblGrid>
                <a:gridCol w="1463040"/>
                <a:gridCol w="1051560"/>
                <a:gridCol w="1051560"/>
                <a:gridCol w="914400"/>
                <a:gridCol w="822960"/>
                <a:gridCol w="1581912"/>
              </a:tblGrid>
              <a:tr h="411480">
                <a:tc>
                  <a:txBody>
                    <a:bodyPr wrap="square"/>
                    <a:lstStyle/>
                    <a:p>
                      <a:r>
                        <a:rPr sz="900" b="1" i="0" spc="100">
                          <a:solidFill>
                            <a:srgbClr val="818283"/>
                          </a:solidFill>
                          <a:latin typeface="Arial"/>
                        </a:rPr>
                        <a:t>TRACK</a:t>
                      </a:r>
                    </a:p>
                  </a:txBody>
                  <a:tcPr marL="0"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HIGH DIRECT</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HIGH INDIRECT</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MEDIUM</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LOW</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NO EMAIL</a:t>
                      </a:r>
                    </a:p>
                  </a:txBody>
                  <a:tcPr marL="54864" marR="54864" marT="36576" marB="36576" anchor="ctr">
                    <a:lnL w="0">
                      <a:noFill/>
                    </a:lnL>
                    <a:lnR w="0">
                      <a:noFill/>
                    </a:lnR>
                    <a:lnT w="0">
                      <a:noFill/>
                    </a:lnT>
                    <a:lnB w="12700">
                      <a:solidFill>
                        <a:srgbClr val="80BFEC"/>
                      </a:solidFill>
                    </a:lnB>
                    <a:noFill/>
                  </a:tcPr>
                </a:tc>
              </a:tr>
              <a:tr h="411480">
                <a:tc>
                  <a:txBody>
                    <a:bodyPr wrap="square"/>
                    <a:lstStyle/>
                    <a:p>
                      <a:r>
                        <a:rPr sz="1100" b="1" i="0">
                          <a:solidFill>
                            <a:srgbClr val="002368"/>
                          </a:solidFill>
                          <a:latin typeface="Arial"/>
                        </a:rPr>
                        <a:t>Companies</a:t>
                      </a:r>
                    </a:p>
                  </a:txBody>
                  <a:tcPr marL="0"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36</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228</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349</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52</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569 (call sheet)</a:t>
                      </a:r>
                    </a:p>
                  </a:txBody>
                  <a:tcPr marL="54864" marR="54864" marT="36576" marB="36576" anchor="ctr">
                    <a:lnL w="0">
                      <a:noFill/>
                    </a:lnL>
                    <a:lnR w="0">
                      <a:noFill/>
                    </a:lnR>
                    <a:lnT w="0">
                      <a:noFill/>
                    </a:lnT>
                    <a:lnB w="9525">
                      <a:solidFill>
                        <a:srgbClr val="ECECEC"/>
                      </a:solidFill>
                    </a:lnB>
                    <a:noFill/>
                  </a:tcPr>
                </a:tc>
              </a:tr>
              <a:tr h="411480">
                <a:tc>
                  <a:txBody>
                    <a:bodyPr wrap="square"/>
                    <a:lstStyle/>
                    <a:p>
                      <a:r>
                        <a:rPr sz="1100" b="1" i="0">
                          <a:solidFill>
                            <a:srgbClr val="002368"/>
                          </a:solidFill>
                          <a:latin typeface="Arial"/>
                        </a:rPr>
                        <a:t>Introducers</a:t>
                      </a:r>
                    </a:p>
                  </a:txBody>
                  <a:tcPr marL="0"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4</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8</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3</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0</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0</a:t>
                      </a:r>
                    </a:p>
                  </a:txBody>
                  <a:tcPr marL="54864" marR="54864" marT="36576" marB="36576" anchor="ctr">
                    <a:lnL w="0">
                      <a:noFill/>
                    </a:lnL>
                    <a:lnR w="0">
                      <a:noFill/>
                    </a:lnR>
                    <a:lnT w="0">
                      <a:noFill/>
                    </a:lnT>
                    <a:lnB w="9525">
                      <a:solidFill>
                        <a:srgbClr val="ECECEC"/>
                      </a:solidFill>
                    </a:lnB>
                    <a:noFill/>
                  </a:tcPr>
                </a:tc>
              </a:tr>
              <a:tr h="411480">
                <a:tc>
                  <a:txBody>
                    <a:bodyPr wrap="square"/>
                    <a:lstStyle/>
                    <a:p>
                      <a:r>
                        <a:rPr sz="1100" b="1" i="0">
                          <a:solidFill>
                            <a:srgbClr val="002368"/>
                          </a:solidFill>
                          <a:latin typeface="Arial"/>
                        </a:rPr>
                        <a:t>Welfare</a:t>
                      </a:r>
                    </a:p>
                  </a:txBody>
                  <a:tcPr marL="0"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14</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55</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10</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117</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233 (call sheet)</a:t>
                      </a:r>
                    </a:p>
                  </a:txBody>
                  <a:tcPr marL="54864" marR="54864" marT="36576" marB="36576" anchor="ctr">
                    <a:lnL w="0">
                      <a:noFill/>
                    </a:lnL>
                    <a:lnR w="0">
                      <a:noFill/>
                    </a:lnR>
                    <a:lnT w="0">
                      <a:noFill/>
                    </a:lnT>
                    <a:lnB w="9525">
                      <a:solidFill>
                        <a:srgbClr val="ECECEC"/>
                      </a:solidFill>
                    </a:lnB>
                    <a:noFill/>
                  </a:tcPr>
                </a:tc>
              </a:tr>
              <a:tr h="411480">
                <a:tc>
                  <a:txBody>
                    <a:bodyPr wrap="square"/>
                    <a:lstStyle/>
                    <a:p>
                      <a:r>
                        <a:rPr sz="1100" b="1" i="0">
                          <a:solidFill>
                            <a:srgbClr val="002368"/>
                          </a:solidFill>
                          <a:latin typeface="Arial"/>
                        </a:rPr>
                        <a:t>Government</a:t>
                      </a:r>
                    </a:p>
                  </a:txBody>
                  <a:tcPr marL="0"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4 pilot councils</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0</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224 held</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All 228 by hand</a:t>
                      </a:r>
                    </a:p>
                  </a:txBody>
                  <a:tcPr marL="54864" marR="54864" marT="36576" marB="36576" anchor="ctr">
                    <a:lnL w="0">
                      <a:noFill/>
                    </a:lnL>
                    <a:lnR w="0">
                      <a:noFill/>
                    </a:lnR>
                    <a:lnT w="0">
                      <a:noFill/>
                    </a:lnT>
                    <a:lnB w="9525">
                      <a:solidFill>
                        <a:srgbClr val="ECECEC"/>
                      </a:solidFill>
                    </a:lnB>
                    <a:noFill/>
                  </a:tcPr>
                </a:tc>
              </a:tr>
            </a:tbl>
          </a:graphicData>
        </a:graphic>
      </p:graphicFrame>
      <p:sp>
        <p:nvSpPr>
          <p:cNvPr id="20" name="TextBox 19"/>
          <p:cNvSpPr txBox="1"/>
          <p:nvPr/>
        </p:nvSpPr>
        <p:spPr>
          <a:xfrm>
            <a:off x="4754880" y="3611880"/>
            <a:ext cx="6858000" cy="502920"/>
          </a:xfrm>
          <a:prstGeom prst="rect">
            <a:avLst/>
          </a:prstGeom>
          <a:noFill/>
        </p:spPr>
        <p:txBody>
          <a:bodyPr wrap="square" lIns="0" tIns="0" rIns="0" bIns="0" anchor="t">
            <a:spAutoFit/>
          </a:bodyPr>
          <a:lstStyle/>
          <a:p>
            <a:pPr algn="l"/>
            <a:r>
              <a:rPr sz="1000" b="0" i="0">
                <a:solidFill>
                  <a:srgbClr val="818283"/>
                </a:solidFill>
                <a:latin typeface="Arial"/>
              </a:rPr>
              <a:t>Each segment is a separate contact list for the email tool. An address that two organisations share is used once (18 addresses).</a:t>
            </a:r>
          </a:p>
        </p:txBody>
      </p:sp>
      <p:sp>
        <p:nvSpPr>
          <p:cNvPr id="21" name="Rounded Rectangle 20"/>
          <p:cNvSpPr/>
          <p:nvPr/>
        </p:nvSpPr>
        <p:spPr>
          <a:xfrm>
            <a:off x="4754880" y="4206240"/>
            <a:ext cx="6885432" cy="1463040"/>
          </a:xfrm>
          <a:prstGeom prst="roundRect">
            <a:avLst>
              <a:gd name="adj" fmla="val 4375"/>
            </a:avLst>
          </a:prstGeom>
          <a:solidFill>
            <a:srgbClr val="FFF7E5"/>
          </a:solidFill>
          <a:ln w="12700">
            <a:solidFill>
              <a:srgbClr val="FFF7E5"/>
            </a:solidFill>
          </a:ln>
        </p:spPr>
        <p:txBody>
          <a:bodyPr rtlCol="0" anchor="ctr"/>
          <a:lstStyle/>
          <a:p>
            <a:pPr algn="ctr"/>
          </a:p>
        </p:txBody>
      </p:sp>
      <p:sp>
        <p:nvSpPr>
          <p:cNvPr id="22" name="TextBox 21"/>
          <p:cNvSpPr txBox="1"/>
          <p:nvPr/>
        </p:nvSpPr>
        <p:spPr>
          <a:xfrm>
            <a:off x="4983480" y="4343400"/>
            <a:ext cx="6492240" cy="274320"/>
          </a:xfrm>
          <a:prstGeom prst="rect">
            <a:avLst/>
          </a:prstGeom>
          <a:noFill/>
        </p:spPr>
        <p:txBody>
          <a:bodyPr wrap="square" lIns="0" tIns="0" rIns="0" bIns="0" anchor="t">
            <a:spAutoFit/>
          </a:bodyPr>
          <a:lstStyle/>
          <a:p>
            <a:pPr algn="l"/>
            <a:r>
              <a:rPr sz="1200" b="1" i="0">
                <a:solidFill>
                  <a:srgbClr val="002368"/>
                </a:solidFill>
                <a:latin typeface="Arial"/>
              </a:rPr>
              <a:t>Government delivery lists</a:t>
            </a:r>
          </a:p>
        </p:txBody>
      </p:sp>
      <p:sp>
        <p:nvSpPr>
          <p:cNvPr id="23" name="TextBox 22"/>
          <p:cNvSpPr txBox="1"/>
          <p:nvPr/>
        </p:nvSpPr>
        <p:spPr>
          <a:xfrm>
            <a:off x="4983480" y="4645152"/>
            <a:ext cx="6492240" cy="123444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Every office is segmented whatever the channel: letter addressee, who decides, who can decide quickly, postal and physical address, office phone, official email, release order.</a:t>
            </a:r>
          </a:p>
          <a:p>
            <a:pPr algn="l" marL="155448" indent="-155448">
              <a:spcAft>
                <a:spcPts val="300"/>
              </a:spcAft>
              <a:buFont typeface="Arial"/>
              <a:buChar char="•"/>
            </a:pPr>
            <a:r>
              <a:rPr sz="1000" b="0" i="0">
                <a:solidFill>
                  <a:srgbClr val="000000"/>
                </a:solidFill>
                <a:latin typeface="Arial"/>
              </a:rPr>
              <a:t>High: a pilot council letter is ready and the post holder is named by an official source within 180 days. Low: held until the pilot (councils), the B2G owner (districts, regions) or the council's introduction (wards, villages).</a:t>
            </a:r>
          </a:p>
        </p:txBody>
      </p:sp>
      <p:pic>
        <p:nvPicPr>
          <p:cNvPr id="24" name="Picture 23" descr="image3.png"/>
          <p:cNvPicPr>
            <a:picLocks noChangeAspect="1"/>
          </p:cNvPicPr>
          <p:nvPr/>
        </p:nvPicPr>
        <p:blipFill>
          <a:blip r:embed="rId2"/>
          <a:stretch>
            <a:fillRect/>
          </a:stretch>
        </p:blipFill>
        <p:spPr>
          <a:xfrm>
            <a:off x="548640" y="6272784"/>
            <a:ext cx="1143000" cy="274320"/>
          </a:xfrm>
          <a:prstGeom prst="rect">
            <a:avLst/>
          </a:prstGeom>
        </p:spPr>
      </p:pic>
      <p:sp>
        <p:nvSpPr>
          <p:cNvPr id="25"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contact segments, October 2026</a:t>
            </a:r>
          </a:p>
        </p:txBody>
      </p:sp>
      <p:sp>
        <p:nvSpPr>
          <p:cNvPr id="2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REACH</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54 leads reach the decision-maker directly</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HIGH-CONFIDENCE EMAIL ROUTES BY TRACK</a:t>
            </a:r>
          </a:p>
        </p:txBody>
      </p:sp>
      <p:graphicFrame>
        <p:nvGraphicFramePr>
          <p:cNvPr id="5" name="Chart 4"/>
          <p:cNvGraphicFramePr>
            <a:graphicFrameLocks noGrp="1"/>
          </p:cNvGraphicFramePr>
          <p:nvPr/>
        </p:nvGraphicFramePr>
        <p:xfrm>
          <a:off x="411480" y="1508760"/>
          <a:ext cx="5852160" cy="3291840"/>
        </p:xfrm>
        <a:graphic>
          <a:graphicData uri="http://schemas.openxmlformats.org/drawingml/2006/chart">
            <c:chart xmlns:c="http://schemas.openxmlformats.org/drawingml/2006/chart" r:id="rId2"/>
          </a:graphicData>
        </a:graphic>
      </p:graphicFrame>
      <p:sp>
        <p:nvSpPr>
          <p:cNvPr id="6" name="TextBox 5"/>
          <p:cNvSpPr txBox="1"/>
          <p:nvPr/>
        </p:nvSpPr>
        <p:spPr>
          <a:xfrm>
            <a:off x="2743200" y="4069080"/>
            <a:ext cx="1463040" cy="274320"/>
          </a:xfrm>
          <a:prstGeom prst="rect">
            <a:avLst/>
          </a:prstGeom>
          <a:noFill/>
        </p:spPr>
        <p:txBody>
          <a:bodyPr wrap="square" lIns="0" tIns="0" rIns="0" bIns="0" anchor="t">
            <a:spAutoFit/>
          </a:bodyPr>
          <a:lstStyle/>
          <a:p>
            <a:pPr algn="ctr"/>
            <a:r>
              <a:rPr sz="950" b="1" i="0">
                <a:solidFill>
                  <a:srgbClr val="002368"/>
                </a:solidFill>
                <a:latin typeface="Arial"/>
              </a:rPr>
              <a:t>4 direct · 8 indirect</a:t>
            </a:r>
          </a:p>
        </p:txBody>
      </p:sp>
      <p:sp>
        <p:nvSpPr>
          <p:cNvPr id="7" name="TextBox 6"/>
          <p:cNvSpPr txBox="1"/>
          <p:nvPr/>
        </p:nvSpPr>
        <p:spPr>
          <a:xfrm>
            <a:off x="548640" y="4846320"/>
            <a:ext cx="5577840" cy="1097280"/>
          </a:xfrm>
          <a:prstGeom prst="rect">
            <a:avLst/>
          </a:prstGeom>
          <a:noFill/>
        </p:spPr>
        <p:txBody>
          <a:bodyPr wrap="square" lIns="0" tIns="0" rIns="0" bIns="0" anchor="t">
            <a:spAutoFit/>
          </a:bodyPr>
          <a:lstStyle/>
          <a:p>
            <a:pPr algn="l"/>
            <a:r>
              <a:rPr sz="1000" b="0" i="0">
                <a:solidFill>
                  <a:srgbClr val="818283"/>
                </a:solidFill>
                <a:latin typeface="Arial"/>
              </a:rPr>
              <a:t>54 routes reach the decision-maker at their own or their role's inbox; 291 reach them through a general inbox addressed to them by name. The routes come from each organisation's own website, published directories and targeted searches.</a:t>
            </a:r>
          </a:p>
        </p:txBody>
      </p:sp>
      <p:sp>
        <p:nvSpPr>
          <p:cNvPr id="8" name="Rounded Rectangle 7"/>
          <p:cNvSpPr/>
          <p:nvPr/>
        </p:nvSpPr>
        <p:spPr>
          <a:xfrm>
            <a:off x="6537960" y="1325880"/>
            <a:ext cx="5102352" cy="4617720"/>
          </a:xfrm>
          <a:prstGeom prst="roundRect">
            <a:avLst>
              <a:gd name="adj" fmla="val 1386"/>
            </a:avLst>
          </a:prstGeom>
          <a:solidFill>
            <a:srgbClr val="D9ECF9"/>
          </a:solidFill>
          <a:ln w="12700">
            <a:solidFill>
              <a:srgbClr val="D9ECF9"/>
            </a:solidFill>
          </a:ln>
        </p:spPr>
        <p:txBody>
          <a:bodyPr rtlCol="0" anchor="ctr"/>
          <a:lstStyle/>
          <a:p>
            <a:pPr algn="ctr"/>
          </a:p>
        </p:txBody>
      </p:sp>
      <p:sp>
        <p:nvSpPr>
          <p:cNvPr id="9" name="TextBox 8"/>
          <p:cNvSpPr txBox="1"/>
          <p:nvPr/>
        </p:nvSpPr>
        <p:spPr>
          <a:xfrm>
            <a:off x="6812280" y="1508760"/>
            <a:ext cx="4572000" cy="274320"/>
          </a:xfrm>
          <a:prstGeom prst="rect">
            <a:avLst/>
          </a:prstGeom>
          <a:noFill/>
        </p:spPr>
        <p:txBody>
          <a:bodyPr wrap="square" lIns="0" tIns="0" rIns="0" bIns="0" anchor="t">
            <a:spAutoFit/>
          </a:bodyPr>
          <a:lstStyle/>
          <a:p>
            <a:pPr algn="l"/>
            <a:r>
              <a:rPr sz="900" b="1" i="0" spc="200">
                <a:solidFill>
                  <a:srgbClr val="818283"/>
                </a:solidFill>
                <a:latin typeface="Arial"/>
              </a:rPr>
              <a:t>THE RECIPIENT RULE, EVERYWHERE</a:t>
            </a:r>
          </a:p>
        </p:txBody>
      </p:sp>
      <p:sp>
        <p:nvSpPr>
          <p:cNvPr id="10" name="TextBox 9"/>
          <p:cNvSpPr txBox="1"/>
          <p:nvPr/>
        </p:nvSpPr>
        <p:spPr>
          <a:xfrm>
            <a:off x="6812280" y="1810512"/>
            <a:ext cx="4572000" cy="731520"/>
          </a:xfrm>
          <a:prstGeom prst="rect">
            <a:avLst/>
          </a:prstGeom>
          <a:noFill/>
        </p:spPr>
        <p:txBody>
          <a:bodyPr wrap="square" lIns="0" tIns="0" rIns="0" bIns="0" anchor="t">
            <a:spAutoFit/>
          </a:bodyPr>
          <a:lstStyle/>
          <a:p>
            <a:pPr algn="l"/>
            <a:r>
              <a:rPr sz="1700" b="0" i="0">
                <a:solidFill>
                  <a:srgbClr val="002368"/>
                </a:solidFill>
                <a:latin typeface="Georgia"/>
              </a:rPr>
              <a:t>The first message goes to the in-country person who can decide.</a:t>
            </a:r>
          </a:p>
        </p:txBody>
      </p:sp>
      <p:sp>
        <p:nvSpPr>
          <p:cNvPr id="11" name="TextBox 10"/>
          <p:cNvSpPr txBox="1"/>
          <p:nvPr/>
        </p:nvSpPr>
        <p:spPr>
          <a:xfrm>
            <a:off x="6812280" y="2697480"/>
            <a:ext cx="1234440" cy="274320"/>
          </a:xfrm>
          <a:prstGeom prst="rect">
            <a:avLst/>
          </a:prstGeom>
          <a:noFill/>
        </p:spPr>
        <p:txBody>
          <a:bodyPr wrap="square" lIns="0" tIns="0" rIns="0" bIns="0" anchor="t">
            <a:spAutoFit/>
          </a:bodyPr>
          <a:lstStyle/>
          <a:p>
            <a:pPr algn="l"/>
            <a:r>
              <a:rPr sz="1100" b="1" i="0">
                <a:solidFill>
                  <a:srgbClr val="002368"/>
                </a:solidFill>
                <a:latin typeface="Arial"/>
              </a:rPr>
              <a:t>Employers</a:t>
            </a:r>
          </a:p>
        </p:txBody>
      </p:sp>
      <p:sp>
        <p:nvSpPr>
          <p:cNvPr id="12" name="TextBox 11"/>
          <p:cNvSpPr txBox="1"/>
          <p:nvPr/>
        </p:nvSpPr>
        <p:spPr>
          <a:xfrm>
            <a:off x="8046720" y="2697480"/>
            <a:ext cx="3429000" cy="731520"/>
          </a:xfrm>
          <a:prstGeom prst="rect">
            <a:avLst/>
          </a:prstGeom>
          <a:noFill/>
        </p:spPr>
        <p:txBody>
          <a:bodyPr wrap="square" lIns="0" tIns="0" rIns="0" bIns="0" anchor="t">
            <a:spAutoFit/>
          </a:bodyPr>
          <a:lstStyle/>
          <a:p>
            <a:pPr algn="l"/>
            <a:r>
              <a:rPr sz="1000" b="0" i="0">
                <a:solidFill>
                  <a:srgbClr val="000000"/>
                </a:solidFill>
                <a:latin typeface="Arial"/>
              </a:rPr>
              <a:t>The most senior person running the Tanzania or Arusha operation: owner, founder, MD, GM or HR head.</a:t>
            </a:r>
          </a:p>
        </p:txBody>
      </p:sp>
      <p:sp>
        <p:nvSpPr>
          <p:cNvPr id="13" name="TextBox 12"/>
          <p:cNvSpPr txBox="1"/>
          <p:nvPr/>
        </p:nvSpPr>
        <p:spPr>
          <a:xfrm>
            <a:off x="6812280" y="3483864"/>
            <a:ext cx="1234440" cy="274320"/>
          </a:xfrm>
          <a:prstGeom prst="rect">
            <a:avLst/>
          </a:prstGeom>
          <a:noFill/>
        </p:spPr>
        <p:txBody>
          <a:bodyPr wrap="square" lIns="0" tIns="0" rIns="0" bIns="0" anchor="t">
            <a:spAutoFit/>
          </a:bodyPr>
          <a:lstStyle/>
          <a:p>
            <a:pPr algn="l"/>
            <a:r>
              <a:rPr sz="1100" b="1" i="0">
                <a:solidFill>
                  <a:srgbClr val="002368"/>
                </a:solidFill>
                <a:latin typeface="Arial"/>
              </a:rPr>
              <a:t>Welfare</a:t>
            </a:r>
          </a:p>
        </p:txBody>
      </p:sp>
      <p:sp>
        <p:nvSpPr>
          <p:cNvPr id="14" name="TextBox 13"/>
          <p:cNvSpPr txBox="1"/>
          <p:nvPr/>
        </p:nvSpPr>
        <p:spPr>
          <a:xfrm>
            <a:off x="8046720" y="3483864"/>
            <a:ext cx="3429000" cy="731520"/>
          </a:xfrm>
          <a:prstGeom prst="rect">
            <a:avLst/>
          </a:prstGeom>
          <a:noFill/>
        </p:spPr>
        <p:txBody>
          <a:bodyPr wrap="square" lIns="0" tIns="0" rIns="0" bIns="0" anchor="t">
            <a:spAutoFit/>
          </a:bodyPr>
          <a:lstStyle/>
          <a:p>
            <a:pPr algn="l"/>
            <a:r>
              <a:rPr sz="1000" b="0" i="0">
                <a:solidFill>
                  <a:srgbClr val="000000"/>
                </a:solidFill>
                <a:latin typeface="Arial"/>
              </a:rPr>
              <a:t>The head of the home, country manager or programme director; a chair only when no executive is named.</a:t>
            </a:r>
          </a:p>
        </p:txBody>
      </p:sp>
      <p:sp>
        <p:nvSpPr>
          <p:cNvPr id="15" name="TextBox 14"/>
          <p:cNvSpPr txBox="1"/>
          <p:nvPr/>
        </p:nvSpPr>
        <p:spPr>
          <a:xfrm>
            <a:off x="6812280" y="4270248"/>
            <a:ext cx="1234440" cy="274320"/>
          </a:xfrm>
          <a:prstGeom prst="rect">
            <a:avLst/>
          </a:prstGeom>
          <a:noFill/>
        </p:spPr>
        <p:txBody>
          <a:bodyPr wrap="square" lIns="0" tIns="0" rIns="0" bIns="0" anchor="t">
            <a:spAutoFit/>
          </a:bodyPr>
          <a:lstStyle/>
          <a:p>
            <a:pPr algn="l"/>
            <a:r>
              <a:rPr sz="1100" b="1" i="0">
                <a:solidFill>
                  <a:srgbClr val="002368"/>
                </a:solidFill>
                <a:latin typeface="Arial"/>
              </a:rPr>
              <a:t>Escalation</a:t>
            </a:r>
          </a:p>
        </p:txBody>
      </p:sp>
      <p:sp>
        <p:nvSpPr>
          <p:cNvPr id="16" name="TextBox 15"/>
          <p:cNvSpPr txBox="1"/>
          <p:nvPr/>
        </p:nvSpPr>
        <p:spPr>
          <a:xfrm>
            <a:off x="8046720" y="4270248"/>
            <a:ext cx="3429000" cy="731520"/>
          </a:xfrm>
          <a:prstGeom prst="rect">
            <a:avLst/>
          </a:prstGeom>
          <a:noFill/>
        </p:spPr>
        <p:txBody>
          <a:bodyPr wrap="square" lIns="0" tIns="0" rIns="0" bIns="0" anchor="t">
            <a:spAutoFit/>
          </a:bodyPr>
          <a:lstStyle/>
          <a:p>
            <a:pPr algn="l"/>
            <a:r>
              <a:rPr sz="1000" b="0" i="0">
                <a:solidFill>
                  <a:srgbClr val="000000"/>
                </a:solidFill>
                <a:latin typeface="Arial"/>
              </a:rPr>
              <a:t>A group, regional or global executive is recorded, never copied, and gets no draft. Used only if the local office is silent after the follow-up, declines, or defers to head office.</a:t>
            </a:r>
          </a:p>
        </p:txBody>
      </p:sp>
      <p:sp>
        <p:nvSpPr>
          <p:cNvPr id="17" name="TextBox 16"/>
          <p:cNvSpPr txBox="1"/>
          <p:nvPr/>
        </p:nvSpPr>
        <p:spPr>
          <a:xfrm>
            <a:off x="6812280" y="5056632"/>
            <a:ext cx="1234440" cy="274320"/>
          </a:xfrm>
          <a:prstGeom prst="rect">
            <a:avLst/>
          </a:prstGeom>
          <a:noFill/>
        </p:spPr>
        <p:txBody>
          <a:bodyPr wrap="square" lIns="0" tIns="0" rIns="0" bIns="0" anchor="t">
            <a:spAutoFit/>
          </a:bodyPr>
          <a:lstStyle/>
          <a:p>
            <a:pPr algn="l"/>
            <a:r>
              <a:rPr sz="1100" b="1" i="0">
                <a:solidFill>
                  <a:srgbClr val="002368"/>
                </a:solidFill>
                <a:latin typeface="Arial"/>
              </a:rPr>
              <a:t>Never chosen</a:t>
            </a:r>
          </a:p>
        </p:txBody>
      </p:sp>
      <p:sp>
        <p:nvSpPr>
          <p:cNvPr id="18" name="TextBox 17"/>
          <p:cNvSpPr txBox="1"/>
          <p:nvPr/>
        </p:nvSpPr>
        <p:spPr>
          <a:xfrm>
            <a:off x="8046720" y="5056632"/>
            <a:ext cx="3429000" cy="731520"/>
          </a:xfrm>
          <a:prstGeom prst="rect">
            <a:avLst/>
          </a:prstGeom>
          <a:noFill/>
        </p:spPr>
        <p:txBody>
          <a:bodyPr wrap="square" lIns="0" tIns="0" rIns="0" bIns="0" anchor="t">
            <a:spAutoFit/>
          </a:bodyPr>
          <a:lstStyle/>
          <a:p>
            <a:pPr algn="l"/>
            <a:r>
              <a:rPr sz="1000" b="0" i="0">
                <a:solidFill>
                  <a:srgbClr val="000000"/>
                </a:solidFill>
                <a:latin typeface="Arial"/>
              </a:rPr>
              <a:t>Vice chairs, treasurers and secretaries.</a:t>
            </a:r>
          </a:p>
        </p:txBody>
      </p:sp>
      <p:pic>
        <p:nvPicPr>
          <p:cNvPr id="19" name="Picture 18" descr="image3.png"/>
          <p:cNvPicPr>
            <a:picLocks noChangeAspect="1"/>
          </p:cNvPicPr>
          <p:nvPr/>
        </p:nvPicPr>
        <p:blipFill>
          <a:blip r:embed="rId3"/>
          <a:stretch>
            <a:fillRect/>
          </a:stretch>
        </p:blipFill>
        <p:spPr>
          <a:xfrm>
            <a:off x="548640" y="6272784"/>
            <a:ext cx="1143000" cy="274320"/>
          </a:xfrm>
          <a:prstGeom prst="rect">
            <a:avLst/>
          </a:prstGeom>
        </p:spPr>
      </p:pic>
      <p:sp>
        <p:nvSpPr>
          <p:cNvPr id="20"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contact segments, October 2026</a:t>
            </a:r>
          </a:p>
        </p:txBody>
      </p:sp>
      <p:sp>
        <p:nvSpPr>
          <p:cNvPr id="2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03</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SECTION THREE</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Drafting the first touch</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Ask for a meeting first; the offer follows. Reach the person who decides.</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Why request-first, direct versus indirect</a:t>
            </a:r>
          </a:p>
          <a:p>
            <a:pPr algn="l" marL="155448" indent="-155448">
              <a:spcAft>
                <a:spcPts val="400"/>
              </a:spcAft>
              <a:buFont typeface="Arial"/>
              <a:buChar char="•"/>
            </a:pPr>
            <a:r>
              <a:rPr sz="1100" b="0" i="0">
                <a:solidFill>
                  <a:srgbClr val="FFFFFF"/>
                </a:solidFill>
                <a:latin typeface="Arial"/>
              </a:rPr>
              <a:t>The three first-touch cases, with counts</a:t>
            </a:r>
          </a:p>
          <a:p>
            <a:pPr algn="l" marL="155448" indent="-155448">
              <a:spcAft>
                <a:spcPts val="400"/>
              </a:spcAft>
              <a:buFont typeface="Arial"/>
              <a:buChar char="•"/>
            </a:pPr>
            <a:r>
              <a:rPr sz="1100" b="0" i="0">
                <a:solidFill>
                  <a:srgbClr val="FFFFFF"/>
                </a:solidFill>
                <a:latin typeface="Arial"/>
              </a:rPr>
              <a:t>Templates and redirect wording</a:t>
            </a:r>
          </a:p>
          <a:p>
            <a:pPr algn="l" marL="155448" indent="-155448">
              <a:spcAft>
                <a:spcPts val="400"/>
              </a:spcAft>
              <a:buFont typeface="Arial"/>
              <a:buChar char="•"/>
            </a:pPr>
            <a:r>
              <a:rPr sz="1100" b="0" i="0">
                <a:solidFill>
                  <a:srgbClr val="FFFFFF"/>
                </a:solidFill>
                <a:latin typeface="Arial"/>
              </a:rPr>
              <a:t>Offers and verified hooks by segment</a:t>
            </a:r>
          </a:p>
          <a:p>
            <a:pPr algn="l" marL="155448" indent="-155448">
              <a:spcAft>
                <a:spcPts val="400"/>
              </a:spcAft>
              <a:buFont typeface="Arial"/>
              <a:buChar char="•"/>
            </a:pPr>
            <a:r>
              <a:rPr sz="1100" b="0" i="0">
                <a:solidFill>
                  <a:srgbClr val="FFFFFF"/>
                </a:solidFill>
                <a:latin typeface="Arial"/>
              </a:rPr>
              <a:t>Calls, letters, the fallout thread and incentives</a:t>
            </a:r>
          </a:p>
        </p:txBody>
      </p:sp>
      <p:sp>
        <p:nvSpPr>
          <p:cNvPr id="8" name="TextBox 7"/>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FFFFFF"/>
                </a:solidFill>
                <a:latin typeface="Georgia"/>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PRINCIPLE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Relevance, not ambiguity</a:t>
            </a:r>
          </a:p>
        </p:txBody>
      </p:sp>
      <p:sp>
        <p:nvSpPr>
          <p:cNvPr id="4" name="Rounded Rectangle 3"/>
          <p:cNvSpPr/>
          <p:nvPr/>
        </p:nvSpPr>
        <p:spPr>
          <a:xfrm>
            <a:off x="548640" y="1325880"/>
            <a:ext cx="11091672" cy="1417320"/>
          </a:xfrm>
          <a:prstGeom prst="roundRect">
            <a:avLst>
              <a:gd name="adj" fmla="val 4516"/>
            </a:avLst>
          </a:prstGeom>
          <a:solidFill>
            <a:srgbClr val="D9ECF9"/>
          </a:solidFill>
          <a:ln w="12700">
            <a:solidFill>
              <a:srgbClr val="D9ECF9"/>
            </a:solidFill>
          </a:ln>
        </p:spPr>
        <p:txBody>
          <a:bodyPr rtlCol="0" anchor="ctr"/>
          <a:lstStyle/>
          <a:p>
            <a:pPr algn="ctr"/>
          </a:p>
        </p:txBody>
      </p:sp>
      <p:pic>
        <p:nvPicPr>
          <p:cNvPr id="5" name="Picture 4" descr="image4.png"/>
          <p:cNvPicPr>
            <a:picLocks noChangeAspect="1"/>
          </p:cNvPicPr>
          <p:nvPr/>
        </p:nvPicPr>
        <p:blipFill>
          <a:blip r:embed="rId2"/>
          <a:stretch>
            <a:fillRect/>
          </a:stretch>
        </p:blipFill>
        <p:spPr>
          <a:xfrm>
            <a:off x="10561320" y="1444752"/>
            <a:ext cx="868680" cy="1131916"/>
          </a:xfrm>
          <a:prstGeom prst="rect">
            <a:avLst/>
          </a:prstGeom>
        </p:spPr>
      </p:pic>
      <p:sp>
        <p:nvSpPr>
          <p:cNvPr id="6" name="TextBox 5"/>
          <p:cNvSpPr txBox="1"/>
          <p:nvPr/>
        </p:nvSpPr>
        <p:spPr>
          <a:xfrm>
            <a:off x="914400" y="1508760"/>
            <a:ext cx="4389120" cy="1097280"/>
          </a:xfrm>
          <a:prstGeom prst="rect">
            <a:avLst/>
          </a:prstGeom>
          <a:noFill/>
        </p:spPr>
        <p:txBody>
          <a:bodyPr wrap="square" lIns="0" tIns="0" rIns="0" bIns="0" anchor="t">
            <a:spAutoFit/>
          </a:bodyPr>
          <a:lstStyle/>
          <a:p>
            <a:pPr algn="l"/>
            <a:r>
              <a:rPr sz="2600" b="0" i="0">
                <a:solidFill>
                  <a:srgbClr val="002368"/>
                </a:solidFill>
                <a:latin typeface="Georgia"/>
              </a:rPr>
              <a:t>Ask first. Offer second.</a:t>
            </a:r>
          </a:p>
        </p:txBody>
      </p:sp>
      <p:sp>
        <p:nvSpPr>
          <p:cNvPr id="7" name="TextBox 6"/>
          <p:cNvSpPr txBox="1"/>
          <p:nvPr/>
        </p:nvSpPr>
        <p:spPr>
          <a:xfrm>
            <a:off x="5394960" y="1481328"/>
            <a:ext cx="4937760" cy="1188720"/>
          </a:xfrm>
          <a:prstGeom prst="rect">
            <a:avLst/>
          </a:prstGeom>
          <a:noFill/>
        </p:spPr>
        <p:txBody>
          <a:bodyPr wrap="square" lIns="0" tIns="0" rIns="0" bIns="0" anchor="t">
            <a:spAutoFit/>
          </a:bodyPr>
          <a:lstStyle/>
          <a:p>
            <a:pPr algn="l"/>
            <a:r>
              <a:rPr sz="1200" b="1" i="0">
                <a:solidFill>
                  <a:srgbClr val="002368"/>
                </a:solidFill>
                <a:latin typeface="Arial"/>
              </a:rPr>
              <a:t>The first message asks for a short meeting, in person or by phone, and states no offer terms. </a:t>
            </a:r>
            <a:r>
              <a:rPr sz="1200" b="0" i="0">
                <a:solidFill>
                  <a:srgbClr val="000000"/>
                </a:solidFill>
                <a:latin typeface="Arial"/>
              </a:rPr>
              <a:t>The offer follows in the next message, once the conversation is open.</a:t>
            </a:r>
          </a:p>
        </p:txBody>
      </p:sp>
      <p:sp>
        <p:nvSpPr>
          <p:cNvPr id="8" name="TextBox 7"/>
          <p:cNvSpPr txBox="1"/>
          <p:nvPr/>
        </p:nvSpPr>
        <p:spPr>
          <a:xfrm>
            <a:off x="548640" y="3017520"/>
            <a:ext cx="5303520" cy="201168"/>
          </a:xfrm>
          <a:prstGeom prst="rect">
            <a:avLst/>
          </a:prstGeom>
          <a:noFill/>
        </p:spPr>
        <p:txBody>
          <a:bodyPr wrap="square" lIns="0" tIns="0" rIns="0" bIns="0" anchor="t">
            <a:spAutoFit/>
          </a:bodyPr>
          <a:lstStyle/>
          <a:p>
            <a:pPr algn="l"/>
            <a:r>
              <a:rPr sz="900" b="1" i="0" spc="200">
                <a:solidFill>
                  <a:srgbClr val="818283"/>
                </a:solidFill>
                <a:latin typeface="Arial"/>
              </a:rPr>
              <a:t>WHY REQUEST-FIRST</a:t>
            </a:r>
          </a:p>
        </p:txBody>
      </p:sp>
      <p:sp>
        <p:nvSpPr>
          <p:cNvPr id="9" name="Hexagon 8"/>
          <p:cNvSpPr/>
          <p:nvPr/>
        </p:nvSpPr>
        <p:spPr>
          <a:xfrm>
            <a:off x="548640" y="3337560"/>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10" name="TextBox 9"/>
          <p:cNvSpPr txBox="1"/>
          <p:nvPr/>
        </p:nvSpPr>
        <p:spPr>
          <a:xfrm>
            <a:off x="1051560" y="3319272"/>
            <a:ext cx="4846320" cy="777240"/>
          </a:xfrm>
          <a:prstGeom prst="rect">
            <a:avLst/>
          </a:prstGeom>
          <a:noFill/>
        </p:spPr>
        <p:txBody>
          <a:bodyPr wrap="square" lIns="0" tIns="0" rIns="0" bIns="0" anchor="t">
            <a:spAutoFit/>
          </a:bodyPr>
          <a:lstStyle/>
          <a:p>
            <a:pPr algn="l"/>
            <a:r>
              <a:rPr sz="1150" b="0" i="0">
                <a:solidFill>
                  <a:srgbClr val="000000"/>
                </a:solidFill>
                <a:latin typeface="Arial"/>
              </a:rPr>
              <a:t>A first message that leads with discounts reads as a sales pitch and is easy to ignore.</a:t>
            </a:r>
          </a:p>
        </p:txBody>
      </p:sp>
      <p:sp>
        <p:nvSpPr>
          <p:cNvPr id="11" name="Hexagon 10"/>
          <p:cNvSpPr/>
          <p:nvPr/>
        </p:nvSpPr>
        <p:spPr>
          <a:xfrm>
            <a:off x="548640" y="4178808"/>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2</a:t>
            </a:r>
          </a:p>
        </p:txBody>
      </p:sp>
      <p:sp>
        <p:nvSpPr>
          <p:cNvPr id="12" name="TextBox 11"/>
          <p:cNvSpPr txBox="1"/>
          <p:nvPr/>
        </p:nvSpPr>
        <p:spPr>
          <a:xfrm>
            <a:off x="1051560" y="4160520"/>
            <a:ext cx="4846320" cy="777240"/>
          </a:xfrm>
          <a:prstGeom prst="rect">
            <a:avLst/>
          </a:prstGeom>
          <a:noFill/>
        </p:spPr>
        <p:txBody>
          <a:bodyPr wrap="square" lIns="0" tIns="0" rIns="0" bIns="0" anchor="t">
            <a:spAutoFit/>
          </a:bodyPr>
          <a:lstStyle/>
          <a:p>
            <a:pPr algn="l"/>
            <a:r>
              <a:rPr sz="1150" b="0" i="0">
                <a:solidFill>
                  <a:srgbClr val="000000"/>
                </a:solidFill>
                <a:latin typeface="Arial"/>
              </a:rPr>
              <a:t>The meeting is a small, relevant ask the recipient can say yes to.</a:t>
            </a:r>
          </a:p>
        </p:txBody>
      </p:sp>
      <p:sp>
        <p:nvSpPr>
          <p:cNvPr id="13" name="Hexagon 12"/>
          <p:cNvSpPr/>
          <p:nvPr/>
        </p:nvSpPr>
        <p:spPr>
          <a:xfrm>
            <a:off x="548640" y="5020056"/>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3</a:t>
            </a:r>
          </a:p>
        </p:txBody>
      </p:sp>
      <p:sp>
        <p:nvSpPr>
          <p:cNvPr id="14" name="TextBox 13"/>
          <p:cNvSpPr txBox="1"/>
          <p:nvPr/>
        </p:nvSpPr>
        <p:spPr>
          <a:xfrm>
            <a:off x="1051560" y="5001768"/>
            <a:ext cx="4846320" cy="777240"/>
          </a:xfrm>
          <a:prstGeom prst="rect">
            <a:avLst/>
          </a:prstGeom>
          <a:noFill/>
        </p:spPr>
        <p:txBody>
          <a:bodyPr wrap="square" lIns="0" tIns="0" rIns="0" bIns="0" anchor="t">
            <a:spAutoFit/>
          </a:bodyPr>
          <a:lstStyle/>
          <a:p>
            <a:pPr algn="l"/>
            <a:r>
              <a:rPr sz="1150" b="0" i="0">
                <a:solidFill>
                  <a:srgbClr val="000000"/>
                </a:solidFill>
                <a:latin typeface="Arial"/>
              </a:rPr>
              <a:t>Terms need Finance's 2027 confirmation; keeping them out of the first touch avoids promising early.</a:t>
            </a:r>
          </a:p>
        </p:txBody>
      </p:sp>
      <p:sp>
        <p:nvSpPr>
          <p:cNvPr id="15" name="TextBox 14"/>
          <p:cNvSpPr txBox="1"/>
          <p:nvPr/>
        </p:nvSpPr>
        <p:spPr>
          <a:xfrm>
            <a:off x="6190488" y="3017520"/>
            <a:ext cx="5303520" cy="201168"/>
          </a:xfrm>
          <a:prstGeom prst="rect">
            <a:avLst/>
          </a:prstGeom>
          <a:noFill/>
        </p:spPr>
        <p:txBody>
          <a:bodyPr wrap="square" lIns="0" tIns="0" rIns="0" bIns="0" anchor="t">
            <a:spAutoFit/>
          </a:bodyPr>
          <a:lstStyle/>
          <a:p>
            <a:pPr algn="l"/>
            <a:r>
              <a:rPr sz="900" b="1" i="0" spc="200">
                <a:solidFill>
                  <a:srgbClr val="818283"/>
                </a:solidFill>
                <a:latin typeface="Arial"/>
              </a:rPr>
              <a:t>WHY DIRECT VERSUS INDIRECT</a:t>
            </a:r>
          </a:p>
        </p:txBody>
      </p:sp>
      <p:sp>
        <p:nvSpPr>
          <p:cNvPr id="16" name="Hexagon 15"/>
          <p:cNvSpPr/>
          <p:nvPr/>
        </p:nvSpPr>
        <p:spPr>
          <a:xfrm>
            <a:off x="6190488" y="3337560"/>
            <a:ext cx="347472" cy="30175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1</a:t>
            </a:r>
          </a:p>
        </p:txBody>
      </p:sp>
      <p:sp>
        <p:nvSpPr>
          <p:cNvPr id="17" name="TextBox 16"/>
          <p:cNvSpPr txBox="1"/>
          <p:nvPr/>
        </p:nvSpPr>
        <p:spPr>
          <a:xfrm>
            <a:off x="6693407" y="3319272"/>
            <a:ext cx="4846320" cy="777240"/>
          </a:xfrm>
          <a:prstGeom prst="rect">
            <a:avLst/>
          </a:prstGeom>
          <a:noFill/>
        </p:spPr>
        <p:txBody>
          <a:bodyPr wrap="square" lIns="0" tIns="0" rIns="0" bIns="0" anchor="t">
            <a:spAutoFit/>
          </a:bodyPr>
          <a:lstStyle/>
          <a:p>
            <a:pPr algn="l"/>
            <a:r>
              <a:rPr sz="1150" b="0" i="0">
                <a:solidFill>
                  <a:srgbClr val="000000"/>
                </a:solidFill>
                <a:latin typeface="Arial"/>
              </a:rPr>
              <a:t>An ambiguous request to a general inbox (info@, admin@) is likelier to be ignored, and may never reach the person who can decide.</a:t>
            </a:r>
          </a:p>
        </p:txBody>
      </p:sp>
      <p:sp>
        <p:nvSpPr>
          <p:cNvPr id="18" name="Hexagon 17"/>
          <p:cNvSpPr/>
          <p:nvPr/>
        </p:nvSpPr>
        <p:spPr>
          <a:xfrm>
            <a:off x="6190488" y="4178808"/>
            <a:ext cx="347472" cy="30175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2</a:t>
            </a:r>
          </a:p>
        </p:txBody>
      </p:sp>
      <p:sp>
        <p:nvSpPr>
          <p:cNvPr id="19" name="TextBox 18"/>
          <p:cNvSpPr txBox="1"/>
          <p:nvPr/>
        </p:nvSpPr>
        <p:spPr>
          <a:xfrm>
            <a:off x="6693407" y="4160520"/>
            <a:ext cx="4846320" cy="777240"/>
          </a:xfrm>
          <a:prstGeom prst="rect">
            <a:avLst/>
          </a:prstGeom>
          <a:noFill/>
        </p:spPr>
        <p:txBody>
          <a:bodyPr wrap="square" lIns="0" tIns="0" rIns="0" bIns="0" anchor="t">
            <a:spAutoFit/>
          </a:bodyPr>
          <a:lstStyle/>
          <a:p>
            <a:pPr algn="l"/>
            <a:r>
              <a:rPr sz="1150" b="0" i="0">
                <a:solidFill>
                  <a:srgbClr val="000000"/>
                </a:solidFill>
                <a:latin typeface="Arial"/>
              </a:rPr>
              <a:t>So the first job is to reach the decision-maker for staff benefits: HR, the welfare officer, the COO.</a:t>
            </a:r>
          </a:p>
        </p:txBody>
      </p:sp>
      <p:sp>
        <p:nvSpPr>
          <p:cNvPr id="20" name="Hexagon 19"/>
          <p:cNvSpPr/>
          <p:nvPr/>
        </p:nvSpPr>
        <p:spPr>
          <a:xfrm>
            <a:off x="6190488" y="5020056"/>
            <a:ext cx="347472" cy="30175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3</a:t>
            </a:r>
          </a:p>
        </p:txBody>
      </p:sp>
      <p:sp>
        <p:nvSpPr>
          <p:cNvPr id="21" name="TextBox 20"/>
          <p:cNvSpPr txBox="1"/>
          <p:nvPr/>
        </p:nvSpPr>
        <p:spPr>
          <a:xfrm>
            <a:off x="6693407" y="5001768"/>
            <a:ext cx="4846320" cy="777240"/>
          </a:xfrm>
          <a:prstGeom prst="rect">
            <a:avLst/>
          </a:prstGeom>
          <a:noFill/>
        </p:spPr>
        <p:txBody>
          <a:bodyPr wrap="square" lIns="0" tIns="0" rIns="0" bIns="0" anchor="t">
            <a:spAutoFit/>
          </a:bodyPr>
          <a:lstStyle/>
          <a:p>
            <a:pPr algn="l"/>
            <a:r>
              <a:rPr sz="1150" b="0" i="0">
                <a:solidFill>
                  <a:srgbClr val="000000"/>
                </a:solidFill>
                <a:latin typeface="Arial"/>
              </a:rPr>
              <a:t>How we reach them depends on what we know: their own address, a name behind a general inbox, or no name.</a:t>
            </a:r>
          </a:p>
        </p:txBody>
      </p:sp>
      <p:pic>
        <p:nvPicPr>
          <p:cNvPr id="22" name="Picture 21" descr="image3.png"/>
          <p:cNvPicPr>
            <a:picLocks noChangeAspect="1"/>
          </p:cNvPicPr>
          <p:nvPr/>
        </p:nvPicPr>
        <p:blipFill>
          <a:blip r:embed="rId3"/>
          <a:stretch>
            <a:fillRect/>
          </a:stretch>
        </p:blipFill>
        <p:spPr>
          <a:xfrm>
            <a:off x="548640" y="6272784"/>
            <a:ext cx="1143000" cy="274320"/>
          </a:xfrm>
          <a:prstGeom prst="rect">
            <a:avLst/>
          </a:prstGeom>
        </p:spPr>
      </p:pic>
      <p:sp>
        <p:nvSpPr>
          <p:cNvPr id="23"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offer register; partnership pipeline draft</a:t>
            </a:r>
          </a:p>
        </p:txBody>
      </p:sp>
      <p:sp>
        <p:nvSpPr>
          <p:cNvPr id="24"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FIRST TOUCH</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Three first-touch cases, set by who we can reach</a:t>
            </a:r>
          </a:p>
        </p:txBody>
      </p:sp>
      <p:sp>
        <p:nvSpPr>
          <p:cNvPr id="4" name="Rounded Rectangle 3"/>
          <p:cNvSpPr/>
          <p:nvPr/>
        </p:nvSpPr>
        <p:spPr>
          <a:xfrm>
            <a:off x="548640" y="1325880"/>
            <a:ext cx="3593592" cy="3794760"/>
          </a:xfrm>
          <a:prstGeom prst="roundRect">
            <a:avLst>
              <a:gd name="adj" fmla="val 1781"/>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822959" y="1463040"/>
            <a:ext cx="914400" cy="731520"/>
          </a:xfrm>
          <a:prstGeom prst="rect">
            <a:avLst/>
          </a:prstGeom>
          <a:noFill/>
        </p:spPr>
        <p:txBody>
          <a:bodyPr wrap="square" lIns="0" tIns="0" rIns="0" bIns="0" anchor="t">
            <a:spAutoFit/>
          </a:bodyPr>
          <a:lstStyle/>
          <a:p>
            <a:pPr algn="l"/>
            <a:r>
              <a:rPr sz="4000" b="0" i="0">
                <a:solidFill>
                  <a:srgbClr val="FFC952"/>
                </a:solidFill>
                <a:latin typeface="Georgia"/>
              </a:rPr>
              <a:t>A</a:t>
            </a:r>
          </a:p>
        </p:txBody>
      </p:sp>
      <p:sp>
        <p:nvSpPr>
          <p:cNvPr id="6" name="TextBox 5"/>
          <p:cNvSpPr txBox="1"/>
          <p:nvPr/>
        </p:nvSpPr>
        <p:spPr>
          <a:xfrm>
            <a:off x="1645919" y="1664208"/>
            <a:ext cx="2286000" cy="365760"/>
          </a:xfrm>
          <a:prstGeom prst="rect">
            <a:avLst/>
          </a:prstGeom>
          <a:noFill/>
        </p:spPr>
        <p:txBody>
          <a:bodyPr wrap="square" lIns="0" tIns="0" rIns="0" bIns="0" anchor="t">
            <a:spAutoFit/>
          </a:bodyPr>
          <a:lstStyle/>
          <a:p>
            <a:pPr algn="l"/>
            <a:r>
              <a:rPr sz="1700" b="1" i="0">
                <a:solidFill>
                  <a:srgbClr val="FFFFFF"/>
                </a:solidFill>
                <a:latin typeface="Arial"/>
              </a:rPr>
              <a:t>Direct</a:t>
            </a:r>
          </a:p>
        </p:txBody>
      </p:sp>
      <p:sp>
        <p:nvSpPr>
          <p:cNvPr id="7" name="TextBox 6"/>
          <p:cNvSpPr txBox="1"/>
          <p:nvPr/>
        </p:nvSpPr>
        <p:spPr>
          <a:xfrm>
            <a:off x="822959" y="2286000"/>
            <a:ext cx="3108960" cy="548640"/>
          </a:xfrm>
          <a:prstGeom prst="rect">
            <a:avLst/>
          </a:prstGeom>
          <a:noFill/>
        </p:spPr>
        <p:txBody>
          <a:bodyPr wrap="square" lIns="0" tIns="0" rIns="0" bIns="0" anchor="t">
            <a:spAutoFit/>
          </a:bodyPr>
          <a:lstStyle/>
          <a:p>
            <a:pPr algn="l"/>
            <a:r>
              <a:rPr sz="1200" b="1" i="0">
                <a:solidFill>
                  <a:srgbClr val="FFFFFF"/>
                </a:solidFill>
                <a:latin typeface="Arial"/>
              </a:rPr>
              <a:t>A named person with their own or their role's address</a:t>
            </a:r>
          </a:p>
        </p:txBody>
      </p:sp>
      <p:sp>
        <p:nvSpPr>
          <p:cNvPr id="8" name="TextBox 7"/>
          <p:cNvSpPr txBox="1"/>
          <p:nvPr/>
        </p:nvSpPr>
        <p:spPr>
          <a:xfrm>
            <a:off x="822959" y="2880360"/>
            <a:ext cx="3108960" cy="914400"/>
          </a:xfrm>
          <a:prstGeom prst="rect">
            <a:avLst/>
          </a:prstGeom>
          <a:noFill/>
        </p:spPr>
        <p:txBody>
          <a:bodyPr wrap="square" lIns="0" tIns="0" rIns="0" bIns="0" anchor="t">
            <a:spAutoFit/>
          </a:bodyPr>
          <a:lstStyle/>
          <a:p>
            <a:pPr algn="l"/>
            <a:r>
              <a:rPr sz="1100" b="0" i="0">
                <a:solidFill>
                  <a:srgbClr val="FFFFFF"/>
                </a:solidFill>
                <a:latin typeface="Arial"/>
              </a:rPr>
              <a:t>The meeting request goes straight to them.</a:t>
            </a:r>
          </a:p>
        </p:txBody>
      </p:sp>
      <p:cxnSp>
        <p:nvCxnSpPr>
          <p:cNvPr id="9" name="Connector 8"/>
          <p:cNvCxnSpPr/>
          <p:nvPr/>
        </p:nvCxnSpPr>
        <p:spPr>
          <a:xfrm>
            <a:off x="822959" y="3931920"/>
            <a:ext cx="3044952" cy="0"/>
          </a:xfrm>
          <a:prstGeom prst="line">
            <a:avLst/>
          </a:prstGeom>
          <a:ln w="9525">
            <a:solidFill>
              <a:srgbClr val="8091B3"/>
            </a:solidFill>
          </a:ln>
        </p:spPr>
      </p:cxnSp>
      <p:sp>
        <p:nvSpPr>
          <p:cNvPr id="10" name="TextBox 9"/>
          <p:cNvSpPr txBox="1"/>
          <p:nvPr/>
        </p:nvSpPr>
        <p:spPr>
          <a:xfrm>
            <a:off x="822959" y="4023360"/>
            <a:ext cx="1463040" cy="640080"/>
          </a:xfrm>
          <a:prstGeom prst="rect">
            <a:avLst/>
          </a:prstGeom>
          <a:noFill/>
        </p:spPr>
        <p:txBody>
          <a:bodyPr wrap="square" lIns="0" tIns="0" rIns="0" bIns="0" anchor="t">
            <a:spAutoFit/>
          </a:bodyPr>
          <a:lstStyle/>
          <a:p>
            <a:pPr algn="l"/>
            <a:r>
              <a:rPr sz="3200" b="0" i="0">
                <a:solidFill>
                  <a:srgbClr val="FFC952"/>
                </a:solidFill>
                <a:latin typeface="Georgia"/>
              </a:rPr>
              <a:t>63</a:t>
            </a:r>
          </a:p>
        </p:txBody>
      </p:sp>
      <p:sp>
        <p:nvSpPr>
          <p:cNvPr id="11" name="TextBox 10"/>
          <p:cNvSpPr txBox="1"/>
          <p:nvPr/>
        </p:nvSpPr>
        <p:spPr>
          <a:xfrm>
            <a:off x="2057400" y="4114800"/>
            <a:ext cx="1920240" cy="822960"/>
          </a:xfrm>
          <a:prstGeom prst="rect">
            <a:avLst/>
          </a:prstGeom>
          <a:noFill/>
        </p:spPr>
        <p:txBody>
          <a:bodyPr wrap="square" lIns="0" tIns="0" rIns="0" bIns="0" anchor="t">
            <a:spAutoFit/>
          </a:bodyPr>
          <a:lstStyle/>
          <a:p>
            <a:pPr algn="l"/>
            <a:r>
              <a:rPr sz="950" b="0" i="0">
                <a:solidFill>
                  <a:srgbClr val="FFFFFF"/>
                </a:solidFill>
                <a:latin typeface="Arial"/>
              </a:rPr>
              <a:t>drafts: companies 40, introducers 4, welfare 19</a:t>
            </a:r>
          </a:p>
        </p:txBody>
      </p:sp>
      <p:sp>
        <p:nvSpPr>
          <p:cNvPr id="12" name="Rounded Rectangle 11"/>
          <p:cNvSpPr/>
          <p:nvPr/>
        </p:nvSpPr>
        <p:spPr>
          <a:xfrm>
            <a:off x="4297679" y="1325880"/>
            <a:ext cx="3593592" cy="3794760"/>
          </a:xfrm>
          <a:prstGeom prst="roundRect">
            <a:avLst>
              <a:gd name="adj" fmla="val 1781"/>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4571999" y="1463040"/>
            <a:ext cx="914400" cy="731520"/>
          </a:xfrm>
          <a:prstGeom prst="rect">
            <a:avLst/>
          </a:prstGeom>
          <a:noFill/>
        </p:spPr>
        <p:txBody>
          <a:bodyPr wrap="square" lIns="0" tIns="0" rIns="0" bIns="0" anchor="t">
            <a:spAutoFit/>
          </a:bodyPr>
          <a:lstStyle/>
          <a:p>
            <a:pPr algn="l"/>
            <a:r>
              <a:rPr sz="4000" b="0" i="0">
                <a:solidFill>
                  <a:srgbClr val="002368"/>
                </a:solidFill>
                <a:latin typeface="Georgia"/>
              </a:rPr>
              <a:t>B</a:t>
            </a:r>
          </a:p>
        </p:txBody>
      </p:sp>
      <p:sp>
        <p:nvSpPr>
          <p:cNvPr id="14" name="TextBox 13"/>
          <p:cNvSpPr txBox="1"/>
          <p:nvPr/>
        </p:nvSpPr>
        <p:spPr>
          <a:xfrm>
            <a:off x="5394959" y="1664208"/>
            <a:ext cx="2286000" cy="365760"/>
          </a:xfrm>
          <a:prstGeom prst="rect">
            <a:avLst/>
          </a:prstGeom>
          <a:noFill/>
        </p:spPr>
        <p:txBody>
          <a:bodyPr wrap="square" lIns="0" tIns="0" rIns="0" bIns="0" anchor="t">
            <a:spAutoFit/>
          </a:bodyPr>
          <a:lstStyle/>
          <a:p>
            <a:pPr algn="l"/>
            <a:r>
              <a:rPr sz="1700" b="1" i="0">
                <a:solidFill>
                  <a:srgbClr val="002368"/>
                </a:solidFill>
                <a:latin typeface="Arial"/>
              </a:rPr>
              <a:t>Attn</a:t>
            </a:r>
          </a:p>
        </p:txBody>
      </p:sp>
      <p:sp>
        <p:nvSpPr>
          <p:cNvPr id="15" name="TextBox 14"/>
          <p:cNvSpPr txBox="1"/>
          <p:nvPr/>
        </p:nvSpPr>
        <p:spPr>
          <a:xfrm>
            <a:off x="4571999" y="2286000"/>
            <a:ext cx="3108960" cy="548640"/>
          </a:xfrm>
          <a:prstGeom prst="rect">
            <a:avLst/>
          </a:prstGeom>
          <a:noFill/>
        </p:spPr>
        <p:txBody>
          <a:bodyPr wrap="square" lIns="0" tIns="0" rIns="0" bIns="0" anchor="t">
            <a:spAutoFit/>
          </a:bodyPr>
          <a:lstStyle/>
          <a:p>
            <a:pPr algn="l"/>
            <a:r>
              <a:rPr sz="1200" b="1" i="0">
                <a:solidFill>
                  <a:srgbClr val="002368"/>
                </a:solidFill>
                <a:latin typeface="Arial"/>
              </a:rPr>
              <a:t>A named person, but only a general inbox</a:t>
            </a:r>
          </a:p>
        </p:txBody>
      </p:sp>
      <p:sp>
        <p:nvSpPr>
          <p:cNvPr id="16" name="TextBox 15"/>
          <p:cNvSpPr txBox="1"/>
          <p:nvPr/>
        </p:nvSpPr>
        <p:spPr>
          <a:xfrm>
            <a:off x="4571999" y="2880360"/>
            <a:ext cx="3108960" cy="914400"/>
          </a:xfrm>
          <a:prstGeom prst="rect">
            <a:avLst/>
          </a:prstGeom>
          <a:noFill/>
        </p:spPr>
        <p:txBody>
          <a:bodyPr wrap="square" lIns="0" tIns="0" rIns="0" bIns="0" anchor="t">
            <a:spAutoFit/>
          </a:bodyPr>
          <a:lstStyle/>
          <a:p>
            <a:pPr algn="l"/>
            <a:r>
              <a:rPr sz="1100" b="0" i="0">
                <a:solidFill>
                  <a:srgbClr val="002368"/>
                </a:solidFill>
                <a:latin typeface="Arial"/>
              </a:rPr>
              <a:t>The full letter to the inbox, explicitly addressed to them, with a routing line at the top.</a:t>
            </a:r>
          </a:p>
        </p:txBody>
      </p:sp>
      <p:cxnSp>
        <p:nvCxnSpPr>
          <p:cNvPr id="17" name="Connector 16"/>
          <p:cNvCxnSpPr/>
          <p:nvPr/>
        </p:nvCxnSpPr>
        <p:spPr>
          <a:xfrm>
            <a:off x="4571999" y="3931920"/>
            <a:ext cx="3044952" cy="0"/>
          </a:xfrm>
          <a:prstGeom prst="line">
            <a:avLst/>
          </a:prstGeom>
          <a:ln w="9525">
            <a:solidFill>
              <a:srgbClr val="80BFEC"/>
            </a:solidFill>
          </a:ln>
        </p:spPr>
      </p:cxnSp>
      <p:sp>
        <p:nvSpPr>
          <p:cNvPr id="18" name="TextBox 17"/>
          <p:cNvSpPr txBox="1"/>
          <p:nvPr/>
        </p:nvSpPr>
        <p:spPr>
          <a:xfrm>
            <a:off x="4571999" y="4023360"/>
            <a:ext cx="1463040" cy="640080"/>
          </a:xfrm>
          <a:prstGeom prst="rect">
            <a:avLst/>
          </a:prstGeom>
          <a:noFill/>
        </p:spPr>
        <p:txBody>
          <a:bodyPr wrap="square" lIns="0" tIns="0" rIns="0" bIns="0" anchor="t">
            <a:spAutoFit/>
          </a:bodyPr>
          <a:lstStyle/>
          <a:p>
            <a:pPr algn="l"/>
            <a:r>
              <a:rPr sz="3200" b="0" i="0">
                <a:solidFill>
                  <a:srgbClr val="002368"/>
                </a:solidFill>
                <a:latin typeface="Georgia"/>
              </a:rPr>
              <a:t>408</a:t>
            </a:r>
          </a:p>
        </p:txBody>
      </p:sp>
      <p:sp>
        <p:nvSpPr>
          <p:cNvPr id="19" name="TextBox 18"/>
          <p:cNvSpPr txBox="1"/>
          <p:nvPr/>
        </p:nvSpPr>
        <p:spPr>
          <a:xfrm>
            <a:off x="5806440" y="4114800"/>
            <a:ext cx="1920240" cy="822960"/>
          </a:xfrm>
          <a:prstGeom prst="rect">
            <a:avLst/>
          </a:prstGeom>
          <a:noFill/>
        </p:spPr>
        <p:txBody>
          <a:bodyPr wrap="square" lIns="0" tIns="0" rIns="0" bIns="0" anchor="t">
            <a:spAutoFit/>
          </a:bodyPr>
          <a:lstStyle/>
          <a:p>
            <a:pPr algn="l"/>
            <a:r>
              <a:rPr sz="950" b="0" i="0">
                <a:solidFill>
                  <a:srgbClr val="002368"/>
                </a:solidFill>
                <a:latin typeface="Arial"/>
              </a:rPr>
              <a:t>drafts: companies 246, introducers 8, welfare 154</a:t>
            </a:r>
          </a:p>
        </p:txBody>
      </p:sp>
      <p:sp>
        <p:nvSpPr>
          <p:cNvPr id="20" name="Rounded Rectangle 19"/>
          <p:cNvSpPr/>
          <p:nvPr/>
        </p:nvSpPr>
        <p:spPr>
          <a:xfrm>
            <a:off x="8046719" y="1325880"/>
            <a:ext cx="3593592" cy="3794760"/>
          </a:xfrm>
          <a:prstGeom prst="roundRect">
            <a:avLst>
              <a:gd name="adj" fmla="val 1781"/>
            </a:avLst>
          </a:prstGeom>
          <a:solidFill>
            <a:srgbClr val="D9ECF9"/>
          </a:solidFill>
          <a:ln w="12700">
            <a:solidFill>
              <a:srgbClr val="D9ECF9"/>
            </a:solidFill>
          </a:ln>
        </p:spPr>
        <p:txBody>
          <a:bodyPr rtlCol="0" anchor="ctr"/>
          <a:lstStyle/>
          <a:p>
            <a:pPr algn="ctr"/>
          </a:p>
        </p:txBody>
      </p:sp>
      <p:sp>
        <p:nvSpPr>
          <p:cNvPr id="21" name="TextBox 20"/>
          <p:cNvSpPr txBox="1"/>
          <p:nvPr/>
        </p:nvSpPr>
        <p:spPr>
          <a:xfrm>
            <a:off x="8321040" y="1463040"/>
            <a:ext cx="914400" cy="731520"/>
          </a:xfrm>
          <a:prstGeom prst="rect">
            <a:avLst/>
          </a:prstGeom>
          <a:noFill/>
        </p:spPr>
        <p:txBody>
          <a:bodyPr wrap="square" lIns="0" tIns="0" rIns="0" bIns="0" anchor="t">
            <a:spAutoFit/>
          </a:bodyPr>
          <a:lstStyle/>
          <a:p>
            <a:pPr algn="l"/>
            <a:r>
              <a:rPr sz="4000" b="0" i="0">
                <a:solidFill>
                  <a:srgbClr val="002368"/>
                </a:solidFill>
                <a:latin typeface="Georgia"/>
              </a:rPr>
              <a:t>C</a:t>
            </a:r>
          </a:p>
        </p:txBody>
      </p:sp>
      <p:sp>
        <p:nvSpPr>
          <p:cNvPr id="22" name="TextBox 21"/>
          <p:cNvSpPr txBox="1"/>
          <p:nvPr/>
        </p:nvSpPr>
        <p:spPr>
          <a:xfrm>
            <a:off x="9143999" y="1664208"/>
            <a:ext cx="2286000" cy="365760"/>
          </a:xfrm>
          <a:prstGeom prst="rect">
            <a:avLst/>
          </a:prstGeom>
          <a:noFill/>
        </p:spPr>
        <p:txBody>
          <a:bodyPr wrap="square" lIns="0" tIns="0" rIns="0" bIns="0" anchor="t">
            <a:spAutoFit/>
          </a:bodyPr>
          <a:lstStyle/>
          <a:p>
            <a:pPr algn="l"/>
            <a:r>
              <a:rPr sz="1700" b="1" i="0">
                <a:solidFill>
                  <a:srgbClr val="002368"/>
                </a:solidFill>
                <a:latin typeface="Arial"/>
              </a:rPr>
              <a:t>Redirect</a:t>
            </a:r>
          </a:p>
        </p:txBody>
      </p:sp>
      <p:sp>
        <p:nvSpPr>
          <p:cNvPr id="23" name="TextBox 22"/>
          <p:cNvSpPr txBox="1"/>
          <p:nvPr/>
        </p:nvSpPr>
        <p:spPr>
          <a:xfrm>
            <a:off x="8321040" y="2286000"/>
            <a:ext cx="3108960" cy="548640"/>
          </a:xfrm>
          <a:prstGeom prst="rect">
            <a:avLst/>
          </a:prstGeom>
          <a:noFill/>
        </p:spPr>
        <p:txBody>
          <a:bodyPr wrap="square" lIns="0" tIns="0" rIns="0" bIns="0" anchor="t">
            <a:spAutoFit/>
          </a:bodyPr>
          <a:lstStyle/>
          <a:p>
            <a:pPr algn="l"/>
            <a:r>
              <a:rPr sz="1200" b="1" i="0">
                <a:solidFill>
                  <a:srgbClr val="002368"/>
                </a:solidFill>
                <a:latin typeface="Arial"/>
              </a:rPr>
              <a:t>No named person, only a general inbox</a:t>
            </a:r>
          </a:p>
        </p:txBody>
      </p:sp>
      <p:sp>
        <p:nvSpPr>
          <p:cNvPr id="24" name="TextBox 23"/>
          <p:cNvSpPr txBox="1"/>
          <p:nvPr/>
        </p:nvSpPr>
        <p:spPr>
          <a:xfrm>
            <a:off x="8321040" y="2880360"/>
            <a:ext cx="3108960" cy="914400"/>
          </a:xfrm>
          <a:prstGeom prst="rect">
            <a:avLst/>
          </a:prstGeom>
          <a:noFill/>
        </p:spPr>
        <p:txBody>
          <a:bodyPr wrap="square" lIns="0" tIns="0" rIns="0" bIns="0" anchor="t">
            <a:spAutoFit/>
          </a:bodyPr>
          <a:lstStyle/>
          <a:p>
            <a:pPr algn="l"/>
            <a:r>
              <a:rPr sz="1100" b="0" i="0">
                <a:solidFill>
                  <a:srgbClr val="002368"/>
                </a:solidFill>
                <a:latin typeface="Arial"/>
              </a:rPr>
              <a:t>A short redirect request instead of the pitch. A reply or forward gives a name, and the lead moves to B or A.</a:t>
            </a:r>
          </a:p>
        </p:txBody>
      </p:sp>
      <p:cxnSp>
        <p:nvCxnSpPr>
          <p:cNvPr id="25" name="Connector 24"/>
          <p:cNvCxnSpPr/>
          <p:nvPr/>
        </p:nvCxnSpPr>
        <p:spPr>
          <a:xfrm>
            <a:off x="8321040" y="3931920"/>
            <a:ext cx="3044952" cy="0"/>
          </a:xfrm>
          <a:prstGeom prst="line">
            <a:avLst/>
          </a:prstGeom>
          <a:ln w="9525">
            <a:solidFill>
              <a:srgbClr val="80BFEC"/>
            </a:solidFill>
          </a:ln>
        </p:spPr>
      </p:cxnSp>
      <p:sp>
        <p:nvSpPr>
          <p:cNvPr id="26" name="TextBox 25"/>
          <p:cNvSpPr txBox="1"/>
          <p:nvPr/>
        </p:nvSpPr>
        <p:spPr>
          <a:xfrm>
            <a:off x="8321040" y="4023360"/>
            <a:ext cx="1463040" cy="640080"/>
          </a:xfrm>
          <a:prstGeom prst="rect">
            <a:avLst/>
          </a:prstGeom>
          <a:noFill/>
        </p:spPr>
        <p:txBody>
          <a:bodyPr wrap="square" lIns="0" tIns="0" rIns="0" bIns="0" anchor="t">
            <a:spAutoFit/>
          </a:bodyPr>
          <a:lstStyle/>
          <a:p>
            <a:pPr algn="l"/>
            <a:r>
              <a:rPr sz="3200" b="0" i="0">
                <a:solidFill>
                  <a:srgbClr val="002368"/>
                </a:solidFill>
                <a:latin typeface="Georgia"/>
              </a:rPr>
              <a:t>423</a:t>
            </a:r>
          </a:p>
        </p:txBody>
      </p:sp>
      <p:sp>
        <p:nvSpPr>
          <p:cNvPr id="27" name="TextBox 26"/>
          <p:cNvSpPr txBox="1"/>
          <p:nvPr/>
        </p:nvSpPr>
        <p:spPr>
          <a:xfrm>
            <a:off x="9555480" y="4114800"/>
            <a:ext cx="1920240" cy="822960"/>
          </a:xfrm>
          <a:prstGeom prst="rect">
            <a:avLst/>
          </a:prstGeom>
          <a:noFill/>
        </p:spPr>
        <p:txBody>
          <a:bodyPr wrap="square" lIns="0" tIns="0" rIns="0" bIns="0" anchor="t">
            <a:spAutoFit/>
          </a:bodyPr>
          <a:lstStyle/>
          <a:p>
            <a:pPr algn="l"/>
            <a:r>
              <a:rPr sz="950" b="0" i="0">
                <a:solidFill>
                  <a:srgbClr val="002368"/>
                </a:solidFill>
                <a:latin typeface="Arial"/>
              </a:rPr>
              <a:t>drafts: companies 380, introducers 4, welfare 39</a:t>
            </a:r>
          </a:p>
        </p:txBody>
      </p:sp>
      <p:sp>
        <p:nvSpPr>
          <p:cNvPr id="28" name="TextBox 27"/>
          <p:cNvSpPr txBox="1"/>
          <p:nvPr/>
        </p:nvSpPr>
        <p:spPr>
          <a:xfrm>
            <a:off x="548640" y="5285232"/>
            <a:ext cx="11064240" cy="329184"/>
          </a:xfrm>
          <a:prstGeom prst="rect">
            <a:avLst/>
          </a:prstGeom>
          <a:noFill/>
        </p:spPr>
        <p:txBody>
          <a:bodyPr wrap="square" lIns="0" tIns="0" rIns="0" bIns="0" anchor="t">
            <a:spAutoFit/>
          </a:bodyPr>
          <a:lstStyle/>
          <a:p>
            <a:pPr algn="l"/>
            <a:r>
              <a:rPr sz="1300" b="0" i="0">
                <a:solidFill>
                  <a:srgbClr val="002368"/>
                </a:solidFill>
                <a:latin typeface="Georgia"/>
              </a:rPr>
              <a:t>Plus 802 leads with no email (569 master, 233 welfare): case C by phone. Government: does not apply; letters go by hand, addressed by title.</a:t>
            </a:r>
          </a:p>
        </p:txBody>
      </p:sp>
      <p:sp>
        <p:nvSpPr>
          <p:cNvPr id="29" name="TextBox 28"/>
          <p:cNvSpPr txBox="1"/>
          <p:nvPr/>
        </p:nvSpPr>
        <p:spPr>
          <a:xfrm>
            <a:off x="548640" y="5715000"/>
            <a:ext cx="11064240" cy="365760"/>
          </a:xfrm>
          <a:prstGeom prst="rect">
            <a:avLst/>
          </a:prstGeom>
          <a:noFill/>
        </p:spPr>
        <p:txBody>
          <a:bodyPr wrap="square" lIns="0" tIns="0" rIns="0" bIns="0" anchor="t">
            <a:spAutoFit/>
          </a:bodyPr>
          <a:lstStyle/>
          <a:p>
            <a:pPr algn="l"/>
            <a:r>
              <a:rPr sz="950" b="0" i="0">
                <a:solidFill>
                  <a:srgbClr val="818283"/>
                </a:solidFill>
                <a:latin typeface="Arial"/>
              </a:rPr>
              <a:t>Counts are email drafts. High and medium drafts go first; low drafts are held until their checks are done.</a:t>
            </a:r>
          </a:p>
        </p:txBody>
      </p:sp>
      <p:pic>
        <p:nvPicPr>
          <p:cNvPr id="30" name="Picture 29" descr="image3.png"/>
          <p:cNvPicPr>
            <a:picLocks noChangeAspect="1"/>
          </p:cNvPicPr>
          <p:nvPr/>
        </p:nvPicPr>
        <p:blipFill>
          <a:blip r:embed="rId2"/>
          <a:stretch>
            <a:fillRect/>
          </a:stretch>
        </p:blipFill>
        <p:spPr>
          <a:xfrm>
            <a:off x="548640" y="6272784"/>
            <a:ext cx="1143000" cy="274320"/>
          </a:xfrm>
          <a:prstGeom prst="rect">
            <a:avLst/>
          </a:prstGeom>
        </p:spPr>
      </p:pic>
      <p:sp>
        <p:nvSpPr>
          <p:cNvPr id="3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drafts, October 2026</a:t>
            </a:r>
          </a:p>
        </p:txBody>
      </p:sp>
      <p:sp>
        <p:nvSpPr>
          <p:cNvPr id="3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TEMPLATES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Case A and case B: the same letter, routed differently</a:t>
            </a:r>
          </a:p>
        </p:txBody>
      </p:sp>
      <p:sp>
        <p:nvSpPr>
          <p:cNvPr id="4" name="Rounded Rectangle 3"/>
          <p:cNvSpPr/>
          <p:nvPr/>
        </p:nvSpPr>
        <p:spPr>
          <a:xfrm>
            <a:off x="548640" y="1325880"/>
            <a:ext cx="5440680" cy="3520440"/>
          </a:xfrm>
          <a:prstGeom prst="roundRect">
            <a:avLst>
              <a:gd name="adj" fmla="val 1818"/>
            </a:avLst>
          </a:prstGeom>
          <a:solidFill>
            <a:srgbClr val="FFFFFF"/>
          </a:solidFill>
          <a:ln w="12700">
            <a:solidFill>
              <a:srgbClr val="D9ECF9"/>
            </a:solidFill>
          </a:ln>
        </p:spPr>
        <p:txBody>
          <a:bodyPr rtlCol="0" anchor="ctr"/>
          <a:lstStyle/>
          <a:p>
            <a:pPr algn="ctr"/>
          </a:p>
        </p:txBody>
      </p:sp>
      <p:sp>
        <p:nvSpPr>
          <p:cNvPr id="5" name="TextBox 4"/>
          <p:cNvSpPr txBox="1"/>
          <p:nvPr/>
        </p:nvSpPr>
        <p:spPr>
          <a:xfrm>
            <a:off x="777240" y="1463040"/>
            <a:ext cx="5029200" cy="274320"/>
          </a:xfrm>
          <a:prstGeom prst="rect">
            <a:avLst/>
          </a:prstGeom>
          <a:noFill/>
        </p:spPr>
        <p:txBody>
          <a:bodyPr wrap="square" lIns="0" tIns="0" rIns="0" bIns="0" anchor="t">
            <a:spAutoFit/>
          </a:bodyPr>
          <a:lstStyle/>
          <a:p>
            <a:pPr algn="l"/>
            <a:r>
              <a:rPr sz="900" b="1" i="0" spc="200">
                <a:solidFill>
                  <a:srgbClr val="818283"/>
                </a:solidFill>
                <a:latin typeface="Arial"/>
              </a:rPr>
              <a:t>CASE A  ·  EMPLOYER (VARIANT B), DIRECT</a:t>
            </a:r>
          </a:p>
        </p:txBody>
      </p:sp>
      <p:sp>
        <p:nvSpPr>
          <p:cNvPr id="6" name="TextBox 5"/>
          <p:cNvSpPr txBox="1"/>
          <p:nvPr/>
        </p:nvSpPr>
        <p:spPr>
          <a:xfrm>
            <a:off x="777240" y="1755648"/>
            <a:ext cx="5029200" cy="3017520"/>
          </a:xfrm>
          <a:prstGeom prst="rect">
            <a:avLst/>
          </a:prstGeom>
          <a:noFill/>
        </p:spPr>
        <p:txBody>
          <a:bodyPr wrap="square" lIns="0" tIns="0" rIns="0" bIns="0" anchor="t">
            <a:spAutoFit/>
          </a:bodyPr>
          <a:lstStyle/>
          <a:p>
            <a:pPr algn="l"/>
            <a:r>
              <a:rPr sz="1000" b="1" i="0">
                <a:solidFill>
                  <a:srgbClr val="002368"/>
                </a:solidFill>
                <a:latin typeface="Arial"/>
              </a:rPr>
              <a:t>Subject: A partnership on education benefits for &lt;Organisation&gt; staff</a:t>
            </a:r>
          </a:p>
          <a:p>
            <a:pPr algn="l"/>
            <a:r>
              <a:rPr sz="1000" b="0" i="0">
                <a:solidFill>
                  <a:srgbClr val="000000"/>
                </a:solidFill>
                <a:latin typeface="Arial"/>
              </a:rPr>
              <a:t/>
            </a:r>
          </a:p>
          <a:p>
            <a:pPr algn="l"/>
            <a:r>
              <a:rPr sz="1000" b="0" i="0">
                <a:solidFill>
                  <a:srgbClr val="000000"/>
                </a:solidFill>
                <a:latin typeface="Arial"/>
              </a:rPr>
              <a:t>Dear &lt;Full Name&gt;,</a:t>
            </a:r>
          </a:p>
          <a:p>
            <a:pPr algn="l"/>
            <a:r>
              <a:rPr sz="1000" b="0" i="0">
                <a:solidFill>
                  <a:srgbClr val="000000"/>
                </a:solidFill>
                <a:latin typeface="Arial"/>
              </a:rPr>
              <a:t/>
            </a:r>
          </a:p>
          <a:p>
            <a:pPr algn="l"/>
            <a:r>
              <a:rPr sz="1000" b="0" i="0">
                <a:solidFill>
                  <a:srgbClr val="000000"/>
                </a:solidFill>
                <a:latin typeface="Arial"/>
              </a:rPr>
              <a:t>My name is &lt;Sender name&gt;, &lt;Sender role&gt; at Silverleaf Academy in Arusha.</a:t>
            </a:r>
          </a:p>
          <a:p>
            <a:pPr algn="l"/>
            <a:r>
              <a:rPr sz="1000" b="0" i="0">
                <a:solidFill>
                  <a:srgbClr val="000000"/>
                </a:solidFill>
                <a:latin typeface="Arial"/>
              </a:rPr>
              <a:t/>
            </a:r>
          </a:p>
          <a:p>
            <a:pPr algn="l"/>
            <a:r>
              <a:rPr sz="1000" b="0" i="0">
                <a:solidFill>
                  <a:srgbClr val="000000"/>
                </a:solidFill>
                <a:latin typeface="Arial"/>
              </a:rPr>
              <a:t>We are looking to set up a partnership with &lt;Organisation&gt; to provide an education benefit for the children of your staff. [Verified hook, if any.] I would welcome the chance to explain how it could work, and to discuss whether it might suit you and your team.</a:t>
            </a:r>
          </a:p>
          <a:p>
            <a:pPr algn="l"/>
            <a:r>
              <a:rPr sz="1000" b="0" i="0">
                <a:solidFill>
                  <a:srgbClr val="000000"/>
                </a:solidFill>
                <a:latin typeface="Arial"/>
              </a:rPr>
              <a:t/>
            </a:r>
          </a:p>
          <a:p>
            <a:pPr algn="l"/>
            <a:r>
              <a:rPr sz="1000" b="0" i="0">
                <a:solidFill>
                  <a:srgbClr val="000000"/>
                </a:solidFill>
                <a:latin typeface="Arial"/>
              </a:rPr>
              <a:t>Would it be possible to arrange a short meeting, either in person or by phone, to discuss this further?</a:t>
            </a:r>
          </a:p>
          <a:p>
            <a:pPr algn="l"/>
            <a:r>
              <a:rPr sz="1000" b="0" i="0">
                <a:solidFill>
                  <a:srgbClr val="000000"/>
                </a:solidFill>
                <a:latin typeface="Arial"/>
              </a:rPr>
              <a:t/>
            </a:r>
          </a:p>
          <a:p>
            <a:pPr algn="l"/>
            <a:r>
              <a:rPr sz="1000" b="0" i="0">
                <a:solidFill>
                  <a:srgbClr val="000000"/>
                </a:solidFill>
                <a:latin typeface="Arial"/>
              </a:rPr>
              <a:t>Warm regards, &lt;Sender name&gt;</a:t>
            </a:r>
          </a:p>
        </p:txBody>
      </p:sp>
      <p:sp>
        <p:nvSpPr>
          <p:cNvPr id="7" name="Rounded Rectangle 6"/>
          <p:cNvSpPr/>
          <p:nvPr/>
        </p:nvSpPr>
        <p:spPr>
          <a:xfrm>
            <a:off x="6199632" y="1325880"/>
            <a:ext cx="5440680" cy="3520440"/>
          </a:xfrm>
          <a:prstGeom prst="roundRect">
            <a:avLst>
              <a:gd name="adj" fmla="val 1818"/>
            </a:avLst>
          </a:prstGeom>
          <a:solidFill>
            <a:srgbClr val="D9ECF9"/>
          </a:solidFill>
          <a:ln w="12700">
            <a:solidFill>
              <a:srgbClr val="D9ECF9"/>
            </a:solidFill>
          </a:ln>
        </p:spPr>
        <p:txBody>
          <a:bodyPr rtlCol="0" anchor="ctr"/>
          <a:lstStyle/>
          <a:p>
            <a:pPr algn="ctr"/>
          </a:p>
        </p:txBody>
      </p:sp>
      <p:sp>
        <p:nvSpPr>
          <p:cNvPr id="8" name="TextBox 7"/>
          <p:cNvSpPr txBox="1"/>
          <p:nvPr/>
        </p:nvSpPr>
        <p:spPr>
          <a:xfrm>
            <a:off x="6428232" y="1463040"/>
            <a:ext cx="5029200" cy="274320"/>
          </a:xfrm>
          <a:prstGeom prst="rect">
            <a:avLst/>
          </a:prstGeom>
          <a:noFill/>
        </p:spPr>
        <p:txBody>
          <a:bodyPr wrap="square" lIns="0" tIns="0" rIns="0" bIns="0" anchor="t">
            <a:spAutoFit/>
          </a:bodyPr>
          <a:lstStyle/>
          <a:p>
            <a:pPr algn="l"/>
            <a:r>
              <a:rPr sz="900" b="1" i="0" spc="200">
                <a:solidFill>
                  <a:srgbClr val="818283"/>
                </a:solidFill>
                <a:latin typeface="Arial"/>
              </a:rPr>
              <a:t>CASE B  ·  THE ATTN FORMAT</a:t>
            </a:r>
          </a:p>
        </p:txBody>
      </p:sp>
      <p:sp>
        <p:nvSpPr>
          <p:cNvPr id="9" name="TextBox 8"/>
          <p:cNvSpPr txBox="1"/>
          <p:nvPr/>
        </p:nvSpPr>
        <p:spPr>
          <a:xfrm>
            <a:off x="6428232" y="1755648"/>
            <a:ext cx="5029200" cy="1417320"/>
          </a:xfrm>
          <a:prstGeom prst="rect">
            <a:avLst/>
          </a:prstGeom>
          <a:noFill/>
        </p:spPr>
        <p:txBody>
          <a:bodyPr wrap="square" lIns="0" tIns="0" rIns="0" bIns="0" anchor="t">
            <a:spAutoFit/>
          </a:bodyPr>
          <a:lstStyle/>
          <a:p>
            <a:pPr algn="l"/>
            <a:r>
              <a:rPr sz="1000" b="1" i="0">
                <a:solidFill>
                  <a:srgbClr val="002368"/>
                </a:solidFill>
                <a:latin typeface="Arial"/>
              </a:rPr>
              <a:t>Subject: Attn: &lt;Full Name&gt;, &lt;Role&gt; – staff education benefit</a:t>
            </a:r>
          </a:p>
          <a:p>
            <a:pPr algn="l"/>
            <a:r>
              <a:rPr sz="1000" b="0" i="0">
                <a:solidFill>
                  <a:srgbClr val="000000"/>
                </a:solidFill>
                <a:latin typeface="Arial"/>
              </a:rPr>
              <a:t/>
            </a:r>
          </a:p>
          <a:p>
            <a:pPr algn="l"/>
            <a:r>
              <a:rPr sz="1000" b="1" i="0">
                <a:solidFill>
                  <a:srgbClr val="002368"/>
                </a:solidFill>
                <a:latin typeface="Arial"/>
              </a:rPr>
              <a:t>For the attention of &lt;Full Name&gt;, &lt;Role&gt;. If this inbox does not reach them, we would be grateful if it could be forwarded.</a:t>
            </a:r>
          </a:p>
          <a:p>
            <a:pPr algn="l"/>
            <a:r>
              <a:rPr sz="1000" b="0" i="0">
                <a:solidFill>
                  <a:srgbClr val="000000"/>
                </a:solidFill>
                <a:latin typeface="Arial"/>
              </a:rPr>
              <a:t/>
            </a:r>
          </a:p>
          <a:p>
            <a:pPr algn="l"/>
            <a:r>
              <a:rPr sz="1000" b="0" i="0">
                <a:solidFill>
                  <a:srgbClr val="000000"/>
                </a:solidFill>
                <a:latin typeface="Arial"/>
              </a:rPr>
              <a:t>Dear &lt;Full Name&gt;,</a:t>
            </a:r>
          </a:p>
          <a:p>
            <a:pPr algn="l"/>
            <a:r>
              <a:rPr sz="1000" b="0" i="0">
                <a:solidFill>
                  <a:srgbClr val="000000"/>
                </a:solidFill>
                <a:latin typeface="Arial"/>
              </a:rPr>
              <a:t/>
            </a:r>
          </a:p>
          <a:p>
            <a:pPr algn="l"/>
            <a:r>
              <a:rPr sz="1000" b="0" i="0">
                <a:solidFill>
                  <a:srgbClr val="000000"/>
                </a:solidFill>
                <a:latin typeface="Arial"/>
              </a:rPr>
              <a:t>&lt;the letter, written exactly as if to their own address&gt;</a:t>
            </a:r>
          </a:p>
        </p:txBody>
      </p:sp>
      <p:sp>
        <p:nvSpPr>
          <p:cNvPr id="10" name="TextBox 9"/>
          <p:cNvSpPr txBox="1"/>
          <p:nvPr/>
        </p:nvSpPr>
        <p:spPr>
          <a:xfrm>
            <a:off x="6428232" y="3246120"/>
            <a:ext cx="5029200" cy="1600200"/>
          </a:xfrm>
          <a:prstGeom prst="rect">
            <a:avLst/>
          </a:prstGeom>
          <a:noFill/>
        </p:spPr>
        <p:txBody>
          <a:bodyPr wrap="square" lIns="0" tIns="0" rIns="0" bIns="0" anchor="t">
            <a:spAutoFit/>
          </a:bodyPr>
          <a:lstStyle/>
          <a:p>
            <a:pPr algn="l" marL="155448" indent="-155448">
              <a:spcAft>
                <a:spcPts val="200"/>
              </a:spcAft>
              <a:buFont typeface="Arial"/>
              <a:buChar char="•"/>
            </a:pPr>
            <a:r>
              <a:rPr sz="950" b="0" i="0">
                <a:solidFill>
                  <a:srgbClr val="000000"/>
                </a:solidFill>
                <a:latin typeface="Arial"/>
              </a:rPr>
              <a:t>The routing line sits at the very top, set apart by a blank line; it reads naturally to the front desk and to the person.</a:t>
            </a:r>
          </a:p>
          <a:p>
            <a:pPr algn="l" marL="155448" indent="-155448">
              <a:spcAft>
                <a:spcPts val="200"/>
              </a:spcAft>
              <a:buFont typeface="Arial"/>
              <a:buChar char="•"/>
            </a:pPr>
            <a:r>
              <a:rPr sz="950" b="0" i="0">
                <a:solidFill>
                  <a:srgbClr val="000000"/>
                </a:solidFill>
                <a:latin typeface="Arial"/>
              </a:rPr>
              <a:t>The person's name, not 'he' or 'him'; no honorific (Mr, Dr) unless a source states it.</a:t>
            </a:r>
          </a:p>
          <a:p>
            <a:pPr algn="l" marL="155448" indent="-155448">
              <a:spcAft>
                <a:spcPts val="200"/>
              </a:spcAft>
              <a:buFont typeface="Arial"/>
              <a:buChar char="•"/>
            </a:pPr>
            <a:r>
              <a:rPr sz="950" b="0" i="0">
                <a:solidFill>
                  <a:srgbClr val="000000"/>
                </a:solidFill>
                <a:latin typeface="Arial"/>
              </a:rPr>
              <a:t>Or your HR lead: when the MD, owner or founder is named, no HR head is on file and the company is large (P1 or P2, 50+ staff, or a bank, hospital, college, international body, manufacturer, aviation employer or public body), the line reads '&lt;Full Name&gt;, &lt;Role&gt;, or your HR lead.' 48 company drafts carry it.</a:t>
            </a:r>
          </a:p>
        </p:txBody>
      </p:sp>
      <p:sp>
        <p:nvSpPr>
          <p:cNvPr id="11" name="TextBox 10"/>
          <p:cNvSpPr txBox="1"/>
          <p:nvPr/>
        </p:nvSpPr>
        <p:spPr>
          <a:xfrm>
            <a:off x="548640" y="5029200"/>
            <a:ext cx="10972800" cy="201168"/>
          </a:xfrm>
          <a:prstGeom prst="rect">
            <a:avLst/>
          </a:prstGeom>
          <a:noFill/>
        </p:spPr>
        <p:txBody>
          <a:bodyPr wrap="square" lIns="0" tIns="0" rIns="0" bIns="0" anchor="t">
            <a:spAutoFit/>
          </a:bodyPr>
          <a:lstStyle/>
          <a:p>
            <a:pPr algn="l"/>
            <a:r>
              <a:rPr sz="900" b="1" i="0" spc="200">
                <a:solidFill>
                  <a:srgbClr val="818283"/>
                </a:solidFill>
                <a:latin typeface="Arial"/>
              </a:rPr>
              <a:t>CASE B SUBJECT ENDINGS BY SEGMENT</a:t>
            </a:r>
          </a:p>
        </p:txBody>
      </p:sp>
      <p:sp>
        <p:nvSpPr>
          <p:cNvPr id="12" name="TextBox 11"/>
          <p:cNvSpPr txBox="1"/>
          <p:nvPr/>
        </p:nvSpPr>
        <p:spPr>
          <a:xfrm>
            <a:off x="548640"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Employers, public bodies</a:t>
            </a:r>
          </a:p>
        </p:txBody>
      </p:sp>
      <p:sp>
        <p:nvSpPr>
          <p:cNvPr id="13" name="Rounded Rectangle 12"/>
          <p:cNvSpPr/>
          <p:nvPr/>
        </p:nvSpPr>
        <p:spPr>
          <a:xfrm>
            <a:off x="548640"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staff education benefit</a:t>
            </a:r>
          </a:p>
        </p:txBody>
      </p:sp>
      <p:sp>
        <p:nvSpPr>
          <p:cNvPr id="14" name="TextBox 13"/>
          <p:cNvSpPr txBox="1"/>
          <p:nvPr/>
        </p:nvSpPr>
        <p:spPr>
          <a:xfrm>
            <a:off x="3355848"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Sponsors, funders</a:t>
            </a:r>
          </a:p>
        </p:txBody>
      </p:sp>
      <p:sp>
        <p:nvSpPr>
          <p:cNvPr id="15" name="Rounded Rectangle 14"/>
          <p:cNvSpPr/>
          <p:nvPr/>
        </p:nvSpPr>
        <p:spPr>
          <a:xfrm>
            <a:off x="3355848"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student sponsorship</a:t>
            </a:r>
          </a:p>
        </p:txBody>
      </p:sp>
      <p:sp>
        <p:nvSpPr>
          <p:cNvPr id="16" name="TextBox 15"/>
          <p:cNvSpPr txBox="1"/>
          <p:nvPr/>
        </p:nvSpPr>
        <p:spPr>
          <a:xfrm>
            <a:off x="6163055"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Homes, programmes</a:t>
            </a:r>
          </a:p>
        </p:txBody>
      </p:sp>
      <p:sp>
        <p:nvSpPr>
          <p:cNvPr id="17" name="Rounded Rectangle 16"/>
          <p:cNvSpPr/>
          <p:nvPr/>
        </p:nvSpPr>
        <p:spPr>
          <a:xfrm>
            <a:off x="6163055"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education of the children in your care</a:t>
            </a:r>
          </a:p>
        </p:txBody>
      </p:sp>
      <p:sp>
        <p:nvSpPr>
          <p:cNvPr id="18" name="TextBox 17"/>
          <p:cNvSpPr txBox="1"/>
          <p:nvPr/>
        </p:nvSpPr>
        <p:spPr>
          <a:xfrm>
            <a:off x="8970263"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Introducers, networks</a:t>
            </a:r>
          </a:p>
        </p:txBody>
      </p:sp>
      <p:sp>
        <p:nvSpPr>
          <p:cNvPr id="19" name="Rounded Rectangle 18"/>
          <p:cNvSpPr/>
          <p:nvPr/>
        </p:nvSpPr>
        <p:spPr>
          <a:xfrm>
            <a:off x="8970263"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an education benefit for your members</a:t>
            </a:r>
          </a:p>
        </p:txBody>
      </p:sp>
      <p:pic>
        <p:nvPicPr>
          <p:cNvPr id="20" name="Picture 19" descr="image3.png"/>
          <p:cNvPicPr>
            <a:picLocks noChangeAspect="1"/>
          </p:cNvPicPr>
          <p:nvPr/>
        </p:nvPicPr>
        <p:blipFill>
          <a:blip r:embed="rId2"/>
          <a:stretch>
            <a:fillRect/>
          </a:stretch>
        </p:blipFill>
        <p:spPr>
          <a:xfrm>
            <a:off x="548640" y="6272784"/>
            <a:ext cx="1143000" cy="274320"/>
          </a:xfrm>
          <a:prstGeom prst="rect">
            <a:avLst/>
          </a:prstGeom>
        </p:spPr>
      </p:pic>
      <p:sp>
        <p:nvSpPr>
          <p:cNvPr id="2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 and drafts, October 2026</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REDIRECT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Case C asks one question: who should we write to?</a:t>
            </a:r>
          </a:p>
        </p:txBody>
      </p:sp>
      <p:sp>
        <p:nvSpPr>
          <p:cNvPr id="4" name="Rounded Rectangle 3"/>
          <p:cNvSpPr/>
          <p:nvPr/>
        </p:nvSpPr>
        <p:spPr>
          <a:xfrm>
            <a:off x="548640" y="1325880"/>
            <a:ext cx="4206240" cy="4617720"/>
          </a:xfrm>
          <a:prstGeom prst="roundRect">
            <a:avLst>
              <a:gd name="adj" fmla="val 1521"/>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777240" y="1463040"/>
            <a:ext cx="3840480" cy="274320"/>
          </a:xfrm>
          <a:prstGeom prst="rect">
            <a:avLst/>
          </a:prstGeom>
          <a:noFill/>
        </p:spPr>
        <p:txBody>
          <a:bodyPr wrap="square" lIns="0" tIns="0" rIns="0" bIns="0" anchor="t">
            <a:spAutoFit/>
          </a:bodyPr>
          <a:lstStyle/>
          <a:p>
            <a:pPr algn="l"/>
            <a:r>
              <a:rPr sz="900" b="1" i="0" spc="200">
                <a:solidFill>
                  <a:srgbClr val="80BFEC"/>
                </a:solidFill>
                <a:latin typeface="Arial"/>
              </a:rPr>
              <a:t>CASE C  ·  THE REDIRECT REQUEST</a:t>
            </a:r>
          </a:p>
        </p:txBody>
      </p:sp>
      <p:sp>
        <p:nvSpPr>
          <p:cNvPr id="6" name="TextBox 5"/>
          <p:cNvSpPr txBox="1"/>
          <p:nvPr/>
        </p:nvSpPr>
        <p:spPr>
          <a:xfrm>
            <a:off x="777240" y="1783080"/>
            <a:ext cx="3794760" cy="4023360"/>
          </a:xfrm>
          <a:prstGeom prst="rect">
            <a:avLst/>
          </a:prstGeom>
          <a:noFill/>
        </p:spPr>
        <p:txBody>
          <a:bodyPr wrap="square" lIns="0" tIns="0" rIns="0" bIns="0" anchor="t">
            <a:spAutoFit/>
          </a:bodyPr>
          <a:lstStyle/>
          <a:p>
            <a:pPr algn="l"/>
            <a:r>
              <a:rPr sz="1050" b="1" i="0">
                <a:solidFill>
                  <a:srgbClr val="FFC952"/>
                </a:solidFill>
                <a:latin typeface="Arial"/>
              </a:rPr>
              <a:t>Subject: Staff education benefit – who should we write to?</a:t>
            </a:r>
          </a:p>
          <a:p>
            <a:pPr algn="l"/>
            <a:r>
              <a:rPr sz="1050" b="0" i="0">
                <a:solidFill>
                  <a:srgbClr val="FFFFFF"/>
                </a:solidFill>
                <a:latin typeface="Arial"/>
              </a:rPr>
              <a:t/>
            </a:r>
          </a:p>
          <a:p>
            <a:pPr algn="l"/>
            <a:r>
              <a:rPr sz="1050" b="0" i="0">
                <a:solidFill>
                  <a:srgbClr val="FFFFFF"/>
                </a:solidFill>
                <a:latin typeface="Arial"/>
              </a:rPr>
              <a:t>Hello,</a:t>
            </a:r>
          </a:p>
          <a:p>
            <a:pPr algn="l"/>
            <a:r>
              <a:rPr sz="1050" b="0" i="0">
                <a:solidFill>
                  <a:srgbClr val="FFFFFF"/>
                </a:solidFill>
                <a:latin typeface="Arial"/>
              </a:rPr>
              <a:t/>
            </a:r>
          </a:p>
          <a:p>
            <a:pPr algn="l"/>
            <a:r>
              <a:rPr sz="1050" b="0" i="0">
                <a:solidFill>
                  <a:srgbClr val="FFFFFF"/>
                </a:solidFill>
                <a:latin typeface="Arial"/>
              </a:rPr>
              <a:t>I am writing from Silverleaf Academy in Arusha about a staff education benefit for the children of &lt;Organisation&gt;'s employees.</a:t>
            </a:r>
          </a:p>
          <a:p>
            <a:pPr algn="l"/>
            <a:r>
              <a:rPr sz="1050" b="0" i="0">
                <a:solidFill>
                  <a:srgbClr val="FFFFFF"/>
                </a:solidFill>
                <a:latin typeface="Arial"/>
              </a:rPr>
              <a:t/>
            </a:r>
          </a:p>
          <a:p>
            <a:pPr algn="l"/>
            <a:r>
              <a:rPr sz="1050" b="0" i="0">
                <a:solidFill>
                  <a:srgbClr val="FFFFFF"/>
                </a:solidFill>
                <a:latin typeface="Arial"/>
              </a:rPr>
              <a:t>Who looks after staff welfare and benefits (HR, the welfare officer or the COO)? We would like to send them a short note.</a:t>
            </a:r>
          </a:p>
          <a:p>
            <a:pPr algn="l"/>
            <a:r>
              <a:rPr sz="1050" b="0" i="0">
                <a:solidFill>
                  <a:srgbClr val="FFFFFF"/>
                </a:solidFill>
                <a:latin typeface="Arial"/>
              </a:rPr>
              <a:t/>
            </a:r>
          </a:p>
          <a:p>
            <a:pPr algn="l"/>
            <a:r>
              <a:rPr sz="1050" b="0" i="0">
                <a:solidFill>
                  <a:srgbClr val="FFFFFF"/>
                </a:solidFill>
                <a:latin typeface="Arial"/>
              </a:rPr>
              <a:t>Thank you,</a:t>
            </a:r>
          </a:p>
          <a:p>
            <a:pPr algn="l"/>
            <a:r>
              <a:rPr sz="1050" b="0" i="0">
                <a:solidFill>
                  <a:srgbClr val="FFFFFF"/>
                </a:solidFill>
                <a:latin typeface="Arial"/>
              </a:rPr>
              <a:t>&lt;Sender name&gt;</a:t>
            </a:r>
          </a:p>
          <a:p>
            <a:pPr algn="l"/>
            <a:r>
              <a:rPr sz="1050" b="0" i="0">
                <a:solidFill>
                  <a:srgbClr val="FFFFFF"/>
                </a:solidFill>
                <a:latin typeface="Arial"/>
              </a:rPr>
              <a:t>&lt;Sender role&gt;, Silverleaf Academy</a:t>
            </a:r>
          </a:p>
        </p:txBody>
      </p:sp>
      <p:graphicFrame>
        <p:nvGraphicFramePr>
          <p:cNvPr id="7" name="Table 6"/>
          <p:cNvGraphicFramePr>
            <a:graphicFrameLocks noGrp="1"/>
          </p:cNvGraphicFramePr>
          <p:nvPr/>
        </p:nvGraphicFramePr>
        <p:xfrm>
          <a:off x="4983480" y="1325880"/>
          <a:ext cx="6656832" cy="3968496"/>
        </p:xfrm>
        <a:graphic>
          <a:graphicData uri="http://schemas.openxmlformats.org/drawingml/2006/table">
            <a:tbl>
              <a:tblPr firstRow="0" bandRow="0">
                <a:tableStyleId>{2D5ABB26-0587-4C30-8999-92F81FD0307C}</a:tableStyleId>
              </a:tblPr>
              <a:tblGrid>
                <a:gridCol w="1417320"/>
                <a:gridCol w="2148840"/>
                <a:gridCol w="3090672"/>
              </a:tblGrid>
              <a:tr h="566928">
                <a:tc>
                  <a:txBody>
                    <a:bodyPr wrap="square"/>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"I AM WRITING … ABOUT"</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THE ASK</a:t>
                      </a:r>
                    </a:p>
                  </a:txBody>
                  <a:tcPr marL="54864" marR="54864" marT="36576" marB="36576" anchor="ctr">
                    <a:lnL w="0">
                      <a:noFill/>
                    </a:lnL>
                    <a:lnR w="0">
                      <a:noFill/>
                    </a:lnR>
                    <a:lnT w="0">
                      <a:noFill/>
                    </a:lnT>
                    <a:lnB w="12700">
                      <a:solidFill>
                        <a:srgbClr val="80BFEC"/>
                      </a:solidFill>
                    </a:lnB>
                    <a:noFill/>
                  </a:tcPr>
                </a:tc>
              </a:tr>
              <a:tr h="566928">
                <a:tc>
                  <a:txBody>
                    <a:bodyPr wrap="square"/>
                    <a:lstStyle/>
                    <a:p>
                      <a:r>
                        <a:rPr sz="950" b="1" i="0">
                          <a:solidFill>
                            <a:srgbClr val="002368"/>
                          </a:solidFill>
                          <a:latin typeface="Arial"/>
                        </a:rPr>
                        <a:t>Employers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staff education benefit for the children of &lt;Organisation&gt;'s employees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looks after staff welfare and benefits (HR, the welfare officer or the COO)?</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Public bodies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the same as employers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heads human resources?</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Variant A sponsors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sponsoring students' education at Silverleaf</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looks after the company's community giving?</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Welfare funders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sponsoring students' education at Silverleaf</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is the programme officer for your work in Tanzania?</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Homes and programmes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the education of the children in &lt;Organisation&gt;'s care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leads the home (or the programme) and looks after the children's schooling?</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Introducers, networks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an education benefit for &lt;Organisation&gt;'s members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looks after member benefits and communications (the executive secretary or CEO)?</a:t>
                      </a:r>
                    </a:p>
                  </a:txBody>
                  <a:tcPr marL="54864" marR="54864" marT="36576" marB="36576" anchor="ctr">
                    <a:lnL w="0">
                      <a:noFill/>
                    </a:lnL>
                    <a:lnR w="0">
                      <a:noFill/>
                    </a:lnR>
                    <a:lnT w="0">
                      <a:noFill/>
                    </a:lnT>
                    <a:lnB w="9525">
                      <a:solidFill>
                        <a:srgbClr val="ECECEC"/>
                      </a:solidFill>
                    </a:lnB>
                    <a:noFill/>
                  </a:tcPr>
                </a:tc>
              </a:tr>
            </a:tbl>
          </a:graphicData>
        </a:graphic>
      </p:graphicFrame>
      <p:sp>
        <p:nvSpPr>
          <p:cNvPr id="8" name="TextBox 7"/>
          <p:cNvSpPr txBox="1"/>
          <p:nvPr/>
        </p:nvSpPr>
        <p:spPr>
          <a:xfrm>
            <a:off x="4983480" y="5486400"/>
            <a:ext cx="6656832" cy="457200"/>
          </a:xfrm>
          <a:prstGeom prst="rect">
            <a:avLst/>
          </a:prstGeom>
          <a:noFill/>
        </p:spPr>
        <p:txBody>
          <a:bodyPr wrap="square" lIns="0" tIns="0" rIns="0" bIns="0" anchor="t">
            <a:spAutoFit/>
          </a:bodyPr>
          <a:lstStyle/>
          <a:p>
            <a:pPr algn="l"/>
            <a:r>
              <a:rPr sz="950" b="0" i="0">
                <a:solidFill>
                  <a:srgbClr val="818283"/>
                </a:solidFill>
                <a:latin typeface="Arial"/>
              </a:rPr>
              <a:t>Every ask ends 'We would like to send them a short note.' Any name the front desk gives is recorded with its source and date, and the lead moves to case B, or A if the address is their own.</a:t>
            </a:r>
          </a:p>
        </p:txBody>
      </p:sp>
      <p:pic>
        <p:nvPicPr>
          <p:cNvPr id="9" name="Picture 8" descr="image3.png"/>
          <p:cNvPicPr>
            <a:picLocks noChangeAspect="1"/>
          </p:cNvPicPr>
          <p:nvPr/>
        </p:nvPicPr>
        <p:blipFill>
          <a:blip r:embed="rId2"/>
          <a:stretch>
            <a:fillRect/>
          </a:stretch>
        </p:blipFill>
        <p:spPr>
          <a:xfrm>
            <a:off x="548640" y="6272784"/>
            <a:ext cx="1143000" cy="274320"/>
          </a:xfrm>
          <a:prstGeom prst="rect">
            <a:avLst/>
          </a:prstGeom>
        </p:spPr>
      </p:pic>
      <p:sp>
        <p:nvSpPr>
          <p:cNvPr id="10"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a:t>
            </a:r>
          </a:p>
        </p:txBody>
      </p:sp>
      <p:sp>
        <p:nvSpPr>
          <p:cNvPr id="1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THE OFFER</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follows the meeting request, segment by segment</a:t>
            </a:r>
          </a:p>
        </p:txBody>
      </p:sp>
      <p:graphicFrame>
        <p:nvGraphicFramePr>
          <p:cNvPr id="4" name="Table 3"/>
          <p:cNvGraphicFramePr>
            <a:graphicFrameLocks noGrp="1"/>
          </p:cNvGraphicFramePr>
          <p:nvPr/>
        </p:nvGraphicFramePr>
        <p:xfrm>
          <a:off x="548640" y="1298448"/>
          <a:ext cx="11091672" cy="4389120"/>
        </p:xfrm>
        <a:graphic>
          <a:graphicData uri="http://schemas.openxmlformats.org/drawingml/2006/table">
            <a:tbl>
              <a:tblPr firstRow="0" bandRow="0">
                <a:tableStyleId>{2D5ABB26-0587-4C30-8999-92F81FD0307C}</a:tableStyleId>
              </a:tblPr>
              <a:tblGrid>
                <a:gridCol w="1828800"/>
                <a:gridCol w="3246120"/>
                <a:gridCol w="4069080"/>
                <a:gridCol w="1947672"/>
              </a:tblGrid>
              <a:tr h="548640">
                <a:tc>
                  <a:txBody>
                    <a:bodyPr wrap="square"/>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FIRST MESSAGE (NO TERMS)</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OFFER MESSAGE: FOLLOW-UP 1 (REGISTER TERMS)</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CONDITION</a:t>
                      </a:r>
                    </a:p>
                  </a:txBody>
                  <a:tcPr marL="54864" marR="54864" marT="36576" marB="36576" anchor="ctr">
                    <a:lnL w="0">
                      <a:noFill/>
                    </a:lnL>
                    <a:lnR w="0">
                      <a:noFill/>
                    </a:lnR>
                    <a:lnT w="0">
                      <a:noFill/>
                    </a:lnT>
                    <a:lnB w="12700">
                      <a:solidFill>
                        <a:srgbClr val="80BFEC"/>
                      </a:solidFill>
                    </a:lnB>
                    <a:noFill/>
                  </a:tcPr>
                </a:tc>
              </a:tr>
              <a:tr h="548640">
                <a:tc>
                  <a:txBody>
                    <a:bodyPr wrap="square"/>
                    <a:lstStyle/>
                    <a:p>
                      <a:r>
                        <a:rPr sz="950" b="1" i="0">
                          <a:solidFill>
                            <a:srgbClr val="002368"/>
                          </a:solidFill>
                          <a:latin typeface="Arial"/>
                        </a:rPr>
                        <a:t>Employers (B)</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partnership on an education benefit for staff's children, and a short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Staff fee benefit at no cost to the employer (OF04): 20% for heads of department while the child studies; 10% off year one for other staff. Family offer: free uniform for full-year payment (OF01), sibling 10% / 20% (OF02), four instalments (OF09)</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Finance to confirm for 2027</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Variant A sponsors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of students, any size (textbooks, transport, meals), with its own published giving as the reason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None until it replies; sponsorship follow-up copy awaits approval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 offer before a reply</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Savings groups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meeting with the committee about members' children's education (Kiswahili for review)</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Family offer, plus the member-association group rate (OF07): 7% per student at 50, 12% at 100, 17% at 150</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Finance must extend OF07; Kiswahili review</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Welfare homes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partnership on the education of the children in their care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Partner rate (OF03): 3% per child at 10 children rising to 18% at 60, when all primary-age children are placed; free uniform and instalments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All primary-age children; Finance for 2027</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Welfare funders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of students, with its verified support for a home as the reason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The partner rate as a way to stretch sponsorship</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Held without a verified link</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Introducers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partnership so members can offer the benefit; share it in a bulletin or forum</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OF04 for '&lt;Organisation&gt;'s member organisations' staff, plus the family offer; a one-page note for the bulletin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Finance to confirm for 2027</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Government</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free 15–20 minute Kiswahili school-readiness talk at community meetings, with a parent booklet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None: no offer, fee or service; never a discount to officials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Register rule 5</a:t>
                      </a:r>
                    </a:p>
                  </a:txBody>
                  <a:tcPr marL="54864" marR="54864" marT="36576" marB="36576" anchor="ctr">
                    <a:lnL w="0">
                      <a:noFill/>
                    </a:lnL>
                    <a:lnR w="0">
                      <a:noFill/>
                    </a:lnR>
                    <a:lnT w="0">
                      <a:noFill/>
                    </a:lnT>
                    <a:lnB w="9525">
                      <a:solidFill>
                        <a:srgbClr val="ECECEC"/>
                      </a:solidFill>
                    </a:lnB>
                    <a:noFill/>
                  </a:tcPr>
                </a:tc>
              </a:tr>
            </a:tbl>
          </a:graphicData>
        </a:graphic>
      </p:graphicFrame>
      <p:pic>
        <p:nvPicPr>
          <p:cNvPr id="5" name="Picture 4" descr="image3.png"/>
          <p:cNvPicPr>
            <a:picLocks noChangeAspect="1"/>
          </p:cNvPicPr>
          <p:nvPr/>
        </p:nvPicPr>
        <p:blipFill>
          <a:blip r:embed="rId2"/>
          <a:stretch>
            <a:fillRect/>
          </a:stretch>
        </p:blipFill>
        <p:spPr>
          <a:xfrm>
            <a:off x="548640" y="6272784"/>
            <a:ext cx="1143000" cy="274320"/>
          </a:xfrm>
          <a:prstGeom prst="rect">
            <a:avLst/>
          </a:prstGeom>
        </p:spPr>
      </p:pic>
      <p:sp>
        <p:nvSpPr>
          <p:cNvPr id="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offer register; message drafts, October 2026</a:t>
            </a:r>
          </a:p>
        </p:txBody>
      </p:sp>
      <p:sp>
        <p:nvSpPr>
          <p:cNvPr id="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HOOKS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A hook is a sourced fact from the organisation's own page, or nothing</a:t>
            </a:r>
          </a:p>
        </p:txBody>
      </p:sp>
      <p:sp>
        <p:nvSpPr>
          <p:cNvPr id="4" name="Rounded Rectangle 3"/>
          <p:cNvSpPr/>
          <p:nvPr/>
        </p:nvSpPr>
        <p:spPr>
          <a:xfrm>
            <a:off x="548640" y="1325880"/>
            <a:ext cx="6035040" cy="1828800"/>
          </a:xfrm>
          <a:prstGeom prst="roundRect">
            <a:avLst>
              <a:gd name="adj" fmla="val 3500"/>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22960" y="1463040"/>
            <a:ext cx="5577840" cy="274320"/>
          </a:xfrm>
          <a:prstGeom prst="rect">
            <a:avLst/>
          </a:prstGeom>
          <a:noFill/>
        </p:spPr>
        <p:txBody>
          <a:bodyPr wrap="square" lIns="0" tIns="0" rIns="0" bIns="0" anchor="t">
            <a:spAutoFit/>
          </a:bodyPr>
          <a:lstStyle/>
          <a:p>
            <a:pPr algn="l"/>
            <a:r>
              <a:rPr sz="900" b="1" i="0" spc="200">
                <a:solidFill>
                  <a:srgbClr val="818283"/>
                </a:solidFill>
                <a:latin typeface="Arial"/>
              </a:rPr>
              <a:t>THE PATTERN</a:t>
            </a:r>
          </a:p>
        </p:txBody>
      </p:sp>
      <p:sp>
        <p:nvSpPr>
          <p:cNvPr id="6" name="TextBox 5"/>
          <p:cNvSpPr txBox="1"/>
          <p:nvPr/>
        </p:nvSpPr>
        <p:spPr>
          <a:xfrm>
            <a:off x="822960" y="1755648"/>
            <a:ext cx="5577840" cy="457200"/>
          </a:xfrm>
          <a:prstGeom prst="rect">
            <a:avLst/>
          </a:prstGeom>
          <a:noFill/>
        </p:spPr>
        <p:txBody>
          <a:bodyPr wrap="square" lIns="0" tIns="0" rIns="0" bIns="0" anchor="t">
            <a:spAutoFit/>
          </a:bodyPr>
          <a:lstStyle/>
          <a:p>
            <a:pPr algn="l"/>
            <a:r>
              <a:rPr sz="1500" b="0" i="0">
                <a:solidFill>
                  <a:srgbClr val="002368"/>
                </a:solidFill>
                <a:latin typeface="Georgia"/>
              </a:rPr>
              <a:t>Observed fact → practical relevance → low-effort benefit</a:t>
            </a:r>
          </a:p>
        </p:txBody>
      </p:sp>
      <p:sp>
        <p:nvSpPr>
          <p:cNvPr id="7" name="TextBox 6"/>
          <p:cNvSpPr txBox="1"/>
          <p:nvPr/>
        </p:nvSpPr>
        <p:spPr>
          <a:xfrm>
            <a:off x="822960" y="2240280"/>
            <a:ext cx="5577840" cy="868680"/>
          </a:xfrm>
          <a:prstGeom prst="rect">
            <a:avLst/>
          </a:prstGeom>
          <a:noFill/>
        </p:spPr>
        <p:txBody>
          <a:bodyPr wrap="square" lIns="0" tIns="0" rIns="0" bIns="0" anchor="t">
            <a:spAutoFit/>
          </a:bodyPr>
          <a:lstStyle/>
          <a:p>
            <a:pPr algn="l"/>
            <a:r>
              <a:rPr sz="1050" b="0" i="0">
                <a:solidFill>
                  <a:srgbClr val="000000"/>
                </a:solidFill>
                <a:latin typeface="Arial"/>
              </a:rPr>
              <a:t>Kept only when the exact claim has a source URL and a verification date; otherwise the hook is left blank and the message opens directly with the request. No flattery, no personal details, no implication that the recipient is a parent.</a:t>
            </a:r>
          </a:p>
        </p:txBody>
      </p:sp>
      <p:sp>
        <p:nvSpPr>
          <p:cNvPr id="8" name="TextBox 7"/>
          <p:cNvSpPr txBox="1"/>
          <p:nvPr/>
        </p:nvSpPr>
        <p:spPr>
          <a:xfrm>
            <a:off x="548640" y="3337560"/>
            <a:ext cx="1463040" cy="502920"/>
          </a:xfrm>
          <a:prstGeom prst="rect">
            <a:avLst/>
          </a:prstGeom>
          <a:noFill/>
        </p:spPr>
        <p:txBody>
          <a:bodyPr wrap="square" lIns="0" tIns="0" rIns="0" bIns="0" anchor="t">
            <a:spAutoFit/>
          </a:bodyPr>
          <a:lstStyle/>
          <a:p>
            <a:pPr algn="l"/>
            <a:r>
              <a:rPr sz="2800" b="0" i="0">
                <a:solidFill>
                  <a:srgbClr val="002368"/>
                </a:solidFill>
                <a:latin typeface="Georgia"/>
              </a:rPr>
              <a:t>103</a:t>
            </a:r>
          </a:p>
        </p:txBody>
      </p:sp>
      <p:sp>
        <p:nvSpPr>
          <p:cNvPr id="9" name="TextBox 8"/>
          <p:cNvSpPr txBox="1"/>
          <p:nvPr/>
        </p:nvSpPr>
        <p:spPr>
          <a:xfrm>
            <a:off x="548640"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verified hooks on master drafts</a:t>
            </a:r>
          </a:p>
        </p:txBody>
      </p:sp>
      <p:sp>
        <p:nvSpPr>
          <p:cNvPr id="10" name="TextBox 9"/>
          <p:cNvSpPr txBox="1"/>
          <p:nvPr/>
        </p:nvSpPr>
        <p:spPr>
          <a:xfrm>
            <a:off x="2066543" y="3337560"/>
            <a:ext cx="1463040" cy="502920"/>
          </a:xfrm>
          <a:prstGeom prst="rect">
            <a:avLst/>
          </a:prstGeom>
          <a:noFill/>
        </p:spPr>
        <p:txBody>
          <a:bodyPr wrap="square" lIns="0" tIns="0" rIns="0" bIns="0" anchor="t">
            <a:spAutoFit/>
          </a:bodyPr>
          <a:lstStyle/>
          <a:p>
            <a:pPr algn="l"/>
            <a:r>
              <a:rPr sz="2800" b="0" i="0">
                <a:solidFill>
                  <a:srgbClr val="818283"/>
                </a:solidFill>
                <a:latin typeface="Georgia"/>
              </a:rPr>
              <a:t>354</a:t>
            </a:r>
          </a:p>
        </p:txBody>
      </p:sp>
      <p:sp>
        <p:nvSpPr>
          <p:cNvPr id="11" name="TextBox 10"/>
          <p:cNvSpPr txBox="1"/>
          <p:nvPr/>
        </p:nvSpPr>
        <p:spPr>
          <a:xfrm>
            <a:off x="2066543"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removed: exact claim not independently verified</a:t>
            </a:r>
          </a:p>
        </p:txBody>
      </p:sp>
      <p:sp>
        <p:nvSpPr>
          <p:cNvPr id="12" name="TextBox 11"/>
          <p:cNvSpPr txBox="1"/>
          <p:nvPr/>
        </p:nvSpPr>
        <p:spPr>
          <a:xfrm>
            <a:off x="3584448" y="3337560"/>
            <a:ext cx="1463040" cy="502920"/>
          </a:xfrm>
          <a:prstGeom prst="rect">
            <a:avLst/>
          </a:prstGeom>
          <a:noFill/>
        </p:spPr>
        <p:txBody>
          <a:bodyPr wrap="square" lIns="0" tIns="0" rIns="0" bIns="0" anchor="t">
            <a:spAutoFit/>
          </a:bodyPr>
          <a:lstStyle/>
          <a:p>
            <a:pPr algn="l"/>
            <a:r>
              <a:rPr sz="2800" b="0" i="0">
                <a:solidFill>
                  <a:srgbClr val="8091B3"/>
                </a:solidFill>
                <a:latin typeface="Georgia"/>
              </a:rPr>
              <a:t>794</a:t>
            </a:r>
          </a:p>
        </p:txBody>
      </p:sp>
      <p:sp>
        <p:nvSpPr>
          <p:cNvPr id="13" name="TextBox 12"/>
          <p:cNvSpPr txBox="1"/>
          <p:nvPr/>
        </p:nvSpPr>
        <p:spPr>
          <a:xfrm>
            <a:off x="3584448"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no hook: request-first opening</a:t>
            </a:r>
          </a:p>
        </p:txBody>
      </p:sp>
      <p:sp>
        <p:nvSpPr>
          <p:cNvPr id="14" name="TextBox 13"/>
          <p:cNvSpPr txBox="1"/>
          <p:nvPr/>
        </p:nvSpPr>
        <p:spPr>
          <a:xfrm>
            <a:off x="5102351" y="3337560"/>
            <a:ext cx="1463040" cy="502920"/>
          </a:xfrm>
          <a:prstGeom prst="rect">
            <a:avLst/>
          </a:prstGeom>
          <a:noFill/>
        </p:spPr>
        <p:txBody>
          <a:bodyPr wrap="square" lIns="0" tIns="0" rIns="0" bIns="0" anchor="t">
            <a:spAutoFit/>
          </a:bodyPr>
          <a:lstStyle/>
          <a:p>
            <a:pPr algn="l"/>
            <a:r>
              <a:rPr sz="2800" b="0" i="0">
                <a:solidFill>
                  <a:srgbClr val="002368"/>
                </a:solidFill>
                <a:latin typeface="Georgia"/>
              </a:rPr>
              <a:t>67</a:t>
            </a:r>
          </a:p>
        </p:txBody>
      </p:sp>
      <p:sp>
        <p:nvSpPr>
          <p:cNvPr id="15" name="TextBox 14"/>
          <p:cNvSpPr txBox="1"/>
          <p:nvPr/>
        </p:nvSpPr>
        <p:spPr>
          <a:xfrm>
            <a:off x="5102351"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welfare drafts with a sourced reason</a:t>
            </a:r>
          </a:p>
        </p:txBody>
      </p:sp>
      <p:sp>
        <p:nvSpPr>
          <p:cNvPr id="16" name="TextBox 15"/>
          <p:cNvSpPr txBox="1"/>
          <p:nvPr/>
        </p:nvSpPr>
        <p:spPr>
          <a:xfrm>
            <a:off x="548640" y="4572000"/>
            <a:ext cx="6035040" cy="137160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Example: 'Your website says the agency employs more than 100 local people, including guides, receptionists and cooks, so such a benefit could reach a wide team.' (a workforce fact from the company's own website)</a:t>
            </a:r>
          </a:p>
          <a:p>
            <a:pPr algn="l" marL="155448" indent="-155448">
              <a:spcAft>
                <a:spcPts val="300"/>
              </a:spcAft>
              <a:buFont typeface="Arial"/>
              <a:buChar char="•"/>
            </a:pPr>
            <a:r>
              <a:rPr sz="1000" b="0" i="0">
                <a:solidFill>
                  <a:srgbClr val="000000"/>
                </a:solidFill>
                <a:latin typeface="Arial"/>
              </a:rPr>
              <a:t>Hook types on file: workforce 33, staff welfare 20, community programme 20, education programme 17, locality 11, growth 2.</a:t>
            </a:r>
          </a:p>
        </p:txBody>
      </p:sp>
      <p:sp>
        <p:nvSpPr>
          <p:cNvPr id="17" name="Rounded Rectangle 16"/>
          <p:cNvSpPr/>
          <p:nvPr/>
        </p:nvSpPr>
        <p:spPr>
          <a:xfrm>
            <a:off x="6812280" y="1325880"/>
            <a:ext cx="4828032" cy="4617720"/>
          </a:xfrm>
          <a:prstGeom prst="roundRect">
            <a:avLst>
              <a:gd name="adj" fmla="val 1386"/>
            </a:avLst>
          </a:prstGeom>
          <a:solidFill>
            <a:srgbClr val="002368"/>
          </a:solidFill>
          <a:ln w="12700">
            <a:solidFill>
              <a:srgbClr val="002368"/>
            </a:solidFill>
          </a:ln>
        </p:spPr>
        <p:txBody>
          <a:bodyPr rtlCol="0" anchor="ctr"/>
          <a:lstStyle/>
          <a:p>
            <a:pPr algn="ctr"/>
          </a:p>
        </p:txBody>
      </p:sp>
      <p:sp>
        <p:nvSpPr>
          <p:cNvPr id="18" name="TextBox 17"/>
          <p:cNvSpPr txBox="1"/>
          <p:nvPr/>
        </p:nvSpPr>
        <p:spPr>
          <a:xfrm>
            <a:off x="7040880" y="1463040"/>
            <a:ext cx="4389120" cy="274320"/>
          </a:xfrm>
          <a:prstGeom prst="rect">
            <a:avLst/>
          </a:prstGeom>
          <a:noFill/>
        </p:spPr>
        <p:txBody>
          <a:bodyPr wrap="square" lIns="0" tIns="0" rIns="0" bIns="0" anchor="t">
            <a:spAutoFit/>
          </a:bodyPr>
          <a:lstStyle/>
          <a:p>
            <a:pPr algn="l"/>
            <a:r>
              <a:rPr sz="900" b="1" i="0" spc="200">
                <a:solidFill>
                  <a:srgbClr val="80BFEC"/>
                </a:solidFill>
                <a:latin typeface="Arial"/>
              </a:rPr>
              <a:t>GOVERNMENT  ·  COUNCIL LETTER, ENGLISH MEANING</a:t>
            </a:r>
          </a:p>
        </p:txBody>
      </p:sp>
      <p:sp>
        <p:nvSpPr>
          <p:cNvPr id="19" name="TextBox 18"/>
          <p:cNvSpPr txBox="1"/>
          <p:nvPr/>
        </p:nvSpPr>
        <p:spPr>
          <a:xfrm>
            <a:off x="7040880" y="1783080"/>
            <a:ext cx="4434840" cy="4069080"/>
          </a:xfrm>
          <a:prstGeom prst="rect">
            <a:avLst/>
          </a:prstGeom>
          <a:noFill/>
        </p:spPr>
        <p:txBody>
          <a:bodyPr wrap="square" lIns="0" tIns="0" rIns="0" bIns="0" anchor="t">
            <a:spAutoFit/>
          </a:bodyPr>
          <a:lstStyle/>
          <a:p>
            <a:pPr algn="l"/>
            <a:r>
              <a:rPr sz="1100" b="1" i="0">
                <a:solidFill>
                  <a:srgbClr val="FFC952"/>
                </a:solidFill>
                <a:latin typeface="Arial"/>
              </a:rPr>
              <a:t>RE: Request for an introduction to give parents information on preparing children to start school</a:t>
            </a:r>
          </a:p>
          <a:p>
            <a:pPr algn="l"/>
            <a:r>
              <a:rPr sz="1100" b="0" i="0">
                <a:solidFill>
                  <a:srgbClr val="FFFFFF"/>
                </a:solidFill>
                <a:latin typeface="Arial"/>
              </a:rPr>
              <a:t/>
            </a:r>
          </a:p>
          <a:p>
            <a:pPr algn="l"/>
            <a:r>
              <a:rPr sz="1100" b="0" i="0">
                <a:solidFill>
                  <a:srgbClr val="FFFFFF"/>
                </a:solidFill>
                <a:latin typeface="Arial"/>
              </a:rPr>
              <a:t>We ask for your advice and a letter introducing us to the ward executive officers so that, where appropriate, we can have a short 15 to 20 minutes at community meetings. We will give a free talk in Kiswahili on getting children ready for school, learning at home and the admissions calendar. Every parent will receive a parent booklet.</a:t>
            </a:r>
          </a:p>
          <a:p>
            <a:pPr algn="l"/>
            <a:r>
              <a:rPr sz="1100" b="0" i="0">
                <a:solidFill>
                  <a:srgbClr val="FFFFFF"/>
                </a:solidFill>
                <a:latin typeface="Arial"/>
              </a:rPr>
              <a:t/>
            </a:r>
          </a:p>
          <a:p>
            <a:pPr algn="l"/>
            <a:r>
              <a:rPr sz="1100" b="0" i="0">
                <a:solidFill>
                  <a:srgbClr val="FFFFFF"/>
                </a:solidFill>
                <a:latin typeface="Arial"/>
              </a:rPr>
              <a:t>Parents who want more information will fill in our form only if they choose to. We will not ask for resident lists or any residents' information, and we will not offer payments or gifts to anyone.</a:t>
            </a:r>
          </a:p>
          <a:p>
            <a:pPr algn="l"/>
            <a:r>
              <a:rPr sz="1100" b="0" i="0">
                <a:solidFill>
                  <a:srgbClr val="FFFFFF"/>
                </a:solidFill>
                <a:latin typeface="Arial"/>
              </a:rPr>
              <a:t/>
            </a:r>
          </a:p>
          <a:p>
            <a:pPr algn="l"/>
            <a:r>
              <a:rPr sz="1100" b="0" i="0">
                <a:solidFill>
                  <a:srgbClr val="80BFEC"/>
                </a:solidFill>
                <a:latin typeface="Arial"/>
              </a:rPr>
              <a:t>Formal Kiswahili on letterhead, to the office by title, by hand. No hook that is personal; no offer.</a:t>
            </a:r>
          </a:p>
        </p:txBody>
      </p:sp>
      <p:pic>
        <p:nvPicPr>
          <p:cNvPr id="20" name="Picture 19" descr="image3.png"/>
          <p:cNvPicPr>
            <a:picLocks noChangeAspect="1"/>
          </p:cNvPicPr>
          <p:nvPr/>
        </p:nvPicPr>
        <p:blipFill>
          <a:blip r:embed="rId2"/>
          <a:stretch>
            <a:fillRect/>
          </a:stretch>
        </p:blipFill>
        <p:spPr>
          <a:xfrm>
            <a:off x="548640" y="6272784"/>
            <a:ext cx="1143000" cy="274320"/>
          </a:xfrm>
          <a:prstGeom prst="rect">
            <a:avLst/>
          </a:prstGeom>
        </p:spPr>
      </p:pic>
      <p:sp>
        <p:nvSpPr>
          <p:cNvPr id="2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hook guidance and message drafts; government letter drafts</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BEYOND EMAIL</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Calls and letters carry the leads email cannot reach</a:t>
            </a:r>
          </a:p>
        </p:txBody>
      </p:sp>
      <p:sp>
        <p:nvSpPr>
          <p:cNvPr id="4" name="Rounded Rectangle 3"/>
          <p:cNvSpPr/>
          <p:nvPr/>
        </p:nvSpPr>
        <p:spPr>
          <a:xfrm>
            <a:off x="548640" y="1325880"/>
            <a:ext cx="3593592" cy="3931920"/>
          </a:xfrm>
          <a:prstGeom prst="roundRect">
            <a:avLst>
              <a:gd name="adj" fmla="val 1781"/>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22959" y="1481328"/>
            <a:ext cx="914400" cy="548640"/>
          </a:xfrm>
          <a:prstGeom prst="rect">
            <a:avLst/>
          </a:prstGeom>
          <a:noFill/>
        </p:spPr>
        <p:txBody>
          <a:bodyPr wrap="square" lIns="0" tIns="0" rIns="0" bIns="0" anchor="t">
            <a:spAutoFit/>
          </a:bodyPr>
          <a:lstStyle/>
          <a:p>
            <a:pPr algn="l"/>
            <a:r>
              <a:rPr sz="3000" b="0" i="0">
                <a:solidFill>
                  <a:srgbClr val="002368"/>
                </a:solidFill>
                <a:latin typeface="Georgia"/>
              </a:rPr>
              <a:t>01</a:t>
            </a:r>
          </a:p>
        </p:txBody>
      </p:sp>
      <p:sp>
        <p:nvSpPr>
          <p:cNvPr id="6" name="TextBox 5"/>
          <p:cNvSpPr txBox="1"/>
          <p:nvPr/>
        </p:nvSpPr>
        <p:spPr>
          <a:xfrm>
            <a:off x="822959" y="2103120"/>
            <a:ext cx="3108960" cy="320040"/>
          </a:xfrm>
          <a:prstGeom prst="rect">
            <a:avLst/>
          </a:prstGeom>
          <a:noFill/>
        </p:spPr>
        <p:txBody>
          <a:bodyPr wrap="square" lIns="0" tIns="0" rIns="0" bIns="0" anchor="t">
            <a:spAutoFit/>
          </a:bodyPr>
          <a:lstStyle/>
          <a:p>
            <a:pPr algn="l"/>
            <a:r>
              <a:rPr sz="1600" b="1" i="0">
                <a:solidFill>
                  <a:srgbClr val="002368"/>
                </a:solidFill>
                <a:latin typeface="Arial"/>
              </a:rPr>
              <a:t>Front-desk call</a:t>
            </a:r>
          </a:p>
        </p:txBody>
      </p:sp>
      <p:sp>
        <p:nvSpPr>
          <p:cNvPr id="7" name="TextBox 6"/>
          <p:cNvSpPr txBox="1"/>
          <p:nvPr/>
        </p:nvSpPr>
        <p:spPr>
          <a:xfrm>
            <a:off x="822959" y="2468880"/>
            <a:ext cx="3108960" cy="502920"/>
          </a:xfrm>
          <a:prstGeom prst="rect">
            <a:avLst/>
          </a:prstGeom>
          <a:noFill/>
        </p:spPr>
        <p:txBody>
          <a:bodyPr wrap="square" lIns="0" tIns="0" rIns="0" bIns="0" anchor="t">
            <a:spAutoFit/>
          </a:bodyPr>
          <a:lstStyle/>
          <a:p>
            <a:pPr algn="l"/>
            <a:r>
              <a:rPr sz="1050" b="1" i="0">
                <a:solidFill>
                  <a:srgbClr val="818283"/>
                </a:solidFill>
                <a:latin typeface="Arial"/>
              </a:rPr>
              <a:t>General inbox, silent after the redirect request</a:t>
            </a:r>
          </a:p>
        </p:txBody>
      </p:sp>
      <p:sp>
        <p:nvSpPr>
          <p:cNvPr id="8" name="TextBox 7"/>
          <p:cNvSpPr txBox="1"/>
          <p:nvPr/>
        </p:nvSpPr>
        <p:spPr>
          <a:xfrm>
            <a:off x="822959" y="3017520"/>
            <a:ext cx="3108960" cy="2194560"/>
          </a:xfrm>
          <a:prstGeom prst="rect">
            <a:avLst/>
          </a:prstGeom>
          <a:noFill/>
        </p:spPr>
        <p:txBody>
          <a:bodyPr wrap="square" lIns="0" tIns="0" rIns="0" bIns="0" anchor="t">
            <a:spAutoFit/>
          </a:bodyPr>
          <a:lstStyle/>
          <a:p>
            <a:pPr algn="l"/>
            <a:r>
              <a:rPr sz="1050" b="0" i="0">
                <a:solidFill>
                  <a:srgbClr val="000000"/>
                </a:solidFill>
                <a:latin typeface="Arial"/>
              </a:rPr>
              <a:t>After 2 working days, call the front desk and ask for the HR or welfare officer's name and email. Public bodies: the HR office or registry. Introducers: the secretariat. Homes: the home's office, then a letter left at the office.</a:t>
            </a:r>
          </a:p>
        </p:txBody>
      </p:sp>
      <p:sp>
        <p:nvSpPr>
          <p:cNvPr id="9" name="Rounded Rectangle 8"/>
          <p:cNvSpPr/>
          <p:nvPr/>
        </p:nvSpPr>
        <p:spPr>
          <a:xfrm>
            <a:off x="4297679" y="1325880"/>
            <a:ext cx="3593592" cy="3931920"/>
          </a:xfrm>
          <a:prstGeom prst="roundRect">
            <a:avLst>
              <a:gd name="adj" fmla="val 1781"/>
            </a:avLst>
          </a:prstGeom>
          <a:solidFill>
            <a:srgbClr val="002368"/>
          </a:solidFill>
          <a:ln w="12700">
            <a:solidFill>
              <a:srgbClr val="002368"/>
            </a:solidFill>
          </a:ln>
        </p:spPr>
        <p:txBody>
          <a:bodyPr rtlCol="0" anchor="ctr"/>
          <a:lstStyle/>
          <a:p>
            <a:pPr algn="ctr"/>
          </a:p>
        </p:txBody>
      </p:sp>
      <p:sp>
        <p:nvSpPr>
          <p:cNvPr id="10" name="TextBox 9"/>
          <p:cNvSpPr txBox="1"/>
          <p:nvPr/>
        </p:nvSpPr>
        <p:spPr>
          <a:xfrm>
            <a:off x="4571999" y="1481328"/>
            <a:ext cx="914400" cy="548640"/>
          </a:xfrm>
          <a:prstGeom prst="rect">
            <a:avLst/>
          </a:prstGeom>
          <a:noFill/>
        </p:spPr>
        <p:txBody>
          <a:bodyPr wrap="square" lIns="0" tIns="0" rIns="0" bIns="0" anchor="t">
            <a:spAutoFit/>
          </a:bodyPr>
          <a:lstStyle/>
          <a:p>
            <a:pPr algn="l"/>
            <a:r>
              <a:rPr sz="3000" b="0" i="0">
                <a:solidFill>
                  <a:srgbClr val="FFC952"/>
                </a:solidFill>
                <a:latin typeface="Georgia"/>
              </a:rPr>
              <a:t>02</a:t>
            </a:r>
          </a:p>
        </p:txBody>
      </p:sp>
      <p:sp>
        <p:nvSpPr>
          <p:cNvPr id="11" name="TextBox 10"/>
          <p:cNvSpPr txBox="1"/>
          <p:nvPr/>
        </p:nvSpPr>
        <p:spPr>
          <a:xfrm>
            <a:off x="4571999" y="2103120"/>
            <a:ext cx="3108960" cy="320040"/>
          </a:xfrm>
          <a:prstGeom prst="rect">
            <a:avLst/>
          </a:prstGeom>
          <a:noFill/>
        </p:spPr>
        <p:txBody>
          <a:bodyPr wrap="square" lIns="0" tIns="0" rIns="0" bIns="0" anchor="t">
            <a:spAutoFit/>
          </a:bodyPr>
          <a:lstStyle/>
          <a:p>
            <a:pPr algn="l"/>
            <a:r>
              <a:rPr sz="1600" b="1" i="0">
                <a:solidFill>
                  <a:srgbClr val="FFFFFF"/>
                </a:solidFill>
                <a:latin typeface="Arial"/>
              </a:rPr>
              <a:t>Call sheet</a:t>
            </a:r>
          </a:p>
        </p:txBody>
      </p:sp>
      <p:sp>
        <p:nvSpPr>
          <p:cNvPr id="12" name="TextBox 11"/>
          <p:cNvSpPr txBox="1"/>
          <p:nvPr/>
        </p:nvSpPr>
        <p:spPr>
          <a:xfrm>
            <a:off x="4571999" y="2468880"/>
            <a:ext cx="3108960" cy="502920"/>
          </a:xfrm>
          <a:prstGeom prst="rect">
            <a:avLst/>
          </a:prstGeom>
          <a:noFill/>
        </p:spPr>
        <p:txBody>
          <a:bodyPr wrap="square" lIns="0" tIns="0" rIns="0" bIns="0" anchor="t">
            <a:spAutoFit/>
          </a:bodyPr>
          <a:lstStyle/>
          <a:p>
            <a:pPr algn="l"/>
            <a:r>
              <a:rPr sz="1050" b="1" i="0">
                <a:solidFill>
                  <a:srgbClr val="80BFEC"/>
                </a:solidFill>
                <a:latin typeface="Arial"/>
              </a:rPr>
              <a:t>802 leads with no email: 569 master, 233 welfare</a:t>
            </a:r>
          </a:p>
        </p:txBody>
      </p:sp>
      <p:sp>
        <p:nvSpPr>
          <p:cNvPr id="13" name="TextBox 12"/>
          <p:cNvSpPr txBox="1"/>
          <p:nvPr/>
        </p:nvSpPr>
        <p:spPr>
          <a:xfrm>
            <a:off x="4571999" y="3017520"/>
            <a:ext cx="3108960" cy="2194560"/>
          </a:xfrm>
          <a:prstGeom prst="rect">
            <a:avLst/>
          </a:prstGeom>
          <a:noFill/>
        </p:spPr>
        <p:txBody>
          <a:bodyPr wrap="square" lIns="0" tIns="0" rIns="0" bIns="0" anchor="t">
            <a:spAutoFit/>
          </a:bodyPr>
          <a:lstStyle/>
          <a:p>
            <a:pPr algn="l"/>
            <a:r>
              <a:rPr sz="1050" b="0" i="0">
                <a:solidFill>
                  <a:srgbClr val="D9ECF9"/>
                </a:solidFill>
                <a:latin typeface="Arial"/>
              </a:rPr>
              <a:t>A front-desk call asking the redirect question, two attempts on different days within 5 working days; the first message then follows 'as discussed'. Start with the 50 hotels and 18 hospitals and clinics that publish a phone.</a:t>
            </a:r>
          </a:p>
        </p:txBody>
      </p:sp>
      <p:sp>
        <p:nvSpPr>
          <p:cNvPr id="14" name="Rounded Rectangle 13"/>
          <p:cNvSpPr/>
          <p:nvPr/>
        </p:nvSpPr>
        <p:spPr>
          <a:xfrm>
            <a:off x="8046719" y="1325880"/>
            <a:ext cx="3593592" cy="3931920"/>
          </a:xfrm>
          <a:prstGeom prst="roundRect">
            <a:avLst>
              <a:gd name="adj" fmla="val 1781"/>
            </a:avLst>
          </a:prstGeom>
          <a:solidFill>
            <a:srgbClr val="D9ECF9"/>
          </a:solidFill>
          <a:ln w="12700">
            <a:solidFill>
              <a:srgbClr val="D9ECF9"/>
            </a:solidFill>
          </a:ln>
        </p:spPr>
        <p:txBody>
          <a:bodyPr rtlCol="0" anchor="ctr"/>
          <a:lstStyle/>
          <a:p>
            <a:pPr algn="ctr"/>
          </a:p>
        </p:txBody>
      </p:sp>
      <p:sp>
        <p:nvSpPr>
          <p:cNvPr id="15" name="TextBox 14"/>
          <p:cNvSpPr txBox="1"/>
          <p:nvPr/>
        </p:nvSpPr>
        <p:spPr>
          <a:xfrm>
            <a:off x="8321040" y="1481328"/>
            <a:ext cx="914400" cy="548640"/>
          </a:xfrm>
          <a:prstGeom prst="rect">
            <a:avLst/>
          </a:prstGeom>
          <a:noFill/>
        </p:spPr>
        <p:txBody>
          <a:bodyPr wrap="square" lIns="0" tIns="0" rIns="0" bIns="0" anchor="t">
            <a:spAutoFit/>
          </a:bodyPr>
          <a:lstStyle/>
          <a:p>
            <a:pPr algn="l"/>
            <a:r>
              <a:rPr sz="3000" b="0" i="0">
                <a:solidFill>
                  <a:srgbClr val="002368"/>
                </a:solidFill>
                <a:latin typeface="Georgia"/>
              </a:rPr>
              <a:t>03</a:t>
            </a:r>
          </a:p>
        </p:txBody>
      </p:sp>
      <p:sp>
        <p:nvSpPr>
          <p:cNvPr id="16" name="TextBox 15"/>
          <p:cNvSpPr txBox="1"/>
          <p:nvPr/>
        </p:nvSpPr>
        <p:spPr>
          <a:xfrm>
            <a:off x="8321040" y="2103120"/>
            <a:ext cx="3108960" cy="320040"/>
          </a:xfrm>
          <a:prstGeom prst="rect">
            <a:avLst/>
          </a:prstGeom>
          <a:noFill/>
        </p:spPr>
        <p:txBody>
          <a:bodyPr wrap="square" lIns="0" tIns="0" rIns="0" bIns="0" anchor="t">
            <a:spAutoFit/>
          </a:bodyPr>
          <a:lstStyle/>
          <a:p>
            <a:pPr algn="l"/>
            <a:r>
              <a:rPr sz="1600" b="1" i="0">
                <a:solidFill>
                  <a:srgbClr val="002368"/>
                </a:solidFill>
                <a:latin typeface="Arial"/>
              </a:rPr>
              <a:t>Hand-delivered letter</a:t>
            </a:r>
          </a:p>
        </p:txBody>
      </p:sp>
      <p:sp>
        <p:nvSpPr>
          <p:cNvPr id="17" name="TextBox 16"/>
          <p:cNvSpPr txBox="1"/>
          <p:nvPr/>
        </p:nvSpPr>
        <p:spPr>
          <a:xfrm>
            <a:off x="8321040" y="2468880"/>
            <a:ext cx="3108960" cy="502920"/>
          </a:xfrm>
          <a:prstGeom prst="rect">
            <a:avLst/>
          </a:prstGeom>
          <a:noFill/>
        </p:spPr>
        <p:txBody>
          <a:bodyPr wrap="square" lIns="0" tIns="0" rIns="0" bIns="0" anchor="t">
            <a:spAutoFit/>
          </a:bodyPr>
          <a:lstStyle/>
          <a:p>
            <a:pPr algn="l"/>
            <a:r>
              <a:rPr sz="1050" b="1" i="0">
                <a:solidFill>
                  <a:srgbClr val="818283"/>
                </a:solidFill>
                <a:latin typeface="Arial"/>
              </a:rPr>
              <a:t>The nearest P1 and P2 leads</a:t>
            </a:r>
          </a:p>
        </p:txBody>
      </p:sp>
      <p:sp>
        <p:nvSpPr>
          <p:cNvPr id="18" name="TextBox 17"/>
          <p:cNvSpPr txBox="1"/>
          <p:nvPr/>
        </p:nvSpPr>
        <p:spPr>
          <a:xfrm>
            <a:off x="8321040" y="3017520"/>
            <a:ext cx="3108960" cy="2194560"/>
          </a:xfrm>
          <a:prstGeom prst="rect">
            <a:avLst/>
          </a:prstGeom>
          <a:noFill/>
        </p:spPr>
        <p:txBody>
          <a:bodyPr wrap="square" lIns="0" tIns="0" rIns="0" bIns="0" anchor="t">
            <a:spAutoFit/>
          </a:bodyPr>
          <a:lstStyle/>
          <a:p>
            <a:pPr algn="l"/>
            <a:r>
              <a:rPr sz="1050" b="0" i="0">
                <a:solidFill>
                  <a:srgbClr val="000000"/>
                </a:solidFill>
                <a:latin typeface="Arial"/>
              </a:rPr>
              <a:t>If the call gives no name or route, a letter is delivered by hand; then dormant, and re-tried once at the next intake window. Savings groups get a Kiswahili letter; government letters always go by hand.</a:t>
            </a:r>
          </a:p>
        </p:txBody>
      </p:sp>
      <p:sp>
        <p:nvSpPr>
          <p:cNvPr id="19" name="Rounded Rectangle 18"/>
          <p:cNvSpPr/>
          <p:nvPr/>
        </p:nvSpPr>
        <p:spPr>
          <a:xfrm>
            <a:off x="548640" y="5440680"/>
            <a:ext cx="11091672" cy="548640"/>
          </a:xfrm>
          <a:prstGeom prst="roundRect">
            <a:avLst>
              <a:gd name="adj" fmla="val 11666"/>
            </a:avLst>
          </a:prstGeom>
          <a:solidFill>
            <a:srgbClr val="FFF7E5"/>
          </a:solidFill>
          <a:ln w="12700">
            <a:solidFill>
              <a:srgbClr val="FFF7E5"/>
            </a:solidFill>
          </a:ln>
        </p:spPr>
        <p:txBody>
          <a:bodyPr rtlCol="0" anchor="ctr"/>
          <a:lstStyle/>
          <a:p>
            <a:pPr algn="ctr"/>
          </a:p>
        </p:txBody>
      </p:sp>
      <p:sp>
        <p:nvSpPr>
          <p:cNvPr id="20" name="Hexagon 19"/>
          <p:cNvSpPr/>
          <p:nvPr/>
        </p:nvSpPr>
        <p:spPr>
          <a:xfrm>
            <a:off x="777240" y="5641848"/>
            <a:ext cx="292608" cy="25603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a:t>
            </a:r>
          </a:p>
        </p:txBody>
      </p:sp>
      <p:sp>
        <p:nvSpPr>
          <p:cNvPr id="21" name="TextBox 20"/>
          <p:cNvSpPr txBox="1"/>
          <p:nvPr/>
        </p:nvSpPr>
        <p:spPr>
          <a:xfrm>
            <a:off x="1234440" y="5623560"/>
            <a:ext cx="10177272" cy="228600"/>
          </a:xfrm>
          <a:prstGeom prst="rect">
            <a:avLst/>
          </a:prstGeom>
          <a:noFill/>
        </p:spPr>
        <p:txBody>
          <a:bodyPr wrap="square" lIns="0" tIns="0" rIns="0" bIns="0" anchor="t">
            <a:spAutoFit/>
          </a:bodyPr>
          <a:lstStyle/>
          <a:p>
            <a:pPr algn="l">
              <a:spcAft>
                <a:spcPts val="300"/>
              </a:spcAft>
            </a:pPr>
            <a:r>
              <a:rPr sz="1050" b="1" i="0">
                <a:solidFill>
                  <a:srgbClr val="002368"/>
                </a:solidFill>
                <a:latin typeface="Arial"/>
              </a:rPr>
              <a:t>Funders abroad: email only. </a:t>
            </a:r>
            <a:r>
              <a:rPr sz="1050" b="0" i="0">
                <a:solidFill>
                  <a:srgbClr val="000000"/>
                </a:solidFill>
                <a:latin typeface="Arial"/>
              </a:rPr>
              <a:t>No call or letter; dormant until the funder's next budget cycle. Homes are never visited unannounced: visits follow the safeguarding protocol.</a:t>
            </a:r>
          </a:p>
        </p:txBody>
      </p:sp>
      <p:pic>
        <p:nvPicPr>
          <p:cNvPr id="22" name="Picture 21" descr="image3.png"/>
          <p:cNvPicPr>
            <a:picLocks noChangeAspect="1"/>
          </p:cNvPicPr>
          <p:nvPr/>
        </p:nvPicPr>
        <p:blipFill>
          <a:blip r:embed="rId2"/>
          <a:stretch>
            <a:fillRect/>
          </a:stretch>
        </p:blipFill>
        <p:spPr>
          <a:xfrm>
            <a:off x="548640" y="6272784"/>
            <a:ext cx="1143000" cy="274320"/>
          </a:xfrm>
          <a:prstGeom prst="rect">
            <a:avLst/>
          </a:prstGeom>
        </p:spPr>
      </p:pic>
      <p:sp>
        <p:nvSpPr>
          <p:cNvPr id="23"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a:t>
            </a:r>
          </a:p>
        </p:txBody>
      </p:sp>
      <p:sp>
        <p:nvSpPr>
          <p:cNvPr id="24"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NAMED-PERSON FALLOUT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A named person gets three touches, then one escalation</a:t>
            </a:r>
          </a:p>
        </p:txBody>
      </p:sp>
      <p:sp>
        <p:nvSpPr>
          <p:cNvPr id="4" name="TextBox 3"/>
          <p:cNvSpPr txBox="1"/>
          <p:nvPr/>
        </p:nvSpPr>
        <p:spPr>
          <a:xfrm>
            <a:off x="548640" y="1325880"/>
            <a:ext cx="2560320" cy="228600"/>
          </a:xfrm>
          <a:prstGeom prst="rect">
            <a:avLst/>
          </a:prstGeom>
          <a:noFill/>
        </p:spPr>
        <p:txBody>
          <a:bodyPr wrap="square" lIns="0" tIns="0" rIns="0" bIns="0" anchor="t">
            <a:spAutoFit/>
          </a:bodyPr>
          <a:lstStyle/>
          <a:p>
            <a:pPr algn="l"/>
            <a:r>
              <a:rPr sz="900" b="1" i="0" spc="150">
                <a:solidFill>
                  <a:srgbClr val="818283"/>
                </a:solidFill>
                <a:latin typeface="Arial"/>
              </a:rPr>
              <a:t>DAY 0</a:t>
            </a:r>
          </a:p>
        </p:txBody>
      </p:sp>
      <p:sp>
        <p:nvSpPr>
          <p:cNvPr id="5" name="Rounded Rectangle 4"/>
          <p:cNvSpPr/>
          <p:nvPr/>
        </p:nvSpPr>
        <p:spPr>
          <a:xfrm>
            <a:off x="548640" y="1600200"/>
            <a:ext cx="2651760" cy="2148840"/>
          </a:xfrm>
          <a:prstGeom prst="roundRect">
            <a:avLst>
              <a:gd name="adj" fmla="val 2978"/>
            </a:avLst>
          </a:prstGeom>
          <a:solidFill>
            <a:srgbClr val="002368"/>
          </a:solidFill>
          <a:ln w="12700">
            <a:solidFill>
              <a:srgbClr val="002368"/>
            </a:solidFill>
          </a:ln>
        </p:spPr>
        <p:txBody>
          <a:bodyPr rtlCol="0" anchor="ctr"/>
          <a:lstStyle/>
          <a:p>
            <a:pPr algn="ctr"/>
          </a:p>
        </p:txBody>
      </p:sp>
      <p:sp>
        <p:nvSpPr>
          <p:cNvPr id="6" name="TextBox 5"/>
          <p:cNvSpPr txBox="1"/>
          <p:nvPr/>
        </p:nvSpPr>
        <p:spPr>
          <a:xfrm>
            <a:off x="731520" y="1737360"/>
            <a:ext cx="2286000" cy="320040"/>
          </a:xfrm>
          <a:prstGeom prst="rect">
            <a:avLst/>
          </a:prstGeom>
          <a:noFill/>
        </p:spPr>
        <p:txBody>
          <a:bodyPr wrap="square" lIns="0" tIns="0" rIns="0" bIns="0" anchor="t">
            <a:spAutoFit/>
          </a:bodyPr>
          <a:lstStyle/>
          <a:p>
            <a:pPr algn="l"/>
            <a:r>
              <a:rPr sz="1300" b="1" i="0">
                <a:solidFill>
                  <a:srgbClr val="FFFFFF"/>
                </a:solidFill>
                <a:latin typeface="Arial"/>
              </a:rPr>
              <a:t>First message</a:t>
            </a:r>
          </a:p>
        </p:txBody>
      </p:sp>
      <p:sp>
        <p:nvSpPr>
          <p:cNvPr id="7" name="TextBox 6"/>
          <p:cNvSpPr txBox="1"/>
          <p:nvPr/>
        </p:nvSpPr>
        <p:spPr>
          <a:xfrm>
            <a:off x="731520" y="2148840"/>
            <a:ext cx="2286000" cy="1554480"/>
          </a:xfrm>
          <a:prstGeom prst="rect">
            <a:avLst/>
          </a:prstGeom>
          <a:noFill/>
        </p:spPr>
        <p:txBody>
          <a:bodyPr wrap="square" lIns="0" tIns="0" rIns="0" bIns="0" anchor="t">
            <a:spAutoFit/>
          </a:bodyPr>
          <a:lstStyle/>
          <a:p>
            <a:pPr algn="l"/>
            <a:r>
              <a:rPr sz="1050" b="0" i="0">
                <a:solidFill>
                  <a:srgbClr val="FFFFFF"/>
                </a:solidFill>
                <a:latin typeface="Arial"/>
              </a:rPr>
              <a:t>The meeting request (case A) or the Attn letter (case B). No terms.</a:t>
            </a:r>
          </a:p>
        </p:txBody>
      </p:sp>
      <p:sp>
        <p:nvSpPr>
          <p:cNvPr id="8" name="Chevron 7"/>
          <p:cNvSpPr/>
          <p:nvPr/>
        </p:nvSpPr>
        <p:spPr>
          <a:xfrm>
            <a:off x="3227832" y="2560320"/>
            <a:ext cx="100584" cy="219456"/>
          </a:xfrm>
          <a:prstGeom prst="chevron">
            <a:avLst>
              <a:gd name="adj" fmla="val 55000"/>
            </a:avLst>
          </a:prstGeom>
          <a:solidFill>
            <a:srgbClr val="80BFEC"/>
          </a:solidFill>
          <a:ln>
            <a:noFill/>
          </a:ln>
        </p:spPr>
        <p:txBody>
          <a:bodyPr rtlCol="0" anchor="ctr"/>
          <a:lstStyle/>
          <a:p>
            <a:pPr algn="ctr"/>
          </a:p>
        </p:txBody>
      </p:sp>
      <p:sp>
        <p:nvSpPr>
          <p:cNvPr id="9" name="TextBox 8"/>
          <p:cNvSpPr txBox="1"/>
          <p:nvPr/>
        </p:nvSpPr>
        <p:spPr>
          <a:xfrm>
            <a:off x="3355848" y="1325880"/>
            <a:ext cx="2560320" cy="228600"/>
          </a:xfrm>
          <a:prstGeom prst="rect">
            <a:avLst/>
          </a:prstGeom>
          <a:noFill/>
        </p:spPr>
        <p:txBody>
          <a:bodyPr wrap="square" lIns="0" tIns="0" rIns="0" bIns="0" anchor="t">
            <a:spAutoFit/>
          </a:bodyPr>
          <a:lstStyle/>
          <a:p>
            <a:pPr algn="l"/>
            <a:r>
              <a:rPr sz="900" b="1" i="0" spc="150">
                <a:solidFill>
                  <a:srgbClr val="818283"/>
                </a:solidFill>
                <a:latin typeface="Arial"/>
              </a:rPr>
              <a:t>+4 WORKING DAYS</a:t>
            </a:r>
          </a:p>
        </p:txBody>
      </p:sp>
      <p:sp>
        <p:nvSpPr>
          <p:cNvPr id="10" name="Rounded Rectangle 9"/>
          <p:cNvSpPr/>
          <p:nvPr/>
        </p:nvSpPr>
        <p:spPr>
          <a:xfrm>
            <a:off x="3355848" y="1600200"/>
            <a:ext cx="2651760" cy="2148840"/>
          </a:xfrm>
          <a:prstGeom prst="roundRect">
            <a:avLst>
              <a:gd name="adj" fmla="val 2978"/>
            </a:avLst>
          </a:prstGeom>
          <a:solidFill>
            <a:srgbClr val="80BFEC"/>
          </a:solidFill>
          <a:ln w="12700">
            <a:solidFill>
              <a:srgbClr val="80BFEC"/>
            </a:solidFill>
          </a:ln>
        </p:spPr>
        <p:txBody>
          <a:bodyPr rtlCol="0" anchor="ctr"/>
          <a:lstStyle/>
          <a:p>
            <a:pPr algn="ctr"/>
          </a:p>
        </p:txBody>
      </p:sp>
      <p:sp>
        <p:nvSpPr>
          <p:cNvPr id="11" name="TextBox 10"/>
          <p:cNvSpPr txBox="1"/>
          <p:nvPr/>
        </p:nvSpPr>
        <p:spPr>
          <a:xfrm>
            <a:off x="3538728" y="1737360"/>
            <a:ext cx="2286000" cy="320040"/>
          </a:xfrm>
          <a:prstGeom prst="rect">
            <a:avLst/>
          </a:prstGeom>
          <a:noFill/>
        </p:spPr>
        <p:txBody>
          <a:bodyPr wrap="square" lIns="0" tIns="0" rIns="0" bIns="0" anchor="t">
            <a:spAutoFit/>
          </a:bodyPr>
          <a:lstStyle/>
          <a:p>
            <a:pPr algn="l"/>
            <a:r>
              <a:rPr sz="1300" b="1" i="0">
                <a:solidFill>
                  <a:srgbClr val="002368"/>
                </a:solidFill>
                <a:latin typeface="Arial"/>
              </a:rPr>
              <a:t>Follow-up 1: the offer</a:t>
            </a:r>
          </a:p>
        </p:txBody>
      </p:sp>
      <p:sp>
        <p:nvSpPr>
          <p:cNvPr id="12" name="TextBox 11"/>
          <p:cNvSpPr txBox="1"/>
          <p:nvPr/>
        </p:nvSpPr>
        <p:spPr>
          <a:xfrm>
            <a:off x="3538728" y="2148840"/>
            <a:ext cx="2286000" cy="1554480"/>
          </a:xfrm>
          <a:prstGeom prst="rect">
            <a:avLst/>
          </a:prstGeom>
          <a:noFill/>
        </p:spPr>
        <p:txBody>
          <a:bodyPr wrap="square" lIns="0" tIns="0" rIns="0" bIns="0" anchor="t">
            <a:spAutoFit/>
          </a:bodyPr>
          <a:lstStyle/>
          <a:p>
            <a:pPr algn="l"/>
            <a:r>
              <a:rPr sz="1050" b="0" i="0">
                <a:solidFill>
                  <a:srgbClr val="002368"/>
                </a:solidFill>
                <a:latin typeface="Arial"/>
              </a:rPr>
              <a:t>A few offer details from the register: OF04 and the family offer (welfare: OF03).</a:t>
            </a:r>
          </a:p>
        </p:txBody>
      </p:sp>
      <p:sp>
        <p:nvSpPr>
          <p:cNvPr id="13" name="Chevron 12"/>
          <p:cNvSpPr/>
          <p:nvPr/>
        </p:nvSpPr>
        <p:spPr>
          <a:xfrm>
            <a:off x="6035040" y="2560320"/>
            <a:ext cx="100584" cy="219456"/>
          </a:xfrm>
          <a:prstGeom prst="chevron">
            <a:avLst>
              <a:gd name="adj" fmla="val 55000"/>
            </a:avLst>
          </a:prstGeom>
          <a:solidFill>
            <a:srgbClr val="80BFEC"/>
          </a:solidFill>
          <a:ln>
            <a:noFill/>
          </a:ln>
        </p:spPr>
        <p:txBody>
          <a:bodyPr rtlCol="0" anchor="ctr"/>
          <a:lstStyle/>
          <a:p>
            <a:pPr algn="ctr"/>
          </a:p>
        </p:txBody>
      </p:sp>
      <p:sp>
        <p:nvSpPr>
          <p:cNvPr id="14" name="TextBox 13"/>
          <p:cNvSpPr txBox="1"/>
          <p:nvPr/>
        </p:nvSpPr>
        <p:spPr>
          <a:xfrm>
            <a:off x="6163055" y="1325880"/>
            <a:ext cx="2560320" cy="228600"/>
          </a:xfrm>
          <a:prstGeom prst="rect">
            <a:avLst/>
          </a:prstGeom>
          <a:noFill/>
        </p:spPr>
        <p:txBody>
          <a:bodyPr wrap="square" lIns="0" tIns="0" rIns="0" bIns="0" anchor="t">
            <a:spAutoFit/>
          </a:bodyPr>
          <a:lstStyle/>
          <a:p>
            <a:pPr algn="l"/>
            <a:r>
              <a:rPr sz="900" b="1" i="0" spc="150">
                <a:solidFill>
                  <a:srgbClr val="818283"/>
                </a:solidFill>
                <a:latin typeface="Arial"/>
              </a:rPr>
              <a:t>+4 WORKING DAYS</a:t>
            </a:r>
          </a:p>
        </p:txBody>
      </p:sp>
      <p:sp>
        <p:nvSpPr>
          <p:cNvPr id="15" name="Rounded Rectangle 14"/>
          <p:cNvSpPr/>
          <p:nvPr/>
        </p:nvSpPr>
        <p:spPr>
          <a:xfrm>
            <a:off x="6163055" y="1600200"/>
            <a:ext cx="2651760" cy="2148840"/>
          </a:xfrm>
          <a:prstGeom prst="roundRect">
            <a:avLst>
              <a:gd name="adj" fmla="val 2978"/>
            </a:avLst>
          </a:prstGeom>
          <a:solidFill>
            <a:srgbClr val="D9ECF9"/>
          </a:solidFill>
          <a:ln w="12700">
            <a:solidFill>
              <a:srgbClr val="D9ECF9"/>
            </a:solidFill>
          </a:ln>
        </p:spPr>
        <p:txBody>
          <a:bodyPr rtlCol="0" anchor="ctr"/>
          <a:lstStyle/>
          <a:p>
            <a:pPr algn="ctr"/>
          </a:p>
        </p:txBody>
      </p:sp>
      <p:sp>
        <p:nvSpPr>
          <p:cNvPr id="16" name="TextBox 15"/>
          <p:cNvSpPr txBox="1"/>
          <p:nvPr/>
        </p:nvSpPr>
        <p:spPr>
          <a:xfrm>
            <a:off x="6345936" y="1737360"/>
            <a:ext cx="2286000" cy="320040"/>
          </a:xfrm>
          <a:prstGeom prst="rect">
            <a:avLst/>
          </a:prstGeom>
          <a:noFill/>
        </p:spPr>
        <p:txBody>
          <a:bodyPr wrap="square" lIns="0" tIns="0" rIns="0" bIns="0" anchor="t">
            <a:spAutoFit/>
          </a:bodyPr>
          <a:lstStyle/>
          <a:p>
            <a:pPr algn="l"/>
            <a:r>
              <a:rPr sz="1300" b="1" i="0">
                <a:solidFill>
                  <a:srgbClr val="002368"/>
                </a:solidFill>
                <a:latin typeface="Arial"/>
              </a:rPr>
              <a:t>Follow-up 2: the close</a:t>
            </a:r>
          </a:p>
        </p:txBody>
      </p:sp>
      <p:sp>
        <p:nvSpPr>
          <p:cNvPr id="17" name="TextBox 16"/>
          <p:cNvSpPr txBox="1"/>
          <p:nvPr/>
        </p:nvSpPr>
        <p:spPr>
          <a:xfrm>
            <a:off x="6345936" y="2148840"/>
            <a:ext cx="2286000" cy="1554480"/>
          </a:xfrm>
          <a:prstGeom prst="rect">
            <a:avLst/>
          </a:prstGeom>
          <a:noFill/>
        </p:spPr>
        <p:txBody>
          <a:bodyPr wrap="square" lIns="0" tIns="0" rIns="0" bIns="0" anchor="t">
            <a:spAutoFit/>
          </a:bodyPr>
          <a:lstStyle/>
          <a:p>
            <a:pPr algn="l"/>
            <a:r>
              <a:rPr sz="1050" b="0" i="0">
                <a:solidFill>
                  <a:srgbClr val="002368"/>
                </a:solidFill>
                <a:latin typeface="Arial"/>
              </a:rPr>
              <a:t>'If this sits with someone else at &lt;Organisation&gt;, such as HR or the welfare officer, who should I write to? Otherwise I will close this for now.'</a:t>
            </a:r>
          </a:p>
        </p:txBody>
      </p:sp>
      <p:sp>
        <p:nvSpPr>
          <p:cNvPr id="18" name="Chevron 17"/>
          <p:cNvSpPr/>
          <p:nvPr/>
        </p:nvSpPr>
        <p:spPr>
          <a:xfrm>
            <a:off x="8842248" y="2560320"/>
            <a:ext cx="100584" cy="219456"/>
          </a:xfrm>
          <a:prstGeom prst="chevron">
            <a:avLst>
              <a:gd name="adj" fmla="val 55000"/>
            </a:avLst>
          </a:prstGeom>
          <a:solidFill>
            <a:srgbClr val="80BFEC"/>
          </a:solidFill>
          <a:ln>
            <a:noFill/>
          </a:ln>
        </p:spPr>
        <p:txBody>
          <a:bodyPr rtlCol="0" anchor="ctr"/>
          <a:lstStyle/>
          <a:p>
            <a:pPr algn="ctr"/>
          </a:p>
        </p:txBody>
      </p:sp>
      <p:sp>
        <p:nvSpPr>
          <p:cNvPr id="19" name="TextBox 18"/>
          <p:cNvSpPr txBox="1"/>
          <p:nvPr/>
        </p:nvSpPr>
        <p:spPr>
          <a:xfrm>
            <a:off x="8970263" y="1325880"/>
            <a:ext cx="2560320" cy="228600"/>
          </a:xfrm>
          <a:prstGeom prst="rect">
            <a:avLst/>
          </a:prstGeom>
          <a:noFill/>
        </p:spPr>
        <p:txBody>
          <a:bodyPr wrap="square" lIns="0" tIns="0" rIns="0" bIns="0" anchor="t">
            <a:spAutoFit/>
          </a:bodyPr>
          <a:lstStyle/>
          <a:p>
            <a:pPr algn="l"/>
            <a:r>
              <a:rPr sz="900" b="1" i="0" spc="150">
                <a:solidFill>
                  <a:srgbClr val="818283"/>
                </a:solidFill>
                <a:latin typeface="Arial"/>
              </a:rPr>
              <a:t>+5 WORKING DAYS</a:t>
            </a:r>
          </a:p>
        </p:txBody>
      </p:sp>
      <p:sp>
        <p:nvSpPr>
          <p:cNvPr id="20" name="Rounded Rectangle 19"/>
          <p:cNvSpPr/>
          <p:nvPr/>
        </p:nvSpPr>
        <p:spPr>
          <a:xfrm>
            <a:off x="8970263" y="1600200"/>
            <a:ext cx="2651760" cy="2148840"/>
          </a:xfrm>
          <a:prstGeom prst="roundRect">
            <a:avLst>
              <a:gd name="adj" fmla="val 2978"/>
            </a:avLst>
          </a:prstGeom>
          <a:solidFill>
            <a:srgbClr val="FFC952"/>
          </a:solidFill>
          <a:ln w="12700">
            <a:solidFill>
              <a:srgbClr val="FFC952"/>
            </a:solidFill>
          </a:ln>
        </p:spPr>
        <p:txBody>
          <a:bodyPr rtlCol="0" anchor="ctr"/>
          <a:lstStyle/>
          <a:p>
            <a:pPr algn="ctr"/>
          </a:p>
        </p:txBody>
      </p:sp>
      <p:sp>
        <p:nvSpPr>
          <p:cNvPr id="21" name="TextBox 20"/>
          <p:cNvSpPr txBox="1"/>
          <p:nvPr/>
        </p:nvSpPr>
        <p:spPr>
          <a:xfrm>
            <a:off x="9153143" y="1737360"/>
            <a:ext cx="2286000" cy="320040"/>
          </a:xfrm>
          <a:prstGeom prst="rect">
            <a:avLst/>
          </a:prstGeom>
          <a:noFill/>
        </p:spPr>
        <p:txBody>
          <a:bodyPr wrap="square" lIns="0" tIns="0" rIns="0" bIns="0" anchor="t">
            <a:spAutoFit/>
          </a:bodyPr>
          <a:lstStyle/>
          <a:p>
            <a:pPr algn="l"/>
            <a:r>
              <a:rPr sz="1300" b="1" i="0">
                <a:solidFill>
                  <a:srgbClr val="002368"/>
                </a:solidFill>
                <a:latin typeface="Arial"/>
              </a:rPr>
              <a:t>Escalation</a:t>
            </a:r>
          </a:p>
        </p:txBody>
      </p:sp>
      <p:sp>
        <p:nvSpPr>
          <p:cNvPr id="22" name="TextBox 21"/>
          <p:cNvSpPr txBox="1"/>
          <p:nvPr/>
        </p:nvSpPr>
        <p:spPr>
          <a:xfrm>
            <a:off x="9153143" y="2148840"/>
            <a:ext cx="2286000" cy="1554480"/>
          </a:xfrm>
          <a:prstGeom prst="rect">
            <a:avLst/>
          </a:prstGeom>
          <a:noFill/>
        </p:spPr>
        <p:txBody>
          <a:bodyPr wrap="square" lIns="0" tIns="0" rIns="0" bIns="0" anchor="t">
            <a:spAutoFit/>
          </a:bodyPr>
          <a:lstStyle/>
          <a:p>
            <a:pPr algn="l"/>
            <a:r>
              <a:rPr sz="1050" b="0" i="0">
                <a:solidFill>
                  <a:srgbClr val="002368"/>
                </a:solidFill>
                <a:latin typeface="Arial"/>
              </a:rPr>
              <a:t>One message to the escalation contact, if one exists; then dormant until the next intake window.</a:t>
            </a:r>
          </a:p>
        </p:txBody>
      </p:sp>
      <p:sp>
        <p:nvSpPr>
          <p:cNvPr id="23" name="TextBox 22"/>
          <p:cNvSpPr txBox="1"/>
          <p:nvPr/>
        </p:nvSpPr>
        <p:spPr>
          <a:xfrm>
            <a:off x="548640" y="3840480"/>
            <a:ext cx="11064240" cy="457200"/>
          </a:xfrm>
          <a:prstGeom prst="rect">
            <a:avLst/>
          </a:prstGeom>
          <a:noFill/>
        </p:spPr>
        <p:txBody>
          <a:bodyPr wrap="square" lIns="0" tIns="0" rIns="0" bIns="0" anchor="t">
            <a:spAutoFit/>
          </a:bodyPr>
          <a:lstStyle/>
          <a:p>
            <a:pPr algn="l"/>
            <a:r>
              <a:rPr sz="1000" b="0" i="0">
                <a:solidFill>
                  <a:srgbClr val="818283"/>
                </a:solidFill>
                <a:latin typeface="Arial"/>
              </a:rPr>
              <a:t>247 of the 254 employer and introducer Attn drafts carry the offer follow-up and the close (sponsorship follow-ups await approved copy), and 154 welfare Attn drafts carry the close. No sequence exceeds three messages.</a:t>
            </a:r>
          </a:p>
        </p:txBody>
      </p:sp>
      <p:sp>
        <p:nvSpPr>
          <p:cNvPr id="24" name="Rounded Rectangle 23"/>
          <p:cNvSpPr/>
          <p:nvPr/>
        </p:nvSpPr>
        <p:spPr>
          <a:xfrm>
            <a:off x="548640" y="4389120"/>
            <a:ext cx="11091672" cy="1554480"/>
          </a:xfrm>
          <a:prstGeom prst="roundRect">
            <a:avLst>
              <a:gd name="adj" fmla="val 4117"/>
            </a:avLst>
          </a:prstGeom>
          <a:solidFill>
            <a:srgbClr val="FFF7E5"/>
          </a:solidFill>
          <a:ln w="12700">
            <a:solidFill>
              <a:srgbClr val="FFF7E5"/>
            </a:solidFill>
          </a:ln>
        </p:spPr>
        <p:txBody>
          <a:bodyPr rtlCol="0" anchor="ctr"/>
          <a:lstStyle/>
          <a:p>
            <a:pPr algn="ctr"/>
          </a:p>
        </p:txBody>
      </p:sp>
      <p:pic>
        <p:nvPicPr>
          <p:cNvPr id="25" name="Picture 24" descr="image12.png"/>
          <p:cNvPicPr>
            <a:picLocks noChangeAspect="1"/>
          </p:cNvPicPr>
          <p:nvPr/>
        </p:nvPicPr>
        <p:blipFill>
          <a:blip r:embed="rId2"/>
          <a:stretch>
            <a:fillRect/>
          </a:stretch>
        </p:blipFill>
        <p:spPr>
          <a:xfrm>
            <a:off x="10607040" y="4526280"/>
            <a:ext cx="822960" cy="1072342"/>
          </a:xfrm>
          <a:prstGeom prst="rect">
            <a:avLst/>
          </a:prstGeom>
        </p:spPr>
      </p:pic>
      <p:sp>
        <p:nvSpPr>
          <p:cNvPr id="26" name="TextBox 25"/>
          <p:cNvSpPr txBox="1"/>
          <p:nvPr/>
        </p:nvSpPr>
        <p:spPr>
          <a:xfrm>
            <a:off x="822960" y="4526280"/>
            <a:ext cx="3017520" cy="1280160"/>
          </a:xfrm>
          <a:prstGeom prst="rect">
            <a:avLst/>
          </a:prstGeom>
          <a:noFill/>
        </p:spPr>
        <p:txBody>
          <a:bodyPr wrap="square" lIns="0" tIns="0" rIns="0" bIns="0" anchor="t">
            <a:spAutoFit/>
          </a:bodyPr>
          <a:lstStyle/>
          <a:p>
            <a:pPr algn="l"/>
            <a:r>
              <a:rPr sz="1800" b="0" i="0">
                <a:solidFill>
                  <a:srgbClr val="002368"/>
                </a:solidFill>
                <a:latin typeface="Georgia"/>
              </a:rPr>
              <a:t>Incentives are a last resort, never in the flow.</a:t>
            </a:r>
          </a:p>
        </p:txBody>
      </p:sp>
      <p:sp>
        <p:nvSpPr>
          <p:cNvPr id="27" name="TextBox 26"/>
          <p:cNvSpPr txBox="1"/>
          <p:nvPr/>
        </p:nvSpPr>
        <p:spPr>
          <a:xfrm>
            <a:off x="4023360" y="4526280"/>
            <a:ext cx="6309360" cy="132588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A promotional incentive (discounted first months, a waived fee beyond the register) never appears in any automated or standard flow, nor in a cold or early message (S1–S5): it makes Silverleaf look desperate.</a:t>
            </a:r>
          </a:p>
          <a:p>
            <a:pPr algn="l" marL="155448" indent="-155448">
              <a:spcAft>
                <a:spcPts val="300"/>
              </a:spcAft>
              <a:buFont typeface="Arial"/>
              <a:buChar char="•"/>
            </a:pPr>
            <a:r>
              <a:rPr sz="1000" b="0" i="0">
                <a:solidFill>
                  <a:srgbClr val="000000"/>
                </a:solidFill>
                <a:latin typeface="Arial"/>
              </a:rPr>
              <a:t>Only at the proposal stage (S6), for one engaged employer, with Finance's written approval each time, time-limited, entered in the register first. Never for public bodies or government.</a:t>
            </a:r>
          </a:p>
        </p:txBody>
      </p:sp>
      <p:pic>
        <p:nvPicPr>
          <p:cNvPr id="28" name="Picture 27" descr="image3.png"/>
          <p:cNvPicPr>
            <a:picLocks noChangeAspect="1"/>
          </p:cNvPicPr>
          <p:nvPr/>
        </p:nvPicPr>
        <p:blipFill>
          <a:blip r:embed="rId3"/>
          <a:stretch>
            <a:fillRect/>
          </a:stretch>
        </p:blipFill>
        <p:spPr>
          <a:xfrm>
            <a:off x="548640" y="6272784"/>
            <a:ext cx="1143000" cy="274320"/>
          </a:xfrm>
          <a:prstGeom prst="rect">
            <a:avLst/>
          </a:prstGeom>
        </p:spPr>
      </p:pic>
      <p:sp>
        <p:nvSpPr>
          <p:cNvPr id="29"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 partnership pipeline draft; offer register</a:t>
            </a:r>
          </a:p>
        </p:txBody>
      </p:sp>
      <p:sp>
        <p:nvSpPr>
          <p:cNvPr id="3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04</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SECTION FOUR</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Pipelines and tracking</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What happens after the offer, and how we will know. A draft awaiting approval.</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The shared spine, S0 to S9</a:t>
            </a:r>
          </a:p>
          <a:p>
            <a:pPr algn="l" marL="155448" indent="-155448">
              <a:spcAft>
                <a:spcPts val="400"/>
              </a:spcAft>
              <a:buFont typeface="Arial"/>
              <a:buChar char="•"/>
            </a:pPr>
            <a:r>
              <a:rPr sz="1100" b="0" i="0">
                <a:solidFill>
                  <a:srgbClr val="FFFFFF"/>
                </a:solidFill>
                <a:latin typeface="Arial"/>
              </a:rPr>
              <a:t>What happens after the offer</a:t>
            </a:r>
          </a:p>
          <a:p>
            <a:pPr algn="l" marL="155448" indent="-155448">
              <a:spcAft>
                <a:spcPts val="400"/>
              </a:spcAft>
              <a:buFont typeface="Arial"/>
              <a:buChar char="•"/>
            </a:pPr>
            <a:r>
              <a:rPr sz="1100" b="0" i="0">
                <a:solidFill>
                  <a:srgbClr val="FFFFFF"/>
                </a:solidFill>
                <a:latin typeface="Arial"/>
              </a:rPr>
              <a:t>Tracking and reporting back to partners</a:t>
            </a:r>
          </a:p>
          <a:p>
            <a:pPr algn="l" marL="155448" indent="-155448">
              <a:spcAft>
                <a:spcPts val="400"/>
              </a:spcAft>
              <a:buFont typeface="Arial"/>
              <a:buChar char="•"/>
            </a:pPr>
            <a:r>
              <a:rPr sz="1100" b="0" i="0">
                <a:solidFill>
                  <a:srgbClr val="FFFFFF"/>
                </a:solidFill>
                <a:latin typeface="Arial"/>
              </a:rPr>
              <a:t>Segment funnels, fallout and open questions: in the appendix</a:t>
            </a:r>
          </a:p>
        </p:txBody>
      </p:sp>
      <p:sp>
        <p:nvSpPr>
          <p:cNvPr id="8" name="TextBox 7"/>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FFFFFF"/>
                </a:solidFill>
                <a:latin typeface="Georgia"/>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DRAFT FOR APPROVAL</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One shared spine, so results add up across segments</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FOR APPROVAL</a:t>
            </a:r>
          </a:p>
        </p:txBody>
      </p:sp>
      <p:sp>
        <p:nvSpPr>
          <p:cNvPr id="5" name="Hexagon 4"/>
          <p:cNvSpPr/>
          <p:nvPr/>
        </p:nvSpPr>
        <p:spPr>
          <a:xfrm>
            <a:off x="548640" y="2148840"/>
            <a:ext cx="950976" cy="960120"/>
          </a:xfrm>
          <a:prstGeom prst="hexagon">
            <a:avLst>
              <a:gd name="adj" fmla="val 9615"/>
              <a:gd name="vf" fmla="val 115470"/>
            </a:avLst>
          </a:prstGeom>
          <a:solidFill>
            <a:srgbClr val="FFFFFF"/>
          </a:solidFill>
          <a:ln w="12700">
            <a:solidFill>
              <a:srgbClr val="818283"/>
            </a:solidFill>
            <a:prstDash val="dash"/>
          </a:ln>
        </p:spPr>
        <p:txBody>
          <a:bodyPr rtlCol="0" anchor="ctr" wrap="square" tIns="27432" bIns="27432"/>
          <a:lstStyle/>
          <a:p>
            <a:pPr algn="ctr"/>
            <a:r>
              <a:rPr sz="1000" b="1" i="0">
                <a:solidFill>
                  <a:srgbClr val="002368"/>
                </a:solidFill>
                <a:latin typeface="Arial"/>
              </a:rPr>
              <a:t>S0 Held</a:t>
            </a:r>
          </a:p>
          <a:p>
            <a:pPr algn="ctr"/>
            <a:r>
              <a:rPr sz="850" b="0" i="0">
                <a:solidFill>
                  <a:srgbClr val="002368"/>
                </a:solidFill>
                <a:latin typeface="Arial"/>
              </a:rPr>
              <a:t>research or checks</a:t>
            </a:r>
          </a:p>
        </p:txBody>
      </p:sp>
      <p:sp>
        <p:nvSpPr>
          <p:cNvPr id="6" name="Chevron 5"/>
          <p:cNvSpPr/>
          <p:nvPr/>
        </p:nvSpPr>
        <p:spPr>
          <a:xfrm>
            <a:off x="1531620" y="2523744"/>
            <a:ext cx="91440" cy="201168"/>
          </a:xfrm>
          <a:prstGeom prst="chevron">
            <a:avLst>
              <a:gd name="adj" fmla="val 55000"/>
            </a:avLst>
          </a:prstGeom>
          <a:solidFill>
            <a:srgbClr val="80BFEC"/>
          </a:solidFill>
          <a:ln>
            <a:noFill/>
          </a:ln>
        </p:spPr>
        <p:txBody>
          <a:bodyPr rtlCol="0" anchor="ctr"/>
          <a:lstStyle/>
          <a:p>
            <a:pPr algn="ctr"/>
          </a:p>
        </p:txBody>
      </p:sp>
      <p:sp>
        <p:nvSpPr>
          <p:cNvPr id="7" name="Rounded Rectangle 6"/>
          <p:cNvSpPr/>
          <p:nvPr/>
        </p:nvSpPr>
        <p:spPr>
          <a:xfrm>
            <a:off x="1655064"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S1 Ready</a:t>
            </a:r>
          </a:p>
          <a:p>
            <a:pPr algn="ctr"/>
            <a:r>
              <a:rPr sz="850" b="0" i="0">
                <a:solidFill>
                  <a:srgbClr val="002368"/>
                </a:solidFill>
                <a:latin typeface="Arial"/>
              </a:rPr>
              <a:t>approved to contact</a:t>
            </a:r>
          </a:p>
        </p:txBody>
      </p:sp>
      <p:sp>
        <p:nvSpPr>
          <p:cNvPr id="8" name="Chevron 7"/>
          <p:cNvSpPr/>
          <p:nvPr/>
        </p:nvSpPr>
        <p:spPr>
          <a:xfrm>
            <a:off x="2638044" y="2523744"/>
            <a:ext cx="91440" cy="201168"/>
          </a:xfrm>
          <a:prstGeom prst="chevron">
            <a:avLst>
              <a:gd name="adj" fmla="val 55000"/>
            </a:avLst>
          </a:prstGeom>
          <a:solidFill>
            <a:srgbClr val="80BFEC"/>
          </a:solidFill>
          <a:ln>
            <a:noFill/>
          </a:ln>
        </p:spPr>
        <p:txBody>
          <a:bodyPr rtlCol="0" anchor="ctr"/>
          <a:lstStyle/>
          <a:p>
            <a:pPr algn="ctr"/>
          </a:p>
        </p:txBody>
      </p:sp>
      <p:sp>
        <p:nvSpPr>
          <p:cNvPr id="9" name="Rounded Rectangle 8"/>
          <p:cNvSpPr/>
          <p:nvPr/>
        </p:nvSpPr>
        <p:spPr>
          <a:xfrm>
            <a:off x="2761488"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S2 Contacted</a:t>
            </a:r>
          </a:p>
          <a:p>
            <a:pPr algn="ctr"/>
            <a:r>
              <a:rPr sz="850" b="0" i="0">
                <a:solidFill>
                  <a:srgbClr val="002368"/>
                </a:solidFill>
                <a:latin typeface="Arial"/>
              </a:rPr>
              <a:t>reach who decides</a:t>
            </a:r>
          </a:p>
        </p:txBody>
      </p:sp>
      <p:sp>
        <p:nvSpPr>
          <p:cNvPr id="10" name="Chevron 9"/>
          <p:cNvSpPr/>
          <p:nvPr/>
        </p:nvSpPr>
        <p:spPr>
          <a:xfrm>
            <a:off x="3744468" y="2523744"/>
            <a:ext cx="91440" cy="201168"/>
          </a:xfrm>
          <a:prstGeom prst="chevron">
            <a:avLst>
              <a:gd name="adj" fmla="val 55000"/>
            </a:avLst>
          </a:prstGeom>
          <a:solidFill>
            <a:srgbClr val="80BFEC"/>
          </a:solidFill>
          <a:ln>
            <a:noFill/>
          </a:ln>
        </p:spPr>
        <p:txBody>
          <a:bodyPr rtlCol="0" anchor="ctr"/>
          <a:lstStyle/>
          <a:p>
            <a:pPr algn="ctr"/>
          </a:p>
        </p:txBody>
      </p:sp>
      <p:sp>
        <p:nvSpPr>
          <p:cNvPr id="11" name="Rounded Rectangle 10"/>
          <p:cNvSpPr/>
          <p:nvPr/>
        </p:nvSpPr>
        <p:spPr>
          <a:xfrm>
            <a:off x="3867911" y="2148840"/>
            <a:ext cx="950976" cy="960120"/>
          </a:xfrm>
          <a:prstGeom prst="roundRect">
            <a:avLst>
              <a:gd name="adj" fmla="val 673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S3 Responded</a:t>
            </a:r>
          </a:p>
          <a:p>
            <a:pPr algn="ctr"/>
            <a:r>
              <a:rPr sz="850" b="0" i="0">
                <a:solidFill>
                  <a:srgbClr val="002368"/>
                </a:solidFill>
                <a:latin typeface="Arial"/>
              </a:rPr>
              <a:t>a human reply</a:t>
            </a:r>
          </a:p>
        </p:txBody>
      </p:sp>
      <p:sp>
        <p:nvSpPr>
          <p:cNvPr id="12" name="Chevron 11"/>
          <p:cNvSpPr/>
          <p:nvPr/>
        </p:nvSpPr>
        <p:spPr>
          <a:xfrm>
            <a:off x="4850892" y="2523744"/>
            <a:ext cx="91440" cy="201168"/>
          </a:xfrm>
          <a:prstGeom prst="chevron">
            <a:avLst>
              <a:gd name="adj" fmla="val 55000"/>
            </a:avLst>
          </a:prstGeom>
          <a:solidFill>
            <a:srgbClr val="80BFEC"/>
          </a:solidFill>
          <a:ln>
            <a:noFill/>
          </a:ln>
        </p:spPr>
        <p:txBody>
          <a:bodyPr rtlCol="0" anchor="ctr"/>
          <a:lstStyle/>
          <a:p>
            <a:pPr algn="ctr"/>
          </a:p>
        </p:txBody>
      </p:sp>
      <p:sp>
        <p:nvSpPr>
          <p:cNvPr id="13" name="Rounded Rectangle 12"/>
          <p:cNvSpPr/>
          <p:nvPr/>
        </p:nvSpPr>
        <p:spPr>
          <a:xfrm>
            <a:off x="4974336"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S4 Meeting</a:t>
            </a:r>
          </a:p>
          <a:p>
            <a:pPr algn="ctr"/>
            <a:r>
              <a:rPr sz="850" b="0" i="0">
                <a:solidFill>
                  <a:srgbClr val="002368"/>
                </a:solidFill>
                <a:latin typeface="Arial"/>
              </a:rPr>
              <a:t>fit and format</a:t>
            </a:r>
          </a:p>
        </p:txBody>
      </p:sp>
      <p:sp>
        <p:nvSpPr>
          <p:cNvPr id="14" name="Chevron 13"/>
          <p:cNvSpPr/>
          <p:nvPr/>
        </p:nvSpPr>
        <p:spPr>
          <a:xfrm>
            <a:off x="5957316" y="2523744"/>
            <a:ext cx="91440" cy="201168"/>
          </a:xfrm>
          <a:prstGeom prst="chevron">
            <a:avLst>
              <a:gd name="adj" fmla="val 55000"/>
            </a:avLst>
          </a:prstGeom>
          <a:solidFill>
            <a:srgbClr val="80BFEC"/>
          </a:solidFill>
          <a:ln>
            <a:noFill/>
          </a:ln>
        </p:spPr>
        <p:txBody>
          <a:bodyPr rtlCol="0" anchor="ctr"/>
          <a:lstStyle/>
          <a:p>
            <a:pPr algn="ctr"/>
          </a:p>
        </p:txBody>
      </p:sp>
      <p:sp>
        <p:nvSpPr>
          <p:cNvPr id="15" name="Rounded Rectangle 14"/>
          <p:cNvSpPr/>
          <p:nvPr/>
        </p:nvSpPr>
        <p:spPr>
          <a:xfrm>
            <a:off x="6080759"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S5 Activation</a:t>
            </a:r>
          </a:p>
          <a:p>
            <a:pPr algn="ctr"/>
            <a:r>
              <a:rPr sz="850" b="0" i="0">
                <a:solidFill>
                  <a:srgbClr val="002368"/>
                </a:solidFill>
                <a:latin typeface="Arial"/>
              </a:rPr>
              <a:t>session, visit, slot or circulation</a:t>
            </a:r>
          </a:p>
        </p:txBody>
      </p:sp>
      <p:sp>
        <p:nvSpPr>
          <p:cNvPr id="16" name="Chevron 15"/>
          <p:cNvSpPr/>
          <p:nvPr/>
        </p:nvSpPr>
        <p:spPr>
          <a:xfrm>
            <a:off x="7063740" y="2523744"/>
            <a:ext cx="91440" cy="201168"/>
          </a:xfrm>
          <a:prstGeom prst="chevron">
            <a:avLst>
              <a:gd name="adj" fmla="val 55000"/>
            </a:avLst>
          </a:prstGeom>
          <a:solidFill>
            <a:srgbClr val="80BFEC"/>
          </a:solidFill>
          <a:ln>
            <a:noFill/>
          </a:ln>
        </p:spPr>
        <p:txBody>
          <a:bodyPr rtlCol="0" anchor="ctr"/>
          <a:lstStyle/>
          <a:p>
            <a:pPr algn="ctr"/>
          </a:p>
        </p:txBody>
      </p:sp>
      <p:sp>
        <p:nvSpPr>
          <p:cNvPr id="17" name="Rounded Rectangle 16"/>
          <p:cNvSpPr/>
          <p:nvPr/>
        </p:nvSpPr>
        <p:spPr>
          <a:xfrm>
            <a:off x="7187183"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S6 Proposal</a:t>
            </a:r>
          </a:p>
          <a:p>
            <a:pPr algn="ctr"/>
            <a:r>
              <a:rPr sz="850" b="0" i="0">
                <a:solidFill>
                  <a:srgbClr val="002368"/>
                </a:solidFill>
                <a:latin typeface="Arial"/>
              </a:rPr>
              <a:t>only when terms are signed</a:t>
            </a:r>
          </a:p>
        </p:txBody>
      </p:sp>
      <p:sp>
        <p:nvSpPr>
          <p:cNvPr id="18" name="Chevron 17"/>
          <p:cNvSpPr/>
          <p:nvPr/>
        </p:nvSpPr>
        <p:spPr>
          <a:xfrm>
            <a:off x="8170163" y="2523744"/>
            <a:ext cx="91440" cy="201168"/>
          </a:xfrm>
          <a:prstGeom prst="chevron">
            <a:avLst>
              <a:gd name="adj" fmla="val 55000"/>
            </a:avLst>
          </a:prstGeom>
          <a:solidFill>
            <a:srgbClr val="80BFEC"/>
          </a:solidFill>
          <a:ln>
            <a:noFill/>
          </a:ln>
        </p:spPr>
        <p:txBody>
          <a:bodyPr rtlCol="0" anchor="ctr"/>
          <a:lstStyle/>
          <a:p>
            <a:pPr algn="ctr"/>
          </a:p>
        </p:txBody>
      </p:sp>
      <p:sp>
        <p:nvSpPr>
          <p:cNvPr id="19" name="Rounded Rectangle 18"/>
          <p:cNvSpPr/>
          <p:nvPr/>
        </p:nvSpPr>
        <p:spPr>
          <a:xfrm>
            <a:off x="8293607" y="2148840"/>
            <a:ext cx="950976" cy="960120"/>
          </a:xfrm>
          <a:prstGeom prst="roundRect">
            <a:avLst>
              <a:gd name="adj" fmla="val 6730"/>
            </a:avLst>
          </a:prstGeom>
          <a:solidFill>
            <a:srgbClr val="002368"/>
          </a:solidFill>
          <a:ln w="31750">
            <a:solidFill>
              <a:srgbClr val="FFC952"/>
            </a:solidFill>
          </a:ln>
        </p:spPr>
        <p:txBody>
          <a:bodyPr rtlCol="0" anchor="ctr" wrap="square" lIns="45720" rIns="45720" tIns="27432" bIns="27432"/>
          <a:lstStyle/>
          <a:p>
            <a:pPr algn="ctr"/>
            <a:r>
              <a:rPr sz="1000" b="1" i="0">
                <a:solidFill>
                  <a:srgbClr val="FFFFFF"/>
                </a:solidFill>
                <a:latin typeface="Arial"/>
              </a:rPr>
              <a:t>S7 PARTNER</a:t>
            </a:r>
          </a:p>
          <a:p>
            <a:pPr algn="ctr"/>
            <a:r>
              <a:rPr sz="850" b="0" i="0">
                <a:solidFill>
                  <a:srgbClr val="FFFFFF"/>
                </a:solidFill>
                <a:latin typeface="Arial"/>
              </a:rPr>
              <a:t>partnership closed</a:t>
            </a:r>
          </a:p>
        </p:txBody>
      </p:sp>
      <p:sp>
        <p:nvSpPr>
          <p:cNvPr id="20" name="Chevron 19"/>
          <p:cNvSpPr/>
          <p:nvPr/>
        </p:nvSpPr>
        <p:spPr>
          <a:xfrm>
            <a:off x="9276588" y="2523744"/>
            <a:ext cx="91440" cy="201168"/>
          </a:xfrm>
          <a:prstGeom prst="chevron">
            <a:avLst>
              <a:gd name="adj" fmla="val 55000"/>
            </a:avLst>
          </a:prstGeom>
          <a:solidFill>
            <a:srgbClr val="80BFEC"/>
          </a:solidFill>
          <a:ln>
            <a:noFill/>
          </a:ln>
        </p:spPr>
        <p:txBody>
          <a:bodyPr rtlCol="0" anchor="ctr"/>
          <a:lstStyle/>
          <a:p>
            <a:pPr algn="ctr"/>
          </a:p>
        </p:txBody>
      </p:sp>
      <p:sp>
        <p:nvSpPr>
          <p:cNvPr id="21" name="Rounded Rectangle 20"/>
          <p:cNvSpPr/>
          <p:nvPr/>
        </p:nvSpPr>
        <p:spPr>
          <a:xfrm>
            <a:off x="9400032" y="2148840"/>
            <a:ext cx="950976" cy="960120"/>
          </a:xfrm>
          <a:prstGeom prst="roundRect">
            <a:avLst>
              <a:gd name="adj" fmla="val 6730"/>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S8 Results</a:t>
            </a:r>
          </a:p>
          <a:p>
            <a:pPr algn="ctr"/>
            <a:r>
              <a:rPr sz="850" b="0" i="0">
                <a:solidFill>
                  <a:srgbClr val="002368"/>
                </a:solidFill>
                <a:latin typeface="Arial"/>
              </a:rPr>
              <a:t>families, referrals, placements</a:t>
            </a:r>
          </a:p>
        </p:txBody>
      </p:sp>
      <p:sp>
        <p:nvSpPr>
          <p:cNvPr id="22" name="Chevron 21"/>
          <p:cNvSpPr/>
          <p:nvPr/>
        </p:nvSpPr>
        <p:spPr>
          <a:xfrm>
            <a:off x="10383012" y="2523744"/>
            <a:ext cx="91440"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10506456"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S9 Renewal</a:t>
            </a:r>
          </a:p>
          <a:p>
            <a:pPr algn="ctr"/>
            <a:r>
              <a:rPr sz="850" b="0" i="0">
                <a:solidFill>
                  <a:srgbClr val="002368"/>
                </a:solidFill>
                <a:latin typeface="Arial"/>
              </a:rPr>
              <a:t>each intake window</a:t>
            </a:r>
          </a:p>
        </p:txBody>
      </p:sp>
      <p:cxnSp>
        <p:nvCxnSpPr>
          <p:cNvPr id="24" name="Connector 23"/>
          <p:cNvCxnSpPr/>
          <p:nvPr/>
        </p:nvCxnSpPr>
        <p:spPr>
          <a:xfrm flipV="1">
            <a:off x="6556248" y="1783080"/>
            <a:ext cx="0" cy="365760"/>
          </a:xfrm>
          <a:prstGeom prst="line">
            <a:avLst/>
          </a:prstGeom>
          <a:ln w="12700">
            <a:solidFill>
              <a:srgbClr val="002368"/>
            </a:solidFill>
          </a:ln>
        </p:spPr>
      </p:cxnSp>
      <p:cxnSp>
        <p:nvCxnSpPr>
          <p:cNvPr id="25" name="Connector 24"/>
          <p:cNvCxnSpPr/>
          <p:nvPr/>
        </p:nvCxnSpPr>
        <p:spPr>
          <a:xfrm>
            <a:off x="6556248" y="1783080"/>
            <a:ext cx="2212847" cy="0"/>
          </a:xfrm>
          <a:prstGeom prst="line">
            <a:avLst/>
          </a:prstGeom>
          <a:ln w="12700">
            <a:solidFill>
              <a:srgbClr val="002368"/>
            </a:solidFill>
          </a:ln>
        </p:spPr>
      </p:cxnSp>
      <p:cxnSp>
        <p:nvCxnSpPr>
          <p:cNvPr id="26" name="Connector 25"/>
          <p:cNvCxnSpPr/>
          <p:nvPr/>
        </p:nvCxnSpPr>
        <p:spPr>
          <a:xfrm>
            <a:off x="8769095" y="1783080"/>
            <a:ext cx="0" cy="365760"/>
          </a:xfrm>
          <a:prstGeom prst="line">
            <a:avLst/>
          </a:prstGeom>
          <a:ln w="12700">
            <a:solidFill>
              <a:srgbClr val="002368"/>
            </a:solidFill>
            <a:tailEnd type="triangle" w="med" len="med"/>
          </a:ln>
        </p:spPr>
      </p:cxnSp>
      <p:sp>
        <p:nvSpPr>
          <p:cNvPr id="27" name="TextBox 26"/>
          <p:cNvSpPr txBox="1"/>
          <p:nvPr/>
        </p:nvSpPr>
        <p:spPr>
          <a:xfrm>
            <a:off x="6601968" y="1536192"/>
            <a:ext cx="2578607" cy="219456"/>
          </a:xfrm>
          <a:prstGeom prst="rect">
            <a:avLst/>
          </a:prstGeom>
          <a:noFill/>
        </p:spPr>
        <p:txBody>
          <a:bodyPr wrap="square" lIns="0" tIns="0" rIns="0" bIns="0" anchor="t">
            <a:spAutoFit/>
          </a:bodyPr>
          <a:lstStyle/>
          <a:p>
            <a:pPr algn="l"/>
            <a:r>
              <a:rPr sz="900" b="0" i="0">
                <a:solidFill>
                  <a:srgbClr val="002368"/>
                </a:solidFill>
                <a:latin typeface="Arial"/>
              </a:rPr>
              <a:t>no terms to sign: S6 skipped</a:t>
            </a:r>
          </a:p>
        </p:txBody>
      </p:sp>
      <p:cxnSp>
        <p:nvCxnSpPr>
          <p:cNvPr id="28" name="Connector 27"/>
          <p:cNvCxnSpPr/>
          <p:nvPr/>
        </p:nvCxnSpPr>
        <p:spPr>
          <a:xfrm flipV="1">
            <a:off x="10981944" y="1783080"/>
            <a:ext cx="0" cy="365760"/>
          </a:xfrm>
          <a:prstGeom prst="line">
            <a:avLst/>
          </a:prstGeom>
          <a:ln w="12700">
            <a:solidFill>
              <a:srgbClr val="002368"/>
            </a:solidFill>
          </a:ln>
        </p:spPr>
      </p:cxnSp>
      <p:cxnSp>
        <p:nvCxnSpPr>
          <p:cNvPr id="29" name="Connector 28"/>
          <p:cNvCxnSpPr/>
          <p:nvPr/>
        </p:nvCxnSpPr>
        <p:spPr>
          <a:xfrm flipH="1">
            <a:off x="9875519" y="1783080"/>
            <a:ext cx="1106425" cy="0"/>
          </a:xfrm>
          <a:prstGeom prst="line">
            <a:avLst/>
          </a:prstGeom>
          <a:ln w="12700">
            <a:solidFill>
              <a:srgbClr val="002368"/>
            </a:solidFill>
          </a:ln>
        </p:spPr>
      </p:cxnSp>
      <p:cxnSp>
        <p:nvCxnSpPr>
          <p:cNvPr id="30" name="Connector 29"/>
          <p:cNvCxnSpPr/>
          <p:nvPr/>
        </p:nvCxnSpPr>
        <p:spPr>
          <a:xfrm>
            <a:off x="9875519" y="1783080"/>
            <a:ext cx="0" cy="365760"/>
          </a:xfrm>
          <a:prstGeom prst="line">
            <a:avLst/>
          </a:prstGeom>
          <a:ln w="12700">
            <a:solidFill>
              <a:srgbClr val="002368"/>
            </a:solidFill>
            <a:tailEnd type="triangle" w="med" len="med"/>
          </a:ln>
        </p:spPr>
      </p:cxnSp>
      <p:sp>
        <p:nvSpPr>
          <p:cNvPr id="31" name="TextBox 30"/>
          <p:cNvSpPr txBox="1"/>
          <p:nvPr/>
        </p:nvSpPr>
        <p:spPr>
          <a:xfrm>
            <a:off x="9921240" y="1536192"/>
            <a:ext cx="1472184" cy="219456"/>
          </a:xfrm>
          <a:prstGeom prst="rect">
            <a:avLst/>
          </a:prstGeom>
          <a:noFill/>
        </p:spPr>
        <p:txBody>
          <a:bodyPr wrap="square" lIns="0" tIns="0" rIns="0" bIns="0" anchor="t">
            <a:spAutoFit/>
          </a:bodyPr>
          <a:lstStyle/>
          <a:p>
            <a:pPr algn="l"/>
            <a:r>
              <a:rPr sz="900" b="0" i="0">
                <a:solidFill>
                  <a:srgbClr val="002368"/>
                </a:solidFill>
                <a:latin typeface="Arial"/>
              </a:rPr>
              <a:t>next intake window</a:t>
            </a:r>
          </a:p>
        </p:txBody>
      </p:sp>
      <p:cxnSp>
        <p:nvCxnSpPr>
          <p:cNvPr id="32" name="Connector 31"/>
          <p:cNvCxnSpPr/>
          <p:nvPr/>
        </p:nvCxnSpPr>
        <p:spPr>
          <a:xfrm>
            <a:off x="3236976" y="3108960"/>
            <a:ext cx="0" cy="594360"/>
          </a:xfrm>
          <a:prstGeom prst="line">
            <a:avLst/>
          </a:prstGeom>
          <a:ln w="12700">
            <a:solidFill>
              <a:srgbClr val="818283"/>
            </a:solidFill>
            <a:prstDash val="dash"/>
            <a:tailEnd type="triangle" w="med" len="med"/>
          </a:ln>
        </p:spPr>
      </p:cxnSp>
      <p:cxnSp>
        <p:nvCxnSpPr>
          <p:cNvPr id="33" name="Connector 32"/>
          <p:cNvCxnSpPr/>
          <p:nvPr/>
        </p:nvCxnSpPr>
        <p:spPr>
          <a:xfrm>
            <a:off x="5449823" y="3108960"/>
            <a:ext cx="0" cy="594360"/>
          </a:xfrm>
          <a:prstGeom prst="line">
            <a:avLst/>
          </a:prstGeom>
          <a:ln w="12700">
            <a:solidFill>
              <a:srgbClr val="818283"/>
            </a:solidFill>
            <a:prstDash val="dash"/>
            <a:tailEnd type="triangle" w="med" len="med"/>
          </a:ln>
        </p:spPr>
      </p:cxnSp>
      <p:cxnSp>
        <p:nvCxnSpPr>
          <p:cNvPr id="34" name="Connector 33"/>
          <p:cNvCxnSpPr/>
          <p:nvPr/>
        </p:nvCxnSpPr>
        <p:spPr>
          <a:xfrm>
            <a:off x="6556248" y="3108960"/>
            <a:ext cx="0" cy="594360"/>
          </a:xfrm>
          <a:prstGeom prst="line">
            <a:avLst/>
          </a:prstGeom>
          <a:ln w="12700">
            <a:solidFill>
              <a:srgbClr val="818283"/>
            </a:solidFill>
            <a:prstDash val="dash"/>
            <a:tailEnd type="triangle" w="med" len="med"/>
          </a:ln>
        </p:spPr>
      </p:cxnSp>
      <p:cxnSp>
        <p:nvCxnSpPr>
          <p:cNvPr id="35" name="Connector 34"/>
          <p:cNvCxnSpPr/>
          <p:nvPr/>
        </p:nvCxnSpPr>
        <p:spPr>
          <a:xfrm>
            <a:off x="7662671" y="3108960"/>
            <a:ext cx="0" cy="594360"/>
          </a:xfrm>
          <a:prstGeom prst="line">
            <a:avLst/>
          </a:prstGeom>
          <a:ln w="12700">
            <a:solidFill>
              <a:srgbClr val="818283"/>
            </a:solidFill>
            <a:prstDash val="dash"/>
            <a:tailEnd type="triangle" w="med" len="med"/>
          </a:ln>
        </p:spPr>
      </p:cxnSp>
      <p:sp>
        <p:nvSpPr>
          <p:cNvPr id="36" name="Rounded Rectangle 35"/>
          <p:cNvSpPr/>
          <p:nvPr/>
        </p:nvSpPr>
        <p:spPr>
          <a:xfrm>
            <a:off x="2779776" y="3703320"/>
            <a:ext cx="5340095" cy="658368"/>
          </a:xfrm>
          <a:prstGeom prst="roundRect">
            <a:avLst>
              <a:gd name="adj" fmla="val 9722"/>
            </a:avLst>
          </a:prstGeom>
          <a:solidFill>
            <a:srgbClr val="ECECEC"/>
          </a:solidFill>
          <a:ln w="12700">
            <a:solidFill>
              <a:srgbClr val="818283"/>
            </a:solidFill>
            <a:prstDash val="sysDot"/>
          </a:ln>
        </p:spPr>
        <p:txBody>
          <a:bodyPr rtlCol="0" anchor="ctr" wrap="square" lIns="45720" rIns="45720" tIns="27432" bIns="27432"/>
          <a:lstStyle/>
          <a:p>
            <a:pPr algn="ctr"/>
            <a:r>
              <a:rPr sz="1050" b="1" i="0">
                <a:solidFill>
                  <a:srgbClr val="4D4E50"/>
                </a:solidFill>
                <a:latin typeface="Arial"/>
              </a:rPr>
              <a:t>Dormant</a:t>
            </a:r>
          </a:p>
          <a:p>
            <a:pPr algn="ctr"/>
            <a:r>
              <a:rPr sz="900" b="0" i="0">
                <a:solidFill>
                  <a:srgbClr val="4D4E50"/>
                </a:solidFill>
                <a:latin typeface="Arial"/>
              </a:rPr>
              <a:t>silent after the planned fallout touch · re-tried once at the next intake window, or sooner via a warm route, back to S2</a:t>
            </a:r>
          </a:p>
        </p:txBody>
      </p:sp>
      <p:sp>
        <p:nvSpPr>
          <p:cNvPr id="37" name="Rounded Rectangle 36"/>
          <p:cNvSpPr/>
          <p:nvPr/>
        </p:nvSpPr>
        <p:spPr>
          <a:xfrm>
            <a:off x="3886200" y="1847088"/>
            <a:ext cx="914400" cy="237744"/>
          </a:xfrm>
          <a:prstGeom prst="roundRect">
            <a:avLst>
              <a:gd name="adj" fmla="val 26923"/>
            </a:avLst>
          </a:prstGeom>
          <a:solidFill>
            <a:srgbClr val="818283"/>
          </a:solidFill>
          <a:ln w="12700">
            <a:solidFill>
              <a:srgbClr val="818283"/>
            </a:solidFill>
          </a:ln>
        </p:spPr>
        <p:txBody>
          <a:bodyPr rtlCol="0" anchor="ctr" wrap="square" lIns="45720" rIns="45720" tIns="27432" bIns="27432"/>
          <a:lstStyle/>
          <a:p>
            <a:pPr algn="ctr"/>
            <a:r>
              <a:rPr sz="850" b="1" i="0">
                <a:solidFill>
                  <a:srgbClr val="FFFFFF"/>
                </a:solidFill>
                <a:latin typeface="Arial"/>
              </a:rPr>
              <a:t>declined → SX</a:t>
            </a:r>
          </a:p>
        </p:txBody>
      </p:sp>
      <p:sp>
        <p:nvSpPr>
          <p:cNvPr id="38" name="Rounded Rectangle 37"/>
          <p:cNvSpPr/>
          <p:nvPr/>
        </p:nvSpPr>
        <p:spPr>
          <a:xfrm>
            <a:off x="7205471" y="1847088"/>
            <a:ext cx="914400" cy="237744"/>
          </a:xfrm>
          <a:prstGeom prst="roundRect">
            <a:avLst>
              <a:gd name="adj" fmla="val 26923"/>
            </a:avLst>
          </a:prstGeom>
          <a:solidFill>
            <a:srgbClr val="818283"/>
          </a:solidFill>
          <a:ln w="12700">
            <a:solidFill>
              <a:srgbClr val="818283"/>
            </a:solidFill>
          </a:ln>
        </p:spPr>
        <p:txBody>
          <a:bodyPr rtlCol="0" anchor="ctr" wrap="square" lIns="45720" rIns="45720" tIns="27432" bIns="27432"/>
          <a:lstStyle/>
          <a:p>
            <a:pPr algn="ctr"/>
            <a:r>
              <a:rPr sz="850" b="1" i="0">
                <a:solidFill>
                  <a:srgbClr val="FFFFFF"/>
                </a:solidFill>
                <a:latin typeface="Arial"/>
              </a:rPr>
              <a:t>declined → SX</a:t>
            </a:r>
          </a:p>
        </p:txBody>
      </p:sp>
      <p:sp>
        <p:nvSpPr>
          <p:cNvPr id="39" name="Rounded Rectangle 38"/>
          <p:cNvSpPr/>
          <p:nvPr/>
        </p:nvSpPr>
        <p:spPr>
          <a:xfrm>
            <a:off x="7680960" y="4617720"/>
            <a:ext cx="1783080" cy="566928"/>
          </a:xfrm>
          <a:prstGeom prst="roundRect">
            <a:avLst>
              <a:gd name="adj" fmla="val 11290"/>
            </a:avLst>
          </a:prstGeom>
          <a:solidFill>
            <a:srgbClr val="818283"/>
          </a:solidFill>
          <a:ln w="12700">
            <a:solidFill>
              <a:srgbClr val="818283"/>
            </a:solidFill>
          </a:ln>
        </p:spPr>
        <p:txBody>
          <a:bodyPr rtlCol="0" anchor="ctr" wrap="square" lIns="45720" rIns="45720" tIns="27432" bIns="27432"/>
          <a:lstStyle/>
          <a:p>
            <a:pPr algn="ctr"/>
            <a:r>
              <a:rPr sz="1000" b="1" i="0">
                <a:solidFill>
                  <a:srgbClr val="FFFFFF"/>
                </a:solidFill>
                <a:latin typeface="Arial"/>
              </a:rPr>
              <a:t>SX Closed-lost</a:t>
            </a:r>
          </a:p>
          <a:p>
            <a:pPr algn="ctr"/>
            <a:r>
              <a:rPr sz="850" b="0" i="0">
                <a:solidFill>
                  <a:srgbClr val="FFFFFF"/>
                </a:solidFill>
                <a:latin typeface="Arial"/>
              </a:rPr>
              <a:t>a human said no at S3 or S6; always with a reason</a:t>
            </a:r>
          </a:p>
        </p:txBody>
      </p:sp>
      <p:sp>
        <p:nvSpPr>
          <p:cNvPr id="40" name="Rounded Rectangle 39"/>
          <p:cNvSpPr/>
          <p:nvPr/>
        </p:nvSpPr>
        <p:spPr>
          <a:xfrm>
            <a:off x="9646920" y="4617720"/>
            <a:ext cx="1993392" cy="566928"/>
          </a:xfrm>
          <a:prstGeom prst="roundRect">
            <a:avLst>
              <a:gd name="adj" fmla="val 1129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Deferred</a:t>
            </a:r>
          </a:p>
          <a:p>
            <a:pPr algn="ctr"/>
            <a:r>
              <a:rPr sz="850" b="0" i="0">
                <a:solidFill>
                  <a:srgbClr val="002368"/>
                </a:solidFill>
                <a:latin typeface="Arial"/>
              </a:rPr>
              <a:t>'not now' with a date: keeps its stage</a:t>
            </a:r>
          </a:p>
        </p:txBody>
      </p:sp>
      <p:sp>
        <p:nvSpPr>
          <p:cNvPr id="41" name="TextBox 40"/>
          <p:cNvSpPr txBox="1"/>
          <p:nvPr/>
        </p:nvSpPr>
        <p:spPr>
          <a:xfrm>
            <a:off x="548640"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S6 is optional</a:t>
            </a:r>
          </a:p>
        </p:txBody>
      </p:sp>
      <p:sp>
        <p:nvSpPr>
          <p:cNvPr id="42" name="TextBox 41"/>
          <p:cNvSpPr txBox="1"/>
          <p:nvPr/>
        </p:nvSpPr>
        <p:spPr>
          <a:xfrm>
            <a:off x="548640"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A win needing no signature (a circulation, a council introduction, a community meeting) goes from S5 to S7.</a:t>
            </a:r>
          </a:p>
        </p:txBody>
      </p:sp>
      <p:sp>
        <p:nvSpPr>
          <p:cNvPr id="43" name="TextBox 42"/>
          <p:cNvSpPr txBox="1"/>
          <p:nvPr/>
        </p:nvSpPr>
        <p:spPr>
          <a:xfrm>
            <a:off x="4297679"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Agreement first</a:t>
            </a:r>
          </a:p>
        </p:txBody>
      </p:sp>
      <p:sp>
        <p:nvSpPr>
          <p:cNvPr id="44" name="TextBox 43"/>
          <p:cNvSpPr txBox="1"/>
          <p:nvPr/>
        </p:nvSpPr>
        <p:spPr>
          <a:xfrm>
            <a:off x="4297679"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An employer that wants the agreement before any session goes S4 → S6 → S7; the session becomes S8's launch.</a:t>
            </a:r>
          </a:p>
        </p:txBody>
      </p:sp>
      <p:sp>
        <p:nvSpPr>
          <p:cNvPr id="45" name="TextBox 44"/>
          <p:cNvSpPr txBox="1"/>
          <p:nvPr/>
        </p:nvSpPr>
        <p:spPr>
          <a:xfrm>
            <a:off x="8046719"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Nothing is dead</a:t>
            </a:r>
          </a:p>
        </p:txBody>
      </p:sp>
      <p:sp>
        <p:nvSpPr>
          <p:cNvPr id="46" name="TextBox 45"/>
          <p:cNvSpPr txBox="1"/>
          <p:nvPr/>
        </p:nvSpPr>
        <p:spPr>
          <a:xfrm>
            <a:off x="8046719"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Silence is not a no: dormant, retried once. Only a real refusal, an opt-out or an unservable lead goes to SX.</a:t>
            </a:r>
          </a:p>
        </p:txBody>
      </p:sp>
      <p:sp>
        <p:nvSpPr>
          <p:cNvPr id="47" name="Hexagon 46"/>
          <p:cNvSpPr/>
          <p:nvPr/>
        </p:nvSpPr>
        <p:spPr>
          <a:xfrm>
            <a:off x="548640" y="4828032"/>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48" name="TextBox 47"/>
          <p:cNvSpPr txBox="1"/>
          <p:nvPr/>
        </p:nvSpPr>
        <p:spPr>
          <a:xfrm>
            <a:off x="850392" y="4800600"/>
            <a:ext cx="365760" cy="201168"/>
          </a:xfrm>
          <a:prstGeom prst="rect">
            <a:avLst/>
          </a:prstGeom>
          <a:noFill/>
        </p:spPr>
        <p:txBody>
          <a:bodyPr wrap="square" lIns="0" tIns="0" rIns="0" bIns="0" anchor="ctr">
            <a:spAutoFit/>
          </a:bodyPr>
          <a:lstStyle/>
          <a:p>
            <a:pPr algn="l"/>
            <a:r>
              <a:rPr sz="900" b="0" i="0">
                <a:solidFill>
                  <a:srgbClr val="818283"/>
                </a:solidFill>
                <a:latin typeface="Arial"/>
              </a:rPr>
              <a:t>Gate</a:t>
            </a:r>
          </a:p>
        </p:txBody>
      </p:sp>
      <p:sp>
        <p:nvSpPr>
          <p:cNvPr id="49" name="Rounded Rectangle 48"/>
          <p:cNvSpPr/>
          <p:nvPr/>
        </p:nvSpPr>
        <p:spPr>
          <a:xfrm>
            <a:off x="1325880" y="4828032"/>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0" name="TextBox 49"/>
          <p:cNvSpPr txBox="1"/>
          <p:nvPr/>
        </p:nvSpPr>
        <p:spPr>
          <a:xfrm>
            <a:off x="1627632" y="4800600"/>
            <a:ext cx="1120140" cy="201168"/>
          </a:xfrm>
          <a:prstGeom prst="rect">
            <a:avLst/>
          </a:prstGeom>
          <a:noFill/>
        </p:spPr>
        <p:txBody>
          <a:bodyPr wrap="square" lIns="0" tIns="0" rIns="0" bIns="0" anchor="ctr">
            <a:spAutoFit/>
          </a:bodyPr>
          <a:lstStyle/>
          <a:p>
            <a:pPr algn="l"/>
            <a:r>
              <a:rPr sz="900" b="0" i="0">
                <a:solidFill>
                  <a:srgbClr val="818283"/>
                </a:solidFill>
                <a:latin typeface="Arial"/>
              </a:rPr>
              <a:t>Silverleaf acts</a:t>
            </a:r>
          </a:p>
        </p:txBody>
      </p:sp>
      <p:sp>
        <p:nvSpPr>
          <p:cNvPr id="51" name="Rounded Rectangle 50"/>
          <p:cNvSpPr/>
          <p:nvPr/>
        </p:nvSpPr>
        <p:spPr>
          <a:xfrm>
            <a:off x="2857500" y="4828032"/>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52" name="TextBox 51"/>
          <p:cNvSpPr txBox="1"/>
          <p:nvPr/>
        </p:nvSpPr>
        <p:spPr>
          <a:xfrm>
            <a:off x="3159252" y="4800600"/>
            <a:ext cx="914399" cy="201168"/>
          </a:xfrm>
          <a:prstGeom prst="rect">
            <a:avLst/>
          </a:prstGeom>
          <a:noFill/>
        </p:spPr>
        <p:txBody>
          <a:bodyPr wrap="square" lIns="0" tIns="0" rIns="0" bIns="0" anchor="ctr">
            <a:spAutoFit/>
          </a:bodyPr>
          <a:lstStyle/>
          <a:p>
            <a:pPr algn="l"/>
            <a:r>
              <a:rPr sz="900" b="0" i="0">
                <a:solidFill>
                  <a:srgbClr val="818283"/>
                </a:solidFill>
                <a:latin typeface="Arial"/>
              </a:rPr>
              <a:t>Partner acts</a:t>
            </a:r>
          </a:p>
        </p:txBody>
      </p:sp>
      <p:sp>
        <p:nvSpPr>
          <p:cNvPr id="53" name="Rounded Rectangle 52"/>
          <p:cNvSpPr/>
          <p:nvPr/>
        </p:nvSpPr>
        <p:spPr>
          <a:xfrm>
            <a:off x="4183379" y="4828032"/>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54" name="TextBox 53"/>
          <p:cNvSpPr txBox="1"/>
          <p:nvPr/>
        </p:nvSpPr>
        <p:spPr>
          <a:xfrm>
            <a:off x="4485131" y="4800600"/>
            <a:ext cx="571500" cy="201168"/>
          </a:xfrm>
          <a:prstGeom prst="rect">
            <a:avLst/>
          </a:prstGeom>
          <a:noFill/>
        </p:spPr>
        <p:txBody>
          <a:bodyPr wrap="square" lIns="0" tIns="0" rIns="0" bIns="0" anchor="ctr">
            <a:spAutoFit/>
          </a:bodyPr>
          <a:lstStyle/>
          <a:p>
            <a:pPr algn="l"/>
            <a:r>
              <a:rPr sz="900" b="0" i="0">
                <a:solidFill>
                  <a:srgbClr val="818283"/>
                </a:solidFill>
                <a:latin typeface="Arial"/>
              </a:rPr>
              <a:t>The win</a:t>
            </a:r>
          </a:p>
        </p:txBody>
      </p:sp>
      <p:sp>
        <p:nvSpPr>
          <p:cNvPr id="55" name="Rounded Rectangle 54"/>
          <p:cNvSpPr/>
          <p:nvPr/>
        </p:nvSpPr>
        <p:spPr>
          <a:xfrm>
            <a:off x="5166359" y="4828032"/>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56" name="TextBox 55"/>
          <p:cNvSpPr txBox="1"/>
          <p:nvPr/>
        </p:nvSpPr>
        <p:spPr>
          <a:xfrm>
            <a:off x="5468112" y="4800600"/>
            <a:ext cx="571500" cy="201168"/>
          </a:xfrm>
          <a:prstGeom prst="rect">
            <a:avLst/>
          </a:prstGeom>
          <a:noFill/>
        </p:spPr>
        <p:txBody>
          <a:bodyPr wrap="square" lIns="0" tIns="0" rIns="0" bIns="0" anchor="ctr">
            <a:spAutoFit/>
          </a:bodyPr>
          <a:lstStyle/>
          <a:p>
            <a:pPr algn="l"/>
            <a:r>
              <a:rPr sz="900" b="0" i="0">
                <a:solidFill>
                  <a:srgbClr val="818283"/>
                </a:solidFill>
                <a:latin typeface="Arial"/>
              </a:rPr>
              <a:t>Results</a:t>
            </a:r>
          </a:p>
        </p:txBody>
      </p:sp>
      <p:pic>
        <p:nvPicPr>
          <p:cNvPr id="57" name="Picture 56" descr="image3.png"/>
          <p:cNvPicPr>
            <a:picLocks noChangeAspect="1"/>
          </p:cNvPicPr>
          <p:nvPr/>
        </p:nvPicPr>
        <p:blipFill>
          <a:blip r:embed="rId2"/>
          <a:stretch>
            <a:fillRect/>
          </a:stretch>
        </p:blipFill>
        <p:spPr>
          <a:xfrm>
            <a:off x="548640" y="6272784"/>
            <a:ext cx="1143000" cy="274320"/>
          </a:xfrm>
          <a:prstGeom prst="rect">
            <a:avLst/>
          </a:prstGeom>
        </p:spPr>
      </p:pic>
      <p:sp>
        <p:nvSpPr>
          <p:cNvPr id="58"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59"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a:t>
            </a:r>
          </a:p>
        </p:txBody>
      </p:sp>
      <p:sp>
        <p:nvSpPr>
          <p:cNvPr id="6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AFTER THE OFFER</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happens after the offer, segment by segment</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FOR APPROVAL</a:t>
            </a:r>
          </a:p>
        </p:txBody>
      </p:sp>
      <p:graphicFrame>
        <p:nvGraphicFramePr>
          <p:cNvPr id="5" name="Table 4"/>
          <p:cNvGraphicFramePr>
            <a:graphicFrameLocks noGrp="1"/>
          </p:cNvGraphicFramePr>
          <p:nvPr/>
        </p:nvGraphicFramePr>
        <p:xfrm>
          <a:off x="548640" y="1298448"/>
          <a:ext cx="11091672" cy="4114800"/>
        </p:xfrm>
        <a:graphic>
          <a:graphicData uri="http://schemas.openxmlformats.org/drawingml/2006/table">
            <a:tbl>
              <a:tblPr firstRow="0" bandRow="0">
                <a:tableStyleId>{2D5ABB26-0587-4C30-8999-92F81FD0307C}</a:tableStyleId>
              </a:tblPr>
              <a:tblGrid>
                <a:gridCol w="1600200"/>
                <a:gridCol w="1737360"/>
                <a:gridCol w="1965960"/>
                <a:gridCol w="1828800"/>
                <a:gridCol w="1993392"/>
                <a:gridCol w="1965960"/>
              </a:tblGrid>
              <a:tr h="457200">
                <a:tc>
                  <a:txBody>
                    <a:bodyPr wrap="square"/>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S4 MEETING</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S5 ACTIVATION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S6 PROPOSAL</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S7 WIN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S8 RESULTS</a:t>
                      </a:r>
                    </a:p>
                  </a:txBody>
                  <a:tcPr marL="54864" marR="54864" marT="36576" marB="36576" anchor="ctr">
                    <a:lnL w="0">
                      <a:noFill/>
                    </a:lnL>
                    <a:lnR w="0">
                      <a:noFill/>
                    </a:lnR>
                    <a:lnT w="0">
                      <a:noFill/>
                    </a:lnT>
                    <a:lnB w="12700">
                      <a:solidFill>
                        <a:srgbClr val="80BFEC"/>
                      </a:solidFill>
                    </a:lnB>
                    <a:noFill/>
                  </a:tcPr>
                </a:tc>
              </a:tr>
              <a:tr h="457200">
                <a:tc>
                  <a:txBody>
                    <a:bodyPr wrap="square"/>
                    <a:lstStyle/>
                    <a:p>
                      <a:r>
                        <a:rPr sz="950" b="1" i="0">
                          <a:solidFill>
                            <a:srgbClr val="002368"/>
                          </a:solidFill>
                          <a:latin typeface="Arial"/>
                        </a:rPr>
                        <a:t>Employers (B)</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Call or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Staff session: site visit, webinar or pack</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Benefit proposal, only for a signed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Circulation partner or benefit partner</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Staff sign-ups enter the parent funnel</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Sponsors (A)</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proposal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Sponsored students enrolled</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SACCOS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Committee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Members' meeting or AGM slot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Group rate (optional)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Committee circulates, or slot held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Member sign-ups</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Introducers, networks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Secretariat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Circulation agreed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Member-benefit MOU (optional)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First circulation done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Referred employers or homes</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Welfare homes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Placement conversation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Safeguarding visit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Placement proposal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Placement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Children enrolled via admissions</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Welfare funders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Meeting, often video</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Proposal tied to the home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Students enrolled via the home</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Councils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Courtesy visit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Introduction recorded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Ward and village funnels open</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Wards, villages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 the WEO or VEO</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Slot agreed in writing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Community meeting held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Parent opt-ins</a:t>
                      </a:r>
                    </a:p>
                  </a:txBody>
                  <a:tcPr marL="54864" marR="54864" marT="36576" marB="36576" anchor="ctr">
                    <a:lnL w="0">
                      <a:noFill/>
                    </a:lnL>
                    <a:lnR w="0">
                      <a:noFill/>
                    </a:lnR>
                    <a:lnT w="0">
                      <a:noFill/>
                    </a:lnT>
                    <a:lnB w="9525">
                      <a:solidFill>
                        <a:srgbClr val="ECECEC"/>
                      </a:solidFill>
                    </a:lnB>
                    <a:noFill/>
                  </a:tcPr>
                </a:tc>
              </a:tr>
            </a:tbl>
          </a:graphicData>
        </a:graphic>
      </p:graphicFrame>
      <p:sp>
        <p:nvSpPr>
          <p:cNvPr id="6" name="TextBox 5"/>
          <p:cNvSpPr txBox="1"/>
          <p:nvPr/>
        </p:nvSpPr>
        <p:spPr>
          <a:xfrm>
            <a:off x="548640" y="5532120"/>
            <a:ext cx="11064240" cy="457200"/>
          </a:xfrm>
          <a:prstGeom prst="rect">
            <a:avLst/>
          </a:prstGeom>
          <a:noFill/>
        </p:spPr>
        <p:txBody>
          <a:bodyPr wrap="square" lIns="0" tIns="0" rIns="0" bIns="0" anchor="t">
            <a:spAutoFit/>
          </a:bodyPr>
          <a:lstStyle/>
          <a:p>
            <a:pPr algn="l"/>
            <a:r>
              <a:rPr sz="1000" b="0" i="0">
                <a:solidFill>
                  <a:srgbClr val="818283"/>
                </a:solidFill>
                <a:latin typeface="Arial"/>
              </a:rPr>
              <a:t>S9 renewal: re-circulate before each intake window (September for January primary, May for mid-year); agreements reviewed 8 weeks before the January intake; government re-verifies post holders after reshuffles.</a:t>
            </a:r>
          </a:p>
        </p:txBody>
      </p:sp>
      <p:pic>
        <p:nvPicPr>
          <p:cNvPr id="7" name="Picture 6" descr="image3.png"/>
          <p:cNvPicPr>
            <a:picLocks noChangeAspect="1"/>
          </p:cNvPicPr>
          <p:nvPr/>
        </p:nvPicPr>
        <p:blipFill>
          <a:blip r:embed="rId2"/>
          <a:stretch>
            <a:fillRect/>
          </a:stretch>
        </p:blipFill>
        <p:spPr>
          <a:xfrm>
            <a:off x="548640" y="6272784"/>
            <a:ext cx="1143000" cy="274320"/>
          </a:xfrm>
          <a:prstGeom prst="rect">
            <a:avLst/>
          </a:prstGeom>
        </p:spPr>
      </p:pic>
      <p:sp>
        <p:nvSpPr>
          <p:cNvPr id="8"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9"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a:t>
            </a:r>
          </a:p>
        </p:txBody>
      </p:sp>
      <p:sp>
        <p:nvSpPr>
          <p:cNvPr id="1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TRACKING AND REPORTING</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is recorded, what we watch, what partners see</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FOR APPROVAL</a:t>
            </a:r>
          </a:p>
        </p:txBody>
      </p:sp>
      <p:graphicFrame>
        <p:nvGraphicFramePr>
          <p:cNvPr id="5" name="Table 4"/>
          <p:cNvGraphicFramePr>
            <a:graphicFrameLocks noGrp="1"/>
          </p:cNvGraphicFramePr>
          <p:nvPr/>
        </p:nvGraphicFramePr>
        <p:xfrm>
          <a:off x="548640" y="1261872"/>
          <a:ext cx="5943600" cy="3712464"/>
        </p:xfrm>
        <a:graphic>
          <a:graphicData uri="http://schemas.openxmlformats.org/drawingml/2006/table">
            <a:tbl>
              <a:tblPr firstRow="0" bandRow="0">
                <a:tableStyleId>{2D5ABB26-0587-4C30-8999-92F81FD0307C}</a:tableStyleId>
              </a:tblPr>
              <a:tblGrid>
                <a:gridCol w="960120"/>
                <a:gridCol w="4983480"/>
              </a:tblGrid>
              <a:tr h="530352">
                <a:tc>
                  <a:txBody>
                    <a:bodyPr wrap="square"/>
                    <a:lstStyle/>
                    <a:p>
                      <a:r>
                        <a:rPr sz="900" b="1" i="0" spc="100">
                          <a:solidFill>
                            <a:srgbClr val="818283"/>
                          </a:solidFill>
                          <a:latin typeface="Arial"/>
                        </a:rPr>
                        <a:t>STAGE</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FIELDS (ORGANISATION FACTS AND TOTALS ONLY, NEVER A PERSON IN THE PARENT FUNNEL)</a:t>
                      </a:r>
                    </a:p>
                  </a:txBody>
                  <a:tcPr marL="54864" marR="54864" marT="36576" marB="36576" anchor="ctr">
                    <a:lnL w="0">
                      <a:noFill/>
                    </a:lnL>
                    <a:lnR w="0">
                      <a:noFill/>
                    </a:lnR>
                    <a:lnT w="0">
                      <a:noFill/>
                    </a:lnT>
                    <a:lnB w="12700">
                      <a:solidFill>
                        <a:srgbClr val="80BFEC"/>
                      </a:solidFill>
                    </a:lnB>
                    <a:noFill/>
                  </a:tcPr>
                </a:tc>
              </a:tr>
              <a:tr h="530352">
                <a:tc>
                  <a:txBody>
                    <a:bodyPr wrap="square"/>
                    <a:lstStyle/>
                    <a:p>
                      <a:r>
                        <a:rPr sz="950" b="1" i="0">
                          <a:solidFill>
                            <a:srgbClr val="002368"/>
                          </a:solidFill>
                          <a:latin typeface="Arial"/>
                        </a:rPr>
                        <a:t>Every stage</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stage and date, owner role, next action and next-action date (required while open), outcome code, band and track at first touch, first-touch case A/B/C, partner code, touch count, escalation used</a:t>
                      </a:r>
                    </a:p>
                  </a:txBody>
                  <a:tcPr marL="54864" marR="54864" marT="36576" marB="36576" anchor="ctr">
                    <a:lnL w="0">
                      <a:noFill/>
                    </a:lnL>
                    <a:lnR w="0">
                      <a:noFill/>
                    </a:lnR>
                    <a:lnT w="0">
                      <a:noFill/>
                    </a:lnT>
                    <a:lnB w="9525">
                      <a:solidFill>
                        <a:srgbClr val="ECECEC"/>
                      </a:solidFill>
                    </a:lnB>
                    <a:noFill/>
                  </a:tcPr>
                </a:tc>
              </a:tr>
              <a:tr h="530352">
                <a:tc>
                  <a:txBody>
                    <a:bodyPr wrap="square"/>
                    <a:lstStyle/>
                    <a:p>
                      <a:r>
                        <a:rPr sz="950" b="1" i="0">
                          <a:solidFill>
                            <a:srgbClr val="002368"/>
                          </a:solidFill>
                          <a:latin typeface="Arial"/>
                        </a:rPr>
                        <a:t>S2</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first-touch date and channel, sequence, front-desk call date and result, a name obtained with source and date</a:t>
                      </a:r>
                    </a:p>
                  </a:txBody>
                  <a:tcPr marL="54864" marR="54864" marT="36576" marB="36576" anchor="ctr">
                    <a:lnL w="0">
                      <a:noFill/>
                    </a:lnL>
                    <a:lnR w="0">
                      <a:noFill/>
                    </a:lnR>
                    <a:lnT w="0">
                      <a:noFill/>
                    </a:lnT>
                    <a:lnB w="9525">
                      <a:solidFill>
                        <a:srgbClr val="ECECEC"/>
                      </a:solidFill>
                    </a:lnB>
                    <a:noFill/>
                  </a:tcPr>
                </a:tc>
              </a:tr>
              <a:tr h="530352">
                <a:tc>
                  <a:txBody>
                    <a:bodyPr wrap="square"/>
                    <a:lstStyle/>
                    <a:p>
                      <a:r>
                        <a:rPr sz="950" b="1" i="0">
                          <a:solidFill>
                            <a:srgbClr val="002368"/>
                          </a:solidFill>
                          <a:latin typeface="Arial"/>
                        </a:rPr>
                        <a:t>S3–S5</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reply type, deferred-until date; meeting format, staff count as a range, shifts, language; session type, attendance, sign-ups</a:t>
                      </a:r>
                    </a:p>
                  </a:txBody>
                  <a:tcPr marL="54864" marR="54864" marT="36576" marB="36576" anchor="ctr">
                    <a:lnL w="0">
                      <a:noFill/>
                    </a:lnL>
                    <a:lnR w="0">
                      <a:noFill/>
                    </a:lnR>
                    <a:lnT w="0">
                      <a:noFill/>
                    </a:lnT>
                    <a:lnB w="9525">
                      <a:solidFill>
                        <a:srgbClr val="ECECEC"/>
                      </a:solidFill>
                    </a:lnB>
                    <a:noFill/>
                  </a:tcPr>
                </a:tc>
              </a:tr>
              <a:tr h="530352">
                <a:tc>
                  <a:txBody>
                    <a:bodyPr wrap="square"/>
                    <a:lstStyle/>
                    <a:p>
                      <a:r>
                        <a:rPr sz="950" b="1" i="0">
                          <a:solidFill>
                            <a:srgbClr val="002368"/>
                          </a:solidFill>
                          <a:latin typeface="Arial"/>
                        </a:rPr>
                        <a:t>S6–S7</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proposal date, offer IDs, Finance confirmation; incentive register ID, approval and expiry; win type, approver, renewal date</a:t>
                      </a:r>
                    </a:p>
                  </a:txBody>
                  <a:tcPr marL="54864" marR="54864" marT="36576" marB="36576" anchor="ctr">
                    <a:lnL w="0">
                      <a:noFill/>
                    </a:lnL>
                    <a:lnR w="0">
                      <a:noFill/>
                    </a:lnR>
                    <a:lnT w="0">
                      <a:noFill/>
                    </a:lnT>
                    <a:lnB w="9525">
                      <a:solidFill>
                        <a:srgbClr val="ECECEC"/>
                      </a:solidFill>
                    </a:lnB>
                    <a:noFill/>
                  </a:tcPr>
                </a:tc>
              </a:tr>
              <a:tr h="530352">
                <a:tc>
                  <a:txBody>
                    <a:bodyPr wrap="square"/>
                    <a:lstStyle/>
                    <a:p>
                      <a:r>
                        <a:rPr sz="950" b="1" i="0">
                          <a:solidFill>
                            <a:srgbClr val="002368"/>
                          </a:solidFill>
                          <a:latin typeface="Arial"/>
                        </a:rPr>
                        <a:t>S8–S9</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monthly totals per partner code; review date and next window</a:t>
                      </a:r>
                    </a:p>
                  </a:txBody>
                  <a:tcPr marL="54864" marR="54864" marT="36576" marB="36576" anchor="ctr">
                    <a:lnL w="0">
                      <a:noFill/>
                    </a:lnL>
                    <a:lnR w="0">
                      <a:noFill/>
                    </a:lnR>
                    <a:lnT w="0">
                      <a:noFill/>
                    </a:lnT>
                    <a:lnB w="9525">
                      <a:solidFill>
                        <a:srgbClr val="ECECEC"/>
                      </a:solidFill>
                    </a:lnB>
                    <a:noFill/>
                  </a:tcPr>
                </a:tc>
              </a:tr>
              <a:tr h="530352">
                <a:tc>
                  <a:txBody>
                    <a:bodyPr wrap="square"/>
                    <a:lstStyle/>
                    <a:p>
                      <a:r>
                        <a:rPr sz="950" b="1" i="0">
                          <a:solidFill>
                            <a:srgbClr val="002368"/>
                          </a:solidFill>
                          <a:latin typeface="Arial"/>
                        </a:rPr>
                        <a:t>Dormant, SX</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 reason, since, retry due, retry used, warm route; final lost reason, date, note</a:t>
                      </a:r>
                    </a:p>
                  </a:txBody>
                  <a:tcPr marL="54864" marR="54864" marT="36576" marB="36576" anchor="ctr">
                    <a:lnL w="0">
                      <a:noFill/>
                    </a:lnL>
                    <a:lnR w="0">
                      <a:noFill/>
                    </a:lnR>
                    <a:lnT w="0">
                      <a:noFill/>
                    </a:lnT>
                    <a:lnB w="9525">
                      <a:solidFill>
                        <a:srgbClr val="ECECEC"/>
                      </a:solidFill>
                    </a:lnB>
                    <a:noFill/>
                  </a:tcPr>
                </a:tc>
              </a:tr>
            </a:tbl>
          </a:graphicData>
        </a:graphic>
      </p:graphicFrame>
      <p:sp>
        <p:nvSpPr>
          <p:cNvPr id="6" name="TextBox 5"/>
          <p:cNvSpPr txBox="1"/>
          <p:nvPr/>
        </p:nvSpPr>
        <p:spPr>
          <a:xfrm>
            <a:off x="6812280" y="1325880"/>
            <a:ext cx="4572000" cy="201168"/>
          </a:xfrm>
          <a:prstGeom prst="rect">
            <a:avLst/>
          </a:prstGeom>
          <a:noFill/>
        </p:spPr>
        <p:txBody>
          <a:bodyPr wrap="square" lIns="0" tIns="0" rIns="0" bIns="0" anchor="t">
            <a:spAutoFit/>
          </a:bodyPr>
          <a:lstStyle/>
          <a:p>
            <a:pPr algn="l"/>
            <a:r>
              <a:rPr sz="900" b="1" i="0" spc="200">
                <a:solidFill>
                  <a:srgbClr val="818283"/>
                </a:solidFill>
                <a:latin typeface="Arial"/>
              </a:rPr>
              <a:t>METRICS</a:t>
            </a:r>
          </a:p>
        </p:txBody>
      </p:sp>
      <p:sp>
        <p:nvSpPr>
          <p:cNvPr id="7" name="Hexagon 6"/>
          <p:cNvSpPr/>
          <p:nvPr/>
        </p:nvSpPr>
        <p:spPr>
          <a:xfrm>
            <a:off x="6812280" y="1600200"/>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8" name="TextBox 7"/>
          <p:cNvSpPr txBox="1"/>
          <p:nvPr/>
        </p:nvSpPr>
        <p:spPr>
          <a:xfrm>
            <a:off x="7296912" y="1581912"/>
            <a:ext cx="4297680" cy="237744"/>
          </a:xfrm>
          <a:prstGeom prst="rect">
            <a:avLst/>
          </a:prstGeom>
          <a:noFill/>
        </p:spPr>
        <p:txBody>
          <a:bodyPr wrap="square" lIns="0" tIns="0" rIns="0" bIns="0" anchor="t">
            <a:spAutoFit/>
          </a:bodyPr>
          <a:lstStyle/>
          <a:p>
            <a:pPr algn="l"/>
            <a:r>
              <a:rPr sz="1100" b="1" i="0">
                <a:solidFill>
                  <a:srgbClr val="002368"/>
                </a:solidFill>
                <a:latin typeface="Arial"/>
              </a:rPr>
              <a:t>First touch</a:t>
            </a:r>
          </a:p>
        </p:txBody>
      </p:sp>
      <p:sp>
        <p:nvSpPr>
          <p:cNvPr id="9" name="TextBox 8"/>
          <p:cNvSpPr txBox="1"/>
          <p:nvPr/>
        </p:nvSpPr>
        <p:spPr>
          <a:xfrm>
            <a:off x="7296912" y="1819656"/>
            <a:ext cx="4297680" cy="457200"/>
          </a:xfrm>
          <a:prstGeom prst="rect">
            <a:avLst/>
          </a:prstGeom>
          <a:noFill/>
        </p:spPr>
        <p:txBody>
          <a:bodyPr wrap="square" lIns="0" tIns="0" rIns="0" bIns="0" anchor="t">
            <a:spAutoFit/>
          </a:bodyPr>
          <a:lstStyle/>
          <a:p>
            <a:pPr algn="l"/>
            <a:r>
              <a:rPr sz="950" b="0" i="0">
                <a:solidFill>
                  <a:srgbClr val="000000"/>
                </a:solidFill>
                <a:latin typeface="Arial"/>
              </a:rPr>
              <a:t>redirect → name obtained; Attn → reply; days to a name; front-desk call success</a:t>
            </a:r>
          </a:p>
        </p:txBody>
      </p:sp>
      <p:sp>
        <p:nvSpPr>
          <p:cNvPr id="10" name="Hexagon 9"/>
          <p:cNvSpPr/>
          <p:nvPr/>
        </p:nvSpPr>
        <p:spPr>
          <a:xfrm>
            <a:off x="6812280" y="2221992"/>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2</a:t>
            </a:r>
          </a:p>
        </p:txBody>
      </p:sp>
      <p:sp>
        <p:nvSpPr>
          <p:cNvPr id="11" name="TextBox 10"/>
          <p:cNvSpPr txBox="1"/>
          <p:nvPr/>
        </p:nvSpPr>
        <p:spPr>
          <a:xfrm>
            <a:off x="7296912" y="2203704"/>
            <a:ext cx="4297680" cy="237744"/>
          </a:xfrm>
          <a:prstGeom prst="rect">
            <a:avLst/>
          </a:prstGeom>
          <a:noFill/>
        </p:spPr>
        <p:txBody>
          <a:bodyPr wrap="square" lIns="0" tIns="0" rIns="0" bIns="0" anchor="t">
            <a:spAutoFit/>
          </a:bodyPr>
          <a:lstStyle/>
          <a:p>
            <a:pPr algn="l"/>
            <a:r>
              <a:rPr sz="1100" b="1" i="0">
                <a:solidFill>
                  <a:srgbClr val="002368"/>
                </a:solidFill>
                <a:latin typeface="Arial"/>
              </a:rPr>
              <a:t>Spine</a:t>
            </a:r>
          </a:p>
        </p:txBody>
      </p:sp>
      <p:sp>
        <p:nvSpPr>
          <p:cNvPr id="12" name="TextBox 11"/>
          <p:cNvSpPr txBox="1"/>
          <p:nvPr/>
        </p:nvSpPr>
        <p:spPr>
          <a:xfrm>
            <a:off x="7296912" y="2441448"/>
            <a:ext cx="4297680" cy="457200"/>
          </a:xfrm>
          <a:prstGeom prst="rect">
            <a:avLst/>
          </a:prstGeom>
          <a:noFill/>
        </p:spPr>
        <p:txBody>
          <a:bodyPr wrap="square" lIns="0" tIns="0" rIns="0" bIns="0" anchor="t">
            <a:spAutoFit/>
          </a:bodyPr>
          <a:lstStyle/>
          <a:p>
            <a:pPr algn="l"/>
            <a:r>
              <a:rPr sz="950" b="0" i="0">
                <a:solidFill>
                  <a:srgbClr val="000000"/>
                </a:solidFill>
                <a:latin typeface="Arial"/>
              </a:rPr>
              <a:t>reply rate by band, case and subsegment; S3 → S4 → S5 → S7 conversion; meetings per week</a:t>
            </a:r>
          </a:p>
        </p:txBody>
      </p:sp>
      <p:sp>
        <p:nvSpPr>
          <p:cNvPr id="13" name="Hexagon 12"/>
          <p:cNvSpPr/>
          <p:nvPr/>
        </p:nvSpPr>
        <p:spPr>
          <a:xfrm>
            <a:off x="6812280" y="2843784"/>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3</a:t>
            </a:r>
          </a:p>
        </p:txBody>
      </p:sp>
      <p:sp>
        <p:nvSpPr>
          <p:cNvPr id="14" name="TextBox 13"/>
          <p:cNvSpPr txBox="1"/>
          <p:nvPr/>
        </p:nvSpPr>
        <p:spPr>
          <a:xfrm>
            <a:off x="7296912" y="2825496"/>
            <a:ext cx="4297680" cy="237744"/>
          </a:xfrm>
          <a:prstGeom prst="rect">
            <a:avLst/>
          </a:prstGeom>
          <a:noFill/>
        </p:spPr>
        <p:txBody>
          <a:bodyPr wrap="square" lIns="0" tIns="0" rIns="0" bIns="0" anchor="t">
            <a:spAutoFit/>
          </a:bodyPr>
          <a:lstStyle/>
          <a:p>
            <a:pPr algn="l"/>
            <a:r>
              <a:rPr sz="1100" b="1" i="0">
                <a:solidFill>
                  <a:srgbClr val="002368"/>
                </a:solidFill>
                <a:latin typeface="Arial"/>
              </a:rPr>
              <a:t>Fallout</a:t>
            </a:r>
          </a:p>
        </p:txBody>
      </p:sp>
      <p:sp>
        <p:nvSpPr>
          <p:cNvPr id="15" name="TextBox 14"/>
          <p:cNvSpPr txBox="1"/>
          <p:nvPr/>
        </p:nvSpPr>
        <p:spPr>
          <a:xfrm>
            <a:off x="7296912" y="3063240"/>
            <a:ext cx="4297680" cy="457200"/>
          </a:xfrm>
          <a:prstGeom prst="rect">
            <a:avLst/>
          </a:prstGeom>
          <a:noFill/>
        </p:spPr>
        <p:txBody>
          <a:bodyPr wrap="square" lIns="0" tIns="0" rIns="0" bIns="0" anchor="t">
            <a:spAutoFit/>
          </a:bodyPr>
          <a:lstStyle/>
          <a:p>
            <a:pPr algn="l"/>
            <a:r>
              <a:rPr sz="950" b="0" i="0">
                <a:solidFill>
                  <a:srgbClr val="000000"/>
                </a:solidFill>
                <a:latin typeface="Arial"/>
              </a:rPr>
              <a:t>share of dormant leads reopened at each window; warm-route conversion</a:t>
            </a:r>
          </a:p>
        </p:txBody>
      </p:sp>
      <p:sp>
        <p:nvSpPr>
          <p:cNvPr id="16" name="Hexagon 15"/>
          <p:cNvSpPr/>
          <p:nvPr/>
        </p:nvSpPr>
        <p:spPr>
          <a:xfrm>
            <a:off x="6812280" y="3465576"/>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4</a:t>
            </a:r>
          </a:p>
        </p:txBody>
      </p:sp>
      <p:sp>
        <p:nvSpPr>
          <p:cNvPr id="17" name="TextBox 16"/>
          <p:cNvSpPr txBox="1"/>
          <p:nvPr/>
        </p:nvSpPr>
        <p:spPr>
          <a:xfrm>
            <a:off x="7296912" y="3447288"/>
            <a:ext cx="4297680" cy="237744"/>
          </a:xfrm>
          <a:prstGeom prst="rect">
            <a:avLst/>
          </a:prstGeom>
          <a:noFill/>
        </p:spPr>
        <p:txBody>
          <a:bodyPr wrap="square" lIns="0" tIns="0" rIns="0" bIns="0" anchor="t">
            <a:spAutoFit/>
          </a:bodyPr>
          <a:lstStyle/>
          <a:p>
            <a:pPr algn="l"/>
            <a:r>
              <a:rPr sz="1100" b="1" i="0">
                <a:solidFill>
                  <a:srgbClr val="002368"/>
                </a:solidFill>
                <a:latin typeface="Arial"/>
              </a:rPr>
              <a:t>Partners</a:t>
            </a:r>
          </a:p>
        </p:txBody>
      </p:sp>
      <p:sp>
        <p:nvSpPr>
          <p:cNvPr id="18" name="TextBox 17"/>
          <p:cNvSpPr txBox="1"/>
          <p:nvPr/>
        </p:nvSpPr>
        <p:spPr>
          <a:xfrm>
            <a:off x="7296912" y="3685032"/>
            <a:ext cx="4297680" cy="457200"/>
          </a:xfrm>
          <a:prstGeom prst="rect">
            <a:avLst/>
          </a:prstGeom>
          <a:noFill/>
        </p:spPr>
        <p:txBody>
          <a:bodyPr wrap="square" lIns="0" tIns="0" rIns="0" bIns="0" anchor="t">
            <a:spAutoFit/>
          </a:bodyPr>
          <a:lstStyle/>
          <a:p>
            <a:pPr algn="l"/>
            <a:r>
              <a:rPr sz="950" b="0" i="0">
                <a:solidFill>
                  <a:srgbClr val="000000"/>
                </a:solidFill>
                <a:latin typeface="Arial"/>
              </a:rPr>
              <a:t>sign-ups per 100 attendees and per circulation; referrals per circulation; places agreed → enrolled</a:t>
            </a:r>
          </a:p>
        </p:txBody>
      </p:sp>
      <p:sp>
        <p:nvSpPr>
          <p:cNvPr id="19" name="Hexagon 18"/>
          <p:cNvSpPr/>
          <p:nvPr/>
        </p:nvSpPr>
        <p:spPr>
          <a:xfrm>
            <a:off x="6812280" y="4087368"/>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5</a:t>
            </a:r>
          </a:p>
        </p:txBody>
      </p:sp>
      <p:sp>
        <p:nvSpPr>
          <p:cNvPr id="20" name="TextBox 19"/>
          <p:cNvSpPr txBox="1"/>
          <p:nvPr/>
        </p:nvSpPr>
        <p:spPr>
          <a:xfrm>
            <a:off x="7296912" y="4069080"/>
            <a:ext cx="4297680" cy="237744"/>
          </a:xfrm>
          <a:prstGeom prst="rect">
            <a:avLst/>
          </a:prstGeom>
          <a:noFill/>
        </p:spPr>
        <p:txBody>
          <a:bodyPr wrap="square" lIns="0" tIns="0" rIns="0" bIns="0" anchor="t">
            <a:spAutoFit/>
          </a:bodyPr>
          <a:lstStyle/>
          <a:p>
            <a:pPr algn="l"/>
            <a:r>
              <a:rPr sz="1100" b="1" i="0">
                <a:solidFill>
                  <a:srgbClr val="002368"/>
                </a:solidFill>
                <a:latin typeface="Arial"/>
              </a:rPr>
              <a:t>Parent funnel</a:t>
            </a:r>
          </a:p>
        </p:txBody>
      </p:sp>
      <p:sp>
        <p:nvSpPr>
          <p:cNvPr id="21" name="TextBox 20"/>
          <p:cNvSpPr txBox="1"/>
          <p:nvPr/>
        </p:nvSpPr>
        <p:spPr>
          <a:xfrm>
            <a:off x="7296912" y="4306824"/>
            <a:ext cx="4297680" cy="457200"/>
          </a:xfrm>
          <a:prstGeom prst="rect">
            <a:avLst/>
          </a:prstGeom>
          <a:noFill/>
        </p:spPr>
        <p:txBody>
          <a:bodyPr wrap="square" lIns="0" tIns="0" rIns="0" bIns="0" anchor="t">
            <a:spAutoFit/>
          </a:bodyPr>
          <a:lstStyle/>
          <a:p>
            <a:pPr algn="l"/>
            <a:r>
              <a:rPr sz="950" b="0" i="0">
                <a:solidFill>
                  <a:srgbClr val="000000"/>
                </a:solidFill>
                <a:latin typeface="Arial"/>
              </a:rPr>
              <a:t>opt-in → inquiry → tour → application → enrolment, by partner code</a:t>
            </a:r>
          </a:p>
        </p:txBody>
      </p:sp>
      <p:sp>
        <p:nvSpPr>
          <p:cNvPr id="22" name="Hexagon 21"/>
          <p:cNvSpPr/>
          <p:nvPr/>
        </p:nvSpPr>
        <p:spPr>
          <a:xfrm>
            <a:off x="6812280" y="4709160"/>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6</a:t>
            </a:r>
          </a:p>
        </p:txBody>
      </p:sp>
      <p:sp>
        <p:nvSpPr>
          <p:cNvPr id="23" name="TextBox 22"/>
          <p:cNvSpPr txBox="1"/>
          <p:nvPr/>
        </p:nvSpPr>
        <p:spPr>
          <a:xfrm>
            <a:off x="7296912" y="4690872"/>
            <a:ext cx="4297680" cy="237744"/>
          </a:xfrm>
          <a:prstGeom prst="rect">
            <a:avLst/>
          </a:prstGeom>
          <a:noFill/>
        </p:spPr>
        <p:txBody>
          <a:bodyPr wrap="square" lIns="0" tIns="0" rIns="0" bIns="0" anchor="t">
            <a:spAutoFit/>
          </a:bodyPr>
          <a:lstStyle/>
          <a:p>
            <a:pPr algn="l"/>
            <a:r>
              <a:rPr sz="1100" b="1" i="0">
                <a:solidFill>
                  <a:srgbClr val="002368"/>
                </a:solidFill>
                <a:latin typeface="Arial"/>
              </a:rPr>
              <a:t>Incentives</a:t>
            </a:r>
          </a:p>
        </p:txBody>
      </p:sp>
      <p:sp>
        <p:nvSpPr>
          <p:cNvPr id="24" name="TextBox 23"/>
          <p:cNvSpPr txBox="1"/>
          <p:nvPr/>
        </p:nvSpPr>
        <p:spPr>
          <a:xfrm>
            <a:off x="7296912" y="4928616"/>
            <a:ext cx="4297680" cy="457200"/>
          </a:xfrm>
          <a:prstGeom prst="rect">
            <a:avLst/>
          </a:prstGeom>
          <a:noFill/>
        </p:spPr>
        <p:txBody>
          <a:bodyPr wrap="square" lIns="0" tIns="0" rIns="0" bIns="0" anchor="t">
            <a:spAutoFit/>
          </a:bodyPr>
          <a:lstStyle/>
          <a:p>
            <a:pPr algn="l"/>
            <a:r>
              <a:rPr sz="950" b="0" i="0">
                <a:solidFill>
                  <a:srgbClr val="000000"/>
                </a:solidFill>
                <a:latin typeface="Arial"/>
              </a:rPr>
              <a:t>should stay rare: each one listed with its approval and expiry</a:t>
            </a:r>
          </a:p>
        </p:txBody>
      </p:sp>
      <p:sp>
        <p:nvSpPr>
          <p:cNvPr id="25" name="Rounded Rectangle 24"/>
          <p:cNvSpPr/>
          <p:nvPr/>
        </p:nvSpPr>
        <p:spPr>
          <a:xfrm>
            <a:off x="548640" y="5349240"/>
            <a:ext cx="11091672" cy="621792"/>
          </a:xfrm>
          <a:prstGeom prst="roundRect">
            <a:avLst>
              <a:gd name="adj" fmla="val 10294"/>
            </a:avLst>
          </a:prstGeom>
          <a:solidFill>
            <a:srgbClr val="FFF7E5"/>
          </a:solidFill>
          <a:ln w="12700">
            <a:solidFill>
              <a:srgbClr val="FFF7E5"/>
            </a:solidFill>
          </a:ln>
        </p:spPr>
        <p:txBody>
          <a:bodyPr rtlCol="0" anchor="ctr"/>
          <a:lstStyle/>
          <a:p>
            <a:pPr algn="ctr"/>
          </a:p>
        </p:txBody>
      </p:sp>
      <p:sp>
        <p:nvSpPr>
          <p:cNvPr id="26" name="Hexagon 25"/>
          <p:cNvSpPr/>
          <p:nvPr/>
        </p:nvSpPr>
        <p:spPr>
          <a:xfrm>
            <a:off x="777240" y="5550407"/>
            <a:ext cx="292608" cy="25603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a:t>
            </a:r>
          </a:p>
        </p:txBody>
      </p:sp>
      <p:sp>
        <p:nvSpPr>
          <p:cNvPr id="27" name="TextBox 26"/>
          <p:cNvSpPr txBox="1"/>
          <p:nvPr/>
        </p:nvSpPr>
        <p:spPr>
          <a:xfrm>
            <a:off x="1234440" y="5532120"/>
            <a:ext cx="10177272" cy="301752"/>
          </a:xfrm>
          <a:prstGeom prst="rect">
            <a:avLst/>
          </a:prstGeom>
          <a:noFill/>
        </p:spPr>
        <p:txBody>
          <a:bodyPr wrap="square" lIns="0" tIns="0" rIns="0" bIns="0" anchor="t">
            <a:spAutoFit/>
          </a:bodyPr>
          <a:lstStyle/>
          <a:p>
            <a:pPr algn="l">
              <a:spcAft>
                <a:spcPts val="300"/>
              </a:spcAft>
            </a:pPr>
            <a:r>
              <a:rPr sz="1000" b="1" i="0">
                <a:solidFill>
                  <a:srgbClr val="002368"/>
                </a:solidFill>
                <a:latin typeface="Arial"/>
              </a:rPr>
              <a:t>Reporting back. </a:t>
            </a:r>
            <a:r>
              <a:rPr sz="1000" b="0" i="0">
                <a:solidFill>
                  <a:srgbClr val="000000"/>
                </a:solidFill>
                <a:latin typeface="Arial"/>
              </a:rPr>
              <a:t>Partners see totals per partner code each term, and any count of 1 or 2 shows as 'fewer than 3'. Staff, members and parents opt in themselves; no partner hands over a list (Personal Data Protection Act 2022).</a:t>
            </a:r>
          </a:p>
        </p:txBody>
      </p:sp>
      <p:pic>
        <p:nvPicPr>
          <p:cNvPr id="28" name="Picture 27" descr="image3.png"/>
          <p:cNvPicPr>
            <a:picLocks noChangeAspect="1"/>
          </p:cNvPicPr>
          <p:nvPr/>
        </p:nvPicPr>
        <p:blipFill>
          <a:blip r:embed="rId2"/>
          <a:stretch>
            <a:fillRect/>
          </a:stretch>
        </p:blipFill>
        <p:spPr>
          <a:xfrm>
            <a:off x="548640" y="6272784"/>
            <a:ext cx="1143000" cy="274320"/>
          </a:xfrm>
          <a:prstGeom prst="rect">
            <a:avLst/>
          </a:prstGeom>
        </p:spPr>
      </p:pic>
      <p:sp>
        <p:nvSpPr>
          <p:cNvPr id="29"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30"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a:t>
            </a:r>
          </a:p>
        </p:txBody>
      </p:sp>
      <p:sp>
        <p:nvSpPr>
          <p:cNvPr id="3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NEXT STEPS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Five things to move the work from draft to delivery</a:t>
            </a:r>
          </a:p>
        </p:txBody>
      </p:sp>
      <p:sp>
        <p:nvSpPr>
          <p:cNvPr id="4" name="Hexagon 3"/>
          <p:cNvSpPr/>
          <p:nvPr/>
        </p:nvSpPr>
        <p:spPr>
          <a:xfrm>
            <a:off x="548640" y="141732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01</a:t>
            </a:r>
          </a:p>
        </p:txBody>
      </p:sp>
      <p:sp>
        <p:nvSpPr>
          <p:cNvPr id="5" name="TextBox 4"/>
          <p:cNvSpPr txBox="1"/>
          <p:nvPr/>
        </p:nvSpPr>
        <p:spPr>
          <a:xfrm>
            <a:off x="1188720" y="1280160"/>
            <a:ext cx="3291840" cy="685800"/>
          </a:xfrm>
          <a:prstGeom prst="rect">
            <a:avLst/>
          </a:prstGeom>
          <a:noFill/>
        </p:spPr>
        <p:txBody>
          <a:bodyPr wrap="square" lIns="0" tIns="0" rIns="0" bIns="0" anchor="ctr">
            <a:spAutoFit/>
          </a:bodyPr>
          <a:lstStyle/>
          <a:p>
            <a:pPr algn="l"/>
            <a:r>
              <a:rPr sz="1300" b="1" i="0">
                <a:solidFill>
                  <a:srgbClr val="002368"/>
                </a:solidFill>
                <a:latin typeface="Arial"/>
              </a:rPr>
              <a:t>Sign off the pipeline draft</a:t>
            </a:r>
          </a:p>
        </p:txBody>
      </p:sp>
      <p:sp>
        <p:nvSpPr>
          <p:cNvPr id="6" name="TextBox 5"/>
          <p:cNvSpPr txBox="1"/>
          <p:nvPr/>
        </p:nvSpPr>
        <p:spPr>
          <a:xfrm>
            <a:off x="4572000" y="1280160"/>
            <a:ext cx="7068312" cy="685800"/>
          </a:xfrm>
          <a:prstGeom prst="rect">
            <a:avLst/>
          </a:prstGeom>
          <a:noFill/>
        </p:spPr>
        <p:txBody>
          <a:bodyPr wrap="square" lIns="0" tIns="0" rIns="0" bIns="0" anchor="ctr">
            <a:spAutoFit/>
          </a:bodyPr>
          <a:lstStyle/>
          <a:p>
            <a:pPr algn="l"/>
            <a:r>
              <a:rPr sz="1050" b="0" i="0">
                <a:solidFill>
                  <a:srgbClr val="000000"/>
                </a:solidFill>
                <a:latin typeface="Arial"/>
              </a:rPr>
              <a:t>Approve the spine and the 13 segment funnels, and answer the 22 open questions; each has a recommendation (appendix).</a:t>
            </a:r>
          </a:p>
        </p:txBody>
      </p:sp>
      <p:cxnSp>
        <p:nvCxnSpPr>
          <p:cNvPr id="7" name="Connector 6"/>
          <p:cNvCxnSpPr/>
          <p:nvPr/>
        </p:nvCxnSpPr>
        <p:spPr>
          <a:xfrm>
            <a:off x="1188720" y="2157984"/>
            <a:ext cx="10451592" cy="0"/>
          </a:xfrm>
          <a:prstGeom prst="line">
            <a:avLst/>
          </a:prstGeom>
          <a:ln w="9525">
            <a:solidFill>
              <a:srgbClr val="ECECEC"/>
            </a:solidFill>
          </a:ln>
        </p:spPr>
      </p:cxnSp>
      <p:sp>
        <p:nvSpPr>
          <p:cNvPr id="8" name="Hexagon 7"/>
          <p:cNvSpPr/>
          <p:nvPr/>
        </p:nvSpPr>
        <p:spPr>
          <a:xfrm>
            <a:off x="548640" y="2313432"/>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02</a:t>
            </a:r>
          </a:p>
        </p:txBody>
      </p:sp>
      <p:sp>
        <p:nvSpPr>
          <p:cNvPr id="9" name="TextBox 8"/>
          <p:cNvSpPr txBox="1"/>
          <p:nvPr/>
        </p:nvSpPr>
        <p:spPr>
          <a:xfrm>
            <a:off x="1188720" y="2176272"/>
            <a:ext cx="3291840" cy="685800"/>
          </a:xfrm>
          <a:prstGeom prst="rect">
            <a:avLst/>
          </a:prstGeom>
          <a:noFill/>
        </p:spPr>
        <p:txBody>
          <a:bodyPr wrap="square" lIns="0" tIns="0" rIns="0" bIns="0" anchor="ctr">
            <a:spAutoFit/>
          </a:bodyPr>
          <a:lstStyle/>
          <a:p>
            <a:pPr algn="l"/>
            <a:r>
              <a:rPr sz="1300" b="1" i="0">
                <a:solidFill>
                  <a:srgbClr val="002368"/>
                </a:solidFill>
                <a:latin typeface="Arial"/>
              </a:rPr>
              <a:t>Build the tracking</a:t>
            </a:r>
          </a:p>
        </p:txBody>
      </p:sp>
      <p:sp>
        <p:nvSpPr>
          <p:cNvPr id="10" name="TextBox 9"/>
          <p:cNvSpPr txBox="1"/>
          <p:nvPr/>
        </p:nvSpPr>
        <p:spPr>
          <a:xfrm>
            <a:off x="4572000" y="2176272"/>
            <a:ext cx="7068312" cy="685800"/>
          </a:xfrm>
          <a:prstGeom prst="rect">
            <a:avLst/>
          </a:prstGeom>
          <a:noFill/>
        </p:spPr>
        <p:txBody>
          <a:bodyPr wrap="square" lIns="0" tIns="0" rIns="0" bIns="0" anchor="ctr">
            <a:spAutoFit/>
          </a:bodyPr>
          <a:lstStyle/>
          <a:p>
            <a:pPr algn="l"/>
            <a:r>
              <a:rPr sz="1050" b="0" i="0">
                <a:solidFill>
                  <a:srgbClr val="000000"/>
                </a:solidFill>
                <a:latin typeface="Arial"/>
              </a:rPr>
              <a:t>One pipeline record per deal, with stage, dates, next action and outcome, in all three lead lists; a pipeline sheet in each workbook; map filters by stage.</a:t>
            </a:r>
          </a:p>
        </p:txBody>
      </p:sp>
      <p:cxnSp>
        <p:nvCxnSpPr>
          <p:cNvPr id="11" name="Connector 10"/>
          <p:cNvCxnSpPr/>
          <p:nvPr/>
        </p:nvCxnSpPr>
        <p:spPr>
          <a:xfrm>
            <a:off x="1188720" y="3054096"/>
            <a:ext cx="10451592" cy="0"/>
          </a:xfrm>
          <a:prstGeom prst="line">
            <a:avLst/>
          </a:prstGeom>
          <a:ln w="9525">
            <a:solidFill>
              <a:srgbClr val="ECECEC"/>
            </a:solidFill>
          </a:ln>
        </p:spPr>
      </p:cxnSp>
      <p:sp>
        <p:nvSpPr>
          <p:cNvPr id="12" name="Hexagon 11"/>
          <p:cNvSpPr/>
          <p:nvPr/>
        </p:nvSpPr>
        <p:spPr>
          <a:xfrm>
            <a:off x="548640" y="3209544"/>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03</a:t>
            </a:r>
          </a:p>
        </p:txBody>
      </p:sp>
      <p:sp>
        <p:nvSpPr>
          <p:cNvPr id="13" name="TextBox 12"/>
          <p:cNvSpPr txBox="1"/>
          <p:nvPr/>
        </p:nvSpPr>
        <p:spPr>
          <a:xfrm>
            <a:off x="1188720" y="3072384"/>
            <a:ext cx="3291840" cy="685800"/>
          </a:xfrm>
          <a:prstGeom prst="rect">
            <a:avLst/>
          </a:prstGeom>
          <a:noFill/>
        </p:spPr>
        <p:txBody>
          <a:bodyPr wrap="square" lIns="0" tIns="0" rIns="0" bIns="0" anchor="ctr">
            <a:spAutoFit/>
          </a:bodyPr>
          <a:lstStyle/>
          <a:p>
            <a:pPr algn="l"/>
            <a:r>
              <a:rPr sz="1300" b="1" i="0">
                <a:solidFill>
                  <a:srgbClr val="002368"/>
                </a:solidFill>
                <a:latin typeface="Arial"/>
              </a:rPr>
              <a:t>Fix the Google Maps listings</a:t>
            </a:r>
          </a:p>
        </p:txBody>
      </p:sp>
      <p:sp>
        <p:nvSpPr>
          <p:cNvPr id="14" name="TextBox 13"/>
          <p:cNvSpPr txBox="1"/>
          <p:nvPr/>
        </p:nvSpPr>
        <p:spPr>
          <a:xfrm>
            <a:off x="4572000" y="3072384"/>
            <a:ext cx="7068312" cy="685800"/>
          </a:xfrm>
          <a:prstGeom prst="rect">
            <a:avLst/>
          </a:prstGeom>
          <a:noFill/>
        </p:spPr>
        <p:txBody>
          <a:bodyPr wrap="square" lIns="0" tIns="0" rIns="0" bIns="0" anchor="ctr">
            <a:spAutoFit/>
          </a:bodyPr>
          <a:lstStyle/>
          <a:p>
            <a:pPr algn="l"/>
            <a:r>
              <a:rPr sz="1050" b="0" i="0">
                <a:solidFill>
                  <a:srgbClr val="000000"/>
                </a:solidFill>
                <a:latin typeface="Arial"/>
              </a:rPr>
              <a:t>Move the Kijenge pin, correct or remove the two stray listings, and add Arusha City (Sakina) and Boma Ng'ombe from the website pins.</a:t>
            </a:r>
          </a:p>
        </p:txBody>
      </p:sp>
      <p:cxnSp>
        <p:nvCxnSpPr>
          <p:cNvPr id="15" name="Connector 14"/>
          <p:cNvCxnSpPr/>
          <p:nvPr/>
        </p:nvCxnSpPr>
        <p:spPr>
          <a:xfrm>
            <a:off x="1188720" y="3950208"/>
            <a:ext cx="10451592" cy="0"/>
          </a:xfrm>
          <a:prstGeom prst="line">
            <a:avLst/>
          </a:prstGeom>
          <a:ln w="9525">
            <a:solidFill>
              <a:srgbClr val="ECECEC"/>
            </a:solidFill>
          </a:ln>
        </p:spPr>
      </p:cxnSp>
      <p:sp>
        <p:nvSpPr>
          <p:cNvPr id="16" name="Hexagon 15"/>
          <p:cNvSpPr/>
          <p:nvPr/>
        </p:nvSpPr>
        <p:spPr>
          <a:xfrm>
            <a:off x="548640" y="4105655"/>
            <a:ext cx="457200" cy="402336"/>
          </a:xfrm>
          <a:prstGeom prst="hexagon">
            <a:avLst>
              <a:gd name="adj" fmla="val 25000"/>
              <a:gd name="vf" fmla="val 115470"/>
            </a:avLst>
          </a:prstGeom>
          <a:solidFill>
            <a:srgbClr val="FFC952"/>
          </a:solidFill>
          <a:ln>
            <a:noFill/>
          </a:ln>
        </p:spPr>
        <p:txBody>
          <a:bodyPr rtlCol="0" anchor="ctr" wrap="square" lIns="0" tIns="0" rIns="0" bIns="0"/>
          <a:lstStyle/>
          <a:p>
            <a:pPr algn="ctr"/>
            <a:r>
              <a:rPr sz="1100" b="1" i="0">
                <a:solidFill>
                  <a:srgbClr val="002368"/>
                </a:solidFill>
                <a:latin typeface="Arial"/>
              </a:rPr>
              <a:t>04</a:t>
            </a:r>
          </a:p>
        </p:txBody>
      </p:sp>
      <p:sp>
        <p:nvSpPr>
          <p:cNvPr id="17" name="TextBox 16"/>
          <p:cNvSpPr txBox="1"/>
          <p:nvPr/>
        </p:nvSpPr>
        <p:spPr>
          <a:xfrm>
            <a:off x="1188720" y="3968496"/>
            <a:ext cx="3291840" cy="685800"/>
          </a:xfrm>
          <a:prstGeom prst="rect">
            <a:avLst/>
          </a:prstGeom>
          <a:noFill/>
        </p:spPr>
        <p:txBody>
          <a:bodyPr wrap="square" lIns="0" tIns="0" rIns="0" bIns="0" anchor="ctr">
            <a:spAutoFit/>
          </a:bodyPr>
          <a:lstStyle/>
          <a:p>
            <a:pPr algn="l"/>
            <a:r>
              <a:rPr sz="1300" b="1" i="0">
                <a:solidFill>
                  <a:srgbClr val="002368"/>
                </a:solidFill>
                <a:latin typeface="Arial"/>
              </a:rPr>
              <a:t>Apply the high-direct research lessons</a:t>
            </a:r>
          </a:p>
        </p:txBody>
      </p:sp>
      <p:sp>
        <p:nvSpPr>
          <p:cNvPr id="18" name="TextBox 17"/>
          <p:cNvSpPr txBox="1"/>
          <p:nvPr/>
        </p:nvSpPr>
        <p:spPr>
          <a:xfrm>
            <a:off x="4572000" y="3968496"/>
            <a:ext cx="7068312" cy="685800"/>
          </a:xfrm>
          <a:prstGeom prst="rect">
            <a:avLst/>
          </a:prstGeom>
          <a:noFill/>
        </p:spPr>
        <p:txBody>
          <a:bodyPr wrap="square" lIns="0" tIns="0" rIns="0" bIns="0" anchor="ctr">
            <a:spAutoFit/>
          </a:bodyPr>
          <a:lstStyle/>
          <a:p>
            <a:pPr algn="l"/>
            <a:r>
              <a:rPr sz="1050" b="0" i="0">
                <a:solidFill>
                  <a:srgbClr val="000000"/>
                </a:solidFill>
                <a:latin typeface="Arial"/>
              </a:rPr>
              <a:t>Deep-crawl own sites before any search; directories pay for decision-makers; vacancy notices only for banks and larger employers; skip repeated name searches and @domain queries for small operators; try annual reports for P1 employers.</a:t>
            </a:r>
          </a:p>
        </p:txBody>
      </p:sp>
      <p:cxnSp>
        <p:nvCxnSpPr>
          <p:cNvPr id="19" name="Connector 18"/>
          <p:cNvCxnSpPr/>
          <p:nvPr/>
        </p:nvCxnSpPr>
        <p:spPr>
          <a:xfrm>
            <a:off x="1188720" y="4846320"/>
            <a:ext cx="10451592" cy="0"/>
          </a:xfrm>
          <a:prstGeom prst="line">
            <a:avLst/>
          </a:prstGeom>
          <a:ln w="9525">
            <a:solidFill>
              <a:srgbClr val="ECECEC"/>
            </a:solidFill>
          </a:ln>
        </p:spPr>
      </p:cxnSp>
      <p:sp>
        <p:nvSpPr>
          <p:cNvPr id="20" name="Hexagon 19"/>
          <p:cNvSpPr/>
          <p:nvPr/>
        </p:nvSpPr>
        <p:spPr>
          <a:xfrm>
            <a:off x="548640" y="5001768"/>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05</a:t>
            </a:r>
          </a:p>
        </p:txBody>
      </p:sp>
      <p:sp>
        <p:nvSpPr>
          <p:cNvPr id="21" name="TextBox 20"/>
          <p:cNvSpPr txBox="1"/>
          <p:nvPr/>
        </p:nvSpPr>
        <p:spPr>
          <a:xfrm>
            <a:off x="1188720" y="4864608"/>
            <a:ext cx="3291840" cy="685800"/>
          </a:xfrm>
          <a:prstGeom prst="rect">
            <a:avLst/>
          </a:prstGeom>
          <a:noFill/>
        </p:spPr>
        <p:txBody>
          <a:bodyPr wrap="square" lIns="0" tIns="0" rIns="0" bIns="0" anchor="ctr">
            <a:spAutoFit/>
          </a:bodyPr>
          <a:lstStyle/>
          <a:p>
            <a:pPr algn="l"/>
            <a:r>
              <a:rPr sz="1300" b="1" i="0">
                <a:solidFill>
                  <a:srgbClr val="002368"/>
                </a:solidFill>
                <a:latin typeface="Arial"/>
              </a:rPr>
              <a:t>Approve sponsorship follow-up copy</a:t>
            </a:r>
          </a:p>
        </p:txBody>
      </p:sp>
      <p:sp>
        <p:nvSpPr>
          <p:cNvPr id="22" name="TextBox 21"/>
          <p:cNvSpPr txBox="1"/>
          <p:nvPr/>
        </p:nvSpPr>
        <p:spPr>
          <a:xfrm>
            <a:off x="4572000" y="4864608"/>
            <a:ext cx="7068312" cy="685800"/>
          </a:xfrm>
          <a:prstGeom prst="rect">
            <a:avLst/>
          </a:prstGeom>
          <a:noFill/>
        </p:spPr>
        <p:txBody>
          <a:bodyPr wrap="square" lIns="0" tIns="0" rIns="0" bIns="0" anchor="ctr">
            <a:spAutoFit/>
          </a:bodyPr>
          <a:lstStyle/>
          <a:p>
            <a:pPr algn="l"/>
            <a:r>
              <a:rPr sz="1050" b="0" i="0">
                <a:solidFill>
                  <a:srgbClr val="000000"/>
                </a:solidFill>
                <a:latin typeface="Arial"/>
              </a:rPr>
              <a:t>The 14 sponsorship drafts to employers, and the funder follow-ups, need approved copy before they can go out.</a:t>
            </a:r>
          </a:p>
        </p:txBody>
      </p:sp>
      <p:pic>
        <p:nvPicPr>
          <p:cNvPr id="23" name="Picture 22" descr="image3.png"/>
          <p:cNvPicPr>
            <a:picLocks noChangeAspect="1"/>
          </p:cNvPicPr>
          <p:nvPr/>
        </p:nvPicPr>
        <p:blipFill>
          <a:blip r:embed="rId2"/>
          <a:stretch>
            <a:fillRect/>
          </a:stretch>
        </p:blipFill>
        <p:spPr>
          <a:xfrm>
            <a:off x="548640" y="6272784"/>
            <a:ext cx="1143000" cy="274320"/>
          </a:xfrm>
          <a:prstGeom prst="rect">
            <a:avLst/>
          </a:prstGeom>
        </p:spPr>
      </p:pic>
      <p:sp>
        <p:nvSpPr>
          <p:cNvPr id="24" name="Footer links"/>
          <p:cNvSpPr txBox="1"/>
          <p:nvPr/>
        </p:nvSpPr>
        <p:spPr>
          <a:xfrm>
            <a:off x="7915046" y="6309360"/>
            <a:ext cx="2829153"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r>
              <a:rPr sz="800" b="0" i="0">
                <a:solidFill>
                  <a:srgbClr val="818283"/>
                </a:solidFill>
                <a:latin typeface="Arial"/>
              </a:rPr>
              <a:t>   ·   </a:t>
            </a:r>
            <a:r>
              <a:rPr sz="800" b="1" i="0" u="sng">
                <a:solidFill>
                  <a:srgbClr val="002368"/>
                </a:solidFill>
                <a:latin typeface="Arial"/>
                <a:hlinkClick r:id="rId4">
                  <a:extLst>
                    <a:ext uri="{A12FA001-AC4F-418D-AE19-62706E023703}">
                      <ahyp:hlinkClr xmlns:ahyp="http://schemas.microsoft.com/office/drawing/2018/hyperlinkcolor" val="tx"/>
                    </a:ext>
                  </a:extLst>
                </a:hlinkClick>
              </a:rPr>
              <a:t>Pipeline review page →</a:t>
            </a:r>
          </a:p>
        </p:txBody>
      </p:sp>
      <p:sp>
        <p:nvSpPr>
          <p:cNvPr id="25" name="Footer source"/>
          <p:cNvSpPr txBox="1"/>
          <p:nvPr/>
        </p:nvSpPr>
        <p:spPr>
          <a:xfrm>
            <a:off x="1965960" y="6309360"/>
            <a:ext cx="5629046"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catchment criteria and research review</a:t>
            </a:r>
          </a:p>
        </p:txBody>
      </p:sp>
      <p:sp>
        <p:nvSpPr>
          <p:cNvPr id="2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A</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APPENDIX</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Appendix</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The segment funnels, fallout and re-activation, data protection, open questions and sources.</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Overview and the parent-funnel hand-off</a:t>
            </a:r>
          </a:p>
          <a:p>
            <a:pPr algn="l" marL="155448" indent="-155448">
              <a:spcAft>
                <a:spcPts val="400"/>
              </a:spcAft>
              <a:buFont typeface="Arial"/>
              <a:buChar char="•"/>
            </a:pPr>
            <a:r>
              <a:rPr sz="1100" b="0" i="0">
                <a:solidFill>
                  <a:srgbClr val="FFFFFF"/>
                </a:solidFill>
                <a:latin typeface="Arial"/>
              </a:rPr>
              <a:t>Thirteen segment funnels: E1–E6, I1, W1–W3, G1–G3</a:t>
            </a:r>
          </a:p>
          <a:p>
            <a:pPr algn="l" marL="155448" indent="-155448">
              <a:spcAft>
                <a:spcPts val="400"/>
              </a:spcAft>
              <a:buFont typeface="Arial"/>
              <a:buChar char="•"/>
            </a:pPr>
            <a:r>
              <a:rPr sz="1100" b="0" i="0">
                <a:solidFill>
                  <a:srgbClr val="FFFFFF"/>
                </a:solidFill>
                <a:latin typeface="Arial"/>
              </a:rPr>
              <a:t>Fallout and re-activation</a:t>
            </a:r>
          </a:p>
          <a:p>
            <a:pPr algn="l" marL="155448" indent="-155448">
              <a:spcAft>
                <a:spcPts val="400"/>
              </a:spcAft>
              <a:buFont typeface="Arial"/>
              <a:buChar char="•"/>
            </a:pPr>
            <a:r>
              <a:rPr sz="1100" b="0" i="0">
                <a:solidFill>
                  <a:srgbClr val="FFFFFF"/>
                </a:solidFill>
                <a:latin typeface="Arial"/>
              </a:rPr>
              <a:t>Opt-in and data protection</a:t>
            </a:r>
          </a:p>
          <a:p>
            <a:pPr algn="l" marL="155448" indent="-155448">
              <a:spcAft>
                <a:spcPts val="400"/>
              </a:spcAft>
              <a:buFont typeface="Arial"/>
              <a:buChar char="•"/>
            </a:pPr>
            <a:r>
              <a:rPr sz="1100" b="0" i="0">
                <a:solidFill>
                  <a:srgbClr val="FFFFFF"/>
                </a:solidFill>
                <a:latin typeface="Arial"/>
              </a:rPr>
              <a:t>Open questions, with recommendations</a:t>
            </a:r>
          </a:p>
          <a:p>
            <a:pPr algn="l" marL="155448" indent="-155448">
              <a:spcAft>
                <a:spcPts val="400"/>
              </a:spcAft>
              <a:buFont typeface="Arial"/>
              <a:buChar char="•"/>
            </a:pPr>
            <a:r>
              <a:rPr sz="1100" b="0" i="0">
                <a:solidFill>
                  <a:srgbClr val="FFFFFF"/>
                </a:solidFill>
                <a:latin typeface="Arial"/>
              </a:rPr>
              <a:t>Sources and data dates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Every partner feeds one parent funnel</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FOR APPROVAL</a:t>
            </a:r>
          </a:p>
        </p:txBody>
      </p:sp>
      <p:sp>
        <p:nvSpPr>
          <p:cNvPr id="5" name="Rounded Rectangle 4"/>
          <p:cNvSpPr/>
          <p:nvPr/>
        </p:nvSpPr>
        <p:spPr>
          <a:xfrm>
            <a:off x="548640" y="137160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Employers · 1,118</a:t>
            </a:r>
          </a:p>
        </p:txBody>
      </p:sp>
      <p:cxnSp>
        <p:nvCxnSpPr>
          <p:cNvPr id="6" name="Connector 5"/>
          <p:cNvCxnSpPr/>
          <p:nvPr/>
        </p:nvCxnSpPr>
        <p:spPr>
          <a:xfrm>
            <a:off x="2468880" y="1600200"/>
            <a:ext cx="320040" cy="1097280"/>
          </a:xfrm>
          <a:prstGeom prst="line">
            <a:avLst/>
          </a:prstGeom>
          <a:ln w="12700">
            <a:solidFill>
              <a:srgbClr val="80BFEC"/>
            </a:solidFill>
          </a:ln>
        </p:spPr>
      </p:cxnSp>
      <p:sp>
        <p:nvSpPr>
          <p:cNvPr id="7" name="Rounded Rectangle 6"/>
          <p:cNvSpPr/>
          <p:nvPr/>
        </p:nvSpPr>
        <p:spPr>
          <a:xfrm>
            <a:off x="548640" y="192024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SACCOS · 117</a:t>
            </a:r>
          </a:p>
        </p:txBody>
      </p:sp>
      <p:cxnSp>
        <p:nvCxnSpPr>
          <p:cNvPr id="8" name="Connector 7"/>
          <p:cNvCxnSpPr/>
          <p:nvPr/>
        </p:nvCxnSpPr>
        <p:spPr>
          <a:xfrm>
            <a:off x="2468880" y="2148840"/>
            <a:ext cx="320040" cy="548640"/>
          </a:xfrm>
          <a:prstGeom prst="line">
            <a:avLst/>
          </a:prstGeom>
          <a:ln w="12700">
            <a:solidFill>
              <a:srgbClr val="80BFEC"/>
            </a:solidFill>
          </a:ln>
        </p:spPr>
      </p:cxnSp>
      <p:sp>
        <p:nvSpPr>
          <p:cNvPr id="9" name="Rounded Rectangle 8"/>
          <p:cNvSpPr/>
          <p:nvPr/>
        </p:nvSpPr>
        <p:spPr>
          <a:xfrm>
            <a:off x="548640" y="246888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Introducers, networks · 16, 7</a:t>
            </a:r>
          </a:p>
        </p:txBody>
      </p:sp>
      <p:cxnSp>
        <p:nvCxnSpPr>
          <p:cNvPr id="10" name="Connector 9"/>
          <p:cNvCxnSpPr/>
          <p:nvPr/>
        </p:nvCxnSpPr>
        <p:spPr>
          <a:xfrm>
            <a:off x="2468880" y="2697480"/>
            <a:ext cx="320040" cy="0"/>
          </a:xfrm>
          <a:prstGeom prst="line">
            <a:avLst/>
          </a:prstGeom>
          <a:ln w="12700">
            <a:solidFill>
              <a:srgbClr val="80BFEC"/>
            </a:solidFill>
          </a:ln>
        </p:spPr>
      </p:cxnSp>
      <p:sp>
        <p:nvSpPr>
          <p:cNvPr id="11" name="Rounded Rectangle 10"/>
          <p:cNvSpPr/>
          <p:nvPr/>
        </p:nvSpPr>
        <p:spPr>
          <a:xfrm>
            <a:off x="548640" y="301752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Welfare · 438</a:t>
            </a:r>
          </a:p>
        </p:txBody>
      </p:sp>
      <p:cxnSp>
        <p:nvCxnSpPr>
          <p:cNvPr id="12" name="Connector 11"/>
          <p:cNvCxnSpPr/>
          <p:nvPr/>
        </p:nvCxnSpPr>
        <p:spPr>
          <a:xfrm flipV="1">
            <a:off x="2468880" y="2697480"/>
            <a:ext cx="320040" cy="548640"/>
          </a:xfrm>
          <a:prstGeom prst="line">
            <a:avLst/>
          </a:prstGeom>
          <a:ln w="12700">
            <a:solidFill>
              <a:srgbClr val="80BFEC"/>
            </a:solidFill>
          </a:ln>
        </p:spPr>
      </p:cxnSp>
      <p:sp>
        <p:nvSpPr>
          <p:cNvPr id="13" name="Rounded Rectangle 12"/>
          <p:cNvSpPr/>
          <p:nvPr/>
        </p:nvSpPr>
        <p:spPr>
          <a:xfrm>
            <a:off x="548640" y="356616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Government · 228</a:t>
            </a:r>
          </a:p>
        </p:txBody>
      </p:sp>
      <p:cxnSp>
        <p:nvCxnSpPr>
          <p:cNvPr id="14" name="Connector 13"/>
          <p:cNvCxnSpPr/>
          <p:nvPr/>
        </p:nvCxnSpPr>
        <p:spPr>
          <a:xfrm flipV="1">
            <a:off x="2468880" y="2697480"/>
            <a:ext cx="320040" cy="1097280"/>
          </a:xfrm>
          <a:prstGeom prst="line">
            <a:avLst/>
          </a:prstGeom>
          <a:ln w="12700">
            <a:solidFill>
              <a:srgbClr val="80BFEC"/>
            </a:solidFill>
          </a:ln>
        </p:spPr>
      </p:cxnSp>
      <p:sp>
        <p:nvSpPr>
          <p:cNvPr id="15" name="Rounded Rectangle 14"/>
          <p:cNvSpPr/>
          <p:nvPr/>
        </p:nvSpPr>
        <p:spPr>
          <a:xfrm>
            <a:off x="2834640" y="2377440"/>
            <a:ext cx="1298448" cy="685800"/>
          </a:xfrm>
          <a:prstGeom prst="roundRect">
            <a:avLst>
              <a:gd name="adj" fmla="val 9333"/>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Spine S1–S6</a:t>
            </a:r>
          </a:p>
          <a:p>
            <a:pPr algn="ctr"/>
            <a:r>
              <a:rPr sz="850" b="0" i="0">
                <a:solidFill>
                  <a:srgbClr val="002368"/>
                </a:solidFill>
                <a:latin typeface="Arial"/>
              </a:rPr>
              <a:t>Ready to Proposal</a:t>
            </a:r>
          </a:p>
        </p:txBody>
      </p:sp>
      <p:sp>
        <p:nvSpPr>
          <p:cNvPr id="16" name="Chevron 15"/>
          <p:cNvSpPr/>
          <p:nvPr/>
        </p:nvSpPr>
        <p:spPr>
          <a:xfrm>
            <a:off x="4178808" y="2624328"/>
            <a:ext cx="91440" cy="201168"/>
          </a:xfrm>
          <a:prstGeom prst="chevron">
            <a:avLst>
              <a:gd name="adj" fmla="val 55000"/>
            </a:avLst>
          </a:prstGeom>
          <a:solidFill>
            <a:srgbClr val="80BFEC"/>
          </a:solidFill>
          <a:ln>
            <a:noFill/>
          </a:ln>
        </p:spPr>
        <p:txBody>
          <a:bodyPr rtlCol="0" anchor="ctr"/>
          <a:lstStyle/>
          <a:p>
            <a:pPr algn="ctr"/>
          </a:p>
        </p:txBody>
      </p:sp>
      <p:sp>
        <p:nvSpPr>
          <p:cNvPr id="17" name="Rounded Rectangle 16"/>
          <p:cNvSpPr/>
          <p:nvPr/>
        </p:nvSpPr>
        <p:spPr>
          <a:xfrm>
            <a:off x="4315968" y="2377440"/>
            <a:ext cx="1298448" cy="685800"/>
          </a:xfrm>
          <a:prstGeom prst="roundRect">
            <a:avLst>
              <a:gd name="adj" fmla="val 9333"/>
            </a:avLst>
          </a:prstGeom>
          <a:solidFill>
            <a:srgbClr val="002368"/>
          </a:solidFill>
          <a:ln w="31750">
            <a:solidFill>
              <a:srgbClr val="FFC952"/>
            </a:solidFill>
          </a:ln>
        </p:spPr>
        <p:txBody>
          <a:bodyPr rtlCol="0" anchor="ctr" wrap="square" lIns="45720" rIns="45720" tIns="27432" bIns="27432"/>
          <a:lstStyle/>
          <a:p>
            <a:pPr algn="ctr"/>
            <a:r>
              <a:rPr sz="1000" b="1" i="0">
                <a:solidFill>
                  <a:srgbClr val="FFFFFF"/>
                </a:solidFill>
                <a:latin typeface="Arial"/>
              </a:rPr>
              <a:t>S7 PARTNER</a:t>
            </a:r>
          </a:p>
          <a:p>
            <a:pPr algn="ctr"/>
            <a:r>
              <a:rPr sz="850" b="0" i="0">
                <a:solidFill>
                  <a:srgbClr val="FFFFFF"/>
                </a:solidFill>
                <a:latin typeface="Arial"/>
              </a:rPr>
              <a:t>partnership closed</a:t>
            </a:r>
          </a:p>
        </p:txBody>
      </p:sp>
      <p:sp>
        <p:nvSpPr>
          <p:cNvPr id="18" name="Chevron 17"/>
          <p:cNvSpPr/>
          <p:nvPr/>
        </p:nvSpPr>
        <p:spPr>
          <a:xfrm>
            <a:off x="5660136" y="2624328"/>
            <a:ext cx="91440" cy="201168"/>
          </a:xfrm>
          <a:prstGeom prst="chevron">
            <a:avLst>
              <a:gd name="adj" fmla="val 55000"/>
            </a:avLst>
          </a:prstGeom>
          <a:solidFill>
            <a:srgbClr val="80BFEC"/>
          </a:solidFill>
          <a:ln>
            <a:noFill/>
          </a:ln>
        </p:spPr>
        <p:txBody>
          <a:bodyPr rtlCol="0" anchor="ctr"/>
          <a:lstStyle/>
          <a:p>
            <a:pPr algn="ctr"/>
          </a:p>
        </p:txBody>
      </p:sp>
      <p:sp>
        <p:nvSpPr>
          <p:cNvPr id="19" name="Rounded Rectangle 18"/>
          <p:cNvSpPr/>
          <p:nvPr/>
        </p:nvSpPr>
        <p:spPr>
          <a:xfrm>
            <a:off x="5797296" y="2377440"/>
            <a:ext cx="1298448" cy="685800"/>
          </a:xfrm>
          <a:prstGeom prst="roundRect">
            <a:avLst>
              <a:gd name="adj" fmla="val 9333"/>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S8 Results</a:t>
            </a:r>
          </a:p>
          <a:p>
            <a:pPr algn="ctr"/>
            <a:r>
              <a:rPr sz="850" b="0" i="0">
                <a:solidFill>
                  <a:srgbClr val="002368"/>
                </a:solidFill>
                <a:latin typeface="Arial"/>
              </a:rPr>
              <a:t>sign-ups, referrals, placements</a:t>
            </a:r>
          </a:p>
        </p:txBody>
      </p:sp>
      <p:sp>
        <p:nvSpPr>
          <p:cNvPr id="20" name="Chevron 19"/>
          <p:cNvSpPr/>
          <p:nvPr/>
        </p:nvSpPr>
        <p:spPr>
          <a:xfrm>
            <a:off x="7141464" y="2624328"/>
            <a:ext cx="91440" cy="201168"/>
          </a:xfrm>
          <a:prstGeom prst="chevron">
            <a:avLst>
              <a:gd name="adj" fmla="val 55000"/>
            </a:avLst>
          </a:prstGeom>
          <a:solidFill>
            <a:srgbClr val="80BFEC"/>
          </a:solidFill>
          <a:ln>
            <a:noFill/>
          </a:ln>
        </p:spPr>
        <p:txBody>
          <a:bodyPr rtlCol="0" anchor="ctr"/>
          <a:lstStyle/>
          <a:p>
            <a:pPr algn="ctr"/>
          </a:p>
        </p:txBody>
      </p:sp>
      <p:sp>
        <p:nvSpPr>
          <p:cNvPr id="21" name="Rounded Rectangle 20"/>
          <p:cNvSpPr/>
          <p:nvPr/>
        </p:nvSpPr>
        <p:spPr>
          <a:xfrm>
            <a:off x="7278624" y="2377440"/>
            <a:ext cx="1298448" cy="685800"/>
          </a:xfrm>
          <a:prstGeom prst="roundRect">
            <a:avLst>
              <a:gd name="adj" fmla="val 9333"/>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Opt-in and Inquiry</a:t>
            </a:r>
          </a:p>
          <a:p>
            <a:pPr algn="ctr"/>
            <a:r>
              <a:rPr sz="850" b="0" i="0">
                <a:solidFill>
                  <a:srgbClr val="002368"/>
                </a:solidFill>
                <a:latin typeface="Arial"/>
              </a:rPr>
              <a:t>self-made, with a partner code</a:t>
            </a:r>
          </a:p>
        </p:txBody>
      </p:sp>
      <p:sp>
        <p:nvSpPr>
          <p:cNvPr id="22" name="Chevron 21"/>
          <p:cNvSpPr/>
          <p:nvPr/>
        </p:nvSpPr>
        <p:spPr>
          <a:xfrm>
            <a:off x="8622792" y="2624328"/>
            <a:ext cx="91440"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8759952" y="2377440"/>
            <a:ext cx="1298448" cy="685800"/>
          </a:xfrm>
          <a:prstGeom prst="roundRect">
            <a:avLst>
              <a:gd name="adj" fmla="val 9333"/>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Tour and Application</a:t>
            </a:r>
          </a:p>
          <a:p>
            <a:pPr algn="ctr"/>
            <a:r>
              <a:rPr sz="850" b="0" i="0">
                <a:solidFill>
                  <a:srgbClr val="002368"/>
                </a:solidFill>
                <a:latin typeface="Arial"/>
              </a:rPr>
              <a:t>admissions</a:t>
            </a:r>
          </a:p>
        </p:txBody>
      </p:sp>
      <p:sp>
        <p:nvSpPr>
          <p:cNvPr id="24" name="Chevron 23"/>
          <p:cNvSpPr/>
          <p:nvPr/>
        </p:nvSpPr>
        <p:spPr>
          <a:xfrm>
            <a:off x="10104120" y="2624328"/>
            <a:ext cx="91440"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10241280" y="2377440"/>
            <a:ext cx="1298448" cy="685800"/>
          </a:xfrm>
          <a:prstGeom prst="roundRect">
            <a:avLst>
              <a:gd name="adj" fmla="val 9333"/>
            </a:avLst>
          </a:prstGeom>
          <a:solidFill>
            <a:srgbClr val="002368"/>
          </a:solidFill>
          <a:ln w="31750">
            <a:solidFill>
              <a:srgbClr val="FFC952"/>
            </a:solidFill>
          </a:ln>
        </p:spPr>
        <p:txBody>
          <a:bodyPr rtlCol="0" anchor="ctr" wrap="square" lIns="45720" rIns="45720" tIns="27432" bIns="27432"/>
          <a:lstStyle/>
          <a:p>
            <a:pPr algn="ctr"/>
            <a:r>
              <a:rPr sz="1000" b="1" i="0">
                <a:solidFill>
                  <a:srgbClr val="FFFFFF"/>
                </a:solidFill>
                <a:latin typeface="Arial"/>
              </a:rPr>
              <a:t>Enrolment</a:t>
            </a:r>
          </a:p>
        </p:txBody>
      </p:sp>
      <p:cxnSp>
        <p:nvCxnSpPr>
          <p:cNvPr id="26" name="Connector 25"/>
          <p:cNvCxnSpPr/>
          <p:nvPr/>
        </p:nvCxnSpPr>
        <p:spPr>
          <a:xfrm>
            <a:off x="6446520" y="3063240"/>
            <a:ext cx="0" cy="365760"/>
          </a:xfrm>
          <a:prstGeom prst="line">
            <a:avLst/>
          </a:prstGeom>
          <a:ln w="12700">
            <a:solidFill>
              <a:srgbClr val="818283"/>
            </a:solidFill>
            <a:prstDash val="dash"/>
          </a:ln>
        </p:spPr>
      </p:cxnSp>
      <p:cxnSp>
        <p:nvCxnSpPr>
          <p:cNvPr id="27" name="Connector 26"/>
          <p:cNvCxnSpPr/>
          <p:nvPr/>
        </p:nvCxnSpPr>
        <p:spPr>
          <a:xfrm flipH="1">
            <a:off x="3483864" y="3429000"/>
            <a:ext cx="2962656" cy="0"/>
          </a:xfrm>
          <a:prstGeom prst="line">
            <a:avLst/>
          </a:prstGeom>
          <a:ln w="12700">
            <a:solidFill>
              <a:srgbClr val="818283"/>
            </a:solidFill>
            <a:prstDash val="dash"/>
          </a:ln>
        </p:spPr>
      </p:cxnSp>
      <p:cxnSp>
        <p:nvCxnSpPr>
          <p:cNvPr id="28" name="Connector 27"/>
          <p:cNvCxnSpPr/>
          <p:nvPr/>
        </p:nvCxnSpPr>
        <p:spPr>
          <a:xfrm flipV="1">
            <a:off x="3483864" y="3063240"/>
            <a:ext cx="0" cy="365760"/>
          </a:xfrm>
          <a:prstGeom prst="line">
            <a:avLst/>
          </a:prstGeom>
          <a:ln w="12700">
            <a:solidFill>
              <a:srgbClr val="818283"/>
            </a:solidFill>
            <a:prstDash val="dash"/>
            <a:tailEnd type="triangle" w="med" len="med"/>
          </a:ln>
        </p:spPr>
      </p:cxnSp>
      <p:sp>
        <p:nvSpPr>
          <p:cNvPr id="29" name="TextBox 28"/>
          <p:cNvSpPr txBox="1"/>
          <p:nvPr/>
        </p:nvSpPr>
        <p:spPr>
          <a:xfrm>
            <a:off x="3657600" y="3456432"/>
            <a:ext cx="2377440" cy="219456"/>
          </a:xfrm>
          <a:prstGeom prst="rect">
            <a:avLst/>
          </a:prstGeom>
          <a:noFill/>
        </p:spPr>
        <p:txBody>
          <a:bodyPr wrap="square" lIns="0" tIns="0" rIns="0" bIns="0" anchor="t">
            <a:spAutoFit/>
          </a:bodyPr>
          <a:lstStyle/>
          <a:p>
            <a:pPr algn="l"/>
            <a:r>
              <a:rPr sz="900" b="0" i="0">
                <a:solidFill>
                  <a:srgbClr val="818283"/>
                </a:solidFill>
                <a:latin typeface="Arial"/>
              </a:rPr>
              <a:t>referred employers and homes re-enter</a:t>
            </a:r>
          </a:p>
        </p:txBody>
      </p:sp>
      <p:cxnSp>
        <p:nvCxnSpPr>
          <p:cNvPr id="30" name="Connector 29"/>
          <p:cNvCxnSpPr/>
          <p:nvPr/>
        </p:nvCxnSpPr>
        <p:spPr>
          <a:xfrm>
            <a:off x="6620256" y="3063240"/>
            <a:ext cx="0" cy="640080"/>
          </a:xfrm>
          <a:prstGeom prst="line">
            <a:avLst/>
          </a:prstGeom>
          <a:ln w="12700">
            <a:solidFill>
              <a:srgbClr val="818283"/>
            </a:solidFill>
            <a:prstDash val="dash"/>
          </a:ln>
        </p:spPr>
      </p:cxnSp>
      <p:cxnSp>
        <p:nvCxnSpPr>
          <p:cNvPr id="31" name="Connector 30"/>
          <p:cNvCxnSpPr/>
          <p:nvPr/>
        </p:nvCxnSpPr>
        <p:spPr>
          <a:xfrm>
            <a:off x="6620256" y="3703320"/>
            <a:ext cx="4270248" cy="0"/>
          </a:xfrm>
          <a:prstGeom prst="line">
            <a:avLst/>
          </a:prstGeom>
          <a:ln w="12700">
            <a:solidFill>
              <a:srgbClr val="818283"/>
            </a:solidFill>
            <a:prstDash val="dash"/>
          </a:ln>
        </p:spPr>
      </p:cxnSp>
      <p:cxnSp>
        <p:nvCxnSpPr>
          <p:cNvPr id="32" name="Connector 31"/>
          <p:cNvCxnSpPr/>
          <p:nvPr/>
        </p:nvCxnSpPr>
        <p:spPr>
          <a:xfrm flipV="1">
            <a:off x="10890504" y="3063240"/>
            <a:ext cx="0" cy="640080"/>
          </a:xfrm>
          <a:prstGeom prst="line">
            <a:avLst/>
          </a:prstGeom>
          <a:ln w="12700">
            <a:solidFill>
              <a:srgbClr val="818283"/>
            </a:solidFill>
            <a:prstDash val="dash"/>
            <a:tailEnd type="triangle" w="med" len="med"/>
          </a:ln>
        </p:spPr>
      </p:cxnSp>
      <p:sp>
        <p:nvSpPr>
          <p:cNvPr id="33" name="TextBox 32"/>
          <p:cNvSpPr txBox="1"/>
          <p:nvPr/>
        </p:nvSpPr>
        <p:spPr>
          <a:xfrm>
            <a:off x="7589520" y="3730752"/>
            <a:ext cx="3657600" cy="219456"/>
          </a:xfrm>
          <a:prstGeom prst="rect">
            <a:avLst/>
          </a:prstGeom>
          <a:noFill/>
        </p:spPr>
        <p:txBody>
          <a:bodyPr wrap="square" lIns="0" tIns="0" rIns="0" bIns="0" anchor="t">
            <a:spAutoFit/>
          </a:bodyPr>
          <a:lstStyle/>
          <a:p>
            <a:pPr algn="l"/>
            <a:r>
              <a:rPr sz="900" b="0" i="0">
                <a:solidFill>
                  <a:srgbClr val="818283"/>
                </a:solidFill>
                <a:latin typeface="Arial"/>
              </a:rPr>
              <a:t>placements and sponsored students go straight to enrolment</a:t>
            </a:r>
          </a:p>
        </p:txBody>
      </p:sp>
      <p:sp>
        <p:nvSpPr>
          <p:cNvPr id="34" name="TextBox 33"/>
          <p:cNvSpPr txBox="1"/>
          <p:nvPr/>
        </p:nvSpPr>
        <p:spPr>
          <a:xfrm>
            <a:off x="548640" y="4206240"/>
            <a:ext cx="7315200" cy="201168"/>
          </a:xfrm>
          <a:prstGeom prst="rect">
            <a:avLst/>
          </a:prstGeom>
          <a:noFill/>
        </p:spPr>
        <p:txBody>
          <a:bodyPr wrap="square" lIns="0" tIns="0" rIns="0" bIns="0" anchor="t">
            <a:spAutoFit/>
          </a:bodyPr>
          <a:lstStyle/>
          <a:p>
            <a:pPr algn="l"/>
            <a:r>
              <a:rPr sz="900" b="1" i="0" spc="200">
                <a:solidFill>
                  <a:srgbClr val="818283"/>
                </a:solidFill>
                <a:latin typeface="Arial"/>
              </a:rPr>
              <a:t>THE PARENT FUNNEL HAND-OFF: ADMISSIONS OWNS EACH FAMILY FROM THE OPT-IN</a:t>
            </a:r>
          </a:p>
        </p:txBody>
      </p:sp>
      <p:sp>
        <p:nvSpPr>
          <p:cNvPr id="35" name="Hexagon 34"/>
          <p:cNvSpPr/>
          <p:nvPr/>
        </p:nvSpPr>
        <p:spPr>
          <a:xfrm>
            <a:off x="5486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01</a:t>
            </a:r>
          </a:p>
        </p:txBody>
      </p:sp>
      <p:cxnSp>
        <p:nvCxnSpPr>
          <p:cNvPr id="36" name="Connector 35"/>
          <p:cNvCxnSpPr/>
          <p:nvPr/>
        </p:nvCxnSpPr>
        <p:spPr>
          <a:xfrm>
            <a:off x="1005840" y="4727448"/>
            <a:ext cx="1143000" cy="0"/>
          </a:xfrm>
          <a:prstGeom prst="line">
            <a:avLst/>
          </a:prstGeom>
          <a:ln w="15875">
            <a:solidFill>
              <a:srgbClr val="80BFEC"/>
            </a:solidFill>
          </a:ln>
        </p:spPr>
      </p:cxnSp>
      <p:sp>
        <p:nvSpPr>
          <p:cNvPr id="37" name="TextBox 36"/>
          <p:cNvSpPr txBox="1"/>
          <p:nvPr/>
        </p:nvSpPr>
        <p:spPr>
          <a:xfrm>
            <a:off x="5486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Partner circulates</a:t>
            </a:r>
          </a:p>
        </p:txBody>
      </p:sp>
      <p:sp>
        <p:nvSpPr>
          <p:cNvPr id="38" name="TextBox 37"/>
          <p:cNvSpPr txBox="1"/>
          <p:nvPr/>
        </p:nvSpPr>
        <p:spPr>
          <a:xfrm>
            <a:off x="5486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QR, pamphlet, form</a:t>
            </a:r>
          </a:p>
        </p:txBody>
      </p:sp>
      <p:sp>
        <p:nvSpPr>
          <p:cNvPr id="39" name="Hexagon 38"/>
          <p:cNvSpPr/>
          <p:nvPr/>
        </p:nvSpPr>
        <p:spPr>
          <a:xfrm>
            <a:off x="21488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02</a:t>
            </a:r>
          </a:p>
        </p:txBody>
      </p:sp>
      <p:cxnSp>
        <p:nvCxnSpPr>
          <p:cNvPr id="40" name="Connector 39"/>
          <p:cNvCxnSpPr/>
          <p:nvPr/>
        </p:nvCxnSpPr>
        <p:spPr>
          <a:xfrm>
            <a:off x="2606040" y="4727448"/>
            <a:ext cx="1142999" cy="0"/>
          </a:xfrm>
          <a:prstGeom prst="line">
            <a:avLst/>
          </a:prstGeom>
          <a:ln w="15875">
            <a:solidFill>
              <a:srgbClr val="80BFEC"/>
            </a:solidFill>
          </a:ln>
        </p:spPr>
      </p:cxnSp>
      <p:sp>
        <p:nvSpPr>
          <p:cNvPr id="41" name="TextBox 40"/>
          <p:cNvSpPr txBox="1"/>
          <p:nvPr/>
        </p:nvSpPr>
        <p:spPr>
          <a:xfrm>
            <a:off x="21488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Opt-in</a:t>
            </a:r>
          </a:p>
        </p:txBody>
      </p:sp>
      <p:sp>
        <p:nvSpPr>
          <p:cNvPr id="42" name="TextBox 41"/>
          <p:cNvSpPr txBox="1"/>
          <p:nvPr/>
        </p:nvSpPr>
        <p:spPr>
          <a:xfrm>
            <a:off x="21488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partner code EMP, SAC, INT, WEL, EVT</a:t>
            </a:r>
          </a:p>
        </p:txBody>
      </p:sp>
      <p:sp>
        <p:nvSpPr>
          <p:cNvPr id="43" name="Hexagon 42"/>
          <p:cNvSpPr/>
          <p:nvPr/>
        </p:nvSpPr>
        <p:spPr>
          <a:xfrm>
            <a:off x="3749039"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03</a:t>
            </a:r>
          </a:p>
        </p:txBody>
      </p:sp>
      <p:cxnSp>
        <p:nvCxnSpPr>
          <p:cNvPr id="44" name="Connector 43"/>
          <p:cNvCxnSpPr/>
          <p:nvPr/>
        </p:nvCxnSpPr>
        <p:spPr>
          <a:xfrm>
            <a:off x="4206240" y="4727448"/>
            <a:ext cx="1143000" cy="0"/>
          </a:xfrm>
          <a:prstGeom prst="line">
            <a:avLst/>
          </a:prstGeom>
          <a:ln w="15875">
            <a:solidFill>
              <a:srgbClr val="80BFEC"/>
            </a:solidFill>
          </a:ln>
        </p:spPr>
      </p:cxnSp>
      <p:sp>
        <p:nvSpPr>
          <p:cNvPr id="45" name="TextBox 44"/>
          <p:cNvSpPr txBox="1"/>
          <p:nvPr/>
        </p:nvSpPr>
        <p:spPr>
          <a:xfrm>
            <a:off x="3749039"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Inquiry</a:t>
            </a:r>
          </a:p>
        </p:txBody>
      </p:sp>
      <p:sp>
        <p:nvSpPr>
          <p:cNvPr id="46" name="TextBox 45"/>
          <p:cNvSpPr txBox="1"/>
          <p:nvPr/>
        </p:nvSpPr>
        <p:spPr>
          <a:xfrm>
            <a:off x="3749039"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same working period; reminder at 2 days</a:t>
            </a:r>
          </a:p>
        </p:txBody>
      </p:sp>
      <p:sp>
        <p:nvSpPr>
          <p:cNvPr id="47" name="Hexagon 46"/>
          <p:cNvSpPr/>
          <p:nvPr/>
        </p:nvSpPr>
        <p:spPr>
          <a:xfrm>
            <a:off x="53492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04</a:t>
            </a:r>
          </a:p>
        </p:txBody>
      </p:sp>
      <p:cxnSp>
        <p:nvCxnSpPr>
          <p:cNvPr id="48" name="Connector 47"/>
          <p:cNvCxnSpPr/>
          <p:nvPr/>
        </p:nvCxnSpPr>
        <p:spPr>
          <a:xfrm>
            <a:off x="5806440" y="4727448"/>
            <a:ext cx="1143000" cy="0"/>
          </a:xfrm>
          <a:prstGeom prst="line">
            <a:avLst/>
          </a:prstGeom>
          <a:ln w="15875">
            <a:solidFill>
              <a:srgbClr val="80BFEC"/>
            </a:solidFill>
          </a:ln>
        </p:spPr>
      </p:cxnSp>
      <p:sp>
        <p:nvSpPr>
          <p:cNvPr id="49" name="TextBox 48"/>
          <p:cNvSpPr txBox="1"/>
          <p:nvPr/>
        </p:nvSpPr>
        <p:spPr>
          <a:xfrm>
            <a:off x="53492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Qualified</a:t>
            </a:r>
          </a:p>
        </p:txBody>
      </p:sp>
      <p:sp>
        <p:nvSpPr>
          <p:cNvPr id="50" name="TextBox 49"/>
          <p:cNvSpPr txBox="1"/>
          <p:nvPr/>
        </p:nvSpPr>
        <p:spPr>
          <a:xfrm>
            <a:off x="53492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campus fit confirmed</a:t>
            </a:r>
          </a:p>
        </p:txBody>
      </p:sp>
      <p:sp>
        <p:nvSpPr>
          <p:cNvPr id="51" name="Hexagon 50"/>
          <p:cNvSpPr/>
          <p:nvPr/>
        </p:nvSpPr>
        <p:spPr>
          <a:xfrm>
            <a:off x="69494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05</a:t>
            </a:r>
          </a:p>
        </p:txBody>
      </p:sp>
      <p:cxnSp>
        <p:nvCxnSpPr>
          <p:cNvPr id="52" name="Connector 51"/>
          <p:cNvCxnSpPr/>
          <p:nvPr/>
        </p:nvCxnSpPr>
        <p:spPr>
          <a:xfrm>
            <a:off x="7406640" y="4727448"/>
            <a:ext cx="1143000" cy="0"/>
          </a:xfrm>
          <a:prstGeom prst="line">
            <a:avLst/>
          </a:prstGeom>
          <a:ln w="15875">
            <a:solidFill>
              <a:srgbClr val="80BFEC"/>
            </a:solidFill>
          </a:ln>
        </p:spPr>
      </p:cxnSp>
      <p:sp>
        <p:nvSpPr>
          <p:cNvPr id="53" name="TextBox 52"/>
          <p:cNvSpPr txBox="1"/>
          <p:nvPr/>
        </p:nvSpPr>
        <p:spPr>
          <a:xfrm>
            <a:off x="69494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Tour, Application</a:t>
            </a:r>
          </a:p>
        </p:txBody>
      </p:sp>
      <p:sp>
        <p:nvSpPr>
          <p:cNvPr id="54" name="TextBox 53"/>
          <p:cNvSpPr txBox="1"/>
          <p:nvPr/>
        </p:nvSpPr>
        <p:spPr>
          <a:xfrm>
            <a:off x="69494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recorded as they happen</a:t>
            </a:r>
          </a:p>
        </p:txBody>
      </p:sp>
      <p:sp>
        <p:nvSpPr>
          <p:cNvPr id="55" name="Hexagon 54"/>
          <p:cNvSpPr/>
          <p:nvPr/>
        </p:nvSpPr>
        <p:spPr>
          <a:xfrm>
            <a:off x="8549640" y="4526280"/>
            <a:ext cx="457200" cy="402336"/>
          </a:xfrm>
          <a:prstGeom prst="hexagon">
            <a:avLst>
              <a:gd name="adj" fmla="val 25000"/>
              <a:gd name="vf" fmla="val 115470"/>
            </a:avLst>
          </a:prstGeom>
          <a:solidFill>
            <a:srgbClr val="FFC952"/>
          </a:solidFill>
          <a:ln>
            <a:noFill/>
          </a:ln>
        </p:spPr>
        <p:txBody>
          <a:bodyPr rtlCol="0" anchor="ctr" wrap="square" lIns="0" tIns="0" rIns="0" bIns="0"/>
          <a:lstStyle/>
          <a:p>
            <a:pPr algn="ctr"/>
            <a:r>
              <a:rPr sz="1100" b="1" i="0">
                <a:solidFill>
                  <a:srgbClr val="002368"/>
                </a:solidFill>
                <a:latin typeface="Arial"/>
              </a:rPr>
              <a:t>06</a:t>
            </a:r>
          </a:p>
        </p:txBody>
      </p:sp>
      <p:cxnSp>
        <p:nvCxnSpPr>
          <p:cNvPr id="56" name="Connector 55"/>
          <p:cNvCxnSpPr/>
          <p:nvPr/>
        </p:nvCxnSpPr>
        <p:spPr>
          <a:xfrm>
            <a:off x="9006840" y="4727448"/>
            <a:ext cx="1143000" cy="0"/>
          </a:xfrm>
          <a:prstGeom prst="line">
            <a:avLst/>
          </a:prstGeom>
          <a:ln w="15875">
            <a:solidFill>
              <a:srgbClr val="80BFEC"/>
            </a:solidFill>
          </a:ln>
        </p:spPr>
      </p:cxnSp>
      <p:sp>
        <p:nvSpPr>
          <p:cNvPr id="57" name="TextBox 56"/>
          <p:cNvSpPr txBox="1"/>
          <p:nvPr/>
        </p:nvSpPr>
        <p:spPr>
          <a:xfrm>
            <a:off x="85496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Enrolment</a:t>
            </a:r>
          </a:p>
        </p:txBody>
      </p:sp>
      <p:sp>
        <p:nvSpPr>
          <p:cNvPr id="58" name="TextBox 57"/>
          <p:cNvSpPr txBox="1"/>
          <p:nvPr/>
        </p:nvSpPr>
        <p:spPr>
          <a:xfrm>
            <a:off x="85496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
            </a:r>
          </a:p>
        </p:txBody>
      </p:sp>
      <p:sp>
        <p:nvSpPr>
          <p:cNvPr id="59" name="Hexagon 58"/>
          <p:cNvSpPr/>
          <p:nvPr/>
        </p:nvSpPr>
        <p:spPr>
          <a:xfrm>
            <a:off x="101498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07</a:t>
            </a:r>
          </a:p>
        </p:txBody>
      </p:sp>
      <p:sp>
        <p:nvSpPr>
          <p:cNvPr id="60" name="TextBox 59"/>
          <p:cNvSpPr txBox="1"/>
          <p:nvPr/>
        </p:nvSpPr>
        <p:spPr>
          <a:xfrm>
            <a:off x="101498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Totals to partner</a:t>
            </a:r>
          </a:p>
        </p:txBody>
      </p:sp>
      <p:sp>
        <p:nvSpPr>
          <p:cNvPr id="61" name="TextBox 60"/>
          <p:cNvSpPr txBox="1"/>
          <p:nvPr/>
        </p:nvSpPr>
        <p:spPr>
          <a:xfrm>
            <a:off x="101498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each term; small counts hidden</a:t>
            </a:r>
          </a:p>
        </p:txBody>
      </p:sp>
      <p:sp>
        <p:nvSpPr>
          <p:cNvPr id="62" name="TextBox 61"/>
          <p:cNvSpPr txBox="1"/>
          <p:nvPr/>
        </p:nvSpPr>
        <p:spPr>
          <a:xfrm>
            <a:off x="548640" y="5943600"/>
            <a:ext cx="11064240" cy="228600"/>
          </a:xfrm>
          <a:prstGeom prst="rect">
            <a:avLst/>
          </a:prstGeom>
          <a:noFill/>
        </p:spPr>
        <p:txBody>
          <a:bodyPr wrap="square" lIns="0" tIns="0" rIns="0" bIns="0" anchor="t">
            <a:spAutoFit/>
          </a:bodyPr>
          <a:lstStyle/>
          <a:p>
            <a:pPr algn="l"/>
            <a:r>
              <a:rPr sz="850" b="0" i="0">
                <a:solidFill>
                  <a:srgbClr val="818283"/>
                </a:solidFill>
                <a:latin typeface="Arial"/>
              </a:rPr>
              <a:t>Coord: Marketing and Partnership Coordinator  ·  Adm: admissions  ·  DSL: designated safeguarding lead  ·  WEO, VEO: ward and village executive officers  ·  B2G owner: government partnerships owner</a:t>
            </a:r>
          </a:p>
        </p:txBody>
      </p:sp>
      <p:pic>
        <p:nvPicPr>
          <p:cNvPr id="63" name="Picture 62" descr="image3.png"/>
          <p:cNvPicPr>
            <a:picLocks noChangeAspect="1"/>
          </p:cNvPicPr>
          <p:nvPr/>
        </p:nvPicPr>
        <p:blipFill>
          <a:blip r:embed="rId2"/>
          <a:stretch>
            <a:fillRect/>
          </a:stretch>
        </p:blipFill>
        <p:spPr>
          <a:xfrm>
            <a:off x="548640" y="6272784"/>
            <a:ext cx="1143000" cy="274320"/>
          </a:xfrm>
          <a:prstGeom prst="rect">
            <a:avLst/>
          </a:prstGeom>
        </p:spPr>
      </p:pic>
      <p:sp>
        <p:nvSpPr>
          <p:cNvPr id="64"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65"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lead databases, October 2026</a:t>
            </a:r>
          </a:p>
        </p:txBody>
      </p:sp>
      <p:sp>
        <p:nvSpPr>
          <p:cNvPr id="6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E1 and E2</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FOR APPROVAL</a:t>
            </a:r>
          </a:p>
        </p:txBody>
      </p:sp>
      <p:sp>
        <p:nvSpPr>
          <p:cNvPr id="5" name="Rounded Rectangle 4"/>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7" name="Rounded Rectangle 6"/>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8" name="TextBox 7"/>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9" name="Hexagon 8"/>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10" name="TextBox 9"/>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1" name="Rounded Rectangle 10"/>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2" name="TextBox 11"/>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3" name="Rounded Rectangle 12"/>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4" name="TextBox 13"/>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5" name="Rounded Rectangle 14"/>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6" name="TextBox 15"/>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7" name="Rounded Rectangle 16"/>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8" name="TextBox 17"/>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9" name="TextBox 18"/>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E1</a:t>
            </a:r>
          </a:p>
        </p:txBody>
      </p:sp>
      <p:sp>
        <p:nvSpPr>
          <p:cNvPr id="20" name="TextBox 19"/>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Small and field-based employers</a:t>
            </a:r>
          </a:p>
        </p:txBody>
      </p:sp>
      <p:sp>
        <p:nvSpPr>
          <p:cNvPr id="21" name="TextBox 20"/>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Safari operators and travel agencies · 480 (432 ready)</a:t>
            </a:r>
          </a:p>
        </p:txBody>
      </p:sp>
      <p:sp>
        <p:nvSpPr>
          <p:cNvPr id="22" name="Rounded Rectangle 21"/>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Attn, redirect or direct</a:t>
            </a:r>
          </a:p>
        </p:txBody>
      </p:sp>
      <p:sp>
        <p:nvSpPr>
          <p:cNvPr id="23" name="Chevron 22"/>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p>
        </p:txBody>
      </p:sp>
      <p:sp>
        <p:nvSpPr>
          <p:cNvPr id="24" name="Rounded Rectangle 23"/>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25" name="Chevron 24"/>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p>
        </p:txBody>
      </p:sp>
      <p:sp>
        <p:nvSpPr>
          <p:cNvPr id="26" name="Rounded Rectangle 25"/>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Call or meeting</a:t>
            </a:r>
          </a:p>
          <a:p>
            <a:pPr algn="ctr"/>
            <a:r>
              <a:rPr sz="850" b="0" i="0">
                <a:solidFill>
                  <a:srgbClr val="002368"/>
                </a:solidFill>
                <a:latin typeface="Arial"/>
              </a:rPr>
              <a:t>meeting checklist</a:t>
            </a:r>
          </a:p>
        </p:txBody>
      </p:sp>
      <p:sp>
        <p:nvSpPr>
          <p:cNvPr id="27" name="Chevron 26"/>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p>
        </p:txBody>
      </p:sp>
      <p:sp>
        <p:nvSpPr>
          <p:cNvPr id="28" name="Hexagon 27"/>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Staff at the office?</a:t>
            </a:r>
          </a:p>
        </p:txBody>
      </p:sp>
      <p:sp>
        <p:nvSpPr>
          <p:cNvPr id="29" name="Chevron 28"/>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p>
        </p:txBody>
      </p:sp>
      <p:sp>
        <p:nvSpPr>
          <p:cNvPr id="30" name="Rounded Rectangle 29"/>
          <p:cNvSpPr/>
          <p:nvPr/>
        </p:nvSpPr>
        <p:spPr>
          <a:xfrm>
            <a:off x="6814178" y="1572768"/>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10 or more: </a:t>
            </a:r>
            <a:r>
              <a:rPr sz="900" b="0" i="0">
                <a:solidFill>
                  <a:srgbClr val="002368"/>
                </a:solidFill>
                <a:latin typeface="Arial"/>
              </a:rPr>
              <a:t>S5 office visit: talk, pamphlet, QR</a:t>
            </a:r>
          </a:p>
        </p:txBody>
      </p:sp>
      <p:sp>
        <p:nvSpPr>
          <p:cNvPr id="31" name="Rounded Rectangle 30"/>
          <p:cNvSpPr/>
          <p:nvPr/>
        </p:nvSpPr>
        <p:spPr>
          <a:xfrm>
            <a:off x="6814178" y="2005584"/>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Under 10: </a:t>
            </a:r>
            <a:r>
              <a:rPr sz="900" b="0" i="0">
                <a:solidFill>
                  <a:srgbClr val="002368"/>
                </a:solidFill>
                <a:latin typeface="Arial"/>
              </a:rPr>
              <a:t>S5 pack + cluster session (TATO)</a:t>
            </a:r>
          </a:p>
        </p:txBody>
      </p:sp>
      <p:sp>
        <p:nvSpPr>
          <p:cNvPr id="32" name="Rounded Rectangle 31"/>
          <p:cNvSpPr/>
          <p:nvPr/>
        </p:nvSpPr>
        <p:spPr>
          <a:xfrm>
            <a:off x="6814178" y="2438400"/>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Mostly in the field: </a:t>
            </a:r>
            <a:r>
              <a:rPr sz="900" b="0" i="0">
                <a:solidFill>
                  <a:srgbClr val="002368"/>
                </a:solidFill>
                <a:latin typeface="Arial"/>
              </a:rPr>
              <a:t>S5 webinar + crew pack</a:t>
            </a:r>
          </a:p>
        </p:txBody>
      </p:sp>
      <p:sp>
        <p:nvSpPr>
          <p:cNvPr id="33" name="Chevron 32"/>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p>
        </p:txBody>
      </p:sp>
      <p:sp>
        <p:nvSpPr>
          <p:cNvPr id="34" name="Rounded Rectangle 33"/>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circulation confirmed or benefit signed</a:t>
            </a:r>
          </a:p>
        </p:txBody>
      </p:sp>
      <p:sp>
        <p:nvSpPr>
          <p:cNvPr id="35" name="Chevron 34"/>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p>
        </p:txBody>
      </p:sp>
      <p:sp>
        <p:nvSpPr>
          <p:cNvPr id="36" name="Rounded Rectangle 35"/>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Staff sign-ups</a:t>
            </a:r>
          </a:p>
          <a:p>
            <a:pPr algn="ctr"/>
            <a:r>
              <a:rPr sz="850" b="0" i="0">
                <a:solidFill>
                  <a:srgbClr val="002368"/>
                </a:solidFill>
                <a:latin typeface="Arial"/>
              </a:rPr>
              <a:t>code EMP</a:t>
            </a:r>
          </a:p>
        </p:txBody>
      </p:sp>
      <p:sp>
        <p:nvSpPr>
          <p:cNvPr id="37" name="Chevron 36"/>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p>
        </p:txBody>
      </p:sp>
      <p:sp>
        <p:nvSpPr>
          <p:cNvPr id="38" name="Rounded Rectangle 37"/>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39" name="Rounded Rectangle 38"/>
          <p:cNvSpPr/>
          <p:nvPr/>
        </p:nvSpPr>
        <p:spPr>
          <a:xfrm>
            <a:off x="2075688" y="2916936"/>
            <a:ext cx="3697833"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after fallout → Dormant · next window or TATO</a:t>
            </a:r>
          </a:p>
        </p:txBody>
      </p:sp>
      <p:sp>
        <p:nvSpPr>
          <p:cNvPr id="40" name="Rounded Rectangle 39"/>
          <p:cNvSpPr/>
          <p:nvPr/>
        </p:nvSpPr>
        <p:spPr>
          <a:xfrm>
            <a:off x="5910681" y="2916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41" name="TextBox 40"/>
          <p:cNvSpPr txBox="1"/>
          <p:nvPr/>
        </p:nvSpPr>
        <p:spPr>
          <a:xfrm>
            <a:off x="7223760" y="2916936"/>
            <a:ext cx="4416552" cy="292608"/>
          </a:xfrm>
          <a:prstGeom prst="rect">
            <a:avLst/>
          </a:prstGeom>
          <a:noFill/>
        </p:spPr>
        <p:txBody>
          <a:bodyPr wrap="square" lIns="0" tIns="0" rIns="0" bIns="0" anchor="ctr">
            <a:spAutoFit/>
          </a:bodyPr>
          <a:lstStyle/>
          <a:p>
            <a:pPr algn="l"/>
            <a:r>
              <a:rPr sz="900" b="0" i="0">
                <a:solidFill>
                  <a:srgbClr val="818283"/>
                </a:solidFill>
                <a:latin typeface="Arial"/>
              </a:rPr>
              <a:t>P1 36 · P2 8 · P3 421 · X 15 · 14 variant A rows follow E5</a:t>
            </a:r>
          </a:p>
        </p:txBody>
      </p:sp>
      <p:sp>
        <p:nvSpPr>
          <p:cNvPr id="42" name="TextBox 41"/>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TATO lists 388 of these operators as members: a cluster session reaches many small offices at once, and TATO is the warm route when a lead goes dormant.</a:t>
            </a:r>
          </a:p>
        </p:txBody>
      </p:sp>
      <p:cxnSp>
        <p:nvCxnSpPr>
          <p:cNvPr id="43" name="Connector 42"/>
          <p:cNvCxnSpPr/>
          <p:nvPr/>
        </p:nvCxnSpPr>
        <p:spPr>
          <a:xfrm>
            <a:off x="548640" y="3730752"/>
            <a:ext cx="11091672" cy="0"/>
          </a:xfrm>
          <a:prstGeom prst="line">
            <a:avLst/>
          </a:prstGeom>
          <a:ln w="9525">
            <a:solidFill>
              <a:srgbClr val="ECECEC"/>
            </a:solidFill>
          </a:ln>
        </p:spPr>
      </p:cxnSp>
      <p:sp>
        <p:nvSpPr>
          <p:cNvPr id="44" name="TextBox 43"/>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E2</a:t>
            </a:r>
          </a:p>
        </p:txBody>
      </p:sp>
      <p:sp>
        <p:nvSpPr>
          <p:cNvPr id="45" name="TextBox 44"/>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Shift-based employers</a:t>
            </a:r>
          </a:p>
        </p:txBody>
      </p:sp>
      <p:sp>
        <p:nvSpPr>
          <p:cNvPr id="46" name="TextBox 45"/>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Hotels 194, hospitals 188, factories 19, retail 17, farms 14, aviation 5 · 437 (182)</a:t>
            </a:r>
          </a:p>
        </p:txBody>
      </p:sp>
      <p:sp>
        <p:nvSpPr>
          <p:cNvPr id="47" name="Rounded Rectangle 46"/>
          <p:cNvSpPr/>
          <p:nvPr/>
        </p:nvSpPr>
        <p:spPr>
          <a:xfrm>
            <a:off x="2075688"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message or call</a:t>
            </a:r>
          </a:p>
        </p:txBody>
      </p:sp>
      <p:sp>
        <p:nvSpPr>
          <p:cNvPr id="48" name="Chevron 47"/>
          <p:cNvSpPr/>
          <p:nvPr/>
        </p:nvSpPr>
        <p:spPr>
          <a:xfrm>
            <a:off x="3012548" y="4375403"/>
            <a:ext cx="100584" cy="201168"/>
          </a:xfrm>
          <a:prstGeom prst="chevron">
            <a:avLst>
              <a:gd name="adj" fmla="val 55000"/>
            </a:avLst>
          </a:prstGeom>
          <a:solidFill>
            <a:srgbClr val="80BFEC"/>
          </a:solidFill>
          <a:ln>
            <a:noFill/>
          </a:ln>
        </p:spPr>
        <p:txBody>
          <a:bodyPr rtlCol="0" anchor="ctr"/>
          <a:lstStyle/>
          <a:p>
            <a:pPr algn="ctr"/>
          </a:p>
        </p:txBody>
      </p:sp>
      <p:sp>
        <p:nvSpPr>
          <p:cNvPr id="49" name="Rounded Rectangle 48"/>
          <p:cNvSpPr/>
          <p:nvPr/>
        </p:nvSpPr>
        <p:spPr>
          <a:xfrm>
            <a:off x="3172568" y="4041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50" name="Chevron 49"/>
          <p:cNvSpPr/>
          <p:nvPr/>
        </p:nvSpPr>
        <p:spPr>
          <a:xfrm>
            <a:off x="4109428" y="4375403"/>
            <a:ext cx="100584" cy="201168"/>
          </a:xfrm>
          <a:prstGeom prst="chevron">
            <a:avLst>
              <a:gd name="adj" fmla="val 55000"/>
            </a:avLst>
          </a:prstGeom>
          <a:solidFill>
            <a:srgbClr val="80BFEC"/>
          </a:solidFill>
          <a:ln>
            <a:noFill/>
          </a:ln>
        </p:spPr>
        <p:txBody>
          <a:bodyPr rtlCol="0" anchor="ctr"/>
          <a:lstStyle/>
          <a:p>
            <a:pPr algn="ctr"/>
          </a:p>
        </p:txBody>
      </p:sp>
      <p:sp>
        <p:nvSpPr>
          <p:cNvPr id="51" name="Rounded Rectangle 50"/>
          <p:cNvSpPr/>
          <p:nvPr/>
        </p:nvSpPr>
        <p:spPr>
          <a:xfrm>
            <a:off x="4269448"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GM, HR or matron: shifts, language</a:t>
            </a:r>
          </a:p>
        </p:txBody>
      </p:sp>
      <p:sp>
        <p:nvSpPr>
          <p:cNvPr id="52" name="Chevron 51"/>
          <p:cNvSpPr/>
          <p:nvPr/>
        </p:nvSpPr>
        <p:spPr>
          <a:xfrm>
            <a:off x="5206308" y="4375403"/>
            <a:ext cx="100584" cy="201168"/>
          </a:xfrm>
          <a:prstGeom prst="chevron">
            <a:avLst>
              <a:gd name="adj" fmla="val 55000"/>
            </a:avLst>
          </a:prstGeom>
          <a:solidFill>
            <a:srgbClr val="80BFEC"/>
          </a:solidFill>
          <a:ln>
            <a:noFill/>
          </a:ln>
        </p:spPr>
        <p:txBody>
          <a:bodyPr rtlCol="0" anchor="ctr"/>
          <a:lstStyle/>
          <a:p>
            <a:pPr algn="ctr"/>
          </a:p>
        </p:txBody>
      </p:sp>
      <p:sp>
        <p:nvSpPr>
          <p:cNvPr id="53" name="Hexagon 52"/>
          <p:cNvSpPr/>
          <p:nvPr/>
        </p:nvSpPr>
        <p:spPr>
          <a:xfrm>
            <a:off x="5366328" y="4041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Staff at one site?</a:t>
            </a:r>
          </a:p>
        </p:txBody>
      </p:sp>
      <p:sp>
        <p:nvSpPr>
          <p:cNvPr id="54" name="Chevron 53"/>
          <p:cNvSpPr/>
          <p:nvPr/>
        </p:nvSpPr>
        <p:spPr>
          <a:xfrm>
            <a:off x="6654158" y="4375403"/>
            <a:ext cx="100584" cy="201168"/>
          </a:xfrm>
          <a:prstGeom prst="chevron">
            <a:avLst>
              <a:gd name="adj" fmla="val 55000"/>
            </a:avLst>
          </a:prstGeom>
          <a:solidFill>
            <a:srgbClr val="80BFEC"/>
          </a:solidFill>
          <a:ln>
            <a:noFill/>
          </a:ln>
        </p:spPr>
        <p:txBody>
          <a:bodyPr rtlCol="0" anchor="ctr"/>
          <a:lstStyle/>
          <a:p>
            <a:pPr algn="ctr"/>
          </a:p>
        </p:txBody>
      </p:sp>
      <p:sp>
        <p:nvSpPr>
          <p:cNvPr id="55" name="Rounded Rectangle 54"/>
          <p:cNvSpPr/>
          <p:nvPr/>
        </p:nvSpPr>
        <p:spPr>
          <a:xfrm>
            <a:off x="6814178" y="3858768"/>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20 or more: </a:t>
            </a:r>
            <a:r>
              <a:rPr sz="900" b="0" i="0">
                <a:solidFill>
                  <a:srgbClr val="002368"/>
                </a:solidFill>
                <a:latin typeface="Arial"/>
              </a:rPr>
              <a:t>S5 handover sessions: two 15-min slots or canteen</a:t>
            </a:r>
          </a:p>
        </p:txBody>
      </p:sp>
      <p:sp>
        <p:nvSpPr>
          <p:cNvPr id="56" name="Rounded Rectangle 55"/>
          <p:cNvSpPr/>
          <p:nvPr/>
        </p:nvSpPr>
        <p:spPr>
          <a:xfrm>
            <a:off x="6814178" y="4291584"/>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Split shifts, secure site: </a:t>
            </a:r>
            <a:r>
              <a:rPr sz="900" b="0" i="0">
                <a:solidFill>
                  <a:srgbClr val="002368"/>
                </a:solidFill>
                <a:latin typeface="Arial"/>
              </a:rPr>
              <a:t>S5 recorded webinar</a:t>
            </a:r>
          </a:p>
        </p:txBody>
      </p:sp>
      <p:sp>
        <p:nvSpPr>
          <p:cNvPr id="57" name="Rounded Rectangle 56"/>
          <p:cNvSpPr/>
          <p:nvPr/>
        </p:nvSpPr>
        <p:spPr>
          <a:xfrm>
            <a:off x="6814178" y="4724399"/>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Under 10: </a:t>
            </a:r>
            <a:r>
              <a:rPr sz="900" b="0" i="0">
                <a:solidFill>
                  <a:srgbClr val="002368"/>
                </a:solidFill>
                <a:latin typeface="Arial"/>
              </a:rPr>
              <a:t>pamphlet and QR pack</a:t>
            </a:r>
          </a:p>
        </p:txBody>
      </p:sp>
      <p:sp>
        <p:nvSpPr>
          <p:cNvPr id="58" name="Chevron 57"/>
          <p:cNvSpPr/>
          <p:nvPr/>
        </p:nvSpPr>
        <p:spPr>
          <a:xfrm>
            <a:off x="8409107" y="4375403"/>
            <a:ext cx="100584" cy="201168"/>
          </a:xfrm>
          <a:prstGeom prst="chevron">
            <a:avLst>
              <a:gd name="adj" fmla="val 55000"/>
            </a:avLst>
          </a:prstGeom>
          <a:solidFill>
            <a:srgbClr val="80BFEC"/>
          </a:solidFill>
          <a:ln>
            <a:noFill/>
          </a:ln>
        </p:spPr>
        <p:txBody>
          <a:bodyPr rtlCol="0" anchor="ctr"/>
          <a:lstStyle/>
          <a:p>
            <a:pPr algn="ctr"/>
          </a:p>
        </p:txBody>
      </p:sp>
      <p:sp>
        <p:nvSpPr>
          <p:cNvPr id="59" name="Rounded Rectangle 58"/>
          <p:cNvSpPr/>
          <p:nvPr/>
        </p:nvSpPr>
        <p:spPr>
          <a:xfrm>
            <a:off x="8569127" y="4041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circulation confirmed or benefit signed</a:t>
            </a:r>
          </a:p>
        </p:txBody>
      </p:sp>
      <p:sp>
        <p:nvSpPr>
          <p:cNvPr id="60" name="Chevron 59"/>
          <p:cNvSpPr/>
          <p:nvPr/>
        </p:nvSpPr>
        <p:spPr>
          <a:xfrm>
            <a:off x="9505987" y="4375403"/>
            <a:ext cx="100584" cy="201168"/>
          </a:xfrm>
          <a:prstGeom prst="chevron">
            <a:avLst>
              <a:gd name="adj" fmla="val 55000"/>
            </a:avLst>
          </a:prstGeom>
          <a:solidFill>
            <a:srgbClr val="80BFEC"/>
          </a:solidFill>
          <a:ln>
            <a:noFill/>
          </a:ln>
        </p:spPr>
        <p:txBody>
          <a:bodyPr rtlCol="0" anchor="ctr"/>
          <a:lstStyle/>
          <a:p>
            <a:pPr algn="ctr"/>
          </a:p>
        </p:txBody>
      </p:sp>
      <p:sp>
        <p:nvSpPr>
          <p:cNvPr id="61" name="Rounded Rectangle 60"/>
          <p:cNvSpPr/>
          <p:nvPr/>
        </p:nvSpPr>
        <p:spPr>
          <a:xfrm>
            <a:off x="966600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Staff sign-ups</a:t>
            </a:r>
          </a:p>
          <a:p>
            <a:pPr algn="ctr"/>
            <a:r>
              <a:rPr sz="850" b="0" i="0">
                <a:solidFill>
                  <a:srgbClr val="002368"/>
                </a:solidFill>
                <a:latin typeface="Arial"/>
              </a:rPr>
              <a:t>code EMP</a:t>
            </a:r>
          </a:p>
        </p:txBody>
      </p:sp>
      <p:sp>
        <p:nvSpPr>
          <p:cNvPr id="62" name="Chevron 61"/>
          <p:cNvSpPr/>
          <p:nvPr/>
        </p:nvSpPr>
        <p:spPr>
          <a:xfrm>
            <a:off x="10602867" y="4375403"/>
            <a:ext cx="100584" cy="201168"/>
          </a:xfrm>
          <a:prstGeom prst="chevron">
            <a:avLst>
              <a:gd name="adj" fmla="val 55000"/>
            </a:avLst>
          </a:prstGeom>
          <a:solidFill>
            <a:srgbClr val="80BFEC"/>
          </a:solidFill>
          <a:ln>
            <a:noFill/>
          </a:ln>
        </p:spPr>
        <p:txBody>
          <a:bodyPr rtlCol="0" anchor="ctr"/>
          <a:lstStyle/>
          <a:p>
            <a:pPr algn="ctr"/>
          </a:p>
        </p:txBody>
      </p:sp>
      <p:sp>
        <p:nvSpPr>
          <p:cNvPr id="63" name="Rounded Rectangle 62"/>
          <p:cNvSpPr/>
          <p:nvPr/>
        </p:nvSpPr>
        <p:spPr>
          <a:xfrm>
            <a:off x="1076288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64" name="Rounded Rectangle 63"/>
          <p:cNvSpPr/>
          <p:nvPr/>
        </p:nvSpPr>
        <p:spPr>
          <a:xfrm>
            <a:off x="2075688" y="5202936"/>
            <a:ext cx="3961180"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 next window or HAT, APHFTA, CTI, TAHA</a:t>
            </a:r>
          </a:p>
        </p:txBody>
      </p:sp>
      <p:sp>
        <p:nvSpPr>
          <p:cNvPr id="65" name="Rounded Rectangle 64"/>
          <p:cNvSpPr/>
          <p:nvPr/>
        </p:nvSpPr>
        <p:spPr>
          <a:xfrm>
            <a:off x="6174028" y="5202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66" name="TextBox 65"/>
          <p:cNvSpPr txBox="1"/>
          <p:nvPr/>
        </p:nvSpPr>
        <p:spPr>
          <a:xfrm>
            <a:off x="7487107" y="5202936"/>
            <a:ext cx="4153204" cy="292608"/>
          </a:xfrm>
          <a:prstGeom prst="rect">
            <a:avLst/>
          </a:prstGeom>
          <a:noFill/>
        </p:spPr>
        <p:txBody>
          <a:bodyPr wrap="square" lIns="0" tIns="0" rIns="0" bIns="0" anchor="ctr">
            <a:spAutoFit/>
          </a:bodyPr>
          <a:lstStyle/>
          <a:p>
            <a:pPr algn="l"/>
            <a:r>
              <a:rPr sz="900" b="0" i="0">
                <a:solidFill>
                  <a:srgbClr val="818283"/>
                </a:solidFill>
                <a:latin typeface="Arial"/>
              </a:rPr>
              <a:t>340 have no email: the front-desk call comes first</a:t>
            </a:r>
          </a:p>
        </p:txBody>
      </p:sp>
      <p:sp>
        <p:nvSpPr>
          <p:cNvPr id="67" name="TextBox 66"/>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Kiswahili first for factory, farm and retail staff. Clinics get the pack. Never promise transport. Secure sites need the employer's clearance.</a:t>
            </a:r>
          </a:p>
        </p:txBody>
      </p:sp>
      <p:pic>
        <p:nvPicPr>
          <p:cNvPr id="68" name="Picture 67" descr="image3.png"/>
          <p:cNvPicPr>
            <a:picLocks noChangeAspect="1"/>
          </p:cNvPicPr>
          <p:nvPr/>
        </p:nvPicPr>
        <p:blipFill>
          <a:blip r:embed="rId2"/>
          <a:stretch>
            <a:fillRect/>
          </a:stretch>
        </p:blipFill>
        <p:spPr>
          <a:xfrm>
            <a:off x="548640" y="6272784"/>
            <a:ext cx="1143000" cy="274320"/>
          </a:xfrm>
          <a:prstGeom prst="rect">
            <a:avLst/>
          </a:prstGeom>
        </p:spPr>
      </p:pic>
      <p:sp>
        <p:nvSpPr>
          <p:cNvPr id="69"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70"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lead databases, October 2026</a:t>
            </a:r>
          </a:p>
        </p:txBody>
      </p:sp>
      <p:sp>
        <p:nvSpPr>
          <p:cNvPr id="7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E3 and E4</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FOR APPROVAL</a:t>
            </a:r>
          </a:p>
        </p:txBody>
      </p:sp>
      <p:sp>
        <p:nvSpPr>
          <p:cNvPr id="5" name="Rounded Rectangle 4"/>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7" name="Rounded Rectangle 6"/>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8" name="TextBox 7"/>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9" name="Hexagon 8"/>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10" name="TextBox 9"/>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1" name="Rounded Rectangle 10"/>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2" name="TextBox 11"/>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3" name="Rounded Rectangle 12"/>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4" name="TextBox 13"/>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5" name="Rounded Rectangle 14"/>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6" name="TextBox 15"/>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7" name="Rounded Rectangle 16"/>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8" name="TextBox 17"/>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9" name="TextBox 18"/>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E3</a:t>
            </a:r>
          </a:p>
        </p:txBody>
      </p:sp>
      <p:sp>
        <p:nvSpPr>
          <p:cNvPr id="20" name="TextBox 19"/>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Office-based employers with HR</a:t>
            </a:r>
          </a:p>
        </p:txBody>
      </p:sp>
      <p:sp>
        <p:nvSpPr>
          <p:cNvPr id="21" name="TextBox 20"/>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Banks 87, NGOs 62, colleges 23, international organisations 10 · 182 (126)</a:t>
            </a:r>
          </a:p>
        </p:txBody>
      </p:sp>
      <p:sp>
        <p:nvSpPr>
          <p:cNvPr id="22" name="Rounded Rectangle 21"/>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Attn to HR or redirect</a:t>
            </a:r>
          </a:p>
        </p:txBody>
      </p:sp>
      <p:sp>
        <p:nvSpPr>
          <p:cNvPr id="23" name="Chevron 22"/>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p>
        </p:txBody>
      </p:sp>
      <p:sp>
        <p:nvSpPr>
          <p:cNvPr id="24" name="Rounded Rectangle 23"/>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25" name="Chevron 24"/>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p>
        </p:txBody>
      </p:sp>
      <p:sp>
        <p:nvSpPr>
          <p:cNvPr id="26" name="Rounded Rectangle 25"/>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HR or MD: meeting checklist</a:t>
            </a:r>
          </a:p>
        </p:txBody>
      </p:sp>
      <p:sp>
        <p:nvSpPr>
          <p:cNvPr id="27" name="Chevron 26"/>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p>
        </p:txBody>
      </p:sp>
      <p:sp>
        <p:nvSpPr>
          <p:cNvPr id="28" name="Hexagon 27"/>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Session or agreement first?</a:t>
            </a:r>
          </a:p>
        </p:txBody>
      </p:sp>
      <p:sp>
        <p:nvSpPr>
          <p:cNvPr id="29" name="Chevron 28"/>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p>
        </p:txBody>
      </p:sp>
      <p:sp>
        <p:nvSpPr>
          <p:cNvPr id="30" name="Rounded Rectangle 29"/>
          <p:cNvSpPr/>
          <p:nvPr/>
        </p:nvSpPr>
        <p:spPr>
          <a:xfrm>
            <a:off x="6814178" y="1572768"/>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Session first (default): </a:t>
            </a:r>
            <a:r>
              <a:rPr sz="900" b="0" i="0">
                <a:solidFill>
                  <a:srgbClr val="002368"/>
                </a:solidFill>
                <a:latin typeface="Arial"/>
              </a:rPr>
              <a:t>S5 lunchtime session or webinar; S6 if they want terms</a:t>
            </a:r>
          </a:p>
        </p:txBody>
      </p:sp>
      <p:sp>
        <p:nvSpPr>
          <p:cNvPr id="31" name="Rounded Rectangle 30"/>
          <p:cNvSpPr/>
          <p:nvPr/>
        </p:nvSpPr>
        <p:spPr>
          <a:xfrm>
            <a:off x="6814178" y="2221991"/>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Agreement first: </a:t>
            </a:r>
            <a:r>
              <a:rPr sz="900" b="0" i="0">
                <a:solidFill>
                  <a:srgbClr val="002368"/>
                </a:solidFill>
                <a:latin typeface="Arial"/>
              </a:rPr>
              <a:t>S6 benefit proposal, Coord + Finance</a:t>
            </a:r>
          </a:p>
        </p:txBody>
      </p:sp>
      <p:sp>
        <p:nvSpPr>
          <p:cNvPr id="32" name="Chevron 31"/>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p>
        </p:txBody>
      </p:sp>
      <p:sp>
        <p:nvSpPr>
          <p:cNvPr id="33" name="Rounded Rectangle 32"/>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circulation, or agreement signed by the CEO</a:t>
            </a:r>
          </a:p>
        </p:txBody>
      </p:sp>
      <p:sp>
        <p:nvSpPr>
          <p:cNvPr id="34" name="Chevron 33"/>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p>
        </p:txBody>
      </p:sp>
      <p:sp>
        <p:nvSpPr>
          <p:cNvPr id="35" name="Rounded Rectangle 34"/>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Staff sign-ups</a:t>
            </a:r>
          </a:p>
          <a:p>
            <a:pPr algn="ctr"/>
            <a:r>
              <a:rPr sz="850" b="0" i="0">
                <a:solidFill>
                  <a:srgbClr val="002368"/>
                </a:solidFill>
                <a:latin typeface="Arial"/>
              </a:rPr>
              <a:t>launch session if agreement first</a:t>
            </a:r>
          </a:p>
        </p:txBody>
      </p:sp>
      <p:sp>
        <p:nvSpPr>
          <p:cNvPr id="36" name="Chevron 35"/>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p>
        </p:txBody>
      </p:sp>
      <p:sp>
        <p:nvSpPr>
          <p:cNvPr id="37" name="Rounded Rectangle 36"/>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38" name="Rounded Rectangle 37"/>
          <p:cNvSpPr/>
          <p:nvPr/>
        </p:nvSpPr>
        <p:spPr>
          <a:xfrm>
            <a:off x="2075688" y="2916936"/>
            <a:ext cx="3368649"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at S2, S5, S6 → Dormant · TBA or chamber</a:t>
            </a:r>
          </a:p>
        </p:txBody>
      </p:sp>
      <p:sp>
        <p:nvSpPr>
          <p:cNvPr id="39" name="Rounded Rectangle 38"/>
          <p:cNvSpPr/>
          <p:nvPr/>
        </p:nvSpPr>
        <p:spPr>
          <a:xfrm>
            <a:off x="5581497" y="2916936"/>
            <a:ext cx="1920239"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at S3 or S6 → SX</a:t>
            </a:r>
          </a:p>
        </p:txBody>
      </p:sp>
      <p:sp>
        <p:nvSpPr>
          <p:cNvPr id="40" name="TextBox 39"/>
          <p:cNvSpPr txBox="1"/>
          <p:nvPr/>
        </p:nvSpPr>
        <p:spPr>
          <a:xfrm>
            <a:off x="7684617" y="2916936"/>
            <a:ext cx="3955694" cy="292608"/>
          </a:xfrm>
          <a:prstGeom prst="rect">
            <a:avLst/>
          </a:prstGeom>
          <a:noFill/>
        </p:spPr>
        <p:txBody>
          <a:bodyPr wrap="square" lIns="0" tIns="0" rIns="0" bIns="0" anchor="ctr">
            <a:spAutoFit/>
          </a:bodyPr>
          <a:lstStyle/>
          <a:p>
            <a:pPr algn="l"/>
            <a:r>
              <a:rPr sz="900" b="0" i="0">
                <a:solidFill>
                  <a:srgbClr val="818283"/>
                </a:solidFill>
                <a:latin typeface="Arial"/>
              </a:rPr>
              <a:t>Head-office approval for branch networks; incentive only at S6</a:t>
            </a:r>
          </a:p>
        </p:txBody>
      </p:sp>
      <p:sp>
        <p:nvSpPr>
          <p:cNvPr id="41" name="TextBox 40"/>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Banks circulate through the intranet or payslips. NGOs: local staff only, one deal per organisation. Colleges: staff welfare, never student admissions. International bodies: the staff association.</a:t>
            </a:r>
          </a:p>
        </p:txBody>
      </p:sp>
      <p:cxnSp>
        <p:nvCxnSpPr>
          <p:cNvPr id="42" name="Connector 41"/>
          <p:cNvCxnSpPr/>
          <p:nvPr/>
        </p:nvCxnSpPr>
        <p:spPr>
          <a:xfrm>
            <a:off x="548640" y="3730752"/>
            <a:ext cx="11091672" cy="0"/>
          </a:xfrm>
          <a:prstGeom prst="line">
            <a:avLst/>
          </a:prstGeom>
          <a:ln w="9525">
            <a:solidFill>
              <a:srgbClr val="ECECEC"/>
            </a:solidFill>
          </a:ln>
        </p:spPr>
      </p:cxnSp>
      <p:sp>
        <p:nvSpPr>
          <p:cNvPr id="43" name="TextBox 42"/>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E4</a:t>
            </a:r>
          </a:p>
        </p:txBody>
      </p:sp>
      <p:sp>
        <p:nvSpPr>
          <p:cNvPr id="44" name="TextBox 43"/>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Public bodies</a:t>
            </a:r>
          </a:p>
        </p:txBody>
      </p:sp>
      <p:sp>
        <p:nvSpPr>
          <p:cNvPr id="45" name="TextBox 44"/>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Agencies, authorities and parastatals, as employers only · 19 (12), all P3</a:t>
            </a:r>
          </a:p>
        </p:txBody>
      </p:sp>
      <p:sp>
        <p:nvSpPr>
          <p:cNvPr id="46" name="Hexagon 45"/>
          <p:cNvSpPr/>
          <p:nvPr/>
        </p:nvSpPr>
        <p:spPr>
          <a:xfrm>
            <a:off x="2075688" y="4041648"/>
            <a:ext cx="117694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Compliance check</a:t>
            </a:r>
          </a:p>
          <a:p>
            <a:pPr algn="ctr"/>
            <a:r>
              <a:rPr sz="850" b="0" i="0">
                <a:solidFill>
                  <a:srgbClr val="002368"/>
                </a:solidFill>
                <a:latin typeface="Arial"/>
              </a:rPr>
              <a:t>CEO or a named lead</a:t>
            </a:r>
          </a:p>
        </p:txBody>
      </p:sp>
      <p:sp>
        <p:nvSpPr>
          <p:cNvPr id="47" name="Chevron 46"/>
          <p:cNvSpPr/>
          <p:nvPr/>
        </p:nvSpPr>
        <p:spPr>
          <a:xfrm>
            <a:off x="3312066" y="4375403"/>
            <a:ext cx="100584" cy="201168"/>
          </a:xfrm>
          <a:prstGeom prst="chevron">
            <a:avLst>
              <a:gd name="adj" fmla="val 55000"/>
            </a:avLst>
          </a:prstGeom>
          <a:solidFill>
            <a:srgbClr val="80BFEC"/>
          </a:solidFill>
          <a:ln>
            <a:noFill/>
          </a:ln>
        </p:spPr>
        <p:txBody>
          <a:bodyPr rtlCol="0" anchor="ctr"/>
          <a:lstStyle/>
          <a:p>
            <a:pPr algn="ctr"/>
          </a:p>
        </p:txBody>
      </p:sp>
      <p:sp>
        <p:nvSpPr>
          <p:cNvPr id="48" name="Rounded Rectangle 47"/>
          <p:cNvSpPr/>
          <p:nvPr/>
        </p:nvSpPr>
        <p:spPr>
          <a:xfrm>
            <a:off x="3472086" y="4041648"/>
            <a:ext cx="840673" cy="868680"/>
          </a:xfrm>
          <a:prstGeom prst="roundRect">
            <a:avLst>
              <a:gd name="adj" fmla="val 7613"/>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Attn to the HR head</a:t>
            </a:r>
          </a:p>
        </p:txBody>
      </p:sp>
      <p:sp>
        <p:nvSpPr>
          <p:cNvPr id="49" name="Chevron 48"/>
          <p:cNvSpPr/>
          <p:nvPr/>
        </p:nvSpPr>
        <p:spPr>
          <a:xfrm>
            <a:off x="4372196" y="4375403"/>
            <a:ext cx="100584" cy="201168"/>
          </a:xfrm>
          <a:prstGeom prst="chevron">
            <a:avLst>
              <a:gd name="adj" fmla="val 55000"/>
            </a:avLst>
          </a:prstGeom>
          <a:solidFill>
            <a:srgbClr val="80BFEC"/>
          </a:solidFill>
          <a:ln>
            <a:noFill/>
          </a:ln>
        </p:spPr>
        <p:txBody>
          <a:bodyPr rtlCol="0" anchor="ctr"/>
          <a:lstStyle/>
          <a:p>
            <a:pPr algn="ctr"/>
          </a:p>
        </p:txBody>
      </p:sp>
      <p:sp>
        <p:nvSpPr>
          <p:cNvPr id="50" name="Rounded Rectangle 49"/>
          <p:cNvSpPr/>
          <p:nvPr/>
        </p:nvSpPr>
        <p:spPr>
          <a:xfrm>
            <a:off x="4532216" y="4041648"/>
            <a:ext cx="840673" cy="868680"/>
          </a:xfrm>
          <a:prstGeom prst="roundRect">
            <a:avLst>
              <a:gd name="adj" fmla="val 7613"/>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51" name="Chevron 50"/>
          <p:cNvSpPr/>
          <p:nvPr/>
        </p:nvSpPr>
        <p:spPr>
          <a:xfrm>
            <a:off x="5432325" y="4375403"/>
            <a:ext cx="100584" cy="201168"/>
          </a:xfrm>
          <a:prstGeom prst="chevron">
            <a:avLst>
              <a:gd name="adj" fmla="val 55000"/>
            </a:avLst>
          </a:prstGeom>
          <a:solidFill>
            <a:srgbClr val="80BFEC"/>
          </a:solidFill>
          <a:ln>
            <a:noFill/>
          </a:ln>
        </p:spPr>
        <p:txBody>
          <a:bodyPr rtlCol="0" anchor="ctr"/>
          <a:lstStyle/>
          <a:p>
            <a:pPr algn="ctr"/>
          </a:p>
        </p:txBody>
      </p:sp>
      <p:sp>
        <p:nvSpPr>
          <p:cNvPr id="52" name="Rounded Rectangle 51"/>
          <p:cNvSpPr/>
          <p:nvPr/>
        </p:nvSpPr>
        <p:spPr>
          <a:xfrm>
            <a:off x="5592345" y="4041648"/>
            <a:ext cx="840673" cy="868680"/>
          </a:xfrm>
          <a:prstGeom prst="roundRect">
            <a:avLst>
              <a:gd name="adj" fmla="val 7613"/>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 with HR</a:t>
            </a:r>
          </a:p>
          <a:p>
            <a:pPr algn="ctr"/>
            <a:r>
              <a:rPr sz="850" b="0" i="0">
                <a:solidFill>
                  <a:srgbClr val="002368"/>
                </a:solidFill>
                <a:latin typeface="Arial"/>
              </a:rPr>
              <a:t>meeting checklist</a:t>
            </a:r>
          </a:p>
        </p:txBody>
      </p:sp>
      <p:sp>
        <p:nvSpPr>
          <p:cNvPr id="53" name="Chevron 52"/>
          <p:cNvSpPr/>
          <p:nvPr/>
        </p:nvSpPr>
        <p:spPr>
          <a:xfrm>
            <a:off x="6492455" y="4375403"/>
            <a:ext cx="100584" cy="201168"/>
          </a:xfrm>
          <a:prstGeom prst="chevron">
            <a:avLst>
              <a:gd name="adj" fmla="val 55000"/>
            </a:avLst>
          </a:prstGeom>
          <a:solidFill>
            <a:srgbClr val="80BFEC"/>
          </a:solidFill>
          <a:ln>
            <a:noFill/>
          </a:ln>
        </p:spPr>
        <p:txBody>
          <a:bodyPr rtlCol="0" anchor="ctr"/>
          <a:lstStyle/>
          <a:p>
            <a:pPr algn="ctr"/>
          </a:p>
        </p:txBody>
      </p:sp>
      <p:sp>
        <p:nvSpPr>
          <p:cNvPr id="54" name="Hexagon 53"/>
          <p:cNvSpPr/>
          <p:nvPr/>
        </p:nvSpPr>
        <p:spPr>
          <a:xfrm>
            <a:off x="6652475" y="4041648"/>
            <a:ext cx="117694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HR approval</a:t>
            </a:r>
          </a:p>
          <a:p>
            <a:pPr algn="ctr"/>
            <a:r>
              <a:rPr sz="850" b="0" i="0">
                <a:solidFill>
                  <a:srgbClr val="002368"/>
                </a:solidFill>
                <a:latin typeface="Arial"/>
              </a:rPr>
              <a:t>head of the body</a:t>
            </a:r>
          </a:p>
        </p:txBody>
      </p:sp>
      <p:sp>
        <p:nvSpPr>
          <p:cNvPr id="55" name="Chevron 54"/>
          <p:cNvSpPr/>
          <p:nvPr/>
        </p:nvSpPr>
        <p:spPr>
          <a:xfrm>
            <a:off x="7888854" y="4375403"/>
            <a:ext cx="100584" cy="201168"/>
          </a:xfrm>
          <a:prstGeom prst="chevron">
            <a:avLst>
              <a:gd name="adj" fmla="val 55000"/>
            </a:avLst>
          </a:prstGeom>
          <a:solidFill>
            <a:srgbClr val="80BFEC"/>
          </a:solidFill>
          <a:ln>
            <a:noFill/>
          </a:ln>
        </p:spPr>
        <p:txBody>
          <a:bodyPr rtlCol="0" anchor="ctr"/>
          <a:lstStyle/>
          <a:p>
            <a:pPr algn="ctr"/>
          </a:p>
        </p:txBody>
      </p:sp>
      <p:sp>
        <p:nvSpPr>
          <p:cNvPr id="56" name="Rounded Rectangle 55"/>
          <p:cNvSpPr/>
          <p:nvPr/>
        </p:nvSpPr>
        <p:spPr>
          <a:xfrm>
            <a:off x="8048874" y="3858768"/>
            <a:ext cx="1471178"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Circular first: </a:t>
            </a:r>
            <a:r>
              <a:rPr sz="900" b="0" i="0">
                <a:solidFill>
                  <a:srgbClr val="002368"/>
                </a:solidFill>
                <a:latin typeface="Arial"/>
              </a:rPr>
              <a:t>S5 staff session or webinar</a:t>
            </a:r>
          </a:p>
        </p:txBody>
      </p:sp>
      <p:sp>
        <p:nvSpPr>
          <p:cNvPr id="57" name="Rounded Rectangle 56"/>
          <p:cNvSpPr/>
          <p:nvPr/>
        </p:nvSpPr>
        <p:spPr>
          <a:xfrm>
            <a:off x="8048874" y="4507992"/>
            <a:ext cx="1471178"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MOU first: </a:t>
            </a:r>
            <a:r>
              <a:rPr sz="900" b="0" i="0">
                <a:solidFill>
                  <a:srgbClr val="002368"/>
                </a:solidFill>
                <a:latin typeface="Arial"/>
              </a:rPr>
              <a:t>S6 MOU draft, Coord + Finance</a:t>
            </a:r>
          </a:p>
        </p:txBody>
      </p:sp>
      <p:sp>
        <p:nvSpPr>
          <p:cNvPr id="58" name="Chevron 57"/>
          <p:cNvSpPr/>
          <p:nvPr/>
        </p:nvSpPr>
        <p:spPr>
          <a:xfrm>
            <a:off x="9579488" y="4375403"/>
            <a:ext cx="100584" cy="201168"/>
          </a:xfrm>
          <a:prstGeom prst="chevron">
            <a:avLst>
              <a:gd name="adj" fmla="val 55000"/>
            </a:avLst>
          </a:prstGeom>
          <a:solidFill>
            <a:srgbClr val="80BFEC"/>
          </a:solidFill>
          <a:ln>
            <a:noFill/>
          </a:ln>
        </p:spPr>
        <p:txBody>
          <a:bodyPr rtlCol="0" anchor="ctr"/>
          <a:lstStyle/>
          <a:p>
            <a:pPr algn="ctr"/>
          </a:p>
        </p:txBody>
      </p:sp>
      <p:sp>
        <p:nvSpPr>
          <p:cNvPr id="59" name="Rounded Rectangle 58"/>
          <p:cNvSpPr/>
          <p:nvPr/>
        </p:nvSpPr>
        <p:spPr>
          <a:xfrm>
            <a:off x="9739508" y="4041648"/>
            <a:ext cx="840673" cy="868680"/>
          </a:xfrm>
          <a:prstGeom prst="roundRect">
            <a:avLst>
              <a:gd name="adj" fmla="val 7613"/>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HR circular or signed MOU</a:t>
            </a:r>
          </a:p>
        </p:txBody>
      </p:sp>
      <p:sp>
        <p:nvSpPr>
          <p:cNvPr id="60" name="Chevron 59"/>
          <p:cNvSpPr/>
          <p:nvPr/>
        </p:nvSpPr>
        <p:spPr>
          <a:xfrm>
            <a:off x="10639618" y="4375403"/>
            <a:ext cx="100584" cy="201168"/>
          </a:xfrm>
          <a:prstGeom prst="chevron">
            <a:avLst>
              <a:gd name="adj" fmla="val 55000"/>
            </a:avLst>
          </a:prstGeom>
          <a:solidFill>
            <a:srgbClr val="80BFEC"/>
          </a:solidFill>
          <a:ln>
            <a:noFill/>
          </a:ln>
        </p:spPr>
        <p:txBody>
          <a:bodyPr rtlCol="0" anchor="ctr"/>
          <a:lstStyle/>
          <a:p>
            <a:pPr algn="ctr"/>
          </a:p>
        </p:txBody>
      </p:sp>
      <p:sp>
        <p:nvSpPr>
          <p:cNvPr id="61" name="Rounded Rectangle 60"/>
          <p:cNvSpPr/>
          <p:nvPr/>
        </p:nvSpPr>
        <p:spPr>
          <a:xfrm>
            <a:off x="10799638" y="4041648"/>
            <a:ext cx="840673" cy="868680"/>
          </a:xfrm>
          <a:prstGeom prst="roundRect">
            <a:avLst>
              <a:gd name="adj" fmla="val 7613"/>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Sign-ups</a:t>
            </a:r>
          </a:p>
          <a:p>
            <a:pPr algn="ctr"/>
            <a:r>
              <a:rPr sz="850" b="0" i="0">
                <a:solidFill>
                  <a:srgbClr val="002368"/>
                </a:solidFill>
                <a:latin typeface="Arial"/>
              </a:rPr>
              <a:t>parent funnel, code EMP</a:t>
            </a:r>
          </a:p>
        </p:txBody>
      </p:sp>
      <p:sp>
        <p:nvSpPr>
          <p:cNvPr id="62" name="Rounded Rectangle 61"/>
          <p:cNvSpPr/>
          <p:nvPr/>
        </p:nvSpPr>
        <p:spPr>
          <a:xfrm>
            <a:off x="2075688" y="5202936"/>
            <a:ext cx="3500323"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Check fails or HR refuses → SX compliance_blocked</a:t>
            </a:r>
          </a:p>
        </p:txBody>
      </p:sp>
      <p:sp>
        <p:nvSpPr>
          <p:cNvPr id="63" name="Rounded Rectangle 62"/>
          <p:cNvSpPr/>
          <p:nvPr/>
        </p:nvSpPr>
        <p:spPr>
          <a:xfrm>
            <a:off x="5713171" y="5202936"/>
            <a:ext cx="1327708"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a:t>
            </a:r>
          </a:p>
        </p:txBody>
      </p:sp>
      <p:sp>
        <p:nvSpPr>
          <p:cNvPr id="64" name="TextBox 63"/>
          <p:cNvSpPr txBox="1"/>
          <p:nvPr/>
        </p:nvSpPr>
        <p:spPr>
          <a:xfrm>
            <a:off x="7223759" y="5202936"/>
            <a:ext cx="4416552" cy="292608"/>
          </a:xfrm>
          <a:prstGeom prst="rect">
            <a:avLst/>
          </a:prstGeom>
          <a:noFill/>
        </p:spPr>
        <p:txBody>
          <a:bodyPr wrap="square" lIns="0" tIns="0" rIns="0" bIns="0" anchor="ctr">
            <a:spAutoFit/>
          </a:bodyPr>
          <a:lstStyle/>
          <a:p>
            <a:pPr algn="l"/>
            <a:r>
              <a:rPr sz="900" b="0" i="0">
                <a:solidFill>
                  <a:srgbClr val="818283"/>
                </a:solidFill>
                <a:latin typeface="Arial"/>
              </a:rPr>
              <a:t>High-indirect 5 · low 6 (await the check) · call sheet 8 · 60–90 days</a:t>
            </a:r>
          </a:p>
        </p:txBody>
      </p:sp>
      <p:sp>
        <p:nvSpPr>
          <p:cNvPr id="65" name="TextBox 64"/>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Fails the check: a body that taxes, regulates, inspects or licenses Silverleaf, or has official business pending. Never an incentive; never with a request for official action (OF04).</a:t>
            </a:r>
          </a:p>
        </p:txBody>
      </p:sp>
      <p:pic>
        <p:nvPicPr>
          <p:cNvPr id="66" name="Picture 65" descr="image3.png"/>
          <p:cNvPicPr>
            <a:picLocks noChangeAspect="1"/>
          </p:cNvPicPr>
          <p:nvPr/>
        </p:nvPicPr>
        <p:blipFill>
          <a:blip r:embed="rId2"/>
          <a:stretch>
            <a:fillRect/>
          </a:stretch>
        </p:blipFill>
        <p:spPr>
          <a:xfrm>
            <a:off x="548640" y="6272784"/>
            <a:ext cx="1143000" cy="274320"/>
          </a:xfrm>
          <a:prstGeom prst="rect">
            <a:avLst/>
          </a:prstGeom>
        </p:spPr>
      </p:pic>
      <p:sp>
        <p:nvSpPr>
          <p:cNvPr id="67"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68"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lead databases, October 2026</a:t>
            </a:r>
          </a:p>
        </p:txBody>
      </p:sp>
      <p:sp>
        <p:nvSpPr>
          <p:cNvPr id="6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E5 and E6</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FOR APPROVAL</a:t>
            </a:r>
          </a:p>
        </p:txBody>
      </p:sp>
      <p:sp>
        <p:nvSpPr>
          <p:cNvPr id="5" name="Rounded Rectangle 4"/>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7" name="Rounded Rectangle 6"/>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8" name="TextBox 7"/>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9" name="Hexagon 8"/>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10" name="TextBox 9"/>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1" name="Rounded Rectangle 10"/>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2" name="TextBox 11"/>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3" name="Rounded Rectangle 12"/>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4" name="TextBox 13"/>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5" name="Rounded Rectangle 14"/>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6" name="TextBox 15"/>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7" name="Rounded Rectangle 16"/>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8" name="TextBox 17"/>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9" name="TextBox 18"/>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E5</a:t>
            </a:r>
          </a:p>
        </p:txBody>
      </p:sp>
      <p:sp>
        <p:nvSpPr>
          <p:cNvPr id="20" name="TextBox 19"/>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Sponsorship (variant A)</a:t>
            </a:r>
          </a:p>
        </p:txBody>
      </p:sp>
      <p:sp>
        <p:nvSpPr>
          <p:cNvPr id="21" name="TextBox 20"/>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Employers that publish education or community giving · 14, all safari operators</a:t>
            </a:r>
          </a:p>
        </p:txBody>
      </p:sp>
      <p:sp>
        <p:nvSpPr>
          <p:cNvPr id="22" name="Rounded Rectangle 21"/>
          <p:cNvSpPr/>
          <p:nvPr/>
        </p:nvSpPr>
        <p:spPr>
          <a:xfrm>
            <a:off x="207568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sponsorship request</a:t>
            </a:r>
          </a:p>
        </p:txBody>
      </p:sp>
      <p:sp>
        <p:nvSpPr>
          <p:cNvPr id="23" name="Chevron 22"/>
          <p:cNvSpPr/>
          <p:nvPr/>
        </p:nvSpPr>
        <p:spPr>
          <a:xfrm>
            <a:off x="3138678" y="2089404"/>
            <a:ext cx="100584" cy="201168"/>
          </a:xfrm>
          <a:prstGeom prst="chevron">
            <a:avLst>
              <a:gd name="adj" fmla="val 55000"/>
            </a:avLst>
          </a:prstGeom>
          <a:solidFill>
            <a:srgbClr val="80BFEC"/>
          </a:solidFill>
          <a:ln>
            <a:noFill/>
          </a:ln>
        </p:spPr>
        <p:txBody>
          <a:bodyPr rtlCol="0" anchor="ctr"/>
          <a:lstStyle/>
          <a:p>
            <a:pPr algn="ctr"/>
          </a:p>
        </p:txBody>
      </p:sp>
      <p:sp>
        <p:nvSpPr>
          <p:cNvPr id="24" name="Rounded Rectangle 23"/>
          <p:cNvSpPr/>
          <p:nvPr/>
        </p:nvSpPr>
        <p:spPr>
          <a:xfrm>
            <a:off x="3298698" y="1755648"/>
            <a:ext cx="100355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no offer until a reply</a:t>
            </a:r>
          </a:p>
        </p:txBody>
      </p:sp>
      <p:sp>
        <p:nvSpPr>
          <p:cNvPr id="25" name="Chevron 24"/>
          <p:cNvSpPr/>
          <p:nvPr/>
        </p:nvSpPr>
        <p:spPr>
          <a:xfrm>
            <a:off x="4361688" y="2089404"/>
            <a:ext cx="100584" cy="201168"/>
          </a:xfrm>
          <a:prstGeom prst="chevron">
            <a:avLst>
              <a:gd name="adj" fmla="val 55000"/>
            </a:avLst>
          </a:prstGeom>
          <a:solidFill>
            <a:srgbClr val="80BFEC"/>
          </a:solidFill>
          <a:ln>
            <a:noFill/>
          </a:ln>
        </p:spPr>
        <p:txBody>
          <a:bodyPr rtlCol="0" anchor="ctr"/>
          <a:lstStyle/>
          <a:p>
            <a:pPr algn="ctr"/>
          </a:p>
        </p:txBody>
      </p:sp>
      <p:sp>
        <p:nvSpPr>
          <p:cNvPr id="26" name="Rounded Rectangle 25"/>
          <p:cNvSpPr/>
          <p:nvPr/>
        </p:nvSpPr>
        <p:spPr>
          <a:xfrm>
            <a:off x="452170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school and students</a:t>
            </a:r>
          </a:p>
        </p:txBody>
      </p:sp>
      <p:sp>
        <p:nvSpPr>
          <p:cNvPr id="27" name="Chevron 26"/>
          <p:cNvSpPr/>
          <p:nvPr/>
        </p:nvSpPr>
        <p:spPr>
          <a:xfrm>
            <a:off x="5584698" y="2089404"/>
            <a:ext cx="100584" cy="201168"/>
          </a:xfrm>
          <a:prstGeom prst="chevron">
            <a:avLst>
              <a:gd name="adj" fmla="val 55000"/>
            </a:avLst>
          </a:prstGeom>
          <a:solidFill>
            <a:srgbClr val="80BFEC"/>
          </a:solidFill>
          <a:ln>
            <a:noFill/>
          </a:ln>
        </p:spPr>
        <p:txBody>
          <a:bodyPr rtlCol="0" anchor="ctr"/>
          <a:lstStyle/>
          <a:p>
            <a:pPr algn="ctr"/>
          </a:p>
        </p:txBody>
      </p:sp>
      <p:sp>
        <p:nvSpPr>
          <p:cNvPr id="28" name="Rounded Rectangle 27"/>
          <p:cNvSpPr/>
          <p:nvPr/>
        </p:nvSpPr>
        <p:spPr>
          <a:xfrm>
            <a:off x="574471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S6 Sponsorship proposal</a:t>
            </a:r>
          </a:p>
          <a:p>
            <a:pPr algn="ctr"/>
            <a:r>
              <a:rPr sz="850" b="0" i="0">
                <a:solidFill>
                  <a:srgbClr val="002368"/>
                </a:solidFill>
                <a:latin typeface="Arial"/>
              </a:rPr>
              <a:t>Coord + Finance: amount, students, term</a:t>
            </a:r>
          </a:p>
        </p:txBody>
      </p:sp>
      <p:sp>
        <p:nvSpPr>
          <p:cNvPr id="29" name="Chevron 28"/>
          <p:cNvSpPr/>
          <p:nvPr/>
        </p:nvSpPr>
        <p:spPr>
          <a:xfrm>
            <a:off x="6807708" y="2089404"/>
            <a:ext cx="100584" cy="201168"/>
          </a:xfrm>
          <a:prstGeom prst="chevron">
            <a:avLst>
              <a:gd name="adj" fmla="val 55000"/>
            </a:avLst>
          </a:prstGeom>
          <a:solidFill>
            <a:srgbClr val="80BFEC"/>
          </a:solidFill>
          <a:ln>
            <a:noFill/>
          </a:ln>
        </p:spPr>
        <p:txBody>
          <a:bodyPr rtlCol="0" anchor="ctr"/>
          <a:lstStyle/>
          <a:p>
            <a:pPr algn="ctr"/>
          </a:p>
        </p:txBody>
      </p:sp>
      <p:sp>
        <p:nvSpPr>
          <p:cNvPr id="30" name="Rounded Rectangle 29"/>
          <p:cNvSpPr/>
          <p:nvPr/>
        </p:nvSpPr>
        <p:spPr>
          <a:xfrm>
            <a:off x="6967728" y="1755648"/>
            <a:ext cx="100355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sponsorship agreement, CEO signs</a:t>
            </a:r>
          </a:p>
        </p:txBody>
      </p:sp>
      <p:sp>
        <p:nvSpPr>
          <p:cNvPr id="31" name="Chevron 30"/>
          <p:cNvSpPr/>
          <p:nvPr/>
        </p:nvSpPr>
        <p:spPr>
          <a:xfrm>
            <a:off x="8030718" y="2089404"/>
            <a:ext cx="100584" cy="201168"/>
          </a:xfrm>
          <a:prstGeom prst="chevron">
            <a:avLst>
              <a:gd name="adj" fmla="val 55000"/>
            </a:avLst>
          </a:prstGeom>
          <a:solidFill>
            <a:srgbClr val="80BFEC"/>
          </a:solidFill>
          <a:ln>
            <a:noFill/>
          </a:ln>
        </p:spPr>
        <p:txBody>
          <a:bodyPr rtlCol="0" anchor="ctr"/>
          <a:lstStyle/>
          <a:p>
            <a:pPr algn="ctr"/>
          </a:p>
        </p:txBody>
      </p:sp>
      <p:sp>
        <p:nvSpPr>
          <p:cNvPr id="32" name="Rounded Rectangle 31"/>
          <p:cNvSpPr/>
          <p:nvPr/>
        </p:nvSpPr>
        <p:spPr>
          <a:xfrm>
            <a:off x="8190738" y="1755648"/>
            <a:ext cx="100355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Students chosen</a:t>
            </a:r>
          </a:p>
          <a:p>
            <a:pPr algn="ctr"/>
            <a:r>
              <a:rPr sz="850" b="0" i="0">
                <a:solidFill>
                  <a:srgbClr val="002368"/>
                </a:solidFill>
                <a:latin typeface="Arial"/>
              </a:rPr>
              <a:t>by admissions, not the sponsor</a:t>
            </a:r>
          </a:p>
        </p:txBody>
      </p:sp>
      <p:sp>
        <p:nvSpPr>
          <p:cNvPr id="33" name="Chevron 32"/>
          <p:cNvSpPr/>
          <p:nvPr/>
        </p:nvSpPr>
        <p:spPr>
          <a:xfrm>
            <a:off x="9253728" y="2089404"/>
            <a:ext cx="100584" cy="201168"/>
          </a:xfrm>
          <a:prstGeom prst="chevron">
            <a:avLst>
              <a:gd name="adj" fmla="val 55000"/>
            </a:avLst>
          </a:prstGeom>
          <a:solidFill>
            <a:srgbClr val="80BFEC"/>
          </a:solidFill>
          <a:ln>
            <a:noFill/>
          </a:ln>
        </p:spPr>
        <p:txBody>
          <a:bodyPr rtlCol="0" anchor="ctr"/>
          <a:lstStyle/>
          <a:p>
            <a:pPr algn="ctr"/>
          </a:p>
        </p:txBody>
      </p:sp>
      <p:sp>
        <p:nvSpPr>
          <p:cNvPr id="34" name="Rounded Rectangle 33"/>
          <p:cNvSpPr/>
          <p:nvPr/>
        </p:nvSpPr>
        <p:spPr>
          <a:xfrm>
            <a:off x="9413748" y="1755648"/>
            <a:ext cx="100355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Enrolment</a:t>
            </a:r>
          </a:p>
          <a:p>
            <a:pPr algn="ctr"/>
            <a:r>
              <a:rPr sz="850" b="0" i="0">
                <a:solidFill>
                  <a:srgbClr val="002368"/>
                </a:solidFill>
                <a:latin typeface="Arial"/>
              </a:rPr>
              <a:t>sponsored students</a:t>
            </a:r>
          </a:p>
        </p:txBody>
      </p:sp>
      <p:sp>
        <p:nvSpPr>
          <p:cNvPr id="35" name="Chevron 34"/>
          <p:cNvSpPr/>
          <p:nvPr/>
        </p:nvSpPr>
        <p:spPr>
          <a:xfrm>
            <a:off x="10476738" y="2089404"/>
            <a:ext cx="100584" cy="201168"/>
          </a:xfrm>
          <a:prstGeom prst="chevron">
            <a:avLst>
              <a:gd name="adj" fmla="val 55000"/>
            </a:avLst>
          </a:prstGeom>
          <a:solidFill>
            <a:srgbClr val="80BFEC"/>
          </a:solidFill>
          <a:ln>
            <a:noFill/>
          </a:ln>
        </p:spPr>
        <p:txBody>
          <a:bodyPr rtlCol="0" anchor="ctr"/>
          <a:lstStyle/>
          <a:p>
            <a:pPr algn="ctr"/>
          </a:p>
        </p:txBody>
      </p:sp>
      <p:sp>
        <p:nvSpPr>
          <p:cNvPr id="36" name="Rounded Rectangle 35"/>
          <p:cNvSpPr/>
          <p:nvPr/>
        </p:nvSpPr>
        <p:spPr>
          <a:xfrm>
            <a:off x="1063675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Reporting, renewal</a:t>
            </a:r>
          </a:p>
          <a:p>
            <a:pPr algn="ctr"/>
            <a:r>
              <a:rPr sz="850" b="0" i="0">
                <a:solidFill>
                  <a:srgbClr val="002368"/>
                </a:solidFill>
                <a:latin typeface="Arial"/>
              </a:rPr>
              <a:t>totals unless the family consents</a:t>
            </a:r>
          </a:p>
        </p:txBody>
      </p:sp>
      <p:sp>
        <p:nvSpPr>
          <p:cNvPr id="37" name="Rounded Rectangle 36"/>
          <p:cNvSpPr/>
          <p:nvPr/>
        </p:nvSpPr>
        <p:spPr>
          <a:xfrm>
            <a:off x="2075688" y="2916936"/>
            <a:ext cx="2117750"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at S2 or S6 → Dormant</a:t>
            </a:r>
          </a:p>
        </p:txBody>
      </p:sp>
      <p:sp>
        <p:nvSpPr>
          <p:cNvPr id="38" name="Rounded Rectangle 37"/>
          <p:cNvSpPr/>
          <p:nvPr/>
        </p:nvSpPr>
        <p:spPr>
          <a:xfrm>
            <a:off x="4330598" y="2916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39" name="Rounded Rectangle 38"/>
          <p:cNvSpPr/>
          <p:nvPr/>
        </p:nvSpPr>
        <p:spPr>
          <a:xfrm>
            <a:off x="5597956" y="2916936"/>
            <a:ext cx="3368649" cy="274320"/>
          </a:xfrm>
          <a:prstGeom prst="roundRect">
            <a:avLst>
              <a:gd name="adj" fmla="val 23333"/>
            </a:avLst>
          </a:prstGeom>
          <a:solidFill>
            <a:srgbClr val="D9ECF9"/>
          </a:solidFill>
          <a:ln w="12700">
            <a:solidFill>
              <a:srgbClr val="D9ECF9"/>
            </a:solidFill>
          </a:ln>
        </p:spPr>
        <p:txBody>
          <a:bodyPr rtlCol="0" anchor="ctr" wrap="square" lIns="45720" rIns="45720" tIns="27432" bIns="27432"/>
          <a:lstStyle/>
          <a:p>
            <a:pPr algn="ctr"/>
            <a:r>
              <a:rPr sz="900" b="1" i="0">
                <a:solidFill>
                  <a:srgbClr val="002368"/>
                </a:solidFill>
                <a:latin typeface="Arial"/>
              </a:rPr>
              <a:t>One month later, optional: staff benefit via E1</a:t>
            </a:r>
          </a:p>
        </p:txBody>
      </p:sp>
      <p:sp>
        <p:nvSpPr>
          <p:cNvPr id="40" name="TextBox 39"/>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No staff session and no opt-in step. Follow-ups wait for approved sponsorship copy. The staff benefit is never bundled into the ask.</a:t>
            </a:r>
          </a:p>
        </p:txBody>
      </p:sp>
      <p:cxnSp>
        <p:nvCxnSpPr>
          <p:cNvPr id="41" name="Connector 40"/>
          <p:cNvCxnSpPr/>
          <p:nvPr/>
        </p:nvCxnSpPr>
        <p:spPr>
          <a:xfrm>
            <a:off x="548640" y="3730752"/>
            <a:ext cx="11091672" cy="0"/>
          </a:xfrm>
          <a:prstGeom prst="line">
            <a:avLst/>
          </a:prstGeom>
          <a:ln w="9525">
            <a:solidFill>
              <a:srgbClr val="ECECEC"/>
            </a:solidFill>
          </a:ln>
        </p:spPr>
      </p:cxnSp>
      <p:sp>
        <p:nvSpPr>
          <p:cNvPr id="42" name="TextBox 41"/>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E6</a:t>
            </a:r>
          </a:p>
        </p:txBody>
      </p:sp>
      <p:sp>
        <p:nvSpPr>
          <p:cNvPr id="43" name="TextBox 42"/>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Savings groups (SACCOS)</a:t>
            </a:r>
          </a:p>
        </p:txBody>
      </p:sp>
      <p:sp>
        <p:nvSpPr>
          <p:cNvPr id="44" name="TextBox 43"/>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Employer-based 48, community 67, unclassified 2 · 117 (1 ready)</a:t>
            </a:r>
          </a:p>
        </p:txBody>
      </p:sp>
      <p:sp>
        <p:nvSpPr>
          <p:cNvPr id="45" name="Hexagon 44"/>
          <p:cNvSpPr/>
          <p:nvPr/>
        </p:nvSpPr>
        <p:spPr>
          <a:xfrm>
            <a:off x="2075688" y="4041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Employer in a funnel?</a:t>
            </a:r>
          </a:p>
          <a:p>
            <a:pPr algn="ctr"/>
            <a:r>
              <a:rPr sz="850" b="0" i="0">
                <a:solidFill>
                  <a:srgbClr val="002368"/>
                </a:solidFill>
                <a:latin typeface="Arial"/>
              </a:rPr>
              <a:t>yes: join that deal</a:t>
            </a:r>
          </a:p>
        </p:txBody>
      </p:sp>
      <p:sp>
        <p:nvSpPr>
          <p:cNvPr id="46" name="Chevron 45"/>
          <p:cNvSpPr/>
          <p:nvPr/>
        </p:nvSpPr>
        <p:spPr>
          <a:xfrm>
            <a:off x="3363517" y="4375403"/>
            <a:ext cx="100584" cy="201168"/>
          </a:xfrm>
          <a:prstGeom prst="chevron">
            <a:avLst>
              <a:gd name="adj" fmla="val 55000"/>
            </a:avLst>
          </a:prstGeom>
          <a:solidFill>
            <a:srgbClr val="80BFEC"/>
          </a:solidFill>
          <a:ln>
            <a:noFill/>
          </a:ln>
        </p:spPr>
        <p:txBody>
          <a:bodyPr rtlCol="0" anchor="ctr"/>
          <a:lstStyle/>
          <a:p>
            <a:pPr algn="ctr"/>
          </a:p>
        </p:txBody>
      </p:sp>
      <p:sp>
        <p:nvSpPr>
          <p:cNvPr id="47" name="Rounded Rectangle 46"/>
          <p:cNvSpPr/>
          <p:nvPr/>
        </p:nvSpPr>
        <p:spPr>
          <a:xfrm>
            <a:off x="3523537"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Kiswahili letter or call</a:t>
            </a:r>
          </a:p>
        </p:txBody>
      </p:sp>
      <p:sp>
        <p:nvSpPr>
          <p:cNvPr id="48" name="Chevron 47"/>
          <p:cNvSpPr/>
          <p:nvPr/>
        </p:nvSpPr>
        <p:spPr>
          <a:xfrm>
            <a:off x="4460398" y="4375403"/>
            <a:ext cx="100584" cy="201168"/>
          </a:xfrm>
          <a:prstGeom prst="chevron">
            <a:avLst>
              <a:gd name="adj" fmla="val 55000"/>
            </a:avLst>
          </a:prstGeom>
          <a:solidFill>
            <a:srgbClr val="80BFEC"/>
          </a:solidFill>
          <a:ln>
            <a:noFill/>
          </a:ln>
        </p:spPr>
        <p:txBody>
          <a:bodyPr rtlCol="0" anchor="ctr"/>
          <a:lstStyle/>
          <a:p>
            <a:pPr algn="ctr"/>
          </a:p>
        </p:txBody>
      </p:sp>
      <p:sp>
        <p:nvSpPr>
          <p:cNvPr id="49" name="Rounded Rectangle 48"/>
          <p:cNvSpPr/>
          <p:nvPr/>
        </p:nvSpPr>
        <p:spPr>
          <a:xfrm>
            <a:off x="4620418" y="4041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member offer sheet</a:t>
            </a:r>
          </a:p>
        </p:txBody>
      </p:sp>
      <p:sp>
        <p:nvSpPr>
          <p:cNvPr id="50" name="Chevron 49"/>
          <p:cNvSpPr/>
          <p:nvPr/>
        </p:nvSpPr>
        <p:spPr>
          <a:xfrm>
            <a:off x="5557278" y="4375403"/>
            <a:ext cx="100584" cy="201168"/>
          </a:xfrm>
          <a:prstGeom prst="chevron">
            <a:avLst>
              <a:gd name="adj" fmla="val 55000"/>
            </a:avLst>
          </a:prstGeom>
          <a:solidFill>
            <a:srgbClr val="80BFEC"/>
          </a:solidFill>
          <a:ln>
            <a:noFill/>
          </a:ln>
        </p:spPr>
        <p:txBody>
          <a:bodyPr rtlCol="0" anchor="ctr"/>
          <a:lstStyle/>
          <a:p>
            <a:pPr algn="ctr"/>
          </a:p>
        </p:txBody>
      </p:sp>
      <p:sp>
        <p:nvSpPr>
          <p:cNvPr id="51" name="Rounded Rectangle 50"/>
          <p:cNvSpPr/>
          <p:nvPr/>
        </p:nvSpPr>
        <p:spPr>
          <a:xfrm>
            <a:off x="5717298"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Committee meeting</a:t>
            </a:r>
          </a:p>
          <a:p>
            <a:pPr algn="ctr"/>
            <a:r>
              <a:rPr sz="850" b="0" i="0">
                <a:solidFill>
                  <a:srgbClr val="002368"/>
                </a:solidFill>
                <a:latin typeface="Arial"/>
              </a:rPr>
              <a:t>Coord + Adm: short talk</a:t>
            </a:r>
          </a:p>
        </p:txBody>
      </p:sp>
      <p:sp>
        <p:nvSpPr>
          <p:cNvPr id="52" name="Chevron 51"/>
          <p:cNvSpPr/>
          <p:nvPr/>
        </p:nvSpPr>
        <p:spPr>
          <a:xfrm>
            <a:off x="6654158" y="4375403"/>
            <a:ext cx="100584" cy="201168"/>
          </a:xfrm>
          <a:prstGeom prst="chevron">
            <a:avLst>
              <a:gd name="adj" fmla="val 55000"/>
            </a:avLst>
          </a:prstGeom>
          <a:solidFill>
            <a:srgbClr val="80BFEC"/>
          </a:solidFill>
          <a:ln>
            <a:noFill/>
          </a:ln>
        </p:spPr>
        <p:txBody>
          <a:bodyPr rtlCol="0" anchor="ctr"/>
          <a:lstStyle/>
          <a:p>
            <a:pPr algn="ctr"/>
          </a:p>
        </p:txBody>
      </p:sp>
      <p:sp>
        <p:nvSpPr>
          <p:cNvPr id="53" name="Rounded Rectangle 52"/>
          <p:cNvSpPr/>
          <p:nvPr/>
        </p:nvSpPr>
        <p:spPr>
          <a:xfrm>
            <a:off x="6814178" y="3858768"/>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S5 Members' meeting or AGM slot: </a:t>
            </a:r>
            <a:r>
              <a:rPr sz="900" b="0" i="0">
                <a:solidFill>
                  <a:srgbClr val="002368"/>
                </a:solidFill>
                <a:latin typeface="Arial"/>
              </a:rPr>
              <a:t>Kiswahili pamphlet, form</a:t>
            </a:r>
          </a:p>
        </p:txBody>
      </p:sp>
      <p:sp>
        <p:nvSpPr>
          <p:cNvPr id="54" name="Rounded Rectangle 53"/>
          <p:cNvSpPr/>
          <p:nvPr/>
        </p:nvSpPr>
        <p:spPr>
          <a:xfrm>
            <a:off x="6814178" y="4507992"/>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Asks for a rate: </a:t>
            </a:r>
            <a:r>
              <a:rPr sz="900" b="0" i="0">
                <a:solidFill>
                  <a:srgbClr val="002368"/>
                </a:solidFill>
                <a:latin typeface="Arial"/>
              </a:rPr>
              <a:t>S6 group rate, only if Finance extends OF07</a:t>
            </a:r>
          </a:p>
        </p:txBody>
      </p:sp>
      <p:sp>
        <p:nvSpPr>
          <p:cNvPr id="55" name="Chevron 54"/>
          <p:cNvSpPr/>
          <p:nvPr/>
        </p:nvSpPr>
        <p:spPr>
          <a:xfrm>
            <a:off x="8409107" y="4375403"/>
            <a:ext cx="100584" cy="201168"/>
          </a:xfrm>
          <a:prstGeom prst="chevron">
            <a:avLst>
              <a:gd name="adj" fmla="val 55000"/>
            </a:avLst>
          </a:prstGeom>
          <a:solidFill>
            <a:srgbClr val="80BFEC"/>
          </a:solidFill>
          <a:ln>
            <a:noFill/>
          </a:ln>
        </p:spPr>
        <p:txBody>
          <a:bodyPr rtlCol="0" anchor="ctr"/>
          <a:lstStyle/>
          <a:p>
            <a:pPr algn="ctr"/>
          </a:p>
        </p:txBody>
      </p:sp>
      <p:sp>
        <p:nvSpPr>
          <p:cNvPr id="56" name="Rounded Rectangle 55"/>
          <p:cNvSpPr/>
          <p:nvPr/>
        </p:nvSpPr>
        <p:spPr>
          <a:xfrm>
            <a:off x="8569127" y="4041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committee circulates, or slot held</a:t>
            </a:r>
          </a:p>
        </p:txBody>
      </p:sp>
      <p:sp>
        <p:nvSpPr>
          <p:cNvPr id="57" name="Chevron 56"/>
          <p:cNvSpPr/>
          <p:nvPr/>
        </p:nvSpPr>
        <p:spPr>
          <a:xfrm>
            <a:off x="9505987" y="4375403"/>
            <a:ext cx="100584" cy="201168"/>
          </a:xfrm>
          <a:prstGeom prst="chevron">
            <a:avLst>
              <a:gd name="adj" fmla="val 55000"/>
            </a:avLst>
          </a:prstGeom>
          <a:solidFill>
            <a:srgbClr val="80BFEC"/>
          </a:solidFill>
          <a:ln>
            <a:noFill/>
          </a:ln>
        </p:spPr>
        <p:txBody>
          <a:bodyPr rtlCol="0" anchor="ctr"/>
          <a:lstStyle/>
          <a:p>
            <a:pPr algn="ctr"/>
          </a:p>
        </p:txBody>
      </p:sp>
      <p:sp>
        <p:nvSpPr>
          <p:cNvPr id="58" name="Rounded Rectangle 57"/>
          <p:cNvSpPr/>
          <p:nvPr/>
        </p:nvSpPr>
        <p:spPr>
          <a:xfrm>
            <a:off x="966600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Member sign-ups</a:t>
            </a:r>
          </a:p>
          <a:p>
            <a:pPr algn="ctr"/>
            <a:r>
              <a:rPr sz="850" b="0" i="0">
                <a:solidFill>
                  <a:srgbClr val="002368"/>
                </a:solidFill>
                <a:latin typeface="Arial"/>
              </a:rPr>
              <a:t>code SAC</a:t>
            </a:r>
          </a:p>
        </p:txBody>
      </p:sp>
      <p:sp>
        <p:nvSpPr>
          <p:cNvPr id="59" name="Chevron 58"/>
          <p:cNvSpPr/>
          <p:nvPr/>
        </p:nvSpPr>
        <p:spPr>
          <a:xfrm>
            <a:off x="10602867" y="4375403"/>
            <a:ext cx="100584" cy="201168"/>
          </a:xfrm>
          <a:prstGeom prst="chevron">
            <a:avLst>
              <a:gd name="adj" fmla="val 55000"/>
            </a:avLst>
          </a:prstGeom>
          <a:solidFill>
            <a:srgbClr val="80BFEC"/>
          </a:solidFill>
          <a:ln>
            <a:noFill/>
          </a:ln>
        </p:spPr>
        <p:txBody>
          <a:bodyPr rtlCol="0" anchor="ctr"/>
          <a:lstStyle/>
          <a:p>
            <a:pPr algn="ctr"/>
          </a:p>
        </p:txBody>
      </p:sp>
      <p:sp>
        <p:nvSpPr>
          <p:cNvPr id="60" name="Rounded Rectangle 59"/>
          <p:cNvSpPr/>
          <p:nvPr/>
        </p:nvSpPr>
        <p:spPr>
          <a:xfrm>
            <a:off x="1076288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61" name="Rounded Rectangle 60"/>
          <p:cNvSpPr/>
          <p:nvPr/>
        </p:nvSpPr>
        <p:spPr>
          <a:xfrm>
            <a:off x="2075688" y="5202936"/>
            <a:ext cx="3434486"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until the next members' meeting</a:t>
            </a:r>
          </a:p>
        </p:txBody>
      </p:sp>
      <p:sp>
        <p:nvSpPr>
          <p:cNvPr id="62" name="Rounded Rectangle 61"/>
          <p:cNvSpPr/>
          <p:nvPr/>
        </p:nvSpPr>
        <p:spPr>
          <a:xfrm>
            <a:off x="5647334" y="5202936"/>
            <a:ext cx="1722729"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Rate not approved → SX</a:t>
            </a:r>
          </a:p>
        </p:txBody>
      </p:sp>
      <p:sp>
        <p:nvSpPr>
          <p:cNvPr id="63" name="TextBox 62"/>
          <p:cNvSpPr txBox="1"/>
          <p:nvPr/>
        </p:nvSpPr>
        <p:spPr>
          <a:xfrm>
            <a:off x="7552944" y="5202936"/>
            <a:ext cx="4087368" cy="292608"/>
          </a:xfrm>
          <a:prstGeom prst="rect">
            <a:avLst/>
          </a:prstGeom>
          <a:noFill/>
        </p:spPr>
        <p:txBody>
          <a:bodyPr wrap="square" lIns="0" tIns="0" rIns="0" bIns="0" anchor="ctr">
            <a:spAutoFit/>
          </a:bodyPr>
          <a:lstStyle/>
          <a:p>
            <a:pPr algn="l"/>
            <a:r>
              <a:rPr sz="900" b="0" i="0">
                <a:solidFill>
                  <a:srgbClr val="818283"/>
                </a:solidFill>
                <a:latin typeface="Arial"/>
              </a:rPr>
              <a:t>116 no email: call the chair or secretary first</a:t>
            </a:r>
          </a:p>
        </p:txBody>
      </p:sp>
      <p:sp>
        <p:nvSpPr>
          <p:cNvPr id="64" name="TextBox 63"/>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Gates before S1: a native-speaker Kiswahili review, and Finance's approval of the member rate. Sign-ups count toward the 50 / 100 / 150 thresholds as totals. No loan, payroll or subsidy claim.</a:t>
            </a:r>
          </a:p>
        </p:txBody>
      </p:sp>
      <p:pic>
        <p:nvPicPr>
          <p:cNvPr id="65" name="Picture 64" descr="image3.png"/>
          <p:cNvPicPr>
            <a:picLocks noChangeAspect="1"/>
          </p:cNvPicPr>
          <p:nvPr/>
        </p:nvPicPr>
        <p:blipFill>
          <a:blip r:embed="rId2"/>
          <a:stretch>
            <a:fillRect/>
          </a:stretch>
        </p:blipFill>
        <p:spPr>
          <a:xfrm>
            <a:off x="548640" y="6272784"/>
            <a:ext cx="1143000" cy="274320"/>
          </a:xfrm>
          <a:prstGeom prst="rect">
            <a:avLst/>
          </a:prstGeom>
        </p:spPr>
      </p:pic>
      <p:sp>
        <p:nvSpPr>
          <p:cNvPr id="66"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67"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lead databases, October 2026</a:t>
            </a:r>
          </a:p>
        </p:txBody>
      </p:sp>
      <p:sp>
        <p:nvSpPr>
          <p:cNvPr id="6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Funnels I1 and W1</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FOR APPROVAL</a:t>
            </a:r>
          </a:p>
        </p:txBody>
      </p:sp>
      <p:sp>
        <p:nvSpPr>
          <p:cNvPr id="5" name="Rounded Rectangle 4"/>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7" name="Rounded Rectangle 6"/>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8" name="TextBox 7"/>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9" name="Hexagon 8"/>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10" name="TextBox 9"/>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1" name="Rounded Rectangle 10"/>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2" name="TextBox 11"/>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3" name="Rounded Rectangle 12"/>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4" name="TextBox 13"/>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5" name="Rounded Rectangle 14"/>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6" name="TextBox 15"/>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7" name="Rounded Rectangle 16"/>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8" name="TextBox 17"/>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9" name="TextBox 18"/>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I1</a:t>
            </a:r>
          </a:p>
        </p:txBody>
      </p:sp>
      <p:sp>
        <p:nvSpPr>
          <p:cNvPr id="20" name="TextBox 19"/>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Introducers and welfare networks</a:t>
            </a:r>
          </a:p>
        </p:txBody>
      </p:sp>
      <p:sp>
        <p:nvSpPr>
          <p:cNvPr id="21" name="TextBox 20"/>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16 introducers (16 ready) · 7 welfare networks (5 ready)</a:t>
            </a:r>
          </a:p>
        </p:txBody>
      </p:sp>
      <p:sp>
        <p:nvSpPr>
          <p:cNvPr id="22" name="Rounded Rectangle 21"/>
          <p:cNvSpPr/>
          <p:nvPr/>
        </p:nvSpPr>
        <p:spPr>
          <a:xfrm>
            <a:off x="2075688" y="1755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executive secretary</a:t>
            </a:r>
          </a:p>
        </p:txBody>
      </p:sp>
      <p:sp>
        <p:nvSpPr>
          <p:cNvPr id="23" name="Chevron 22"/>
          <p:cNvSpPr/>
          <p:nvPr/>
        </p:nvSpPr>
        <p:spPr>
          <a:xfrm>
            <a:off x="3090889" y="2089404"/>
            <a:ext cx="100584" cy="201168"/>
          </a:xfrm>
          <a:prstGeom prst="chevron">
            <a:avLst>
              <a:gd name="adj" fmla="val 55000"/>
            </a:avLst>
          </a:prstGeom>
          <a:solidFill>
            <a:srgbClr val="80BFEC"/>
          </a:solidFill>
          <a:ln>
            <a:noFill/>
          </a:ln>
        </p:spPr>
        <p:txBody>
          <a:bodyPr rtlCol="0" anchor="ctr"/>
          <a:lstStyle/>
          <a:p>
            <a:pPr algn="ctr"/>
          </a:p>
        </p:txBody>
      </p:sp>
      <p:sp>
        <p:nvSpPr>
          <p:cNvPr id="24" name="Rounded Rectangle 23"/>
          <p:cNvSpPr/>
          <p:nvPr/>
        </p:nvSpPr>
        <p:spPr>
          <a:xfrm>
            <a:off x="3250909" y="1755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member note</a:t>
            </a:r>
          </a:p>
        </p:txBody>
      </p:sp>
      <p:sp>
        <p:nvSpPr>
          <p:cNvPr id="25" name="Chevron 24"/>
          <p:cNvSpPr/>
          <p:nvPr/>
        </p:nvSpPr>
        <p:spPr>
          <a:xfrm>
            <a:off x="4266111" y="2089404"/>
            <a:ext cx="100584" cy="201168"/>
          </a:xfrm>
          <a:prstGeom prst="chevron">
            <a:avLst>
              <a:gd name="adj" fmla="val 55000"/>
            </a:avLst>
          </a:prstGeom>
          <a:solidFill>
            <a:srgbClr val="80BFEC"/>
          </a:solidFill>
          <a:ln>
            <a:noFill/>
          </a:ln>
        </p:spPr>
        <p:txBody>
          <a:bodyPr rtlCol="0" anchor="ctr"/>
          <a:lstStyle/>
          <a:p>
            <a:pPr algn="ctr"/>
          </a:p>
        </p:txBody>
      </p:sp>
      <p:sp>
        <p:nvSpPr>
          <p:cNvPr id="26" name="Rounded Rectangle 25"/>
          <p:cNvSpPr/>
          <p:nvPr/>
        </p:nvSpPr>
        <p:spPr>
          <a:xfrm>
            <a:off x="4426131" y="1755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secretariat: channel, timing</a:t>
            </a:r>
          </a:p>
        </p:txBody>
      </p:sp>
      <p:sp>
        <p:nvSpPr>
          <p:cNvPr id="27" name="Chevron 26"/>
          <p:cNvSpPr/>
          <p:nvPr/>
        </p:nvSpPr>
        <p:spPr>
          <a:xfrm>
            <a:off x="5441333" y="2089404"/>
            <a:ext cx="100584" cy="201168"/>
          </a:xfrm>
          <a:prstGeom prst="chevron">
            <a:avLst>
              <a:gd name="adj" fmla="val 55000"/>
            </a:avLst>
          </a:prstGeom>
          <a:solidFill>
            <a:srgbClr val="80BFEC"/>
          </a:solidFill>
          <a:ln>
            <a:noFill/>
          </a:ln>
        </p:spPr>
        <p:txBody>
          <a:bodyPr rtlCol="0" anchor="ctr"/>
          <a:lstStyle/>
          <a:p>
            <a:pPr algn="ctr"/>
          </a:p>
        </p:txBody>
      </p:sp>
      <p:sp>
        <p:nvSpPr>
          <p:cNvPr id="28" name="Rounded Rectangle 27"/>
          <p:cNvSpPr/>
          <p:nvPr/>
        </p:nvSpPr>
        <p:spPr>
          <a:xfrm>
            <a:off x="5601353" y="1755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S5 Circulation agreed</a:t>
            </a:r>
          </a:p>
          <a:p>
            <a:pPr algn="ctr"/>
            <a:r>
              <a:rPr sz="850" b="0" i="0">
                <a:solidFill>
                  <a:srgbClr val="002368"/>
                </a:solidFill>
                <a:latin typeface="Arial"/>
              </a:rPr>
              <a:t>newsletter, members' slot, HR forum</a:t>
            </a:r>
          </a:p>
        </p:txBody>
      </p:sp>
      <p:sp>
        <p:nvSpPr>
          <p:cNvPr id="29" name="Chevron 28"/>
          <p:cNvSpPr/>
          <p:nvPr/>
        </p:nvSpPr>
        <p:spPr>
          <a:xfrm>
            <a:off x="6616554" y="2089404"/>
            <a:ext cx="100584" cy="201168"/>
          </a:xfrm>
          <a:prstGeom prst="chevron">
            <a:avLst>
              <a:gd name="adj" fmla="val 55000"/>
            </a:avLst>
          </a:prstGeom>
          <a:solidFill>
            <a:srgbClr val="80BFEC"/>
          </a:solidFill>
          <a:ln>
            <a:noFill/>
          </a:ln>
        </p:spPr>
        <p:txBody>
          <a:bodyPr rtlCol="0" anchor="ctr"/>
          <a:lstStyle/>
          <a:p>
            <a:pPr algn="ctr"/>
          </a:p>
        </p:txBody>
      </p:sp>
      <p:sp>
        <p:nvSpPr>
          <p:cNvPr id="30" name="Hexagon 29"/>
          <p:cNvSpPr/>
          <p:nvPr/>
        </p:nvSpPr>
        <p:spPr>
          <a:xfrm>
            <a:off x="6776574" y="1755648"/>
            <a:ext cx="133807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Many small members?</a:t>
            </a:r>
          </a:p>
          <a:p>
            <a:pPr algn="ctr"/>
            <a:r>
              <a:rPr sz="850" b="0" i="0">
                <a:solidFill>
                  <a:srgbClr val="002368"/>
                </a:solidFill>
                <a:latin typeface="Arial"/>
              </a:rPr>
              <a:t>yes: cluster session</a:t>
            </a:r>
          </a:p>
        </p:txBody>
      </p:sp>
      <p:sp>
        <p:nvSpPr>
          <p:cNvPr id="31" name="Chevron 30"/>
          <p:cNvSpPr/>
          <p:nvPr/>
        </p:nvSpPr>
        <p:spPr>
          <a:xfrm>
            <a:off x="8174082" y="2089404"/>
            <a:ext cx="100584" cy="201168"/>
          </a:xfrm>
          <a:prstGeom prst="chevron">
            <a:avLst>
              <a:gd name="adj" fmla="val 55000"/>
            </a:avLst>
          </a:prstGeom>
          <a:solidFill>
            <a:srgbClr val="80BFEC"/>
          </a:solidFill>
          <a:ln>
            <a:noFill/>
          </a:ln>
        </p:spPr>
        <p:txBody>
          <a:bodyPr rtlCol="0" anchor="ctr"/>
          <a:lstStyle/>
          <a:p>
            <a:pPr algn="ctr"/>
          </a:p>
        </p:txBody>
      </p:sp>
      <p:sp>
        <p:nvSpPr>
          <p:cNvPr id="32" name="Rounded Rectangle 31"/>
          <p:cNvSpPr/>
          <p:nvPr/>
        </p:nvSpPr>
        <p:spPr>
          <a:xfrm>
            <a:off x="8334102" y="1755648"/>
            <a:ext cx="955765"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first circulation done</a:t>
            </a:r>
          </a:p>
        </p:txBody>
      </p:sp>
      <p:sp>
        <p:nvSpPr>
          <p:cNvPr id="33" name="Chevron 32"/>
          <p:cNvSpPr/>
          <p:nvPr/>
        </p:nvSpPr>
        <p:spPr>
          <a:xfrm>
            <a:off x="9349304" y="2089404"/>
            <a:ext cx="100584" cy="201168"/>
          </a:xfrm>
          <a:prstGeom prst="chevron">
            <a:avLst>
              <a:gd name="adj" fmla="val 55000"/>
            </a:avLst>
          </a:prstGeom>
          <a:solidFill>
            <a:srgbClr val="80BFEC"/>
          </a:solidFill>
          <a:ln>
            <a:noFill/>
          </a:ln>
        </p:spPr>
        <p:txBody>
          <a:bodyPr rtlCol="0" anchor="ctr"/>
          <a:lstStyle/>
          <a:p>
            <a:pPr algn="ctr"/>
          </a:p>
        </p:txBody>
      </p:sp>
      <p:sp>
        <p:nvSpPr>
          <p:cNvPr id="34" name="Rounded Rectangle 33"/>
          <p:cNvSpPr/>
          <p:nvPr/>
        </p:nvSpPr>
        <p:spPr>
          <a:xfrm>
            <a:off x="9509324" y="1755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Referrals</a:t>
            </a:r>
          </a:p>
          <a:p>
            <a:pPr algn="ctr"/>
            <a:r>
              <a:rPr sz="850" b="0" i="0">
                <a:solidFill>
                  <a:srgbClr val="002368"/>
                </a:solidFill>
                <a:latin typeface="Arial"/>
              </a:rPr>
              <a:t>code INT</a:t>
            </a:r>
          </a:p>
        </p:txBody>
      </p:sp>
      <p:sp>
        <p:nvSpPr>
          <p:cNvPr id="35" name="Chevron 34"/>
          <p:cNvSpPr/>
          <p:nvPr/>
        </p:nvSpPr>
        <p:spPr>
          <a:xfrm>
            <a:off x="10524526" y="2089404"/>
            <a:ext cx="100584" cy="201168"/>
          </a:xfrm>
          <a:prstGeom prst="chevron">
            <a:avLst>
              <a:gd name="adj" fmla="val 55000"/>
            </a:avLst>
          </a:prstGeom>
          <a:solidFill>
            <a:srgbClr val="80BFEC"/>
          </a:solidFill>
          <a:ln>
            <a:noFill/>
          </a:ln>
        </p:spPr>
        <p:txBody>
          <a:bodyPr rtlCol="0" anchor="ctr"/>
          <a:lstStyle/>
          <a:p>
            <a:pPr algn="ctr"/>
          </a:p>
        </p:txBody>
      </p:sp>
      <p:sp>
        <p:nvSpPr>
          <p:cNvPr id="36" name="Rounded Rectangle 35"/>
          <p:cNvSpPr/>
          <p:nvPr/>
        </p:nvSpPr>
        <p:spPr>
          <a:xfrm>
            <a:off x="10684546" y="1755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Employer enters E1–E4 at S3</a:t>
            </a:r>
          </a:p>
          <a:p>
            <a:pPr algn="ctr"/>
            <a:r>
              <a:rPr sz="850" b="0" i="0">
                <a:solidFill>
                  <a:srgbClr val="002368"/>
                </a:solidFill>
                <a:latin typeface="Arial"/>
              </a:rPr>
              <a:t>or a home enters W1–W2</a:t>
            </a:r>
          </a:p>
        </p:txBody>
      </p:sp>
      <p:sp>
        <p:nvSpPr>
          <p:cNvPr id="37" name="Rounded Rectangle 36"/>
          <p:cNvSpPr/>
          <p:nvPr/>
        </p:nvSpPr>
        <p:spPr>
          <a:xfrm>
            <a:off x="2075688" y="2916936"/>
            <a:ext cx="3961180"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or no referrals after two circulations → Dormant</a:t>
            </a:r>
          </a:p>
        </p:txBody>
      </p:sp>
      <p:sp>
        <p:nvSpPr>
          <p:cNvPr id="38" name="Rounded Rectangle 37"/>
          <p:cNvSpPr/>
          <p:nvPr/>
        </p:nvSpPr>
        <p:spPr>
          <a:xfrm>
            <a:off x="6174028" y="2916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39" name="TextBox 38"/>
          <p:cNvSpPr txBox="1"/>
          <p:nvPr/>
        </p:nvSpPr>
        <p:spPr>
          <a:xfrm>
            <a:off x="7487107" y="2916936"/>
            <a:ext cx="4153204" cy="292608"/>
          </a:xfrm>
          <a:prstGeom prst="rect">
            <a:avLst/>
          </a:prstGeom>
          <a:noFill/>
        </p:spPr>
        <p:txBody>
          <a:bodyPr wrap="square" lIns="0" tIns="0" rIns="0" bIns="0" anchor="ctr">
            <a:spAutoFit/>
          </a:bodyPr>
          <a:lstStyle/>
          <a:p>
            <a:pPr algn="l"/>
            <a:r>
              <a:rPr sz="900" b="0" i="0">
                <a:solidFill>
                  <a:srgbClr val="818283"/>
                </a:solidFill>
                <a:latin typeface="Arial"/>
              </a:rPr>
              <a:t>hd 4 · hi 8 · med 3 · 1 shared inbox</a:t>
            </a:r>
          </a:p>
        </p:txBody>
      </p:sp>
      <p:sp>
        <p:nvSpPr>
          <p:cNvPr id="40" name="TextBox 39"/>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Results are employer or home leads, not parents. Check referrals 2 and 6 weeks after each circulation. No referral rewards (OF05 expired): a thank-you letter and termly totals.</a:t>
            </a:r>
          </a:p>
        </p:txBody>
      </p:sp>
      <p:cxnSp>
        <p:nvCxnSpPr>
          <p:cNvPr id="41" name="Connector 40"/>
          <p:cNvCxnSpPr/>
          <p:nvPr/>
        </p:nvCxnSpPr>
        <p:spPr>
          <a:xfrm>
            <a:off x="548640" y="3730752"/>
            <a:ext cx="11091672" cy="0"/>
          </a:xfrm>
          <a:prstGeom prst="line">
            <a:avLst/>
          </a:prstGeom>
          <a:ln w="9525">
            <a:solidFill>
              <a:srgbClr val="ECECEC"/>
            </a:solidFill>
          </a:ln>
        </p:spPr>
      </p:cxnSp>
      <p:sp>
        <p:nvSpPr>
          <p:cNvPr id="42" name="TextBox 41"/>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W1</a:t>
            </a:r>
          </a:p>
        </p:txBody>
      </p:sp>
      <p:sp>
        <p:nvSpPr>
          <p:cNvPr id="43" name="TextBox 42"/>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Children's homes and specialised centres</a:t>
            </a:r>
          </a:p>
        </p:txBody>
      </p:sp>
      <p:sp>
        <p:nvSpPr>
          <p:cNvPr id="44" name="TextBox 43"/>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Residential care 100 (17) · specialised centres 70 (5)</a:t>
            </a:r>
          </a:p>
        </p:txBody>
      </p:sp>
      <p:sp>
        <p:nvSpPr>
          <p:cNvPr id="45" name="Rounded Rectangle 44"/>
          <p:cNvSpPr/>
          <p:nvPr/>
        </p:nvSpPr>
        <p:spPr>
          <a:xfrm>
            <a:off x="2075688"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head of the home</a:t>
            </a:r>
          </a:p>
        </p:txBody>
      </p:sp>
      <p:sp>
        <p:nvSpPr>
          <p:cNvPr id="46" name="Chevron 45"/>
          <p:cNvSpPr/>
          <p:nvPr/>
        </p:nvSpPr>
        <p:spPr>
          <a:xfrm>
            <a:off x="3090889" y="4375403"/>
            <a:ext cx="100584" cy="201168"/>
          </a:xfrm>
          <a:prstGeom prst="chevron">
            <a:avLst>
              <a:gd name="adj" fmla="val 55000"/>
            </a:avLst>
          </a:prstGeom>
          <a:solidFill>
            <a:srgbClr val="80BFEC"/>
          </a:solidFill>
          <a:ln>
            <a:noFill/>
          </a:ln>
        </p:spPr>
        <p:txBody>
          <a:bodyPr rtlCol="0" anchor="ctr"/>
          <a:lstStyle/>
          <a:p>
            <a:pPr algn="ctr"/>
          </a:p>
        </p:txBody>
      </p:sp>
      <p:sp>
        <p:nvSpPr>
          <p:cNvPr id="47" name="Rounded Rectangle 46"/>
          <p:cNvSpPr/>
          <p:nvPr/>
        </p:nvSpPr>
        <p:spPr>
          <a:xfrm>
            <a:off x="3250909" y="4041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48" name="Chevron 47"/>
          <p:cNvSpPr/>
          <p:nvPr/>
        </p:nvSpPr>
        <p:spPr>
          <a:xfrm>
            <a:off x="4266111" y="4375403"/>
            <a:ext cx="100584" cy="201168"/>
          </a:xfrm>
          <a:prstGeom prst="chevron">
            <a:avLst>
              <a:gd name="adj" fmla="val 55000"/>
            </a:avLst>
          </a:prstGeom>
          <a:solidFill>
            <a:srgbClr val="80BFEC"/>
          </a:solidFill>
          <a:ln>
            <a:noFill/>
          </a:ln>
        </p:spPr>
        <p:txBody>
          <a:bodyPr rtlCol="0" anchor="ctr"/>
          <a:lstStyle/>
          <a:p>
            <a:pPr algn="ctr"/>
          </a:p>
        </p:txBody>
      </p:sp>
      <p:sp>
        <p:nvSpPr>
          <p:cNvPr id="49" name="Rounded Rectangle 48"/>
          <p:cNvSpPr/>
          <p:nvPr/>
        </p:nvSpPr>
        <p:spPr>
          <a:xfrm>
            <a:off x="4426131"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Placement talk</a:t>
            </a:r>
          </a:p>
          <a:p>
            <a:pPr algn="ctr"/>
            <a:r>
              <a:rPr sz="850" b="0" i="0">
                <a:solidFill>
                  <a:srgbClr val="002368"/>
                </a:solidFill>
                <a:latin typeface="Arial"/>
              </a:rPr>
              <a:t>age bands, totals</a:t>
            </a:r>
          </a:p>
        </p:txBody>
      </p:sp>
      <p:sp>
        <p:nvSpPr>
          <p:cNvPr id="50" name="Chevron 49"/>
          <p:cNvSpPr/>
          <p:nvPr/>
        </p:nvSpPr>
        <p:spPr>
          <a:xfrm>
            <a:off x="5441333" y="4375403"/>
            <a:ext cx="100584" cy="201168"/>
          </a:xfrm>
          <a:prstGeom prst="chevron">
            <a:avLst>
              <a:gd name="adj" fmla="val 55000"/>
            </a:avLst>
          </a:prstGeom>
          <a:solidFill>
            <a:srgbClr val="80BFEC"/>
          </a:solidFill>
          <a:ln>
            <a:noFill/>
          </a:ln>
        </p:spPr>
        <p:txBody>
          <a:bodyPr rtlCol="0" anchor="ctr"/>
          <a:lstStyle/>
          <a:p>
            <a:pPr algn="ctr"/>
          </a:p>
        </p:txBody>
      </p:sp>
      <p:sp>
        <p:nvSpPr>
          <p:cNvPr id="51" name="Hexagon 50"/>
          <p:cNvSpPr/>
          <p:nvPr/>
        </p:nvSpPr>
        <p:spPr>
          <a:xfrm>
            <a:off x="5601353" y="4041648"/>
            <a:ext cx="133807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Needs-fit check</a:t>
            </a:r>
          </a:p>
          <a:p>
            <a:pPr algn="ctr"/>
            <a:r>
              <a:rPr sz="850" b="0" i="0">
                <a:solidFill>
                  <a:srgbClr val="002368"/>
                </a:solidFill>
                <a:latin typeface="Arial"/>
              </a:rPr>
              <a:t>specialised centres only</a:t>
            </a:r>
          </a:p>
        </p:txBody>
      </p:sp>
      <p:sp>
        <p:nvSpPr>
          <p:cNvPr id="52" name="Chevron 51"/>
          <p:cNvSpPr/>
          <p:nvPr/>
        </p:nvSpPr>
        <p:spPr>
          <a:xfrm>
            <a:off x="6998861" y="4375403"/>
            <a:ext cx="100584" cy="201168"/>
          </a:xfrm>
          <a:prstGeom prst="chevron">
            <a:avLst>
              <a:gd name="adj" fmla="val 55000"/>
            </a:avLst>
          </a:prstGeom>
          <a:solidFill>
            <a:srgbClr val="80BFEC"/>
          </a:solidFill>
          <a:ln>
            <a:noFill/>
          </a:ln>
        </p:spPr>
        <p:txBody>
          <a:bodyPr rtlCol="0" anchor="ctr"/>
          <a:lstStyle/>
          <a:p>
            <a:pPr algn="ctr"/>
          </a:p>
        </p:txBody>
      </p:sp>
      <p:sp>
        <p:nvSpPr>
          <p:cNvPr id="53" name="Rounded Rectangle 52"/>
          <p:cNvSpPr/>
          <p:nvPr/>
        </p:nvSpPr>
        <p:spPr>
          <a:xfrm>
            <a:off x="7158881"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S5 Safeguarding visit</a:t>
            </a:r>
          </a:p>
          <a:p>
            <a:pPr algn="ctr"/>
            <a:r>
              <a:rPr sz="850" b="0" i="0">
                <a:solidFill>
                  <a:srgbClr val="002368"/>
                </a:solidFill>
                <a:latin typeface="Arial"/>
              </a:rPr>
              <a:t>two staff, DSL informed</a:t>
            </a:r>
          </a:p>
        </p:txBody>
      </p:sp>
      <p:sp>
        <p:nvSpPr>
          <p:cNvPr id="54" name="Chevron 53"/>
          <p:cNvSpPr/>
          <p:nvPr/>
        </p:nvSpPr>
        <p:spPr>
          <a:xfrm>
            <a:off x="8174082" y="4375403"/>
            <a:ext cx="100584" cy="201168"/>
          </a:xfrm>
          <a:prstGeom prst="chevron">
            <a:avLst>
              <a:gd name="adj" fmla="val 55000"/>
            </a:avLst>
          </a:prstGeom>
          <a:solidFill>
            <a:srgbClr val="80BFEC"/>
          </a:solidFill>
          <a:ln>
            <a:noFill/>
          </a:ln>
        </p:spPr>
        <p:txBody>
          <a:bodyPr rtlCol="0" anchor="ctr"/>
          <a:lstStyle/>
          <a:p>
            <a:pPr algn="ctr"/>
          </a:p>
        </p:txBody>
      </p:sp>
      <p:sp>
        <p:nvSpPr>
          <p:cNvPr id="55" name="Rounded Rectangle 54"/>
          <p:cNvSpPr/>
          <p:nvPr/>
        </p:nvSpPr>
        <p:spPr>
          <a:xfrm>
            <a:off x="8334102"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S6 Proposal</a:t>
            </a:r>
          </a:p>
          <a:p>
            <a:pPr algn="ctr"/>
            <a:r>
              <a:rPr sz="850" b="0" i="0">
                <a:solidFill>
                  <a:srgbClr val="002368"/>
                </a:solidFill>
                <a:latin typeface="Arial"/>
              </a:rPr>
              <a:t>approved terms, Finance</a:t>
            </a:r>
          </a:p>
        </p:txBody>
      </p:sp>
      <p:sp>
        <p:nvSpPr>
          <p:cNvPr id="56" name="Chevron 55"/>
          <p:cNvSpPr/>
          <p:nvPr/>
        </p:nvSpPr>
        <p:spPr>
          <a:xfrm>
            <a:off x="9349304" y="4375403"/>
            <a:ext cx="100584" cy="201168"/>
          </a:xfrm>
          <a:prstGeom prst="chevron">
            <a:avLst>
              <a:gd name="adj" fmla="val 55000"/>
            </a:avLst>
          </a:prstGeom>
          <a:solidFill>
            <a:srgbClr val="80BFEC"/>
          </a:solidFill>
          <a:ln>
            <a:noFill/>
          </a:ln>
        </p:spPr>
        <p:txBody>
          <a:bodyPr rtlCol="0" anchor="ctr"/>
          <a:lstStyle/>
          <a:p>
            <a:pPr algn="ctr"/>
          </a:p>
        </p:txBody>
      </p:sp>
      <p:sp>
        <p:nvSpPr>
          <p:cNvPr id="57" name="Rounded Rectangle 56"/>
          <p:cNvSpPr/>
          <p:nvPr/>
        </p:nvSpPr>
        <p:spPr>
          <a:xfrm>
            <a:off x="9509324" y="4041648"/>
            <a:ext cx="955765"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placement agreement, CEO signs</a:t>
            </a:r>
          </a:p>
        </p:txBody>
      </p:sp>
      <p:sp>
        <p:nvSpPr>
          <p:cNvPr id="58" name="Chevron 57"/>
          <p:cNvSpPr/>
          <p:nvPr/>
        </p:nvSpPr>
        <p:spPr>
          <a:xfrm>
            <a:off x="10524526" y="4375403"/>
            <a:ext cx="100584" cy="201168"/>
          </a:xfrm>
          <a:prstGeom prst="chevron">
            <a:avLst>
              <a:gd name="adj" fmla="val 55000"/>
            </a:avLst>
          </a:prstGeom>
          <a:solidFill>
            <a:srgbClr val="80BFEC"/>
          </a:solidFill>
          <a:ln>
            <a:noFill/>
          </a:ln>
        </p:spPr>
        <p:txBody>
          <a:bodyPr rtlCol="0" anchor="ctr"/>
          <a:lstStyle/>
          <a:p>
            <a:pPr algn="ctr"/>
          </a:p>
        </p:txBody>
      </p:sp>
      <p:sp>
        <p:nvSpPr>
          <p:cNvPr id="59" name="Rounded Rectangle 58"/>
          <p:cNvSpPr/>
          <p:nvPr/>
        </p:nvSpPr>
        <p:spPr>
          <a:xfrm>
            <a:off x="10684546" y="4041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Admissions per child</a:t>
            </a:r>
          </a:p>
          <a:p>
            <a:pPr algn="ctr"/>
            <a:r>
              <a:rPr sz="850" b="0" i="0">
                <a:solidFill>
                  <a:srgbClr val="002368"/>
                </a:solidFill>
                <a:latin typeface="Arial"/>
              </a:rPr>
              <a:t>guardian consent; S9 renewal</a:t>
            </a:r>
          </a:p>
        </p:txBody>
      </p:sp>
      <p:sp>
        <p:nvSpPr>
          <p:cNvPr id="60" name="Rounded Rectangle 59"/>
          <p:cNvSpPr/>
          <p:nvPr/>
        </p:nvSpPr>
        <p:spPr>
          <a:xfrm>
            <a:off x="2075688" y="5202936"/>
            <a:ext cx="3566159"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Need not supported, or a safeguarding concern → SX</a:t>
            </a:r>
          </a:p>
        </p:txBody>
      </p:sp>
      <p:sp>
        <p:nvSpPr>
          <p:cNvPr id="61" name="Rounded Rectangle 60"/>
          <p:cNvSpPr/>
          <p:nvPr/>
        </p:nvSpPr>
        <p:spPr>
          <a:xfrm>
            <a:off x="5779008" y="5202936"/>
            <a:ext cx="3236975"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 next window or budget date</a:t>
            </a:r>
          </a:p>
        </p:txBody>
      </p:sp>
      <p:sp>
        <p:nvSpPr>
          <p:cNvPr id="62" name="TextBox 61"/>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No child's name, age, photo or story in any lead database: totals only. Rescue and safe-house locations stay confidential. Renewal 8 weeks before intake.</a:t>
            </a:r>
          </a:p>
        </p:txBody>
      </p:sp>
      <p:pic>
        <p:nvPicPr>
          <p:cNvPr id="63" name="Picture 62" descr="image3.png"/>
          <p:cNvPicPr>
            <a:picLocks noChangeAspect="1"/>
          </p:cNvPicPr>
          <p:nvPr/>
        </p:nvPicPr>
        <p:blipFill>
          <a:blip r:embed="rId2"/>
          <a:stretch>
            <a:fillRect/>
          </a:stretch>
        </p:blipFill>
        <p:spPr>
          <a:xfrm>
            <a:off x="548640" y="6272784"/>
            <a:ext cx="1143000" cy="274320"/>
          </a:xfrm>
          <a:prstGeom prst="rect">
            <a:avLst/>
          </a:prstGeom>
        </p:spPr>
      </p:pic>
      <p:sp>
        <p:nvSpPr>
          <p:cNvPr id="64"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65"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lead databases, October 2026</a:t>
            </a:r>
          </a:p>
        </p:txBody>
      </p:sp>
      <p:sp>
        <p:nvSpPr>
          <p:cNvPr id="6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Welfare funnels W2 and W3</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FOR APPROVAL</a:t>
            </a:r>
          </a:p>
        </p:txBody>
      </p:sp>
      <p:sp>
        <p:nvSpPr>
          <p:cNvPr id="5" name="Rounded Rectangle 4"/>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7" name="Rounded Rectangle 6"/>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8" name="TextBox 7"/>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9" name="Hexagon 8"/>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10" name="TextBox 9"/>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1" name="Rounded Rectangle 10"/>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2" name="TextBox 11"/>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3" name="Rounded Rectangle 12"/>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4" name="TextBox 13"/>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5" name="Rounded Rectangle 14"/>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6" name="TextBox 15"/>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7" name="Rounded Rectangle 16"/>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8" name="TextBox 17"/>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9" name="TextBox 18"/>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W2</a:t>
            </a:r>
          </a:p>
        </p:txBody>
      </p:sp>
      <p:sp>
        <p:nvSpPr>
          <p:cNvPr id="20" name="TextBox 19"/>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Family-based programmes</a:t>
            </a:r>
          </a:p>
        </p:txBody>
      </p:sp>
      <p:sp>
        <p:nvSpPr>
          <p:cNvPr id="21" name="TextBox 20"/>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164 (25 ready) · priority high 12, medium 14, low 138</a:t>
            </a:r>
          </a:p>
        </p:txBody>
      </p:sp>
      <p:sp>
        <p:nvSpPr>
          <p:cNvPr id="22" name="Rounded Rectangle 21"/>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programme head</a:t>
            </a:r>
          </a:p>
        </p:txBody>
      </p:sp>
      <p:sp>
        <p:nvSpPr>
          <p:cNvPr id="23" name="Chevron 22"/>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p>
        </p:txBody>
      </p:sp>
      <p:sp>
        <p:nvSpPr>
          <p:cNvPr id="24" name="Rounded Rectangle 23"/>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25" name="Chevron 24"/>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p>
        </p:txBody>
      </p:sp>
      <p:sp>
        <p:nvSpPr>
          <p:cNvPr id="26" name="Rounded Rectangle 25"/>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Talk</a:t>
            </a:r>
          </a:p>
          <a:p>
            <a:pPr algn="ctr"/>
            <a:r>
              <a:rPr sz="850" b="0" i="0">
                <a:solidFill>
                  <a:srgbClr val="002368"/>
                </a:solidFill>
                <a:latin typeface="Arial"/>
              </a:rPr>
              <a:t>a conversation, Coord + Adm</a:t>
            </a:r>
          </a:p>
        </p:txBody>
      </p:sp>
      <p:sp>
        <p:nvSpPr>
          <p:cNvPr id="27" name="Chevron 26"/>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p>
        </p:txBody>
      </p:sp>
      <p:sp>
        <p:nvSpPr>
          <p:cNvPr id="28" name="Hexagon 27"/>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Who chooses the school?</a:t>
            </a:r>
          </a:p>
        </p:txBody>
      </p:sp>
      <p:sp>
        <p:nvSpPr>
          <p:cNvPr id="29" name="Chevron 28"/>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p>
        </p:txBody>
      </p:sp>
      <p:sp>
        <p:nvSpPr>
          <p:cNvPr id="30" name="Rounded Rectangle 29"/>
          <p:cNvSpPr/>
          <p:nvPr/>
        </p:nvSpPr>
        <p:spPr>
          <a:xfrm>
            <a:off x="6814178" y="1572768"/>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Programme pays: </a:t>
            </a:r>
            <a:r>
              <a:rPr sz="900" b="0" i="0">
                <a:solidFill>
                  <a:srgbClr val="002368"/>
                </a:solidFill>
                <a:latin typeface="Arial"/>
              </a:rPr>
              <a:t>S5 visit → S6 → S7a placement</a:t>
            </a:r>
          </a:p>
        </p:txBody>
      </p:sp>
      <p:sp>
        <p:nvSpPr>
          <p:cNvPr id="31" name="Rounded Rectangle 30"/>
          <p:cNvSpPr/>
          <p:nvPr/>
        </p:nvSpPr>
        <p:spPr>
          <a:xfrm>
            <a:off x="6814178" y="2005584"/>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Sponsor decides: </a:t>
            </a:r>
            <a:r>
              <a:rPr sz="900" b="0" i="0">
                <a:solidFill>
                  <a:srgbClr val="002368"/>
                </a:solidFill>
                <a:latin typeface="Arial"/>
              </a:rPr>
              <a:t>funder funnel W3, with consent</a:t>
            </a:r>
          </a:p>
        </p:txBody>
      </p:sp>
      <p:sp>
        <p:nvSpPr>
          <p:cNvPr id="32" name="Rounded Rectangle 31"/>
          <p:cNvSpPr/>
          <p:nvPr/>
        </p:nvSpPr>
        <p:spPr>
          <a:xfrm>
            <a:off x="6814178" y="2438400"/>
            <a:ext cx="1535492" cy="368808"/>
          </a:xfrm>
          <a:prstGeom prst="roundRect">
            <a:avLst>
              <a:gd name="adj" fmla="val 17355"/>
            </a:avLst>
          </a:prstGeom>
          <a:solidFill>
            <a:srgbClr val="FFF7E5"/>
          </a:solidFill>
          <a:ln w="12700">
            <a:solidFill>
              <a:srgbClr val="FFC952"/>
            </a:solidFill>
          </a:ln>
        </p:spPr>
        <p:txBody>
          <a:bodyPr rtlCol="0" anchor="ctr" wrap="square" lIns="45720" rIns="45720" tIns="27432" bIns="27432"/>
          <a:lstStyle/>
          <a:p>
            <a:pPr algn="l"/>
            <a:r>
              <a:rPr sz="900" b="1" i="0">
                <a:solidFill>
                  <a:srgbClr val="002368"/>
                </a:solidFill>
                <a:latin typeface="Arial"/>
              </a:rPr>
              <a:t>Families choose: </a:t>
            </a:r>
            <a:r>
              <a:rPr sz="900" b="0" i="0">
                <a:solidFill>
                  <a:srgbClr val="002368"/>
                </a:solidFill>
                <a:latin typeface="Arial"/>
              </a:rPr>
              <a:t>S5 → S7b programme circulates</a:t>
            </a:r>
          </a:p>
        </p:txBody>
      </p:sp>
      <p:sp>
        <p:nvSpPr>
          <p:cNvPr id="33" name="Chevron 32"/>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p>
        </p:txBody>
      </p:sp>
      <p:sp>
        <p:nvSpPr>
          <p:cNvPr id="34" name="Rounded Rectangle 33"/>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 (a or b)</a:t>
            </a:r>
          </a:p>
          <a:p>
            <a:pPr algn="ctr"/>
            <a:r>
              <a:rPr sz="850" b="0" i="0">
                <a:solidFill>
                  <a:srgbClr val="FFFFFF"/>
                </a:solidFill>
                <a:latin typeface="Arial"/>
              </a:rPr>
              <a:t>placement agreement, or circulation</a:t>
            </a:r>
          </a:p>
        </p:txBody>
      </p:sp>
      <p:sp>
        <p:nvSpPr>
          <p:cNvPr id="35" name="Chevron 34"/>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p>
        </p:txBody>
      </p:sp>
      <p:sp>
        <p:nvSpPr>
          <p:cNvPr id="36" name="Rounded Rectangle 35"/>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Admissions enrols</a:t>
            </a:r>
          </a:p>
          <a:p>
            <a:pPr algn="ctr"/>
            <a:r>
              <a:rPr sz="850" b="0" i="0">
                <a:solidFill>
                  <a:srgbClr val="002368"/>
                </a:solidFill>
                <a:latin typeface="Arial"/>
              </a:rPr>
              <a:t>placed children</a:t>
            </a:r>
          </a:p>
        </p:txBody>
      </p:sp>
      <p:sp>
        <p:nvSpPr>
          <p:cNvPr id="37" name="Chevron 36"/>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p>
        </p:txBody>
      </p:sp>
      <p:sp>
        <p:nvSpPr>
          <p:cNvPr id="38" name="Rounded Rectangle 37"/>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Caregivers opt in</a:t>
            </a:r>
          </a:p>
          <a:p>
            <a:pPr algn="ctr"/>
            <a:r>
              <a:rPr sz="850" b="0" i="0">
                <a:solidFill>
                  <a:srgbClr val="002368"/>
                </a:solidFill>
                <a:latin typeface="Arial"/>
              </a:rPr>
              <a:t>parent funnel, code WEL</a:t>
            </a:r>
          </a:p>
        </p:txBody>
      </p:sp>
      <p:sp>
        <p:nvSpPr>
          <p:cNvPr id="39" name="Rounded Rectangle 38"/>
          <p:cNvSpPr/>
          <p:nvPr/>
        </p:nvSpPr>
        <p:spPr>
          <a:xfrm>
            <a:off x="2075688" y="2916936"/>
            <a:ext cx="1327708"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a:t>
            </a:r>
          </a:p>
        </p:txBody>
      </p:sp>
      <p:sp>
        <p:nvSpPr>
          <p:cNvPr id="40" name="Rounded Rectangle 39"/>
          <p:cNvSpPr/>
          <p:nvPr/>
        </p:nvSpPr>
        <p:spPr>
          <a:xfrm>
            <a:off x="3540556" y="2916936"/>
            <a:ext cx="3302812"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not relevant, safeguarding stop → SX</a:t>
            </a:r>
          </a:p>
        </p:txBody>
      </p:sp>
      <p:sp>
        <p:nvSpPr>
          <p:cNvPr id="41" name="TextBox 40"/>
          <p:cNvSpPr txBox="1"/>
          <p:nvPr/>
        </p:nvSpPr>
        <p:spPr>
          <a:xfrm>
            <a:off x="7026249" y="2916936"/>
            <a:ext cx="4614062" cy="292608"/>
          </a:xfrm>
          <a:prstGeom prst="rect">
            <a:avLst/>
          </a:prstGeom>
          <a:noFill/>
        </p:spPr>
        <p:txBody>
          <a:bodyPr wrap="square" lIns="0" tIns="0" rIns="0" bIns="0" anchor="ctr">
            <a:spAutoFit/>
          </a:bodyPr>
          <a:lstStyle/>
          <a:p>
            <a:pPr algn="l"/>
            <a:r>
              <a:rPr sz="900" b="0" i="0">
                <a:solidFill>
                  <a:srgbClr val="818283"/>
                </a:solidFill>
                <a:latin typeface="Arial"/>
              </a:rPr>
              <a:t>hd 2 · hi 16 · med 6 · low 28 · call sheet 112</a:t>
            </a:r>
          </a:p>
        </p:txBody>
      </p:sp>
      <p:sp>
        <p:nvSpPr>
          <p:cNvPr id="42" name="TextBox 41"/>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OF03 needs all primary-age children placed, which rarely fits a programme, so path (a) usually means standard fees with the family offer.</a:t>
            </a:r>
          </a:p>
        </p:txBody>
      </p:sp>
      <p:cxnSp>
        <p:nvCxnSpPr>
          <p:cNvPr id="43" name="Connector 42"/>
          <p:cNvCxnSpPr/>
          <p:nvPr/>
        </p:nvCxnSpPr>
        <p:spPr>
          <a:xfrm>
            <a:off x="548640" y="3730752"/>
            <a:ext cx="11091672" cy="0"/>
          </a:xfrm>
          <a:prstGeom prst="line">
            <a:avLst/>
          </a:prstGeom>
          <a:ln w="9525">
            <a:solidFill>
              <a:srgbClr val="ECECEC"/>
            </a:solidFill>
          </a:ln>
        </p:spPr>
      </p:cxnSp>
      <p:sp>
        <p:nvSpPr>
          <p:cNvPr id="44" name="TextBox 43"/>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W3</a:t>
            </a:r>
          </a:p>
        </p:txBody>
      </p:sp>
      <p:sp>
        <p:nvSpPr>
          <p:cNvPr id="45" name="TextBox 44"/>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Funders</a:t>
            </a:r>
          </a:p>
        </p:txBody>
      </p:sp>
      <p:sp>
        <p:nvSpPr>
          <p:cNvPr id="46" name="TextBox 45"/>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Foreign charities, foundations, corporate giving · 104 (34 ready)</a:t>
            </a:r>
          </a:p>
        </p:txBody>
      </p:sp>
      <p:sp>
        <p:nvSpPr>
          <p:cNvPr id="47" name="Hexagon 46"/>
          <p:cNvSpPr/>
          <p:nvPr/>
        </p:nvSpPr>
        <p:spPr>
          <a:xfrm>
            <a:off x="2075688" y="4041648"/>
            <a:ext cx="133807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Verified link to a home?</a:t>
            </a:r>
          </a:p>
          <a:p>
            <a:pPr algn="ctr"/>
            <a:r>
              <a:rPr sz="850" b="0" i="0">
                <a:solidFill>
                  <a:srgbClr val="002368"/>
                </a:solidFill>
                <a:latin typeface="Arial"/>
              </a:rPr>
              <a:t>no: S0 held</a:t>
            </a:r>
          </a:p>
        </p:txBody>
      </p:sp>
      <p:sp>
        <p:nvSpPr>
          <p:cNvPr id="48" name="Chevron 47"/>
          <p:cNvSpPr/>
          <p:nvPr/>
        </p:nvSpPr>
        <p:spPr>
          <a:xfrm>
            <a:off x="3473196" y="4375403"/>
            <a:ext cx="100584" cy="201168"/>
          </a:xfrm>
          <a:prstGeom prst="chevron">
            <a:avLst>
              <a:gd name="adj" fmla="val 55000"/>
            </a:avLst>
          </a:prstGeom>
          <a:solidFill>
            <a:srgbClr val="80BFEC"/>
          </a:solidFill>
          <a:ln>
            <a:noFill/>
          </a:ln>
        </p:spPr>
        <p:txBody>
          <a:bodyPr rtlCol="0" anchor="ctr"/>
          <a:lstStyle/>
          <a:p>
            <a:pPr algn="ctr"/>
          </a:p>
        </p:txBody>
      </p:sp>
      <p:sp>
        <p:nvSpPr>
          <p:cNvPr id="49" name="Rounded Rectangle 48"/>
          <p:cNvSpPr/>
          <p:nvPr/>
        </p:nvSpPr>
        <p:spPr>
          <a:xfrm>
            <a:off x="3633216"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programme officer</a:t>
            </a:r>
          </a:p>
        </p:txBody>
      </p:sp>
      <p:sp>
        <p:nvSpPr>
          <p:cNvPr id="50" name="Chevron 49"/>
          <p:cNvSpPr/>
          <p:nvPr/>
        </p:nvSpPr>
        <p:spPr>
          <a:xfrm>
            <a:off x="4648417" y="4375403"/>
            <a:ext cx="100584" cy="201168"/>
          </a:xfrm>
          <a:prstGeom prst="chevron">
            <a:avLst>
              <a:gd name="adj" fmla="val 55000"/>
            </a:avLst>
          </a:prstGeom>
          <a:solidFill>
            <a:srgbClr val="80BFEC"/>
          </a:solidFill>
          <a:ln>
            <a:noFill/>
          </a:ln>
        </p:spPr>
        <p:txBody>
          <a:bodyPr rtlCol="0" anchor="ctr"/>
          <a:lstStyle/>
          <a:p>
            <a:pPr algn="ctr"/>
          </a:p>
        </p:txBody>
      </p:sp>
      <p:sp>
        <p:nvSpPr>
          <p:cNvPr id="51" name="Rounded Rectangle 50"/>
          <p:cNvSpPr/>
          <p:nvPr/>
        </p:nvSpPr>
        <p:spPr>
          <a:xfrm>
            <a:off x="4808437" y="4041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52" name="Chevron 51"/>
          <p:cNvSpPr/>
          <p:nvPr/>
        </p:nvSpPr>
        <p:spPr>
          <a:xfrm>
            <a:off x="5823639" y="4375403"/>
            <a:ext cx="100584" cy="201168"/>
          </a:xfrm>
          <a:prstGeom prst="chevron">
            <a:avLst>
              <a:gd name="adj" fmla="val 55000"/>
            </a:avLst>
          </a:prstGeom>
          <a:solidFill>
            <a:srgbClr val="80BFEC"/>
          </a:solidFill>
          <a:ln>
            <a:noFill/>
          </a:ln>
        </p:spPr>
        <p:txBody>
          <a:bodyPr rtlCol="0" anchor="ctr"/>
          <a:lstStyle/>
          <a:p>
            <a:pPr algn="ctr"/>
          </a:p>
        </p:txBody>
      </p:sp>
      <p:sp>
        <p:nvSpPr>
          <p:cNvPr id="53" name="Rounded Rectangle 52"/>
          <p:cNvSpPr/>
          <p:nvPr/>
        </p:nvSpPr>
        <p:spPr>
          <a:xfrm>
            <a:off x="5983659"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often by video</a:t>
            </a:r>
          </a:p>
        </p:txBody>
      </p:sp>
      <p:sp>
        <p:nvSpPr>
          <p:cNvPr id="54" name="Chevron 53"/>
          <p:cNvSpPr/>
          <p:nvPr/>
        </p:nvSpPr>
        <p:spPr>
          <a:xfrm>
            <a:off x="6998861" y="4375403"/>
            <a:ext cx="100584" cy="201168"/>
          </a:xfrm>
          <a:prstGeom prst="chevron">
            <a:avLst>
              <a:gd name="adj" fmla="val 55000"/>
            </a:avLst>
          </a:prstGeom>
          <a:solidFill>
            <a:srgbClr val="80BFEC"/>
          </a:solidFill>
          <a:ln>
            <a:noFill/>
          </a:ln>
        </p:spPr>
        <p:txBody>
          <a:bodyPr rtlCol="0" anchor="ctr"/>
          <a:lstStyle/>
          <a:p>
            <a:pPr algn="ctr"/>
          </a:p>
        </p:txBody>
      </p:sp>
      <p:sp>
        <p:nvSpPr>
          <p:cNvPr id="55" name="Rounded Rectangle 54"/>
          <p:cNvSpPr/>
          <p:nvPr/>
        </p:nvSpPr>
        <p:spPr>
          <a:xfrm>
            <a:off x="7158881"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S6 Sponsorship proposal</a:t>
            </a:r>
          </a:p>
          <a:p>
            <a:pPr algn="ctr"/>
            <a:r>
              <a:rPr sz="850" b="0" i="0">
                <a:solidFill>
                  <a:srgbClr val="002368"/>
                </a:solidFill>
                <a:latin typeface="Arial"/>
              </a:rPr>
              <a:t>tied to the home</a:t>
            </a:r>
          </a:p>
        </p:txBody>
      </p:sp>
      <p:sp>
        <p:nvSpPr>
          <p:cNvPr id="56" name="Chevron 55"/>
          <p:cNvSpPr/>
          <p:nvPr/>
        </p:nvSpPr>
        <p:spPr>
          <a:xfrm>
            <a:off x="8174082" y="4375403"/>
            <a:ext cx="100584" cy="201168"/>
          </a:xfrm>
          <a:prstGeom prst="chevron">
            <a:avLst>
              <a:gd name="adj" fmla="val 55000"/>
            </a:avLst>
          </a:prstGeom>
          <a:solidFill>
            <a:srgbClr val="80BFEC"/>
          </a:solidFill>
          <a:ln>
            <a:noFill/>
          </a:ln>
        </p:spPr>
        <p:txBody>
          <a:bodyPr rtlCol="0" anchor="ctr"/>
          <a:lstStyle/>
          <a:p>
            <a:pPr algn="ctr"/>
          </a:p>
        </p:txBody>
      </p:sp>
      <p:sp>
        <p:nvSpPr>
          <p:cNvPr id="57" name="Rounded Rectangle 56"/>
          <p:cNvSpPr/>
          <p:nvPr/>
        </p:nvSpPr>
        <p:spPr>
          <a:xfrm>
            <a:off x="8334102" y="4041648"/>
            <a:ext cx="955765"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three-way: funder, home, Silverleaf</a:t>
            </a:r>
          </a:p>
        </p:txBody>
      </p:sp>
      <p:sp>
        <p:nvSpPr>
          <p:cNvPr id="58" name="Chevron 57"/>
          <p:cNvSpPr/>
          <p:nvPr/>
        </p:nvSpPr>
        <p:spPr>
          <a:xfrm>
            <a:off x="9349304" y="4375403"/>
            <a:ext cx="100584" cy="201168"/>
          </a:xfrm>
          <a:prstGeom prst="chevron">
            <a:avLst>
              <a:gd name="adj" fmla="val 55000"/>
            </a:avLst>
          </a:prstGeom>
          <a:solidFill>
            <a:srgbClr val="80BFEC"/>
          </a:solidFill>
          <a:ln>
            <a:noFill/>
          </a:ln>
        </p:spPr>
        <p:txBody>
          <a:bodyPr rtlCol="0" anchor="ctr"/>
          <a:lstStyle/>
          <a:p>
            <a:pPr algn="ctr"/>
          </a:p>
        </p:txBody>
      </p:sp>
      <p:sp>
        <p:nvSpPr>
          <p:cNvPr id="59" name="Rounded Rectangle 58"/>
          <p:cNvSpPr/>
          <p:nvPr/>
        </p:nvSpPr>
        <p:spPr>
          <a:xfrm>
            <a:off x="9509324" y="4041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Enrolment via the home</a:t>
            </a:r>
          </a:p>
          <a:p>
            <a:pPr algn="ctr"/>
            <a:r>
              <a:rPr sz="850" b="0" i="0">
                <a:solidFill>
                  <a:srgbClr val="002368"/>
                </a:solidFill>
                <a:latin typeface="Arial"/>
              </a:rPr>
              <a:t>Adm, guardian consent</a:t>
            </a:r>
          </a:p>
        </p:txBody>
      </p:sp>
      <p:sp>
        <p:nvSpPr>
          <p:cNvPr id="60" name="Chevron 59"/>
          <p:cNvSpPr/>
          <p:nvPr/>
        </p:nvSpPr>
        <p:spPr>
          <a:xfrm>
            <a:off x="10524526" y="4375403"/>
            <a:ext cx="100584" cy="201168"/>
          </a:xfrm>
          <a:prstGeom prst="chevron">
            <a:avLst>
              <a:gd name="adj" fmla="val 55000"/>
            </a:avLst>
          </a:prstGeom>
          <a:solidFill>
            <a:srgbClr val="80BFEC"/>
          </a:solidFill>
          <a:ln>
            <a:noFill/>
          </a:ln>
        </p:spPr>
        <p:txBody>
          <a:bodyPr rtlCol="0" anchor="ctr"/>
          <a:lstStyle/>
          <a:p>
            <a:pPr algn="ctr"/>
          </a:p>
        </p:txBody>
      </p:sp>
      <p:sp>
        <p:nvSpPr>
          <p:cNvPr id="61" name="Rounded Rectangle 60"/>
          <p:cNvSpPr/>
          <p:nvPr/>
        </p:nvSpPr>
        <p:spPr>
          <a:xfrm>
            <a:off x="10684546"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Reporting, renewal</a:t>
            </a:r>
          </a:p>
          <a:p>
            <a:pPr algn="ctr"/>
            <a:r>
              <a:rPr sz="850" b="0" i="0">
                <a:solidFill>
                  <a:srgbClr val="002368"/>
                </a:solidFill>
                <a:latin typeface="Arial"/>
              </a:rPr>
              <a:t>the home consents</a:t>
            </a:r>
          </a:p>
        </p:txBody>
      </p:sp>
      <p:sp>
        <p:nvSpPr>
          <p:cNvPr id="62" name="Rounded Rectangle 61"/>
          <p:cNvSpPr/>
          <p:nvPr/>
        </p:nvSpPr>
        <p:spPr>
          <a:xfrm>
            <a:off x="2075688" y="5202936"/>
            <a:ext cx="3171139"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until the next budget cycle</a:t>
            </a:r>
          </a:p>
        </p:txBody>
      </p:sp>
      <p:sp>
        <p:nvSpPr>
          <p:cNvPr id="63" name="Rounded Rectangle 62"/>
          <p:cNvSpPr/>
          <p:nvPr/>
        </p:nvSpPr>
        <p:spPr>
          <a:xfrm>
            <a:off x="5383987" y="5202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64" name="TextBox 63"/>
          <p:cNvSpPr txBox="1"/>
          <p:nvPr/>
        </p:nvSpPr>
        <p:spPr>
          <a:xfrm>
            <a:off x="6697065" y="5202936"/>
            <a:ext cx="4943246" cy="292608"/>
          </a:xfrm>
          <a:prstGeom prst="rect">
            <a:avLst/>
          </a:prstGeom>
          <a:noFill/>
        </p:spPr>
        <p:txBody>
          <a:bodyPr wrap="square" lIns="0" tIns="0" rIns="0" bIns="0" anchor="ctr">
            <a:spAutoFit/>
          </a:bodyPr>
          <a:lstStyle/>
          <a:p>
            <a:pPr algn="l"/>
            <a:r>
              <a:rPr sz="900" b="0" i="0">
                <a:solidFill>
                  <a:srgbClr val="818283"/>
                </a:solidFill>
                <a:latin typeface="Arial"/>
              </a:rPr>
              <a:t>hd 9 · hi 21 · med 1 · low 37 · call sheet 27 · shared 9</a:t>
            </a:r>
          </a:p>
        </p:txBody>
      </p:sp>
      <p:sp>
        <p:nvSpPr>
          <p:cNvPr id="65" name="TextBox 64"/>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Many are abroad: video meetings, email-only fallout, budget cycles drive timing. The follow-up offers the partner rate 'as a way to stretch sponsorship'.</a:t>
            </a:r>
          </a:p>
        </p:txBody>
      </p:sp>
      <p:pic>
        <p:nvPicPr>
          <p:cNvPr id="66" name="Picture 65" descr="image3.png"/>
          <p:cNvPicPr>
            <a:picLocks noChangeAspect="1"/>
          </p:cNvPicPr>
          <p:nvPr/>
        </p:nvPicPr>
        <p:blipFill>
          <a:blip r:embed="rId2"/>
          <a:stretch>
            <a:fillRect/>
          </a:stretch>
        </p:blipFill>
        <p:spPr>
          <a:xfrm>
            <a:off x="548640" y="6272784"/>
            <a:ext cx="1143000" cy="274320"/>
          </a:xfrm>
          <a:prstGeom prst="rect">
            <a:avLst/>
          </a:prstGeom>
        </p:spPr>
      </p:pic>
      <p:sp>
        <p:nvSpPr>
          <p:cNvPr id="67"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68"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lead databases, October 2026</a:t>
            </a:r>
          </a:p>
        </p:txBody>
      </p:sp>
      <p:sp>
        <p:nvSpPr>
          <p:cNvPr id="6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Government funnels G1, G2 and G3</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FOR APPROVAL</a:t>
            </a:r>
          </a:p>
        </p:txBody>
      </p:sp>
      <p:sp>
        <p:nvSpPr>
          <p:cNvPr id="5" name="Rounded Rectangle 4"/>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7" name="Rounded Rectangle 6"/>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8" name="TextBox 7"/>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9" name="Hexagon 8"/>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10" name="TextBox 9"/>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1" name="Rounded Rectangle 10"/>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2" name="TextBox 11"/>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3" name="Rounded Rectangle 12"/>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4" name="TextBox 13"/>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5" name="Rounded Rectangle 14"/>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6" name="TextBox 15"/>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7" name="Rounded Rectangle 16"/>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8" name="TextBox 17"/>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9" name="TextBox 18"/>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G1</a:t>
            </a:r>
          </a:p>
        </p:txBody>
      </p:sp>
      <p:sp>
        <p:nvSpPr>
          <p:cNvPr id="20" name="TextBox 19"/>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Councils</a:t>
            </a:r>
          </a:p>
        </p:txBody>
      </p:sp>
      <p:sp>
        <p:nvSpPr>
          <p:cNvPr id="21" name="TextBox 20"/>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Pilot 4 (ready) · other 5 (held)</a:t>
            </a:r>
          </a:p>
        </p:txBody>
      </p:sp>
      <p:sp>
        <p:nvSpPr>
          <p:cNvPr id="22" name="Hexagon 21"/>
          <p:cNvSpPr/>
          <p:nvPr/>
        </p:nvSpPr>
        <p:spPr>
          <a:xfrm>
            <a:off x="2075688" y="1572768"/>
            <a:ext cx="1338072" cy="822960"/>
          </a:xfrm>
          <a:prstGeom prst="hexagon">
            <a:avLst>
              <a:gd name="adj" fmla="val 11111"/>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Pilot council?</a:t>
            </a:r>
          </a:p>
          <a:p>
            <a:pPr algn="ctr"/>
            <a:r>
              <a:rPr sz="850" b="0" i="0">
                <a:solidFill>
                  <a:srgbClr val="002368"/>
                </a:solidFill>
                <a:latin typeface="Arial"/>
              </a:rPr>
              <a:t>no: held</a:t>
            </a:r>
          </a:p>
        </p:txBody>
      </p:sp>
      <p:sp>
        <p:nvSpPr>
          <p:cNvPr id="23" name="Chevron 22"/>
          <p:cNvSpPr/>
          <p:nvPr/>
        </p:nvSpPr>
        <p:spPr>
          <a:xfrm>
            <a:off x="3473196" y="1883664"/>
            <a:ext cx="100584" cy="201168"/>
          </a:xfrm>
          <a:prstGeom prst="chevron">
            <a:avLst>
              <a:gd name="adj" fmla="val 55000"/>
            </a:avLst>
          </a:prstGeom>
          <a:solidFill>
            <a:srgbClr val="80BFEC"/>
          </a:solidFill>
          <a:ln>
            <a:noFill/>
          </a:ln>
        </p:spPr>
        <p:txBody>
          <a:bodyPr rtlCol="0" anchor="ctr"/>
          <a:lstStyle/>
          <a:p>
            <a:pPr algn="ctr"/>
          </a:p>
        </p:txBody>
      </p:sp>
      <p:sp>
        <p:nvSpPr>
          <p:cNvPr id="24" name="Rounded Rectangle 23"/>
          <p:cNvSpPr/>
          <p:nvPr/>
        </p:nvSpPr>
        <p:spPr>
          <a:xfrm>
            <a:off x="3633216"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 Letter ready</a:t>
            </a:r>
          </a:p>
          <a:p>
            <a:pPr algn="ctr"/>
            <a:r>
              <a:rPr sz="850" b="0" i="0">
                <a:solidFill>
                  <a:srgbClr val="002368"/>
                </a:solidFill>
                <a:latin typeface="Arial"/>
              </a:rPr>
              <a:t>Kiswahili, letterhead</a:t>
            </a:r>
          </a:p>
        </p:txBody>
      </p:sp>
      <p:sp>
        <p:nvSpPr>
          <p:cNvPr id="25" name="Chevron 24"/>
          <p:cNvSpPr/>
          <p:nvPr/>
        </p:nvSpPr>
        <p:spPr>
          <a:xfrm>
            <a:off x="4648417" y="1883664"/>
            <a:ext cx="100584" cy="201168"/>
          </a:xfrm>
          <a:prstGeom prst="chevron">
            <a:avLst>
              <a:gd name="adj" fmla="val 55000"/>
            </a:avLst>
          </a:prstGeom>
          <a:solidFill>
            <a:srgbClr val="80BFEC"/>
          </a:solidFill>
          <a:ln>
            <a:noFill/>
          </a:ln>
        </p:spPr>
        <p:txBody>
          <a:bodyPr rtlCol="0" anchor="ctr"/>
          <a:lstStyle/>
          <a:p>
            <a:pPr algn="ctr"/>
          </a:p>
        </p:txBody>
      </p:sp>
      <p:sp>
        <p:nvSpPr>
          <p:cNvPr id="26" name="Rounded Rectangle 25"/>
          <p:cNvSpPr/>
          <p:nvPr/>
        </p:nvSpPr>
        <p:spPr>
          <a:xfrm>
            <a:off x="4808437"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S2 By hand</a:t>
            </a:r>
          </a:p>
          <a:p>
            <a:pPr algn="ctr"/>
            <a:r>
              <a:rPr sz="850" b="0" i="0">
                <a:solidFill>
                  <a:srgbClr val="002368"/>
                </a:solidFill>
                <a:latin typeface="Arial"/>
              </a:rPr>
              <a:t>advance copy if an inbox</a:t>
            </a:r>
          </a:p>
        </p:txBody>
      </p:sp>
      <p:sp>
        <p:nvSpPr>
          <p:cNvPr id="27" name="Chevron 26"/>
          <p:cNvSpPr/>
          <p:nvPr/>
        </p:nvSpPr>
        <p:spPr>
          <a:xfrm>
            <a:off x="5823639" y="1883664"/>
            <a:ext cx="100584" cy="201168"/>
          </a:xfrm>
          <a:prstGeom prst="chevron">
            <a:avLst>
              <a:gd name="adj" fmla="val 55000"/>
            </a:avLst>
          </a:prstGeom>
          <a:solidFill>
            <a:srgbClr val="80BFEC"/>
          </a:solidFill>
          <a:ln>
            <a:noFill/>
          </a:ln>
        </p:spPr>
        <p:txBody>
          <a:bodyPr rtlCol="0" anchor="ctr"/>
          <a:lstStyle/>
          <a:p>
            <a:pPr algn="ctr"/>
          </a:p>
        </p:txBody>
      </p:sp>
      <p:sp>
        <p:nvSpPr>
          <p:cNvPr id="28" name="Rounded Rectangle 27"/>
          <p:cNvSpPr/>
          <p:nvPr/>
        </p:nvSpPr>
        <p:spPr>
          <a:xfrm>
            <a:off x="5983659"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S3 Call</a:t>
            </a:r>
          </a:p>
          <a:p>
            <a:pPr algn="ctr"/>
            <a:r>
              <a:rPr sz="850" b="0" i="0">
                <a:solidFill>
                  <a:srgbClr val="002368"/>
                </a:solidFill>
                <a:latin typeface="Arial"/>
              </a:rPr>
              <a:t>after 5 working days</a:t>
            </a:r>
          </a:p>
        </p:txBody>
      </p:sp>
      <p:sp>
        <p:nvSpPr>
          <p:cNvPr id="29" name="Chevron 28"/>
          <p:cNvSpPr/>
          <p:nvPr/>
        </p:nvSpPr>
        <p:spPr>
          <a:xfrm>
            <a:off x="6998861" y="1883664"/>
            <a:ext cx="100584" cy="201168"/>
          </a:xfrm>
          <a:prstGeom prst="chevron">
            <a:avLst>
              <a:gd name="adj" fmla="val 55000"/>
            </a:avLst>
          </a:prstGeom>
          <a:solidFill>
            <a:srgbClr val="80BFEC"/>
          </a:solidFill>
          <a:ln>
            <a:noFill/>
          </a:ln>
        </p:spPr>
        <p:txBody>
          <a:bodyPr rtlCol="0" anchor="ctr"/>
          <a:lstStyle/>
          <a:p>
            <a:pPr algn="ctr"/>
          </a:p>
        </p:txBody>
      </p:sp>
      <p:sp>
        <p:nvSpPr>
          <p:cNvPr id="30" name="Rounded Rectangle 29"/>
          <p:cNvSpPr/>
          <p:nvPr/>
        </p:nvSpPr>
        <p:spPr>
          <a:xfrm>
            <a:off x="7158881"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Courtesy visit</a:t>
            </a:r>
          </a:p>
          <a:p>
            <a:pPr algn="ctr"/>
            <a:r>
              <a:rPr sz="850" b="0" i="0">
                <a:solidFill>
                  <a:srgbClr val="002368"/>
                </a:solidFill>
                <a:latin typeface="Arial"/>
              </a:rPr>
              <a:t>Coord + campus head</a:t>
            </a:r>
          </a:p>
        </p:txBody>
      </p:sp>
      <p:sp>
        <p:nvSpPr>
          <p:cNvPr id="31" name="Chevron 30"/>
          <p:cNvSpPr/>
          <p:nvPr/>
        </p:nvSpPr>
        <p:spPr>
          <a:xfrm>
            <a:off x="8174082" y="1883664"/>
            <a:ext cx="100584" cy="201168"/>
          </a:xfrm>
          <a:prstGeom prst="chevron">
            <a:avLst>
              <a:gd name="adj" fmla="val 55000"/>
            </a:avLst>
          </a:prstGeom>
          <a:solidFill>
            <a:srgbClr val="80BFEC"/>
          </a:solidFill>
          <a:ln>
            <a:noFill/>
          </a:ln>
        </p:spPr>
        <p:txBody>
          <a:bodyPr rtlCol="0" anchor="ctr"/>
          <a:lstStyle/>
          <a:p>
            <a:pPr algn="ctr"/>
          </a:p>
        </p:txBody>
      </p:sp>
      <p:sp>
        <p:nvSpPr>
          <p:cNvPr id="32" name="Rounded Rectangle 31"/>
          <p:cNvSpPr/>
          <p:nvPr/>
        </p:nvSpPr>
        <p:spPr>
          <a:xfrm>
            <a:off x="8334102" y="1572768"/>
            <a:ext cx="955765" cy="822960"/>
          </a:xfrm>
          <a:prstGeom prst="roundRect">
            <a:avLst>
              <a:gd name="adj" fmla="val 7777"/>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introduction to WEOs, VEOs</a:t>
            </a:r>
          </a:p>
        </p:txBody>
      </p:sp>
      <p:sp>
        <p:nvSpPr>
          <p:cNvPr id="33" name="Chevron 32"/>
          <p:cNvSpPr/>
          <p:nvPr/>
        </p:nvSpPr>
        <p:spPr>
          <a:xfrm>
            <a:off x="9349304" y="1883664"/>
            <a:ext cx="100584" cy="201168"/>
          </a:xfrm>
          <a:prstGeom prst="chevron">
            <a:avLst>
              <a:gd name="adj" fmla="val 55000"/>
            </a:avLst>
          </a:prstGeom>
          <a:solidFill>
            <a:srgbClr val="80BFEC"/>
          </a:solidFill>
          <a:ln>
            <a:noFill/>
          </a:ln>
        </p:spPr>
        <p:txBody>
          <a:bodyPr rtlCol="0" anchor="ctr"/>
          <a:lstStyle/>
          <a:p>
            <a:pPr algn="ctr"/>
          </a:p>
        </p:txBody>
      </p:sp>
      <p:sp>
        <p:nvSpPr>
          <p:cNvPr id="34" name="Rounded Rectangle 33"/>
          <p:cNvSpPr/>
          <p:nvPr/>
        </p:nvSpPr>
        <p:spPr>
          <a:xfrm>
            <a:off x="9509324" y="1572768"/>
            <a:ext cx="955765" cy="822960"/>
          </a:xfrm>
          <a:prstGeom prst="roundRect">
            <a:avLst>
              <a:gd name="adj" fmla="val 7777"/>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G2 funnels open</a:t>
            </a:r>
          </a:p>
          <a:p>
            <a:pPr algn="ctr"/>
            <a:r>
              <a:rPr sz="850" b="0" i="0">
                <a:solidFill>
                  <a:srgbClr val="002368"/>
                </a:solidFill>
                <a:latin typeface="Arial"/>
              </a:rPr>
              <a:t>wards and villages</a:t>
            </a:r>
          </a:p>
        </p:txBody>
      </p:sp>
      <p:sp>
        <p:nvSpPr>
          <p:cNvPr id="35" name="Chevron 34"/>
          <p:cNvSpPr/>
          <p:nvPr/>
        </p:nvSpPr>
        <p:spPr>
          <a:xfrm>
            <a:off x="10524526" y="1883664"/>
            <a:ext cx="100584" cy="201168"/>
          </a:xfrm>
          <a:prstGeom prst="chevron">
            <a:avLst>
              <a:gd name="adj" fmla="val 55000"/>
            </a:avLst>
          </a:prstGeom>
          <a:solidFill>
            <a:srgbClr val="80BFEC"/>
          </a:solidFill>
          <a:ln>
            <a:noFill/>
          </a:ln>
        </p:spPr>
        <p:txBody>
          <a:bodyPr rtlCol="0" anchor="ctr"/>
          <a:lstStyle/>
          <a:p>
            <a:pPr algn="ctr"/>
          </a:p>
        </p:txBody>
      </p:sp>
      <p:sp>
        <p:nvSpPr>
          <p:cNvPr id="36" name="Rounded Rectangle 35"/>
          <p:cNvSpPr/>
          <p:nvPr/>
        </p:nvSpPr>
        <p:spPr>
          <a:xfrm>
            <a:off x="10684546"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Re-verify</a:t>
            </a:r>
          </a:p>
          <a:p>
            <a:pPr algn="ctr"/>
            <a:r>
              <a:rPr sz="850" b="0" i="0">
                <a:solidFill>
                  <a:srgbClr val="002368"/>
                </a:solidFill>
                <a:latin typeface="Arial"/>
              </a:rPr>
              <a:t>holders every 90 days</a:t>
            </a:r>
          </a:p>
        </p:txBody>
      </p:sp>
      <p:sp>
        <p:nvSpPr>
          <p:cNvPr id="37" name="Rounded Rectangle 36"/>
          <p:cNvSpPr/>
          <p:nvPr/>
        </p:nvSpPr>
        <p:spPr>
          <a:xfrm>
            <a:off x="2075688" y="2505456"/>
            <a:ext cx="2710281"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re-deliver once next quarter</a:t>
            </a:r>
          </a:p>
        </p:txBody>
      </p:sp>
      <p:sp>
        <p:nvSpPr>
          <p:cNvPr id="38" name="Rounded Rectangle 37"/>
          <p:cNvSpPr/>
          <p:nvPr/>
        </p:nvSpPr>
        <p:spPr>
          <a:xfrm>
            <a:off x="4923129" y="2505456"/>
            <a:ext cx="2249423"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or payment asked → SX</a:t>
            </a:r>
          </a:p>
        </p:txBody>
      </p:sp>
      <p:cxnSp>
        <p:nvCxnSpPr>
          <p:cNvPr id="39" name="Connector 38"/>
          <p:cNvCxnSpPr/>
          <p:nvPr/>
        </p:nvCxnSpPr>
        <p:spPr>
          <a:xfrm>
            <a:off x="548640" y="3017520"/>
            <a:ext cx="11091672" cy="0"/>
          </a:xfrm>
          <a:prstGeom prst="line">
            <a:avLst/>
          </a:prstGeom>
          <a:ln w="9525">
            <a:solidFill>
              <a:srgbClr val="ECECEC"/>
            </a:solidFill>
          </a:ln>
        </p:spPr>
      </p:cxnSp>
      <p:sp>
        <p:nvSpPr>
          <p:cNvPr id="40" name="TextBox 39"/>
          <p:cNvSpPr txBox="1"/>
          <p:nvPr/>
        </p:nvSpPr>
        <p:spPr>
          <a:xfrm>
            <a:off x="548640" y="3118104"/>
            <a:ext cx="1481328" cy="457200"/>
          </a:xfrm>
          <a:prstGeom prst="rect">
            <a:avLst/>
          </a:prstGeom>
          <a:noFill/>
        </p:spPr>
        <p:txBody>
          <a:bodyPr wrap="square" lIns="0" tIns="0" rIns="0" bIns="0" anchor="t">
            <a:spAutoFit/>
          </a:bodyPr>
          <a:lstStyle/>
          <a:p>
            <a:pPr algn="l"/>
            <a:r>
              <a:rPr sz="2600" b="0" i="0">
                <a:solidFill>
                  <a:srgbClr val="002368"/>
                </a:solidFill>
                <a:latin typeface="Georgia"/>
              </a:rPr>
              <a:t>G2</a:t>
            </a:r>
          </a:p>
        </p:txBody>
      </p:sp>
      <p:sp>
        <p:nvSpPr>
          <p:cNvPr id="41" name="TextBox 40"/>
          <p:cNvSpPr txBox="1"/>
          <p:nvPr/>
        </p:nvSpPr>
        <p:spPr>
          <a:xfrm>
            <a:off x="548640" y="3575304"/>
            <a:ext cx="1389888" cy="566928"/>
          </a:xfrm>
          <a:prstGeom prst="rect">
            <a:avLst/>
          </a:prstGeom>
          <a:noFill/>
        </p:spPr>
        <p:txBody>
          <a:bodyPr wrap="square" lIns="0" tIns="0" rIns="0" bIns="0" anchor="t">
            <a:spAutoFit/>
          </a:bodyPr>
          <a:lstStyle/>
          <a:p>
            <a:pPr algn="l"/>
            <a:r>
              <a:rPr sz="1100" b="1" i="0">
                <a:solidFill>
                  <a:srgbClr val="002368"/>
                </a:solidFill>
                <a:latin typeface="Arial"/>
              </a:rPr>
              <a:t>Ward and village offices</a:t>
            </a:r>
          </a:p>
        </p:txBody>
      </p:sp>
      <p:sp>
        <p:nvSpPr>
          <p:cNvPr id="42" name="TextBox 41"/>
          <p:cNvSpPr txBox="1"/>
          <p:nvPr/>
        </p:nvSpPr>
        <p:spPr>
          <a:xfrm>
            <a:off x="548640" y="4160520"/>
            <a:ext cx="1389888" cy="457200"/>
          </a:xfrm>
          <a:prstGeom prst="rect">
            <a:avLst/>
          </a:prstGeom>
          <a:noFill/>
        </p:spPr>
        <p:txBody>
          <a:bodyPr wrap="square" lIns="0" tIns="0" rIns="0" bIns="0" anchor="t">
            <a:spAutoFit/>
          </a:bodyPr>
          <a:lstStyle/>
          <a:p>
            <a:pPr algn="l"/>
            <a:r>
              <a:rPr sz="900" b="0" i="0">
                <a:solidFill>
                  <a:srgbClr val="818283"/>
                </a:solidFill>
                <a:latin typeface="Arial"/>
              </a:rPr>
              <a:t>Wards 129 · villages 80 · mtaa none yet</a:t>
            </a:r>
          </a:p>
        </p:txBody>
      </p:sp>
      <p:sp>
        <p:nvSpPr>
          <p:cNvPr id="43" name="Hexagon 42"/>
          <p:cNvSpPr/>
          <p:nvPr/>
        </p:nvSpPr>
        <p:spPr>
          <a:xfrm>
            <a:off x="2075688" y="3154680"/>
            <a:ext cx="1338072" cy="822960"/>
          </a:xfrm>
          <a:prstGeom prst="hexagon">
            <a:avLst>
              <a:gd name="adj" fmla="val 11111"/>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Introduced, officer verified?</a:t>
            </a:r>
          </a:p>
          <a:p>
            <a:pPr algn="ctr"/>
            <a:r>
              <a:rPr sz="850" b="0" i="0">
                <a:solidFill>
                  <a:srgbClr val="002368"/>
                </a:solidFill>
                <a:latin typeface="Arial"/>
              </a:rPr>
              <a:t>no: S0 held</a:t>
            </a:r>
          </a:p>
        </p:txBody>
      </p:sp>
      <p:sp>
        <p:nvSpPr>
          <p:cNvPr id="44" name="Chevron 43"/>
          <p:cNvSpPr/>
          <p:nvPr/>
        </p:nvSpPr>
        <p:spPr>
          <a:xfrm>
            <a:off x="3473196" y="3465576"/>
            <a:ext cx="100584" cy="201168"/>
          </a:xfrm>
          <a:prstGeom prst="chevron">
            <a:avLst>
              <a:gd name="adj" fmla="val 55000"/>
            </a:avLst>
          </a:prstGeom>
          <a:solidFill>
            <a:srgbClr val="80BFEC"/>
          </a:solidFill>
          <a:ln>
            <a:noFill/>
          </a:ln>
        </p:spPr>
        <p:txBody>
          <a:bodyPr rtlCol="0" anchor="ctr"/>
          <a:lstStyle/>
          <a:p>
            <a:pPr algn="ctr"/>
          </a:p>
        </p:txBody>
      </p:sp>
      <p:sp>
        <p:nvSpPr>
          <p:cNvPr id="45" name="Rounded Rectangle 44"/>
          <p:cNvSpPr/>
          <p:nvPr/>
        </p:nvSpPr>
        <p:spPr>
          <a:xfrm>
            <a:off x="3633216"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 Request ready</a:t>
            </a:r>
          </a:p>
          <a:p>
            <a:pPr algn="ctr"/>
            <a:r>
              <a:rPr sz="850" b="0" i="0">
                <a:solidFill>
                  <a:srgbClr val="002368"/>
                </a:solidFill>
                <a:latin typeface="Arial"/>
              </a:rPr>
              <a:t>Kiswahili letter</a:t>
            </a:r>
          </a:p>
        </p:txBody>
      </p:sp>
      <p:sp>
        <p:nvSpPr>
          <p:cNvPr id="46" name="Chevron 45"/>
          <p:cNvSpPr/>
          <p:nvPr/>
        </p:nvSpPr>
        <p:spPr>
          <a:xfrm>
            <a:off x="4648417" y="3465576"/>
            <a:ext cx="100584" cy="201168"/>
          </a:xfrm>
          <a:prstGeom prst="chevron">
            <a:avLst>
              <a:gd name="adj" fmla="val 55000"/>
            </a:avLst>
          </a:prstGeom>
          <a:solidFill>
            <a:srgbClr val="80BFEC"/>
          </a:solidFill>
          <a:ln>
            <a:noFill/>
          </a:ln>
        </p:spPr>
        <p:txBody>
          <a:bodyPr rtlCol="0" anchor="ctr"/>
          <a:lstStyle/>
          <a:p>
            <a:pPr algn="ctr"/>
          </a:p>
        </p:txBody>
      </p:sp>
      <p:sp>
        <p:nvSpPr>
          <p:cNvPr id="47" name="Rounded Rectangle 46"/>
          <p:cNvSpPr/>
          <p:nvPr/>
        </p:nvSpPr>
        <p:spPr>
          <a:xfrm>
            <a:off x="4808437"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S2 By hand</a:t>
            </a:r>
          </a:p>
          <a:p>
            <a:pPr algn="ctr"/>
            <a:r>
              <a:rPr sz="850" b="0" i="0">
                <a:solidFill>
                  <a:srgbClr val="002368"/>
                </a:solidFill>
                <a:latin typeface="Arial"/>
              </a:rPr>
              <a:t>Coord</a:t>
            </a:r>
          </a:p>
        </p:txBody>
      </p:sp>
      <p:sp>
        <p:nvSpPr>
          <p:cNvPr id="48" name="Chevron 47"/>
          <p:cNvSpPr/>
          <p:nvPr/>
        </p:nvSpPr>
        <p:spPr>
          <a:xfrm>
            <a:off x="5823639" y="3465576"/>
            <a:ext cx="100584" cy="201168"/>
          </a:xfrm>
          <a:prstGeom prst="chevron">
            <a:avLst>
              <a:gd name="adj" fmla="val 55000"/>
            </a:avLst>
          </a:prstGeom>
          <a:solidFill>
            <a:srgbClr val="80BFEC"/>
          </a:solidFill>
          <a:ln>
            <a:noFill/>
          </a:ln>
        </p:spPr>
        <p:txBody>
          <a:bodyPr rtlCol="0" anchor="ctr"/>
          <a:lstStyle/>
          <a:p>
            <a:pPr algn="ctr"/>
          </a:p>
        </p:txBody>
      </p:sp>
      <p:sp>
        <p:nvSpPr>
          <p:cNvPr id="49" name="Rounded Rectangle 48"/>
          <p:cNvSpPr/>
          <p:nvPr/>
        </p:nvSpPr>
        <p:spPr>
          <a:xfrm>
            <a:off x="5983659"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 WEO or VEO</a:t>
            </a:r>
          </a:p>
          <a:p>
            <a:pPr algn="ctr"/>
            <a:r>
              <a:rPr sz="850" b="0" i="0">
                <a:solidFill>
                  <a:srgbClr val="002368"/>
                </a:solidFill>
                <a:latin typeface="Arial"/>
              </a:rPr>
              <a:t>the meeting calendar</a:t>
            </a:r>
          </a:p>
        </p:txBody>
      </p:sp>
      <p:sp>
        <p:nvSpPr>
          <p:cNvPr id="50" name="Chevron 49"/>
          <p:cNvSpPr/>
          <p:nvPr/>
        </p:nvSpPr>
        <p:spPr>
          <a:xfrm>
            <a:off x="6998861" y="3465576"/>
            <a:ext cx="100584" cy="201168"/>
          </a:xfrm>
          <a:prstGeom prst="chevron">
            <a:avLst>
              <a:gd name="adj" fmla="val 55000"/>
            </a:avLst>
          </a:prstGeom>
          <a:solidFill>
            <a:srgbClr val="80BFEC"/>
          </a:solidFill>
          <a:ln>
            <a:noFill/>
          </a:ln>
        </p:spPr>
        <p:txBody>
          <a:bodyPr rtlCol="0" anchor="ctr"/>
          <a:lstStyle/>
          <a:p>
            <a:pPr algn="ctr"/>
          </a:p>
        </p:txBody>
      </p:sp>
      <p:sp>
        <p:nvSpPr>
          <p:cNvPr id="51" name="Rounded Rectangle 50"/>
          <p:cNvSpPr/>
          <p:nvPr/>
        </p:nvSpPr>
        <p:spPr>
          <a:xfrm>
            <a:off x="7158881" y="3154680"/>
            <a:ext cx="955765" cy="822960"/>
          </a:xfrm>
          <a:prstGeom prst="roundRect">
            <a:avLst>
              <a:gd name="adj" fmla="val 7777"/>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S5 Slot in writing</a:t>
            </a:r>
          </a:p>
          <a:p>
            <a:pPr algn="ctr"/>
            <a:r>
              <a:rPr sz="850" b="0" i="0">
                <a:solidFill>
                  <a:srgbClr val="002368"/>
                </a:solidFill>
                <a:latin typeface="Arial"/>
              </a:rPr>
              <a:t>date, venue, minutes</a:t>
            </a:r>
          </a:p>
        </p:txBody>
      </p:sp>
      <p:sp>
        <p:nvSpPr>
          <p:cNvPr id="52" name="Chevron 51"/>
          <p:cNvSpPr/>
          <p:nvPr/>
        </p:nvSpPr>
        <p:spPr>
          <a:xfrm>
            <a:off x="8174082" y="3465576"/>
            <a:ext cx="100584" cy="201168"/>
          </a:xfrm>
          <a:prstGeom prst="chevron">
            <a:avLst>
              <a:gd name="adj" fmla="val 55000"/>
            </a:avLst>
          </a:prstGeom>
          <a:solidFill>
            <a:srgbClr val="80BFEC"/>
          </a:solidFill>
          <a:ln>
            <a:noFill/>
          </a:ln>
        </p:spPr>
        <p:txBody>
          <a:bodyPr rtlCol="0" anchor="ctr"/>
          <a:lstStyle/>
          <a:p>
            <a:pPr algn="ctr"/>
          </a:p>
        </p:txBody>
      </p:sp>
      <p:sp>
        <p:nvSpPr>
          <p:cNvPr id="53" name="Rounded Rectangle 52"/>
          <p:cNvSpPr/>
          <p:nvPr/>
        </p:nvSpPr>
        <p:spPr>
          <a:xfrm>
            <a:off x="8334102" y="3154680"/>
            <a:ext cx="955765" cy="822960"/>
          </a:xfrm>
          <a:prstGeom prst="roundRect">
            <a:avLst>
              <a:gd name="adj" fmla="val 7777"/>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meeting held: talk + booklet</a:t>
            </a:r>
          </a:p>
        </p:txBody>
      </p:sp>
      <p:sp>
        <p:nvSpPr>
          <p:cNvPr id="54" name="Chevron 53"/>
          <p:cNvSpPr/>
          <p:nvPr/>
        </p:nvSpPr>
        <p:spPr>
          <a:xfrm>
            <a:off x="9349304" y="3465576"/>
            <a:ext cx="100584" cy="201168"/>
          </a:xfrm>
          <a:prstGeom prst="chevron">
            <a:avLst>
              <a:gd name="adj" fmla="val 55000"/>
            </a:avLst>
          </a:prstGeom>
          <a:solidFill>
            <a:srgbClr val="80BFEC"/>
          </a:solidFill>
          <a:ln>
            <a:noFill/>
          </a:ln>
        </p:spPr>
        <p:txBody>
          <a:bodyPr rtlCol="0" anchor="ctr"/>
          <a:lstStyle/>
          <a:p>
            <a:pPr algn="ctr"/>
          </a:p>
        </p:txBody>
      </p:sp>
      <p:sp>
        <p:nvSpPr>
          <p:cNvPr id="55" name="Rounded Rectangle 54"/>
          <p:cNvSpPr/>
          <p:nvPr/>
        </p:nvSpPr>
        <p:spPr>
          <a:xfrm>
            <a:off x="9509324" y="3154680"/>
            <a:ext cx="955765" cy="822960"/>
          </a:xfrm>
          <a:prstGeom prst="roundRect">
            <a:avLst>
              <a:gd name="adj" fmla="val 7777"/>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Parents opt in</a:t>
            </a:r>
          </a:p>
          <a:p>
            <a:pPr algn="ctr"/>
            <a:r>
              <a:rPr sz="850" b="0" i="0">
                <a:solidFill>
                  <a:srgbClr val="002368"/>
                </a:solidFill>
                <a:latin typeface="Arial"/>
              </a:rPr>
              <a:t>form or QR, code EVT</a:t>
            </a:r>
          </a:p>
        </p:txBody>
      </p:sp>
      <p:sp>
        <p:nvSpPr>
          <p:cNvPr id="56" name="Chevron 55"/>
          <p:cNvSpPr/>
          <p:nvPr/>
        </p:nvSpPr>
        <p:spPr>
          <a:xfrm>
            <a:off x="10524526" y="3465576"/>
            <a:ext cx="100584" cy="201168"/>
          </a:xfrm>
          <a:prstGeom prst="chevron">
            <a:avLst>
              <a:gd name="adj" fmla="val 55000"/>
            </a:avLst>
          </a:prstGeom>
          <a:solidFill>
            <a:srgbClr val="80BFEC"/>
          </a:solidFill>
          <a:ln>
            <a:noFill/>
          </a:ln>
        </p:spPr>
        <p:txBody>
          <a:bodyPr rtlCol="0" anchor="ctr"/>
          <a:lstStyle/>
          <a:p>
            <a:pPr algn="ctr"/>
          </a:p>
        </p:txBody>
      </p:sp>
      <p:sp>
        <p:nvSpPr>
          <p:cNvPr id="57" name="Rounded Rectangle 56"/>
          <p:cNvSpPr/>
          <p:nvPr/>
        </p:nvSpPr>
        <p:spPr>
          <a:xfrm>
            <a:off x="10684546"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Thank-you</a:t>
            </a:r>
          </a:p>
          <a:p>
            <a:pPr algn="ctr"/>
            <a:r>
              <a:rPr sz="850" b="0" i="0">
                <a:solidFill>
                  <a:srgbClr val="002368"/>
                </a:solidFill>
                <a:latin typeface="Arial"/>
              </a:rPr>
              <a:t>totals; repeat convener</a:t>
            </a:r>
          </a:p>
        </p:txBody>
      </p:sp>
      <p:sp>
        <p:nvSpPr>
          <p:cNvPr id="58" name="Rounded Rectangle 57"/>
          <p:cNvSpPr/>
          <p:nvPr/>
        </p:nvSpPr>
        <p:spPr>
          <a:xfrm>
            <a:off x="2075688" y="4087368"/>
            <a:ext cx="2841955"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re-deliver before next meeting</a:t>
            </a:r>
          </a:p>
        </p:txBody>
      </p:sp>
      <p:sp>
        <p:nvSpPr>
          <p:cNvPr id="59" name="Rounded Rectangle 58"/>
          <p:cNvSpPr/>
          <p:nvPr/>
        </p:nvSpPr>
        <p:spPr>
          <a:xfrm>
            <a:off x="5054803" y="4087368"/>
            <a:ext cx="2051913"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Payment or lists → stop, SX</a:t>
            </a:r>
          </a:p>
        </p:txBody>
      </p:sp>
      <p:cxnSp>
        <p:nvCxnSpPr>
          <p:cNvPr id="60" name="Connector 59"/>
          <p:cNvCxnSpPr/>
          <p:nvPr/>
        </p:nvCxnSpPr>
        <p:spPr>
          <a:xfrm>
            <a:off x="548640" y="4599432"/>
            <a:ext cx="11091672" cy="0"/>
          </a:xfrm>
          <a:prstGeom prst="line">
            <a:avLst/>
          </a:prstGeom>
          <a:ln w="9525">
            <a:solidFill>
              <a:srgbClr val="ECECEC"/>
            </a:solidFill>
          </a:ln>
        </p:spPr>
      </p:cxnSp>
      <p:sp>
        <p:nvSpPr>
          <p:cNvPr id="61" name="TextBox 60"/>
          <p:cNvSpPr txBox="1"/>
          <p:nvPr/>
        </p:nvSpPr>
        <p:spPr>
          <a:xfrm>
            <a:off x="548640" y="4700016"/>
            <a:ext cx="1481328" cy="457200"/>
          </a:xfrm>
          <a:prstGeom prst="rect">
            <a:avLst/>
          </a:prstGeom>
          <a:noFill/>
        </p:spPr>
        <p:txBody>
          <a:bodyPr wrap="square" lIns="0" tIns="0" rIns="0" bIns="0" anchor="t">
            <a:spAutoFit/>
          </a:bodyPr>
          <a:lstStyle/>
          <a:p>
            <a:pPr algn="l"/>
            <a:r>
              <a:rPr sz="2600" b="0" i="0">
                <a:solidFill>
                  <a:srgbClr val="002368"/>
                </a:solidFill>
                <a:latin typeface="Georgia"/>
              </a:rPr>
              <a:t>G3</a:t>
            </a:r>
          </a:p>
        </p:txBody>
      </p:sp>
      <p:sp>
        <p:nvSpPr>
          <p:cNvPr id="62" name="TextBox 61"/>
          <p:cNvSpPr txBox="1"/>
          <p:nvPr/>
        </p:nvSpPr>
        <p:spPr>
          <a:xfrm>
            <a:off x="548640" y="5157216"/>
            <a:ext cx="1389888" cy="566928"/>
          </a:xfrm>
          <a:prstGeom prst="rect">
            <a:avLst/>
          </a:prstGeom>
          <a:noFill/>
        </p:spPr>
        <p:txBody>
          <a:bodyPr wrap="square" lIns="0" tIns="0" rIns="0" bIns="0" anchor="t">
            <a:spAutoFit/>
          </a:bodyPr>
          <a:lstStyle/>
          <a:p>
            <a:pPr algn="l"/>
            <a:r>
              <a:rPr sz="1100" b="1" i="0">
                <a:solidFill>
                  <a:srgbClr val="002368"/>
                </a:solidFill>
                <a:latin typeface="Arial"/>
              </a:rPr>
              <a:t>District and regional offices</a:t>
            </a:r>
          </a:p>
        </p:txBody>
      </p:sp>
      <p:sp>
        <p:nvSpPr>
          <p:cNvPr id="63" name="TextBox 62"/>
          <p:cNvSpPr txBox="1"/>
          <p:nvPr/>
        </p:nvSpPr>
        <p:spPr>
          <a:xfrm>
            <a:off x="548640" y="5742431"/>
            <a:ext cx="1389888" cy="457200"/>
          </a:xfrm>
          <a:prstGeom prst="rect">
            <a:avLst/>
          </a:prstGeom>
          <a:noFill/>
        </p:spPr>
        <p:txBody>
          <a:bodyPr wrap="square" lIns="0" tIns="0" rIns="0" bIns="0" anchor="t">
            <a:spAutoFit/>
          </a:bodyPr>
          <a:lstStyle/>
          <a:p>
            <a:pPr algn="l"/>
            <a:r>
              <a:rPr sz="900" b="0" i="0">
                <a:solidFill>
                  <a:srgbClr val="818283"/>
                </a:solidFill>
                <a:latin typeface="Arial"/>
              </a:rPr>
              <a:t>7 districts · 3 regions, all held</a:t>
            </a:r>
          </a:p>
        </p:txBody>
      </p:sp>
      <p:sp>
        <p:nvSpPr>
          <p:cNvPr id="64" name="Hexagon 63"/>
          <p:cNvSpPr/>
          <p:nvPr/>
        </p:nvSpPr>
        <p:spPr>
          <a:xfrm>
            <a:off x="2075688" y="4736592"/>
            <a:ext cx="1341258" cy="822960"/>
          </a:xfrm>
          <a:prstGeom prst="hexagon">
            <a:avLst>
              <a:gd name="adj" fmla="val 11111"/>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Pilot done, B2G approves?</a:t>
            </a:r>
          </a:p>
          <a:p>
            <a:pPr algn="ctr"/>
            <a:r>
              <a:rPr sz="850" b="0" i="0">
                <a:solidFill>
                  <a:srgbClr val="002368"/>
                </a:solidFill>
                <a:latin typeface="Arial"/>
              </a:rPr>
              <a:t>no: S0 held</a:t>
            </a:r>
          </a:p>
        </p:txBody>
      </p:sp>
      <p:sp>
        <p:nvSpPr>
          <p:cNvPr id="65" name="Chevron 64"/>
          <p:cNvSpPr/>
          <p:nvPr/>
        </p:nvSpPr>
        <p:spPr>
          <a:xfrm>
            <a:off x="3476382" y="5047488"/>
            <a:ext cx="100584" cy="201168"/>
          </a:xfrm>
          <a:prstGeom prst="chevron">
            <a:avLst>
              <a:gd name="adj" fmla="val 55000"/>
            </a:avLst>
          </a:prstGeom>
          <a:solidFill>
            <a:srgbClr val="80BFEC"/>
          </a:solidFill>
          <a:ln>
            <a:noFill/>
          </a:ln>
        </p:spPr>
        <p:txBody>
          <a:bodyPr rtlCol="0" anchor="ctr"/>
          <a:lstStyle/>
          <a:p>
            <a:pPr algn="ctr"/>
          </a:p>
        </p:txBody>
      </p:sp>
      <p:sp>
        <p:nvSpPr>
          <p:cNvPr id="66" name="Rounded Rectangle 65"/>
          <p:cNvSpPr/>
          <p:nvPr/>
        </p:nvSpPr>
        <p:spPr>
          <a:xfrm>
            <a:off x="3636402" y="4736592"/>
            <a:ext cx="958041"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S2 Courtesy notice</a:t>
            </a:r>
          </a:p>
          <a:p>
            <a:pPr algn="ctr"/>
            <a:r>
              <a:rPr sz="850" b="0" i="0">
                <a:solidFill>
                  <a:srgbClr val="002368"/>
                </a:solidFill>
                <a:latin typeface="Arial"/>
              </a:rPr>
              <a:t>Kiswahili letter</a:t>
            </a:r>
          </a:p>
        </p:txBody>
      </p:sp>
      <p:sp>
        <p:nvSpPr>
          <p:cNvPr id="67" name="Chevron 66"/>
          <p:cNvSpPr/>
          <p:nvPr/>
        </p:nvSpPr>
        <p:spPr>
          <a:xfrm>
            <a:off x="4653880" y="5047488"/>
            <a:ext cx="100584" cy="201168"/>
          </a:xfrm>
          <a:prstGeom prst="chevron">
            <a:avLst>
              <a:gd name="adj" fmla="val 55000"/>
            </a:avLst>
          </a:prstGeom>
          <a:solidFill>
            <a:srgbClr val="80BFEC"/>
          </a:solidFill>
          <a:ln>
            <a:noFill/>
          </a:ln>
        </p:spPr>
        <p:txBody>
          <a:bodyPr rtlCol="0" anchor="ctr"/>
          <a:lstStyle/>
          <a:p>
            <a:pPr algn="ctr"/>
          </a:p>
        </p:txBody>
      </p:sp>
      <p:sp>
        <p:nvSpPr>
          <p:cNvPr id="68" name="Rounded Rectangle 67"/>
          <p:cNvSpPr/>
          <p:nvPr/>
        </p:nvSpPr>
        <p:spPr>
          <a:xfrm>
            <a:off x="4813900" y="4736592"/>
            <a:ext cx="958041" cy="822960"/>
          </a:xfrm>
          <a:prstGeom prst="roundRect">
            <a:avLst>
              <a:gd name="adj" fmla="val 7777"/>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Reply</a:t>
            </a:r>
          </a:p>
          <a:p>
            <a:pPr algn="ctr"/>
            <a:r>
              <a:rPr sz="850" b="0" i="0">
                <a:solidFill>
                  <a:srgbClr val="002368"/>
                </a:solidFill>
                <a:latin typeface="Arial"/>
              </a:rPr>
              <a:t>acknowledged</a:t>
            </a:r>
          </a:p>
        </p:txBody>
      </p:sp>
      <p:sp>
        <p:nvSpPr>
          <p:cNvPr id="69" name="Chevron 68"/>
          <p:cNvSpPr/>
          <p:nvPr/>
        </p:nvSpPr>
        <p:spPr>
          <a:xfrm>
            <a:off x="5831378" y="5047488"/>
            <a:ext cx="100584" cy="201168"/>
          </a:xfrm>
          <a:prstGeom prst="chevron">
            <a:avLst>
              <a:gd name="adj" fmla="val 55000"/>
            </a:avLst>
          </a:prstGeom>
          <a:solidFill>
            <a:srgbClr val="80BFEC"/>
          </a:solidFill>
          <a:ln>
            <a:noFill/>
          </a:ln>
        </p:spPr>
        <p:txBody>
          <a:bodyPr rtlCol="0" anchor="ctr"/>
          <a:lstStyle/>
          <a:p>
            <a:pPr algn="ctr"/>
          </a:p>
        </p:txBody>
      </p:sp>
      <p:sp>
        <p:nvSpPr>
          <p:cNvPr id="70" name="Rounded Rectangle 69"/>
          <p:cNvSpPr/>
          <p:nvPr/>
        </p:nvSpPr>
        <p:spPr>
          <a:xfrm>
            <a:off x="5991398" y="4736592"/>
            <a:ext cx="958041" cy="822960"/>
          </a:xfrm>
          <a:prstGeom prst="roundRect">
            <a:avLst>
              <a:gd name="adj" fmla="val 7777"/>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Informed</a:t>
            </a:r>
          </a:p>
          <a:p>
            <a:pPr algn="ctr"/>
            <a:r>
              <a:rPr sz="850" b="0" i="0">
                <a:solidFill>
                  <a:srgbClr val="FFFFFF"/>
                </a:solidFill>
                <a:latin typeface="Arial"/>
              </a:rPr>
              <a:t>no request is made</a:t>
            </a:r>
          </a:p>
        </p:txBody>
      </p:sp>
      <p:sp>
        <p:nvSpPr>
          <p:cNvPr id="71" name="TextBox 70"/>
          <p:cNvSpPr txBox="1"/>
          <p:nvPr/>
        </p:nvSpPr>
        <p:spPr>
          <a:xfrm>
            <a:off x="2121408" y="5669280"/>
            <a:ext cx="4828032" cy="292608"/>
          </a:xfrm>
          <a:prstGeom prst="rect">
            <a:avLst/>
          </a:prstGeom>
          <a:noFill/>
        </p:spPr>
        <p:txBody>
          <a:bodyPr wrap="square" lIns="0" tIns="0" rIns="0" bIns="0" anchor="ctr">
            <a:spAutoFit/>
          </a:bodyPr>
          <a:lstStyle/>
          <a:p>
            <a:pPr algn="l"/>
            <a:r>
              <a:rPr sz="900" b="0" i="0">
                <a:solidFill>
                  <a:srgbClr val="818283"/>
                </a:solidFill>
                <a:latin typeface="Arial"/>
              </a:rPr>
              <a:t>An objection is recorded and escalated to the B2G owner. District meetings are not a first-phase target.</a:t>
            </a:r>
          </a:p>
        </p:txBody>
      </p:sp>
      <p:sp>
        <p:nvSpPr>
          <p:cNvPr id="72" name="TextBox 71"/>
          <p:cNvSpPr txBox="1"/>
          <p:nvPr/>
        </p:nvSpPr>
        <p:spPr>
          <a:xfrm>
            <a:off x="7223760" y="4736592"/>
            <a:ext cx="4416552" cy="1280160"/>
          </a:xfrm>
          <a:prstGeom prst="rect">
            <a:avLst/>
          </a:prstGeom>
          <a:noFill/>
        </p:spPr>
        <p:txBody>
          <a:bodyPr wrap="square" lIns="0" tIns="0" rIns="0" bIns="0" anchor="t">
            <a:spAutoFit/>
          </a:bodyPr>
          <a:lstStyle/>
          <a:p>
            <a:pPr algn="l" marL="155448" indent="-155448">
              <a:spcAft>
                <a:spcPts val="200"/>
              </a:spcAft>
              <a:buFont typeface="Arial"/>
              <a:buChar char="•"/>
            </a:pPr>
            <a:r>
              <a:rPr sz="950" b="0" i="0">
                <a:solidFill>
                  <a:srgbClr val="000000"/>
                </a:solidFill>
                <a:latin typeface="Arial"/>
              </a:rPr>
              <a:t>Silverleaf asks nothing for itself, offers nothing to officials and never takes lists of residents.</a:t>
            </a:r>
          </a:p>
          <a:p>
            <a:pPr algn="l" marL="155448" indent="-155448">
              <a:spcAft>
                <a:spcPts val="200"/>
              </a:spcAft>
              <a:buFont typeface="Arial"/>
              <a:buChar char="•"/>
            </a:pPr>
            <a:r>
              <a:rPr sz="950" b="0" i="0">
                <a:solidFill>
                  <a:srgbClr val="000000"/>
                </a:solidFill>
                <a:latin typeface="Arial"/>
              </a:rPr>
              <a:t>At the meeting: two staff (one from admissions), no photographs, gifts or payments; the office never sees the forms.</a:t>
            </a:r>
          </a:p>
          <a:p>
            <a:pPr algn="l" marL="155448" indent="-155448">
              <a:spcAft>
                <a:spcPts val="200"/>
              </a:spcAft>
              <a:buFont typeface="Arial"/>
              <a:buChar char="•"/>
            </a:pPr>
            <a:r>
              <a:rPr sz="950" b="0" i="0">
                <a:solidFill>
                  <a:srgbClr val="000000"/>
                </a:solidFill>
                <a:latin typeface="Arial"/>
              </a:rPr>
              <a:t>Pause during an election campaign period, and never press.</a:t>
            </a:r>
          </a:p>
        </p:txBody>
      </p:sp>
      <p:pic>
        <p:nvPicPr>
          <p:cNvPr id="73" name="Picture 72" descr="image3.png"/>
          <p:cNvPicPr>
            <a:picLocks noChangeAspect="1"/>
          </p:cNvPicPr>
          <p:nvPr/>
        </p:nvPicPr>
        <p:blipFill>
          <a:blip r:embed="rId2"/>
          <a:stretch>
            <a:fillRect/>
          </a:stretch>
        </p:blipFill>
        <p:spPr>
          <a:xfrm>
            <a:off x="548640" y="6272784"/>
            <a:ext cx="1143000" cy="274320"/>
          </a:xfrm>
          <a:prstGeom prst="rect">
            <a:avLst/>
          </a:prstGeom>
        </p:spPr>
      </p:pic>
      <p:sp>
        <p:nvSpPr>
          <p:cNvPr id="74"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75"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government lead database, October 2026</a:t>
            </a:r>
          </a:p>
        </p:txBody>
      </p:sp>
      <p:sp>
        <p:nvSpPr>
          <p:cNvPr id="7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FALLOUT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Every stall has one planned next touch, then a defined exit</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FOR APPROVAL</a:t>
            </a:r>
          </a:p>
        </p:txBody>
      </p:sp>
      <p:graphicFrame>
        <p:nvGraphicFramePr>
          <p:cNvPr id="5" name="Table 4"/>
          <p:cNvGraphicFramePr>
            <a:graphicFrameLocks noGrp="1"/>
          </p:cNvGraphicFramePr>
          <p:nvPr/>
        </p:nvGraphicFramePr>
        <p:xfrm>
          <a:off x="548640" y="1298448"/>
          <a:ext cx="7406640" cy="4279392"/>
        </p:xfrm>
        <a:graphic>
          <a:graphicData uri="http://schemas.openxmlformats.org/drawingml/2006/table">
            <a:tbl>
              <a:tblPr firstRow="0" bandRow="0">
                <a:tableStyleId>{2D5ABB26-0587-4C30-8999-92F81FD0307C}</a:tableStyleId>
              </a:tblPr>
              <a:tblGrid>
                <a:gridCol w="640080"/>
                <a:gridCol w="1965960"/>
                <a:gridCol w="3063240"/>
                <a:gridCol w="1737360"/>
              </a:tblGrid>
              <a:tr h="475488">
                <a:tc>
                  <a:txBody>
                    <a:bodyPr wrap="square"/>
                    <a:lstStyle/>
                    <a:p>
                      <a:r>
                        <a:rPr sz="900" b="1" i="0" spc="100">
                          <a:solidFill>
                            <a:srgbClr val="818283"/>
                          </a:solidFill>
                          <a:latin typeface="Arial"/>
                        </a:rPr>
                        <a:t>STAGE</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STALL</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NEXT TOUCH</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THEN</a:t>
                      </a:r>
                    </a:p>
                  </a:txBody>
                  <a:tcPr marL="54864" marR="54864" marT="36576" marB="36576" anchor="ctr">
                    <a:lnL w="0">
                      <a:noFill/>
                    </a:lnL>
                    <a:lnR w="0">
                      <a:noFill/>
                    </a:lnR>
                    <a:lnT w="0">
                      <a:noFill/>
                    </a:lnT>
                    <a:lnB w="12700">
                      <a:solidFill>
                        <a:srgbClr val="80BFEC"/>
                      </a:solidFill>
                    </a:lnB>
                    <a:noFill/>
                  </a:tcPr>
                </a:tc>
              </a:tr>
              <a:tr h="475488">
                <a:tc>
                  <a:txBody>
                    <a:bodyPr wrap="square"/>
                    <a:lstStyle/>
                    <a:p>
                      <a:r>
                        <a:rPr sz="950" b="1" i="0">
                          <a:solidFill>
                            <a:srgbClr val="002368"/>
                          </a:solidFill>
                          <a:latin typeface="Arial"/>
                        </a:rPr>
                        <a:t>S2</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 reply, general inbox</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Redirect → front-desk call after 2 working days → letter for the nearest P1/P2</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dormant_no_route</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S2</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 reply, named person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Offer follow-up → redirect-style close → one escalation message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dormant_no_response</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"Send details"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One-page outline plus two meeting slots; one check-in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dormant_details_no_reply</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"Not now"</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Record their date; one message on that date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dormant_deferred_expired</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Referred to a colleague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Restart at S2 with the new person, naming who referred us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S4</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Meeting, no session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Written summary plus the easiest option: a 20-minute webinar or a pack</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dormant_after_meeting</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S5</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Session, no circulation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Share the sign-up count; ask for one circulation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dormant_after_session</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S8</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Few sign-ups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Re-circulate before the next intake; offer a campus visit day</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dormant_quiet_partner</a:t>
                      </a:r>
                    </a:p>
                  </a:txBody>
                  <a:tcPr marL="54864" marR="54864" marT="36576" marB="36576" anchor="ctr">
                    <a:lnL w="0">
                      <a:noFill/>
                    </a:lnL>
                    <a:lnR w="0">
                      <a:noFill/>
                    </a:lnR>
                    <a:lnT w="0">
                      <a:noFill/>
                    </a:lnT>
                    <a:lnB w="9525">
                      <a:solidFill>
                        <a:srgbClr val="ECECEC"/>
                      </a:solidFill>
                    </a:lnB>
                    <a:noFill/>
                  </a:tcPr>
                </a:tc>
              </a:tr>
            </a:tbl>
          </a:graphicData>
        </a:graphic>
      </p:graphicFrame>
      <p:sp>
        <p:nvSpPr>
          <p:cNvPr id="6" name="Rounded Rectangle 5"/>
          <p:cNvSpPr/>
          <p:nvPr/>
        </p:nvSpPr>
        <p:spPr>
          <a:xfrm>
            <a:off x="8183879" y="1298448"/>
            <a:ext cx="3456432" cy="2240280"/>
          </a:xfrm>
          <a:prstGeom prst="roundRect">
            <a:avLst>
              <a:gd name="adj" fmla="val 2857"/>
            </a:avLst>
          </a:prstGeom>
          <a:solidFill>
            <a:srgbClr val="D9ECF9"/>
          </a:solidFill>
          <a:ln w="12700">
            <a:solidFill>
              <a:srgbClr val="D9ECF9"/>
            </a:solidFill>
          </a:ln>
        </p:spPr>
        <p:txBody>
          <a:bodyPr rtlCol="0" anchor="ctr"/>
          <a:lstStyle/>
          <a:p>
            <a:pPr algn="ctr"/>
          </a:p>
        </p:txBody>
      </p:sp>
      <p:sp>
        <p:nvSpPr>
          <p:cNvPr id="7" name="TextBox 6"/>
          <p:cNvSpPr txBox="1"/>
          <p:nvPr/>
        </p:nvSpPr>
        <p:spPr>
          <a:xfrm>
            <a:off x="8412480" y="1435608"/>
            <a:ext cx="3017520" cy="274320"/>
          </a:xfrm>
          <a:prstGeom prst="rect">
            <a:avLst/>
          </a:prstGeom>
          <a:noFill/>
        </p:spPr>
        <p:txBody>
          <a:bodyPr wrap="square" lIns="0" tIns="0" rIns="0" bIns="0" anchor="t">
            <a:spAutoFit/>
          </a:bodyPr>
          <a:lstStyle/>
          <a:p>
            <a:pPr algn="l"/>
            <a:r>
              <a:rPr sz="1300" b="1" i="0">
                <a:solidFill>
                  <a:srgbClr val="002368"/>
                </a:solidFill>
                <a:latin typeface="Arial"/>
              </a:rPr>
              <a:t>Re-activation</a:t>
            </a:r>
          </a:p>
        </p:txBody>
      </p:sp>
      <p:sp>
        <p:nvSpPr>
          <p:cNvPr id="8" name="TextBox 7"/>
          <p:cNvSpPr txBox="1"/>
          <p:nvPr/>
        </p:nvSpPr>
        <p:spPr>
          <a:xfrm>
            <a:off x="8412480" y="1755648"/>
            <a:ext cx="3063240" cy="173736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Dormant leads are re-tried once at the next intake window, or sooner through a warm route.</a:t>
            </a:r>
          </a:p>
          <a:p>
            <a:pPr algn="l" marL="155448" indent="-155448">
              <a:spcAft>
                <a:spcPts val="300"/>
              </a:spcAft>
              <a:buFont typeface="Arial"/>
              <a:buChar char="•"/>
            </a:pPr>
            <a:r>
              <a:rPr sz="1000" b="0" i="0">
                <a:solidFill>
                  <a:srgbClr val="000000"/>
                </a:solidFill>
                <a:latin typeface="Arial"/>
              </a:rPr>
              <a:t>Warm routes: TATO for safari operators, HAT hotels, TBA banks, TAHA farms, APHFTA health, CTI manufacturers, the chambers for everyone.</a:t>
            </a:r>
          </a:p>
        </p:txBody>
      </p:sp>
      <p:sp>
        <p:nvSpPr>
          <p:cNvPr id="9" name="Rounded Rectangle 8"/>
          <p:cNvSpPr/>
          <p:nvPr/>
        </p:nvSpPr>
        <p:spPr>
          <a:xfrm>
            <a:off x="8183879" y="3657600"/>
            <a:ext cx="3456432" cy="2286000"/>
          </a:xfrm>
          <a:prstGeom prst="roundRect">
            <a:avLst>
              <a:gd name="adj" fmla="val 2800"/>
            </a:avLst>
          </a:prstGeom>
          <a:solidFill>
            <a:srgbClr val="FFFFFF"/>
          </a:solidFill>
          <a:ln w="12700">
            <a:solidFill>
              <a:srgbClr val="ECECEC"/>
            </a:solidFill>
          </a:ln>
        </p:spPr>
        <p:txBody>
          <a:bodyPr rtlCol="0" anchor="ctr"/>
          <a:lstStyle/>
          <a:p>
            <a:pPr algn="ctr"/>
          </a:p>
        </p:txBody>
      </p:sp>
      <p:sp>
        <p:nvSpPr>
          <p:cNvPr id="10" name="TextBox 9"/>
          <p:cNvSpPr txBox="1"/>
          <p:nvPr/>
        </p:nvSpPr>
        <p:spPr>
          <a:xfrm>
            <a:off x="8412480" y="3767328"/>
            <a:ext cx="3017520" cy="274320"/>
          </a:xfrm>
          <a:prstGeom prst="rect">
            <a:avLst/>
          </a:prstGeom>
          <a:noFill/>
        </p:spPr>
        <p:txBody>
          <a:bodyPr wrap="square" lIns="0" tIns="0" rIns="0" bIns="0" anchor="t">
            <a:spAutoFit/>
          </a:bodyPr>
          <a:lstStyle/>
          <a:p>
            <a:pPr algn="l"/>
            <a:r>
              <a:rPr sz="1300" b="1" i="0">
                <a:solidFill>
                  <a:srgbClr val="002368"/>
                </a:solidFill>
                <a:latin typeface="Arial"/>
              </a:rPr>
              <a:t>Final lost reasons (SX)</a:t>
            </a:r>
          </a:p>
        </p:txBody>
      </p:sp>
      <p:sp>
        <p:nvSpPr>
          <p:cNvPr id="11" name="TextBox 10"/>
          <p:cNvSpPr txBox="1"/>
          <p:nvPr/>
        </p:nvSpPr>
        <p:spPr>
          <a:xfrm>
            <a:off x="8412480" y="4087368"/>
            <a:ext cx="3063240" cy="1828800"/>
          </a:xfrm>
          <a:prstGeom prst="rect">
            <a:avLst/>
          </a:prstGeom>
          <a:noFill/>
        </p:spPr>
        <p:txBody>
          <a:bodyPr wrap="square" lIns="0" tIns="0" rIns="0" bIns="0" anchor="t">
            <a:spAutoFit/>
          </a:bodyPr>
          <a:lstStyle/>
          <a:p>
            <a:pPr algn="l"/>
            <a:r>
              <a:rPr sz="950" b="0" i="0">
                <a:solidFill>
                  <a:srgbClr val="000000"/>
                </a:solidFill>
                <a:latin typeface="Arial"/>
              </a:rPr>
              <a:t>declined · suppressed · not_relevant · closed_or_moved · duplicate · capacity · compliance_blocked · terms_not_agreed · rate_not_approved (SACCOS) · safeguarding_stop, needs_not_supported (welfare) · payment_requested, lists_offered (government)</a:t>
            </a:r>
          </a:p>
        </p:txBody>
      </p:sp>
      <p:pic>
        <p:nvPicPr>
          <p:cNvPr id="12" name="Picture 11" descr="image3.png"/>
          <p:cNvPicPr>
            <a:picLocks noChangeAspect="1"/>
          </p:cNvPicPr>
          <p:nvPr/>
        </p:nvPicPr>
        <p:blipFill>
          <a:blip r:embed="rId2"/>
          <a:stretch>
            <a:fillRect/>
          </a:stretch>
        </p:blipFill>
        <p:spPr>
          <a:xfrm>
            <a:off x="548640" y="6272784"/>
            <a:ext cx="1143000" cy="274320"/>
          </a:xfrm>
          <a:prstGeom prst="rect">
            <a:avLst/>
          </a:prstGeom>
        </p:spPr>
      </p:pic>
      <p:sp>
        <p:nvSpPr>
          <p:cNvPr id="13"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14"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a:t>
            </a:r>
          </a:p>
        </p:txBody>
      </p:sp>
      <p:sp>
        <p:nvSpPr>
          <p:cNvPr id="1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DATA PROTECTION</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Opt-in only: no partner ever hands over a list</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FOR APPROVAL</a:t>
            </a:r>
          </a:p>
        </p:txBody>
      </p:sp>
      <p:sp>
        <p:nvSpPr>
          <p:cNvPr id="5" name="Rounded Rectangle 4"/>
          <p:cNvSpPr/>
          <p:nvPr/>
        </p:nvSpPr>
        <p:spPr>
          <a:xfrm>
            <a:off x="548640" y="1325880"/>
            <a:ext cx="3931920" cy="4617720"/>
          </a:xfrm>
          <a:prstGeom prst="roundRect">
            <a:avLst>
              <a:gd name="adj" fmla="val 1627"/>
            </a:avLst>
          </a:prstGeom>
          <a:solidFill>
            <a:srgbClr val="002368"/>
          </a:solidFill>
          <a:ln w="12700">
            <a:solidFill>
              <a:srgbClr val="002368"/>
            </a:solidFill>
          </a:ln>
        </p:spPr>
        <p:txBody>
          <a:bodyPr rtlCol="0" anchor="ctr"/>
          <a:lstStyle/>
          <a:p>
            <a:pPr algn="ctr"/>
          </a:p>
        </p:txBody>
      </p:sp>
      <p:sp>
        <p:nvSpPr>
          <p:cNvPr id="6" name="TextBox 5"/>
          <p:cNvSpPr txBox="1"/>
          <p:nvPr/>
        </p:nvSpPr>
        <p:spPr>
          <a:xfrm>
            <a:off x="822960" y="1508760"/>
            <a:ext cx="3474720" cy="274320"/>
          </a:xfrm>
          <a:prstGeom prst="rect">
            <a:avLst/>
          </a:prstGeom>
          <a:noFill/>
        </p:spPr>
        <p:txBody>
          <a:bodyPr wrap="square" lIns="0" tIns="0" rIns="0" bIns="0" anchor="t">
            <a:spAutoFit/>
          </a:bodyPr>
          <a:lstStyle/>
          <a:p>
            <a:pPr algn="l"/>
            <a:r>
              <a:rPr sz="900" b="1" i="0" spc="200">
                <a:solidFill>
                  <a:srgbClr val="80BFEC"/>
                </a:solidFill>
                <a:latin typeface="Arial"/>
              </a:rPr>
              <a:t>THE RULE</a:t>
            </a:r>
          </a:p>
        </p:txBody>
      </p:sp>
      <p:sp>
        <p:nvSpPr>
          <p:cNvPr id="7" name="TextBox 6"/>
          <p:cNvSpPr txBox="1"/>
          <p:nvPr/>
        </p:nvSpPr>
        <p:spPr>
          <a:xfrm>
            <a:off x="822960" y="1810512"/>
            <a:ext cx="3474720" cy="1371600"/>
          </a:xfrm>
          <a:prstGeom prst="rect">
            <a:avLst/>
          </a:prstGeom>
          <a:noFill/>
        </p:spPr>
        <p:txBody>
          <a:bodyPr wrap="square" lIns="0" tIns="0" rIns="0" bIns="0" anchor="t">
            <a:spAutoFit/>
          </a:bodyPr>
          <a:lstStyle/>
          <a:p>
            <a:pPr algn="l"/>
            <a:r>
              <a:rPr sz="2000" b="0" i="0">
                <a:solidFill>
                  <a:srgbClr val="FFFFFF"/>
                </a:solidFill>
                <a:latin typeface="Georgia"/>
              </a:rPr>
              <a:t>Staff, members and parents sign up themselves.</a:t>
            </a:r>
          </a:p>
        </p:txBody>
      </p:sp>
      <p:sp>
        <p:nvSpPr>
          <p:cNvPr id="8" name="TextBox 7"/>
          <p:cNvSpPr txBox="1"/>
          <p:nvPr/>
        </p:nvSpPr>
        <p:spPr>
          <a:xfrm>
            <a:off x="822960" y="2743200"/>
            <a:ext cx="3429000" cy="2743200"/>
          </a:xfrm>
          <a:prstGeom prst="rect">
            <a:avLst/>
          </a:prstGeom>
          <a:noFill/>
        </p:spPr>
        <p:txBody>
          <a:bodyPr wrap="square" lIns="0" tIns="0" rIns="0" bIns="0" anchor="t">
            <a:spAutoFit/>
          </a:bodyPr>
          <a:lstStyle/>
          <a:p>
            <a:pPr algn="l" marL="155448" indent="-155448">
              <a:spcAft>
                <a:spcPts val="400"/>
              </a:spcAft>
              <a:buFont typeface="Arial"/>
              <a:buChar char="•"/>
            </a:pPr>
            <a:r>
              <a:rPr sz="1050" b="0" i="0">
                <a:solidFill>
                  <a:srgbClr val="D9ECF9"/>
                </a:solidFill>
                <a:latin typeface="Arial"/>
              </a:rPr>
              <a:t>Under Tanzania's Personal Data Protection Act 2022, no partner hands over a list of people.</a:t>
            </a:r>
          </a:p>
          <a:p>
            <a:pPr algn="l" marL="155448" indent="-155448">
              <a:spcAft>
                <a:spcPts val="400"/>
              </a:spcAft>
              <a:buFont typeface="Arial"/>
              <a:buChar char="•"/>
            </a:pPr>
            <a:r>
              <a:rPr sz="1050" b="0" i="0">
                <a:solidFill>
                  <a:srgbClr val="D9ECF9"/>
                </a:solidFill>
                <a:latin typeface="Arial"/>
              </a:rPr>
              <a:t>Parent data never enters the lead databases.</a:t>
            </a:r>
          </a:p>
          <a:p>
            <a:pPr algn="l" marL="155448" indent="-155448">
              <a:spcAft>
                <a:spcPts val="400"/>
              </a:spcAft>
              <a:buFont typeface="Arial"/>
              <a:buChar char="•"/>
            </a:pPr>
            <a:r>
              <a:rPr sz="1050" b="0" i="0">
                <a:solidFill>
                  <a:srgbClr val="D9ECF9"/>
                </a:solidFill>
                <a:latin typeface="Arial"/>
              </a:rPr>
              <a:t>Until the consented store is live, run inbound-only: material carries the admissions number, the application link and the partner code.</a:t>
            </a:r>
          </a:p>
        </p:txBody>
      </p:sp>
      <p:sp>
        <p:nvSpPr>
          <p:cNvPr id="9" name="TextBox 8"/>
          <p:cNvSpPr txBox="1"/>
          <p:nvPr/>
        </p:nvSpPr>
        <p:spPr>
          <a:xfrm>
            <a:off x="4754880" y="1371600"/>
            <a:ext cx="6400800" cy="201168"/>
          </a:xfrm>
          <a:prstGeom prst="rect">
            <a:avLst/>
          </a:prstGeom>
          <a:noFill/>
        </p:spPr>
        <p:txBody>
          <a:bodyPr wrap="square" lIns="0" tIns="0" rIns="0" bIns="0" anchor="t">
            <a:spAutoFit/>
          </a:bodyPr>
          <a:lstStyle/>
          <a:p>
            <a:pPr algn="l"/>
            <a:r>
              <a:rPr sz="900" b="1" i="0" spc="200">
                <a:solidFill>
                  <a:srgbClr val="818283"/>
                </a:solidFill>
                <a:latin typeface="Arial"/>
              </a:rPr>
              <a:t>THE OPT-IN FORM, FOR THE DATA PROTECTION OFFICER'S REVIEW</a:t>
            </a:r>
          </a:p>
        </p:txBody>
      </p:sp>
      <p:sp>
        <p:nvSpPr>
          <p:cNvPr id="10" name="Rounded Rectangle 9"/>
          <p:cNvSpPr/>
          <p:nvPr/>
        </p:nvSpPr>
        <p:spPr>
          <a:xfrm>
            <a:off x="4754880" y="169164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Name</a:t>
            </a:r>
          </a:p>
        </p:txBody>
      </p:sp>
      <p:sp>
        <p:nvSpPr>
          <p:cNvPr id="11" name="Rounded Rectangle 10"/>
          <p:cNvSpPr/>
          <p:nvPr/>
        </p:nvSpPr>
        <p:spPr>
          <a:xfrm>
            <a:off x="7068312" y="169164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Phone; WhatsApp preferred?</a:t>
            </a:r>
          </a:p>
        </p:txBody>
      </p:sp>
      <p:sp>
        <p:nvSpPr>
          <p:cNvPr id="12" name="Rounded Rectangle 11"/>
          <p:cNvSpPr/>
          <p:nvPr/>
        </p:nvSpPr>
        <p:spPr>
          <a:xfrm>
            <a:off x="9381744" y="169164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Email (optional)</a:t>
            </a:r>
          </a:p>
        </p:txBody>
      </p:sp>
      <p:sp>
        <p:nvSpPr>
          <p:cNvPr id="13" name="Rounded Rectangle 12"/>
          <p:cNvSpPr/>
          <p:nvPr/>
        </p:nvSpPr>
        <p:spPr>
          <a:xfrm>
            <a:off x="4754880" y="210312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Area of residence</a:t>
            </a:r>
          </a:p>
        </p:txBody>
      </p:sp>
      <p:sp>
        <p:nvSpPr>
          <p:cNvPr id="14" name="Rounded Rectangle 13"/>
          <p:cNvSpPr/>
          <p:nvPr/>
        </p:nvSpPr>
        <p:spPr>
          <a:xfrm>
            <a:off x="7068312" y="210312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Level: daycare, pre-primary or primary</a:t>
            </a:r>
          </a:p>
        </p:txBody>
      </p:sp>
      <p:sp>
        <p:nvSpPr>
          <p:cNvPr id="15" name="Rounded Rectangle 14"/>
          <p:cNvSpPr/>
          <p:nvPr/>
        </p:nvSpPr>
        <p:spPr>
          <a:xfrm>
            <a:off x="9381744" y="210312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Preferred campus, or not sure</a:t>
            </a:r>
          </a:p>
        </p:txBody>
      </p:sp>
      <p:sp>
        <p:nvSpPr>
          <p:cNvPr id="16" name="Rounded Rectangle 15"/>
          <p:cNvSpPr/>
          <p:nvPr/>
        </p:nvSpPr>
        <p:spPr>
          <a:xfrm>
            <a:off x="4754880" y="251460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Preferred language</a:t>
            </a:r>
          </a:p>
        </p:txBody>
      </p:sp>
      <p:sp>
        <p:nvSpPr>
          <p:cNvPr id="17" name="Rounded Rectangle 16"/>
          <p:cNvSpPr/>
          <p:nvPr/>
        </p:nvSpPr>
        <p:spPr>
          <a:xfrm>
            <a:off x="7068312" y="251460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Consent statement and date</a:t>
            </a:r>
          </a:p>
        </p:txBody>
      </p:sp>
      <p:sp>
        <p:nvSpPr>
          <p:cNvPr id="18" name="Rounded Rectangle 17"/>
          <p:cNvSpPr/>
          <p:nvPr/>
        </p:nvSpPr>
        <p:spPr>
          <a:xfrm>
            <a:off x="9381744" y="251460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Partner code, from the QR link or paper form</a:t>
            </a:r>
          </a:p>
        </p:txBody>
      </p:sp>
      <p:sp>
        <p:nvSpPr>
          <p:cNvPr id="19" name="TextBox 18"/>
          <p:cNvSpPr txBox="1"/>
          <p:nvPr/>
        </p:nvSpPr>
        <p:spPr>
          <a:xfrm>
            <a:off x="4754880" y="3017520"/>
            <a:ext cx="6858000" cy="457200"/>
          </a:xfrm>
          <a:prstGeom prst="rect">
            <a:avLst/>
          </a:prstGeom>
          <a:noFill/>
        </p:spPr>
        <p:txBody>
          <a:bodyPr wrap="square" lIns="0" tIns="0" rIns="0" bIns="0" anchor="t">
            <a:spAutoFit/>
          </a:bodyPr>
          <a:lstStyle/>
          <a:p>
            <a:pPr algn="l"/>
            <a:r>
              <a:rPr sz="1000" b="0" i="0">
                <a:solidFill>
                  <a:srgbClr val="000000"/>
                </a:solidFill>
                <a:latin typeface="Arial"/>
              </a:rPr>
              <a:t>It asks for the level of interest, never a child's name or age, so it holds no children's data. Codes: EMP employer, SAC savings group, INT introducer, WEL welfare, EVT community event.</a:t>
            </a:r>
          </a:p>
        </p:txBody>
      </p:sp>
      <p:sp>
        <p:nvSpPr>
          <p:cNvPr id="20" name="Rounded Rectangle 19"/>
          <p:cNvSpPr/>
          <p:nvPr/>
        </p:nvSpPr>
        <p:spPr>
          <a:xfrm>
            <a:off x="4754880" y="3657600"/>
            <a:ext cx="6885432" cy="2286000"/>
          </a:xfrm>
          <a:prstGeom prst="roundRect">
            <a:avLst>
              <a:gd name="adj" fmla="val 2800"/>
            </a:avLst>
          </a:prstGeom>
          <a:solidFill>
            <a:srgbClr val="D9ECF9"/>
          </a:solidFill>
          <a:ln w="12700">
            <a:solidFill>
              <a:srgbClr val="D9ECF9"/>
            </a:solidFill>
          </a:ln>
        </p:spPr>
        <p:txBody>
          <a:bodyPr rtlCol="0" anchor="ctr"/>
          <a:lstStyle/>
          <a:p>
            <a:pPr algn="ctr"/>
          </a:p>
        </p:txBody>
      </p:sp>
      <p:sp>
        <p:nvSpPr>
          <p:cNvPr id="21" name="TextBox 20"/>
          <p:cNvSpPr txBox="1"/>
          <p:nvPr/>
        </p:nvSpPr>
        <p:spPr>
          <a:xfrm>
            <a:off x="4983480" y="3794760"/>
            <a:ext cx="6400800" cy="274320"/>
          </a:xfrm>
          <a:prstGeom prst="rect">
            <a:avLst/>
          </a:prstGeom>
          <a:noFill/>
        </p:spPr>
        <p:txBody>
          <a:bodyPr wrap="square" lIns="0" tIns="0" rIns="0" bIns="0" anchor="t">
            <a:spAutoFit/>
          </a:bodyPr>
          <a:lstStyle/>
          <a:p>
            <a:pPr algn="l"/>
            <a:r>
              <a:rPr sz="1300" b="1" i="0">
                <a:solidFill>
                  <a:srgbClr val="002368"/>
                </a:solidFill>
                <a:latin typeface="Arial"/>
              </a:rPr>
              <a:t>Reporting back to partners</a:t>
            </a:r>
          </a:p>
        </p:txBody>
      </p:sp>
      <p:sp>
        <p:nvSpPr>
          <p:cNvPr id="22" name="TextBox 21"/>
          <p:cNvSpPr txBox="1"/>
          <p:nvPr/>
        </p:nvSpPr>
        <p:spPr>
          <a:xfrm>
            <a:off x="4983480" y="4114800"/>
            <a:ext cx="3017520" cy="566928"/>
          </a:xfrm>
          <a:prstGeom prst="rect">
            <a:avLst/>
          </a:prstGeom>
          <a:noFill/>
        </p:spPr>
        <p:txBody>
          <a:bodyPr wrap="square" lIns="0" tIns="0" rIns="0" bIns="0" anchor="t">
            <a:spAutoFit/>
          </a:bodyPr>
          <a:lstStyle/>
          <a:p>
            <a:pPr algn="l"/>
            <a:r>
              <a:rPr sz="2600" b="0" i="0">
                <a:solidFill>
                  <a:srgbClr val="002368"/>
                </a:solidFill>
                <a:latin typeface="Georgia"/>
              </a:rPr>
              <a:t>Totals</a:t>
            </a:r>
          </a:p>
        </p:txBody>
      </p:sp>
      <p:sp>
        <p:nvSpPr>
          <p:cNvPr id="23" name="TextBox 22"/>
          <p:cNvSpPr txBox="1"/>
          <p:nvPr/>
        </p:nvSpPr>
        <p:spPr>
          <a:xfrm>
            <a:off x="4983480" y="4681728"/>
            <a:ext cx="3017520" cy="457200"/>
          </a:xfrm>
          <a:prstGeom prst="rect">
            <a:avLst/>
          </a:prstGeom>
          <a:noFill/>
        </p:spPr>
        <p:txBody>
          <a:bodyPr wrap="square" lIns="0" tIns="0" rIns="0" bIns="0" anchor="t">
            <a:spAutoFit/>
          </a:bodyPr>
          <a:lstStyle/>
          <a:p>
            <a:pPr algn="l"/>
            <a:r>
              <a:rPr sz="1000" b="0" i="0">
                <a:solidFill>
                  <a:srgbClr val="000000"/>
                </a:solidFill>
                <a:latin typeface="Arial"/>
              </a:rPr>
              <a:t>per partner code each term: sign-ups, enquiries, tours, applications, enrolments</a:t>
            </a:r>
          </a:p>
        </p:txBody>
      </p:sp>
      <p:sp>
        <p:nvSpPr>
          <p:cNvPr id="24" name="TextBox 23"/>
          <p:cNvSpPr txBox="1"/>
          <p:nvPr/>
        </p:nvSpPr>
        <p:spPr>
          <a:xfrm>
            <a:off x="8229600" y="4114800"/>
            <a:ext cx="3200400" cy="566928"/>
          </a:xfrm>
          <a:prstGeom prst="rect">
            <a:avLst/>
          </a:prstGeom>
          <a:noFill/>
        </p:spPr>
        <p:txBody>
          <a:bodyPr wrap="square" lIns="0" tIns="0" rIns="0" bIns="0" anchor="t">
            <a:spAutoFit/>
          </a:bodyPr>
          <a:lstStyle/>
          <a:p>
            <a:pPr algn="l"/>
            <a:r>
              <a:rPr sz="2600" b="0" i="0">
                <a:solidFill>
                  <a:srgbClr val="002368"/>
                </a:solidFill>
                <a:latin typeface="Georgia"/>
              </a:rPr>
              <a:t>&lt; 3</a:t>
            </a:r>
          </a:p>
        </p:txBody>
      </p:sp>
      <p:sp>
        <p:nvSpPr>
          <p:cNvPr id="25" name="TextBox 24"/>
          <p:cNvSpPr txBox="1"/>
          <p:nvPr/>
        </p:nvSpPr>
        <p:spPr>
          <a:xfrm>
            <a:off x="8229600" y="4681728"/>
            <a:ext cx="3200400" cy="457200"/>
          </a:xfrm>
          <a:prstGeom prst="rect">
            <a:avLst/>
          </a:prstGeom>
          <a:noFill/>
        </p:spPr>
        <p:txBody>
          <a:bodyPr wrap="square" lIns="0" tIns="0" rIns="0" bIns="0" anchor="t">
            <a:spAutoFit/>
          </a:bodyPr>
          <a:lstStyle/>
          <a:p>
            <a:pPr algn="l"/>
            <a:r>
              <a:rPr sz="1000" b="0" i="0">
                <a:solidFill>
                  <a:srgbClr val="000000"/>
                </a:solidFill>
                <a:latin typeface="Arial"/>
              </a:rPr>
              <a:t>any count of 1 or 2 is shown as 'fewer than 3'; a code is not personal data</a:t>
            </a:r>
          </a:p>
        </p:txBody>
      </p:sp>
      <p:sp>
        <p:nvSpPr>
          <p:cNvPr id="26" name="TextBox 25"/>
          <p:cNvSpPr txBox="1"/>
          <p:nvPr/>
        </p:nvSpPr>
        <p:spPr>
          <a:xfrm>
            <a:off x="4983480" y="5257800"/>
            <a:ext cx="6400800" cy="640080"/>
          </a:xfrm>
          <a:prstGeom prst="rect">
            <a:avLst/>
          </a:prstGeom>
          <a:noFill/>
        </p:spPr>
        <p:txBody>
          <a:bodyPr wrap="square" lIns="0" tIns="0" rIns="0" bIns="0" anchor="t">
            <a:spAutoFit/>
          </a:bodyPr>
          <a:lstStyle/>
          <a:p>
            <a:pPr algn="l"/>
            <a:r>
              <a:rPr sz="950" b="0" i="0">
                <a:solidFill>
                  <a:srgbClr val="818283"/>
                </a:solidFill>
                <a:latin typeface="Arial"/>
              </a:rPr>
              <a:t>Consent draft: 'I agree that Silverleaf Academy may contact me … [My employer] will not see my details; Silverleaf will share only total numbers. I can withdraw at any time.'</a:t>
            </a:r>
          </a:p>
        </p:txBody>
      </p:sp>
      <p:pic>
        <p:nvPicPr>
          <p:cNvPr id="27" name="Picture 26" descr="image3.png"/>
          <p:cNvPicPr>
            <a:picLocks noChangeAspect="1"/>
          </p:cNvPicPr>
          <p:nvPr/>
        </p:nvPicPr>
        <p:blipFill>
          <a:blip r:embed="rId2"/>
          <a:stretch>
            <a:fillRect/>
          </a:stretch>
        </p:blipFill>
        <p:spPr>
          <a:xfrm>
            <a:off x="548640" y="6272784"/>
            <a:ext cx="1143000" cy="274320"/>
          </a:xfrm>
          <a:prstGeom prst="rect">
            <a:avLst/>
          </a:prstGeom>
        </p:spPr>
      </p:pic>
      <p:sp>
        <p:nvSpPr>
          <p:cNvPr id="28"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29"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Personal Data Protection Act 2022</a:t>
            </a:r>
          </a:p>
        </p:txBody>
      </p:sp>
      <p:sp>
        <p:nvSpPr>
          <p:cNvPr id="3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DECISIONS AWAITING YOU</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Open questions, with recommendations (1 of 2)</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FOR APPROVAL</a:t>
            </a:r>
          </a:p>
        </p:txBody>
      </p:sp>
      <p:graphicFrame>
        <p:nvGraphicFramePr>
          <p:cNvPr id="5" name="Table 4"/>
          <p:cNvGraphicFramePr>
            <a:graphicFrameLocks noGrp="1"/>
          </p:cNvGraphicFramePr>
          <p:nvPr/>
        </p:nvGraphicFramePr>
        <p:xfrm>
          <a:off x="548640" y="1298448"/>
          <a:ext cx="11091672" cy="4718304"/>
        </p:xfrm>
        <a:graphic>
          <a:graphicData uri="http://schemas.openxmlformats.org/drawingml/2006/table">
            <a:tbl>
              <a:tblPr firstRow="0" bandRow="0">
                <a:tableStyleId>{2D5ABB26-0587-4C30-8999-92F81FD0307C}</a:tableStyleId>
              </a:tblPr>
              <a:tblGrid>
                <a:gridCol w="411480"/>
                <a:gridCol w="3017520"/>
                <a:gridCol w="7662672"/>
              </a:tblGrid>
              <a:tr h="393192">
                <a:tc>
                  <a:txBody>
                    <a:bodyPr wrap="square"/>
                    <a:lstStyle/>
                    <a:p>
                      <a:r>
                        <a:rPr sz="900" b="1" i="0" spc="100">
                          <a:solidFill>
                            <a:srgbClr val="818283"/>
                          </a:solidFill>
                          <a:latin typeface="Arial"/>
                        </a:rPr>
                        <a: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QUESTION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RECOMMENDED ANSWER</a:t>
                      </a:r>
                    </a:p>
                  </a:txBody>
                  <a:tcPr marL="54864" marR="54864" marT="36576" marB="36576" anchor="ctr">
                    <a:lnL w="0">
                      <a:noFill/>
                    </a:lnL>
                    <a:lnR w="0">
                      <a:noFill/>
                    </a:lnR>
                    <a:lnT w="0">
                      <a:noFill/>
                    </a:lnT>
                    <a:lnB w="12700">
                      <a:solidFill>
                        <a:srgbClr val="80BFEC"/>
                      </a:solidFill>
                    </a:lnB>
                    <a:noFill/>
                  </a:tcPr>
                </a:tc>
              </a:tr>
              <a:tr h="393192">
                <a:tc>
                  <a:txBody>
                    <a:bodyPr wrap="square"/>
                    <a:lstStyle/>
                    <a:p>
                      <a:r>
                        <a:rPr sz="1000" b="1" i="0">
                          <a:solidFill>
                            <a:srgbClr val="002368"/>
                          </a:solidFill>
                          <a:latin typeface="Arial"/>
                        </a:rPr>
                        <a:t>1</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Who owns each stage?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Coord S1–S7 and government letters; Adm from opt-in; campus head hosts; Finance confirms terms; CEO signs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Site visit or webinar?</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Visit for 20+ staff at one site within 25 km (10+ within 10 km); webinar for shifts or field; under 10 a pack</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3</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Sessions for variant A sponsors?</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Yes, separately: an optional second conversation one month after the sponsorship</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4</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Community meeting format?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15–20 min inside an existing meeting, Kiswahili, two staff, booklet, voluntary form; inbound-only first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5</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Welfare-sponsored enrolment?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Admissions assesses each child with the institution's consent; totals only; three-way funder agreement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6</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Introducer acknowledgement?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 thank-you letter and termly totals; no reward until the 2027 referral scheme</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7</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Where do sign-ups live?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 restricted store outside the lead databases, owned by admissions; inbound-only until the DPO approves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8</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When is a partnership closed?</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At the circulation or the signature; sign-ups are S8 results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9</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 or agreement first?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 first by default; agreement first when asked (banks, public bodies, international bodies)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10</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Notice for staff sessions?</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7 days with pre-approved assets; T-21 only for bespoke events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11</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OF04 without a staff list?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The parent declares employer and role; HR confirms that one person, with consent</a:t>
                      </a:r>
                    </a:p>
                  </a:txBody>
                  <a:tcPr marL="54864" marR="54864" marT="36576" marB="36576" anchor="ctr">
                    <a:lnL w="0">
                      <a:noFill/>
                    </a:lnL>
                    <a:lnR w="0">
                      <a:noFill/>
                    </a:lnR>
                    <a:lnT w="0">
                      <a:noFill/>
                    </a:lnT>
                    <a:lnB w="9525">
                      <a:solidFill>
                        <a:srgbClr val="ECECEC"/>
                      </a:solidFill>
                    </a:lnB>
                    <a:noFill/>
                  </a:tcPr>
                </a:tc>
              </a:tr>
            </a:tbl>
          </a:graphicData>
        </a:graphic>
      </p:graphicFrame>
      <p:pic>
        <p:nvPicPr>
          <p:cNvPr id="6" name="Picture 5" descr="image3.png"/>
          <p:cNvPicPr>
            <a:picLocks noChangeAspect="1"/>
          </p:cNvPicPr>
          <p:nvPr/>
        </p:nvPicPr>
        <p:blipFill>
          <a:blip r:embed="rId2"/>
          <a:stretch>
            <a:fillRect/>
          </a:stretch>
        </p:blipFill>
        <p:spPr>
          <a:xfrm>
            <a:off x="548640" y="6272784"/>
            <a:ext cx="1143000" cy="274320"/>
          </a:xfrm>
          <a:prstGeom prst="rect">
            <a:avLst/>
          </a:prstGeom>
        </p:spPr>
      </p:pic>
      <p:sp>
        <p:nvSpPr>
          <p:cNvPr id="7"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8"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(recommendations abridged)</a:t>
            </a:r>
          </a:p>
        </p:txBody>
      </p:sp>
      <p:sp>
        <p:nvSpPr>
          <p:cNvPr id="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DECISIONS AWAITING YOU</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Open questions, with recommendations (2 of 2)</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FOR APPROVAL</a:t>
            </a:r>
          </a:p>
        </p:txBody>
      </p:sp>
      <p:graphicFrame>
        <p:nvGraphicFramePr>
          <p:cNvPr id="5" name="Table 4"/>
          <p:cNvGraphicFramePr>
            <a:graphicFrameLocks noGrp="1"/>
          </p:cNvGraphicFramePr>
          <p:nvPr/>
        </p:nvGraphicFramePr>
        <p:xfrm>
          <a:off x="548640" y="1298448"/>
          <a:ext cx="11091672" cy="4718304"/>
        </p:xfrm>
        <a:graphic>
          <a:graphicData uri="http://schemas.openxmlformats.org/drawingml/2006/table">
            <a:tbl>
              <a:tblPr firstRow="0" bandRow="0">
                <a:tableStyleId>{2D5ABB26-0587-4C30-8999-92F81FD0307C}</a:tableStyleId>
              </a:tblPr>
              <a:tblGrid>
                <a:gridCol w="411480"/>
                <a:gridCol w="3017520"/>
                <a:gridCol w="7662672"/>
              </a:tblGrid>
              <a:tr h="393192">
                <a:tc>
                  <a:txBody>
                    <a:bodyPr wrap="square"/>
                    <a:lstStyle/>
                    <a:p>
                      <a:r>
                        <a:rPr sz="900" b="1" i="0" spc="100">
                          <a:solidFill>
                            <a:srgbClr val="818283"/>
                          </a:solidFill>
                          <a:latin typeface="Arial"/>
                        </a:rPr>
                        <a: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QUESTION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RECOMMENDED ANSWER</a:t>
                      </a:r>
                    </a:p>
                  </a:txBody>
                  <a:tcPr marL="54864" marR="54864" marT="36576" marB="36576" anchor="ctr">
                    <a:lnL w="0">
                      <a:noFill/>
                    </a:lnL>
                    <a:lnR w="0">
                      <a:noFill/>
                    </a:lnR>
                    <a:lnT w="0">
                      <a:noFill/>
                    </a:lnT>
                    <a:lnB w="12700">
                      <a:solidFill>
                        <a:srgbClr val="80BFEC"/>
                      </a:solidFill>
                    </a:lnB>
                    <a:noFill/>
                  </a:tcPr>
                </a:tc>
              </a:tr>
              <a:tr h="393192">
                <a:tc>
                  <a:txBody>
                    <a:bodyPr wrap="square"/>
                    <a:lstStyle/>
                    <a:p>
                      <a:r>
                        <a:rPr sz="1000" b="1" i="0">
                          <a:solidFill>
                            <a:srgbClr val="002368"/>
                          </a:solidFill>
                          <a:latin typeface="Arial"/>
                        </a:rPr>
                        <a:t>12</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Public-body compliance check?</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CEO or a named lead; exclude bodies that tax, regulate, inspect or license us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13</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Smallest number in a report?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Show 'fewer than 3' for counts of 1 or 2</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14</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Escalate after silence?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Yes: one message after the close, then dormant; record P1 escalation contacts first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15</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Working the no-email rows?</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Front-desk call, two attempts, then a letter for P1/P2; start with hotels and hospitals that publish a phone</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16</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SACCOS with its employer?</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One deal; the committee joins at the session</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17</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Sessions per week?</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At most three until the Fundraising and Partnerships Associate is hired; P1 and introducers before December</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18</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Renewal cadence?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Re-circulate before each window; review agreements 8 weeks before January; dormant after two quiet windows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19</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What may the government booklet say?</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Letters state no offer; the booklet gives levels, campuses, windows and the family offer, no fees until 2027 approval</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20</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When may an incentive be used?</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Only at S6, one engaged employer, Finance's written approval, time-limited, in the register first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21</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'Large enough' for 'or your HR lead'?</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P1/P2, 50+ staff, or a bank, hospital, college, international body, manufacturer, aviation or public body</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22</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Who records a front-desk name?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The Coord, with source and date; used only in that organisation's Attn message until confirmed</a:t>
                      </a:r>
                    </a:p>
                  </a:txBody>
                  <a:tcPr marL="54864" marR="54864" marT="36576" marB="36576" anchor="ctr">
                    <a:lnL w="0">
                      <a:noFill/>
                    </a:lnL>
                    <a:lnR w="0">
                      <a:noFill/>
                    </a:lnR>
                    <a:lnT w="0">
                      <a:noFill/>
                    </a:lnT>
                    <a:lnB w="9525">
                      <a:solidFill>
                        <a:srgbClr val="ECECEC"/>
                      </a:solidFill>
                    </a:lnB>
                    <a:noFill/>
                  </a:tcPr>
                </a:tc>
              </a:tr>
            </a:tbl>
          </a:graphicData>
        </a:graphic>
      </p:graphicFrame>
      <p:pic>
        <p:nvPicPr>
          <p:cNvPr id="6" name="Picture 5" descr="image3.png"/>
          <p:cNvPicPr>
            <a:picLocks noChangeAspect="1"/>
          </p:cNvPicPr>
          <p:nvPr/>
        </p:nvPicPr>
        <p:blipFill>
          <a:blip r:embed="rId2"/>
          <a:stretch>
            <a:fillRect/>
          </a:stretch>
        </p:blipFill>
        <p:spPr>
          <a:xfrm>
            <a:off x="548640" y="6272784"/>
            <a:ext cx="1143000" cy="274320"/>
          </a:xfrm>
          <a:prstGeom prst="rect">
            <a:avLst/>
          </a:prstGeom>
        </p:spPr>
      </p:pic>
      <p:sp>
        <p:nvSpPr>
          <p:cNvPr id="7"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8"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 draft (recommendations abridged)</a:t>
            </a:r>
          </a:p>
        </p:txBody>
      </p:sp>
      <p:sp>
        <p:nvSpPr>
          <p:cNvPr id="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SOURCES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Sources and the dates the data was taken</a:t>
            </a:r>
          </a:p>
        </p:txBody>
      </p:sp>
      <p:graphicFrame>
        <p:nvGraphicFramePr>
          <p:cNvPr id="4" name="Table 3"/>
          <p:cNvGraphicFramePr>
            <a:graphicFrameLocks noGrp="1"/>
          </p:cNvGraphicFramePr>
          <p:nvPr/>
        </p:nvGraphicFramePr>
        <p:xfrm>
          <a:off x="548640" y="1298448"/>
          <a:ext cx="11091672" cy="4279392"/>
        </p:xfrm>
        <a:graphic>
          <a:graphicData uri="http://schemas.openxmlformats.org/drawingml/2006/table">
            <a:tbl>
              <a:tblPr firstRow="0" bandRow="0">
                <a:tableStyleId>{2D5ABB26-0587-4C30-8999-92F81FD0307C}</a:tableStyleId>
              </a:tblPr>
              <a:tblGrid>
                <a:gridCol w="4937760"/>
                <a:gridCol w="4206240"/>
                <a:gridCol w="1947672"/>
              </a:tblGrid>
              <a:tr h="356616">
                <a:tc>
                  <a:txBody>
                    <a:bodyPr wrap="square"/>
                    <a:lstStyle/>
                    <a:p>
                      <a:r>
                        <a:rPr sz="900" b="1" i="0" spc="100">
                          <a:solidFill>
                            <a:srgbClr val="818283"/>
                          </a:solidFill>
                          <a:latin typeface="Arial"/>
                        </a:rPr>
                        <a:t>SOURCE</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WHAT IT GAVE THIS DECK</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TAKEN</a:t>
                      </a:r>
                    </a:p>
                  </a:txBody>
                  <a:tcPr marL="54864" marR="54864" marT="36576" marB="36576" anchor="ctr">
                    <a:lnL w="0">
                      <a:noFill/>
                    </a:lnL>
                    <a:lnR w="0">
                      <a:noFill/>
                    </a:lnR>
                    <a:lnT w="0">
                      <a:noFill/>
                    </a:lnT>
                    <a:lnB w="12700">
                      <a:solidFill>
                        <a:srgbClr val="80BFEC"/>
                      </a:solidFill>
                    </a:lnB>
                    <a:noFill/>
                  </a:tcPr>
                </a:tc>
              </a:tr>
              <a:tr h="356616">
                <a:tc>
                  <a:txBody>
                    <a:bodyPr wrap="square"/>
                    <a:lstStyle/>
                    <a:p>
                      <a:r>
                        <a:rPr sz="950" b="1" i="0">
                          <a:solidFill>
                            <a:srgbClr val="002368"/>
                          </a:solidFill>
                          <a:latin typeface="Arial"/>
                        </a:rPr>
                        <a:t>outputs/master/Silverleaf Master Database.sqlite</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companies, SACCOS, introducers, drafts, tiers, hooks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outputs/runs/arusha-welfare-2026-09/lead-database.sqlite</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welfare kinds, priority, drafts, confidence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outputs/runs/arusha-government-2026-09/lead-database.sqlite</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offices, waves, delivery confidence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outputs/maps/Silverleaf Lead Map.html</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points, distance bands, static map</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built 12 Oct</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outputs/messages/Silverleaf Catchment Criteria - 2026-10-11.md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catchment rules, corrections, gaps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11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outputs/messages/Silverleaf Core Segments - 2026-10-11.md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segment definitions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11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outputs/messages/Silverleaf Resend Segments - 2026-10-06/-10/-12.md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confidence counts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6, 10, 12 Oct</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outputs/messages/ Employer (10-02), Welfare (10-10), Government (10-11) Drafts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draft wording and the letter</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2–11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docs/strategy/partnership-pipelines-draft.md (draft 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spine, funnels, fallout, tracking, questions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11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scripts/messaging/first_touch.py · offer register v4</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templates, redirect wording, offer terms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 23 Sept</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outputs/reports/campus-gap-census-2026-10-11.md · research-playbook.md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capture sources, crawl and search lessons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11 Oct 2026</a:t>
                      </a:r>
                    </a:p>
                  </a:txBody>
                  <a:tcPr marL="54864" marR="54864" marT="36576" marB="36576" anchor="ctr">
                    <a:lnL w="0">
                      <a:noFill/>
                    </a:lnL>
                    <a:lnR w="0">
                      <a:noFill/>
                    </a:lnR>
                    <a:lnT w="0">
                      <a:noFill/>
                    </a:lnT>
                    <a:lnB w="9525">
                      <a:solidFill>
                        <a:srgbClr val="ECECEC"/>
                      </a:solidFill>
                    </a:lnB>
                    <a:noFill/>
                  </a:tcPr>
                </a:tc>
              </a:tr>
            </a:tbl>
          </a:graphicData>
        </a:graphic>
      </p:graphicFrame>
      <p:sp>
        <p:nvSpPr>
          <p:cNvPr id="5" name="TextBox 4"/>
          <p:cNvSpPr txBox="1"/>
          <p:nvPr/>
        </p:nvSpPr>
        <p:spPr>
          <a:xfrm>
            <a:off x="548640" y="5669280"/>
            <a:ext cx="11064240" cy="411480"/>
          </a:xfrm>
          <a:prstGeom prst="rect">
            <a:avLst/>
          </a:prstGeom>
          <a:noFill/>
        </p:spPr>
        <p:txBody>
          <a:bodyPr wrap="square" lIns="0" tIns="0" rIns="0" bIns="0" anchor="t">
            <a:spAutoFit/>
          </a:bodyPr>
          <a:lstStyle/>
          <a:p>
            <a:pPr algn="l"/>
            <a:r>
              <a:rPr sz="950" b="0" i="0">
                <a:solidFill>
                  <a:srgbClr val="818283"/>
                </a:solidFill>
                <a:latin typeface="Arial"/>
              </a:rPr>
              <a:t>Every figure traces to a query in the sources file beside this deck. Relative links: </a:t>
            </a:r>
            <a:r>
              <a:rPr sz="950" b="1" i="0" u="sng">
                <a:solidFill>
                  <a:srgbClr val="002368"/>
                </a:solidFill>
                <a:latin typeface="Arial"/>
                <a:hlinkClick r:id="rId2">
                  <a:extLst>
                    <a:ext uri="{A12FA001-AC4F-418D-AE19-62706E023703}">
                      <ahyp:hlinkClr xmlns:ahyp="http://schemas.microsoft.com/office/drawing/2018/hyperlinkcolor" val="tx"/>
                    </a:ext>
                  </a:extLst>
                </a:hlinkClick>
              </a:rPr>
              <a:t>lead map</a:t>
            </a:r>
            <a:r>
              <a:rPr sz="950" b="0" i="0">
                <a:solidFill>
                  <a:srgbClr val="818283"/>
                </a:solidFill>
                <a:latin typeface="Arial"/>
              </a:rPr>
              <a:t>  ·  </a:t>
            </a:r>
            <a:r>
              <a:rPr sz="950" b="1" i="0" u="sng">
                <a:solidFill>
                  <a:srgbClr val="002368"/>
                </a:solidFill>
                <a:latin typeface="Arial"/>
                <a:hlinkClick r:id="rId3">
                  <a:extLst>
                    <a:ext uri="{A12FA001-AC4F-418D-AE19-62706E023703}">
                      <ahyp:hlinkClr xmlns:ahyp="http://schemas.microsoft.com/office/drawing/2018/hyperlinkcolor" val="tx"/>
                    </a:ext>
                  </a:extLst>
                </a:hlinkClick>
              </a:rPr>
              <a:t>pipeline review page</a:t>
            </a:r>
            <a:r>
              <a:rPr sz="950" b="0" i="0">
                <a:solidFill>
                  <a:srgbClr val="818283"/>
                </a:solidFill>
                <a:latin typeface="Arial"/>
              </a:rPr>
              <a:t>.</a:t>
            </a:r>
          </a:p>
        </p:txBody>
      </p:sp>
      <p:pic>
        <p:nvPicPr>
          <p:cNvPr id="6" name="Picture 5" descr="image3.png"/>
          <p:cNvPicPr>
            <a:picLocks noChangeAspect="1"/>
          </p:cNvPicPr>
          <p:nvPr/>
        </p:nvPicPr>
        <p:blipFill>
          <a:blip r:embed="rId4"/>
          <a:stretch>
            <a:fillRect/>
          </a:stretch>
        </p:blipFill>
        <p:spPr>
          <a:xfrm>
            <a:off x="548640" y="6272784"/>
            <a:ext cx="1143000" cy="274320"/>
          </a:xfrm>
          <a:prstGeom prst="rect">
            <a:avLst/>
          </a:prstGeom>
        </p:spPr>
      </p:pic>
      <p:sp>
        <p:nvSpPr>
          <p:cNvPr id="7" name="Footer links"/>
          <p:cNvSpPr txBox="1"/>
          <p:nvPr/>
        </p:nvSpPr>
        <p:spPr>
          <a:xfrm>
            <a:off x="7915046" y="6309360"/>
            <a:ext cx="2829153" cy="201168"/>
          </a:xfrm>
          <a:prstGeom prst="rect">
            <a:avLst/>
          </a:prstGeom>
          <a:noFill/>
        </p:spPr>
        <p:txBody>
          <a:bodyPr wrap="square" lIns="0" tIns="0" rIns="0" bIns="0" anchor="ctr">
            <a:spAutoFit/>
          </a:bodyPr>
          <a:lstStyle/>
          <a:p>
            <a:pPr algn="r"/>
            <a:r>
              <a:rPr sz="800" b="1" i="0" u="sng">
                <a:solidFill>
                  <a:srgbClr val="002368"/>
                </a:solidFill>
                <a:latin typeface="Arial"/>
                <a:hlinkClick r:id="rId5">
                  <a:extLst>
                    <a:ext uri="{A12FA001-AC4F-418D-AE19-62706E023703}">
                      <ahyp:hlinkClr xmlns:ahyp="http://schemas.microsoft.com/office/drawing/2018/hyperlinkcolor" val="tx"/>
                    </a:ext>
                  </a:extLst>
                </a:hlinkClick>
              </a:rPr>
              <a:t>Open the lead map →</a:t>
            </a:r>
            <a:r>
              <a:rPr sz="800" b="0" i="0">
                <a:solidFill>
                  <a:srgbClr val="818283"/>
                </a:solidFill>
                <a:latin typeface="Arial"/>
              </a:rPr>
              <a:t>   ·   </a:t>
            </a:r>
            <a:r>
              <a:rPr sz="800" b="1" i="0" u="sng">
                <a:solidFill>
                  <a:srgbClr val="002368"/>
                </a:solidFill>
                <a:latin typeface="Arial"/>
                <a:hlinkClick r:id="rId6">
                  <a:extLst>
                    <a:ext uri="{A12FA001-AC4F-418D-AE19-62706E023703}">
                      <ahyp:hlinkClr xmlns:ahyp="http://schemas.microsoft.com/office/drawing/2018/hyperlinkcolor" val="tx"/>
                    </a:ext>
                  </a:extLst>
                </a:hlinkClick>
              </a:rPr>
              <a:t>Pipeline review page →</a:t>
            </a:r>
          </a:p>
        </p:txBody>
      </p:sp>
      <p:sp>
        <p:nvSpPr>
          <p:cNvPr id="8" name="Footer source"/>
          <p:cNvSpPr txBox="1"/>
          <p:nvPr/>
        </p:nvSpPr>
        <p:spPr>
          <a:xfrm>
            <a:off x="1965960" y="6309360"/>
            <a:ext cx="5629046"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strategy documents, October 2026</a:t>
            </a:r>
          </a:p>
        </p:txBody>
      </p:sp>
      <p:sp>
        <p:nvSpPr>
          <p:cNvPr id="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5760720" y="2240280"/>
            <a:ext cx="3108960" cy="740664"/>
          </a:xfrm>
          <a:prstGeom prst="rect">
            <a:avLst/>
          </a:prstGeom>
        </p:spPr>
      </p:pic>
      <p:sp>
        <p:nvSpPr>
          <p:cNvPr id="3" name="TextBox 2"/>
          <p:cNvSpPr txBox="1"/>
          <p:nvPr/>
        </p:nvSpPr>
        <p:spPr>
          <a:xfrm>
            <a:off x="5760720" y="3200400"/>
            <a:ext cx="5943600" cy="640080"/>
          </a:xfrm>
          <a:prstGeom prst="rect">
            <a:avLst/>
          </a:prstGeom>
          <a:noFill/>
        </p:spPr>
        <p:txBody>
          <a:bodyPr wrap="square" lIns="0" tIns="0" rIns="0" bIns="0" anchor="t">
            <a:spAutoFit/>
          </a:bodyPr>
          <a:lstStyle/>
          <a:p>
            <a:pPr algn="l"/>
            <a:r>
              <a:rPr sz="3000" b="1" i="0">
                <a:solidFill>
                  <a:srgbClr val="80BFEC"/>
                </a:solidFill>
                <a:latin typeface="Arial"/>
              </a:rPr>
              <a:t>The Future Starts Here.</a:t>
            </a:r>
          </a:p>
        </p:txBody>
      </p:sp>
      <p:sp>
        <p:nvSpPr>
          <p:cNvPr id="4" name="TextBox 3"/>
          <p:cNvSpPr txBox="1"/>
          <p:nvPr/>
        </p:nvSpPr>
        <p:spPr>
          <a:xfrm>
            <a:off x="5760720" y="3977639"/>
            <a:ext cx="5760720" cy="822960"/>
          </a:xfrm>
          <a:prstGeom prst="rect">
            <a:avLst/>
          </a:prstGeom>
          <a:noFill/>
        </p:spPr>
        <p:txBody>
          <a:bodyPr wrap="square" lIns="0" tIns="0" rIns="0" bIns="0" anchor="t">
            <a:spAutoFit/>
          </a:bodyPr>
          <a:lstStyle/>
          <a:p>
            <a:pPr algn="l"/>
            <a:r>
              <a:rPr sz="1200" b="0" i="0">
                <a:solidFill>
                  <a:srgbClr val="FFFFFF"/>
                </a:solidFill>
                <a:latin typeface="Georgia"/>
              </a:rPr>
              <a:t>Lists, segments, drafts and the pipeline design are ready for review. Nothing is sent automatically; a person sends every message, after your sign-off.</a:t>
            </a:r>
          </a:p>
        </p:txBody>
      </p:sp>
      <p:sp>
        <p:nvSpPr>
          <p:cNvPr id="5" name="TextBox 4"/>
          <p:cNvSpPr txBox="1"/>
          <p:nvPr/>
        </p:nvSpPr>
        <p:spPr>
          <a:xfrm>
            <a:off x="5760720" y="4937760"/>
            <a:ext cx="5760720" cy="274320"/>
          </a:xfrm>
          <a:prstGeom prst="rect">
            <a:avLst/>
          </a:prstGeom>
          <a:noFill/>
        </p:spPr>
        <p:txBody>
          <a:bodyPr wrap="square" lIns="0" tIns="0" rIns="0" bIns="0" anchor="t">
            <a:spAutoFit/>
          </a:bodyPr>
          <a:lstStyle/>
          <a:p>
            <a:pPr algn="l"/>
            <a:r>
              <a:rPr sz="1100" b="1" i="0" u="sng">
                <a:solidFill>
                  <a:srgbClr val="FFC952"/>
                </a:solidFill>
                <a:latin typeface="Arial"/>
                <a:hlinkClick r:id="rId4">
                  <a:extLst>
                    <a:ext uri="{A12FA001-AC4F-418D-AE19-62706E023703}">
                      <ahyp:hlinkClr xmlns:ahyp="http://schemas.microsoft.com/office/drawing/2018/hyperlinkcolor" val="tx"/>
                    </a:ext>
                  </a:extLst>
                </a:hlinkClick>
              </a:rPr>
              <a:t>Open the lead map →</a:t>
            </a:r>
            <a:r>
              <a:rPr sz="1100" b="0" i="0">
                <a:solidFill>
                  <a:srgbClr val="FFFFFF"/>
                </a:solidFill>
                <a:latin typeface="Arial"/>
              </a:rPr>
              <a:t>     </a:t>
            </a:r>
            <a:r>
              <a:rPr sz="1100" b="1" i="0" u="sng">
                <a:solidFill>
                  <a:srgbClr val="FFC952"/>
                </a:solidFill>
                <a:latin typeface="Arial"/>
                <a:hlinkClick r:id="rId5">
                  <a:extLst>
                    <a:ext uri="{A12FA001-AC4F-418D-AE19-62706E023703}">
                      <ahyp:hlinkClr xmlns:ahyp="http://schemas.microsoft.com/office/drawing/2018/hyperlinkcolor" val="tx"/>
                    </a:ext>
                  </a:extLst>
                </a:hlinkClick>
              </a:rPr>
              <a:t>Open the pipeline review page →</a:t>
            </a:r>
          </a:p>
        </p:txBody>
      </p:sp>
      <p:sp>
        <p:nvSpPr>
          <p:cNvPr id="6" name="TextBox 5"/>
          <p:cNvSpPr txBox="1"/>
          <p:nvPr/>
        </p:nvSpPr>
        <p:spPr>
          <a:xfrm>
            <a:off x="5760720" y="6035040"/>
            <a:ext cx="5943600" cy="274320"/>
          </a:xfrm>
          <a:prstGeom prst="rect">
            <a:avLst/>
          </a:prstGeom>
          <a:noFill/>
        </p:spPr>
        <p:txBody>
          <a:bodyPr wrap="square" lIns="0" tIns="0" rIns="0" bIns="0" anchor="t">
            <a:spAutoFit/>
          </a:bodyPr>
          <a:lstStyle/>
          <a:p>
            <a:pPr algn="l"/>
            <a:r>
              <a:rPr sz="1000" b="0" i="0">
                <a:solidFill>
                  <a:srgbClr val="8091B3"/>
                </a:solidFill>
                <a:latin typeface="Arial"/>
              </a:rPr>
              <a:t>Silverleaf Academy  ·  Marketing &amp; Partnerships  ·  October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2026-09-10T00:30:39.2670000Z</dcterms:created>
  <dcterms:modified xsi:type="dcterms:W3CDTF">2026-09-10T00:30:39.2670000Z</dcterms:modified>
</coreProperties>
</file>