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8433a703b2cf495a" Type="http://schemas.openxmlformats.org/officeDocument/2006/relationships/extended-properties" Target="docProps/app.xml"/><Relationship Id="Rd40ef8c8e9af4631" Type="http://schemas.openxmlformats.org/officeDocument/2006/relationships/officeDocument" Target="ppt/presentation.xml"/><Relationship Id="Rdd8e5c467ef5499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05f2eafc1c3c436f"/>
  </p:sldMasterIdLst>
  <p:notesMasterIdLst>
    <p:notesMasterId xmlns:r="http://schemas.openxmlformats.org/officeDocument/2006/relationships" r:id="Re2246cf756d44e01"/>
  </p:notesMasterIdLst>
  <p:sldIdLst>
    <p:sldId xmlns:ns0="http://schemas.openxmlformats.org/officeDocument/2006/relationships" id="256" ns0:id="rId7"/>
    <p:sldId xmlns:ns0="http://schemas.openxmlformats.org/officeDocument/2006/relationships" id="257" ns0:id="rId8"/>
    <p:sldId xmlns:ns0="http://schemas.openxmlformats.org/officeDocument/2006/relationships" id="258" ns0:id="rId9"/>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 xmlns:ns0="http://schemas.openxmlformats.org/officeDocument/2006/relationships" id="267" ns0:id="rId18"/>
    <p:sldId xmlns:ns0="http://schemas.openxmlformats.org/officeDocument/2006/relationships" id="268" ns0:id="rId19"/>
    <p:sldId xmlns:ns0="http://schemas.openxmlformats.org/officeDocument/2006/relationships" id="269" ns0:id="rId20"/>
    <p:sldId xmlns:ns0="http://schemas.openxmlformats.org/officeDocument/2006/relationships" id="270" ns0:id="rId21"/>
    <p:sldId xmlns:ns0="http://schemas.openxmlformats.org/officeDocument/2006/relationships" id="271" ns0:id="rId22"/>
    <p:sldId xmlns:ns0="http://schemas.openxmlformats.org/officeDocument/2006/relationships" id="272" ns0:id="rId23"/>
    <p:sldId xmlns:ns0="http://schemas.openxmlformats.org/officeDocument/2006/relationships" id="273" ns0:id="rId24"/>
    <p:sldId xmlns:ns0="http://schemas.openxmlformats.org/officeDocument/2006/relationships" id="274" ns0:id="rId25"/>
    <p:sldId xmlns:ns0="http://schemas.openxmlformats.org/officeDocument/2006/relationships" id="275" ns0:id="rId26"/>
    <p:sldId xmlns:ns0="http://schemas.openxmlformats.org/officeDocument/2006/relationships" id="276" ns0:id="rId27"/>
    <p:sldId xmlns:ns0="http://schemas.openxmlformats.org/officeDocument/2006/relationships" id="277" ns0:id="rId28"/>
    <p:sldId xmlns:ns0="http://schemas.openxmlformats.org/officeDocument/2006/relationships" id="278" ns0:id="rId29"/>
    <p:sldId xmlns:ns0="http://schemas.openxmlformats.org/officeDocument/2006/relationships" id="279" ns0:id="rId30"/>
    <p:sldId xmlns:ns0="http://schemas.openxmlformats.org/officeDocument/2006/relationships" id="280" ns0:id="rId31"/>
    <p:sldId xmlns:ns0="http://schemas.openxmlformats.org/officeDocument/2006/relationships" id="281" ns0:id="rId32"/>
    <p:sldId xmlns:ns0="http://schemas.openxmlformats.org/officeDocument/2006/relationships" id="282" ns0:id="rId33"/>
    <p:sldId xmlns:ns0="http://schemas.openxmlformats.org/officeDocument/2006/relationships" id="283" ns0:id="rId34"/>
    <p:sldId xmlns:ns0="http://schemas.openxmlformats.org/officeDocument/2006/relationships" id="284" ns0:id="rId35"/>
    <p:sldId xmlns:ns0="http://schemas.openxmlformats.org/officeDocument/2006/relationships" id="285" ns0:id="rId36"/>
    <p:sldId xmlns:ns0="http://schemas.openxmlformats.org/officeDocument/2006/relationships" id="286" ns0:id="rId37"/>
    <p:sldId xmlns:ns0="http://schemas.openxmlformats.org/officeDocument/2006/relationships" id="287" ns0:id="rId38"/>
    <p:sldId xmlns:ns0="http://schemas.openxmlformats.org/officeDocument/2006/relationships" id="288" ns0:id="rId39"/>
    <p:sldId xmlns:ns0="http://schemas.openxmlformats.org/officeDocument/2006/relationships" id="289" ns0:id="rId40"/>
    <p:sldId xmlns:ns0="http://schemas.openxmlformats.org/officeDocument/2006/relationships" id="290" ns0:id="rId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5f2eafc1c3c436f" Type="http://schemas.openxmlformats.org/officeDocument/2006/relationships/slideMaster" Target="slideMasters/slideMaster1.xml"/><Relationship Id="R383f8cbfc79a4d86" Type="http://schemas.openxmlformats.org/officeDocument/2006/relationships/theme" Target="theme/theme1.xml"/><Relationship Id="R8dd52c38e44e4341" Type="http://schemas.openxmlformats.org/officeDocument/2006/relationships/viewProps" Target="viewProps.xml"/><Relationship Id="Ra9d8f7c8a9324bff" Type="http://schemas.openxmlformats.org/officeDocument/2006/relationships/tableStyles" Target="tableStyles.xml"/><Relationship Id="Re2246cf756d44e01" Type="http://schemas.openxmlformats.org/officeDocument/2006/relationships/notesMaster" Target="notesMasters/notesMaster1.xml"/><Relationship Id="Rfab06bc7f14646de" Type="http://schemas.openxmlformats.org/officeDocument/2006/relationships/presProps" Target="presProp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Employers</c:v>
                </c:pt>
              </c:strCache>
            </c:strRef>
          </c:tx>
          <c:spPr>
            <a:solidFill>
              <a:srgbClr val="002368"/>
            </a:solidFill>
            <a:ln>
              <a:noFill/>
            </a:ln>
          </c:spPr>
          <c:invertIfNegative val="0"/>
          <c:dLbls>
            <c:numFmt formatCode="[&lt;25]&quot;&quot;;#,##0" sourceLinked="0"/>
            <c:txPr>
              <a:bodyPr/>
              <a:lstStyle/>
              <a:p>
                <a:pPr>
                  <a:defRPr sz="900">
                    <a:solidFill>
                      <a:srgbClr val="FFFFFF"/>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Sheet1!$B$2:$B$7</c:f>
              <c:numCache>
                <c:formatCode>General</c:formatCode>
                <c:ptCount val="6"/>
                <c:pt idx="0">
                  <c:v>768</c:v>
                </c:pt>
                <c:pt idx="1">
                  <c:v>131</c:v>
                </c:pt>
                <c:pt idx="2">
                  <c:v>46</c:v>
                </c:pt>
                <c:pt idx="3">
                  <c:v>64</c:v>
                </c:pt>
                <c:pt idx="4">
                  <c:v>177</c:v>
                </c:pt>
                <c:pt idx="5">
                  <c:v>35</c:v>
                </c:pt>
              </c:numCache>
            </c:numRef>
          </c:val>
        </c:ser>
        <c:ser>
          <c:idx val="1"/>
          <c:order val="1"/>
          <c:tx>
            <c:strRef>
              <c:f>Sheet1!$C$1</c:f>
              <c:strCache>
                <c:ptCount val="1"/>
                <c:pt idx="0">
                  <c:v>Introducers</c:v>
                </c:pt>
              </c:strCache>
            </c:strRef>
          </c:tx>
          <c:spPr>
            <a:solidFill>
              <a:srgbClr val="FFC952"/>
            </a:solidFill>
            <a:ln>
              <a:noFill/>
            </a:ln>
          </c:spPr>
          <c:invertIfNegative val="0"/>
          <c:dLbls>
            <c:numFmt formatCode="[&lt;25]&quot;&quot;;#,##0" sourceLinked="0"/>
            <c:txPr>
              <a:bodyPr/>
              <a:lstStyle/>
              <a:p>
                <a:pPr>
                  <a:defRPr sz="900">
                    <a:solidFill>
                      <a:srgbClr val="002368"/>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Sheet1!$C$2:$C$7</c:f>
              <c:numCache>
                <c:formatCode>General</c:formatCode>
                <c:ptCount val="6"/>
                <c:pt idx="0">
                  <c:v>9</c:v>
                </c:pt>
                <c:pt idx="1">
                  <c:v>0</c:v>
                </c:pt>
                <c:pt idx="2">
                  <c:v>0</c:v>
                </c:pt>
                <c:pt idx="3">
                  <c:v>0</c:v>
                </c:pt>
                <c:pt idx="4">
                  <c:v>1</c:v>
                </c:pt>
                <c:pt idx="5">
                  <c:v>0</c:v>
                </c:pt>
              </c:numCache>
            </c:numRef>
          </c:val>
        </c:ser>
        <c:ser>
          <c:idx val="2"/>
          <c:order val="2"/>
          <c:tx>
            <c:strRef>
              <c:f>Sheet1!$D$1</c:f>
              <c:strCache>
                <c:ptCount val="1"/>
                <c:pt idx="0">
                  <c:v>Welfare</c:v>
                </c:pt>
              </c:strCache>
            </c:strRef>
          </c:tx>
          <c:spPr>
            <a:solidFill>
              <a:srgbClr val="80BFEC"/>
            </a:solidFill>
            <a:ln>
              <a:noFill/>
            </a:ln>
          </c:spPr>
          <c:invertIfNegative val="0"/>
          <c:dLbls>
            <c:numFmt formatCode="[&lt;25]&quot;&quot;;#,##0" sourceLinked="0"/>
            <c:txPr>
              <a:bodyPr/>
              <a:lstStyle/>
              <a:p>
                <a:pPr>
                  <a:defRPr sz="900">
                    <a:solidFill>
                      <a:srgbClr val="002368"/>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Sheet1!$D$2:$D$7</c:f>
              <c:numCache>
                <c:formatCode>General</c:formatCode>
                <c:ptCount val="6"/>
                <c:pt idx="0">
                  <c:v>220</c:v>
                </c:pt>
                <c:pt idx="1">
                  <c:v>44</c:v>
                </c:pt>
                <c:pt idx="2">
                  <c:v>20</c:v>
                </c:pt>
                <c:pt idx="3">
                  <c:v>19</c:v>
                </c:pt>
                <c:pt idx="4">
                  <c:v>89</c:v>
                </c:pt>
                <c:pt idx="5">
                  <c:v>20</c:v>
                </c:pt>
              </c:numCache>
            </c:numRef>
          </c:val>
        </c:ser>
        <c:ser>
          <c:idx val="3"/>
          <c:order val="3"/>
          <c:tx>
            <c:strRef>
              <c:f>Sheet1!$E$1</c:f>
              <c:strCache>
                <c:ptCount val="1"/>
                <c:pt idx="0">
                  <c:v>Government</c:v>
                </c:pt>
              </c:strCache>
            </c:strRef>
          </c:tx>
          <c:spPr>
            <a:solidFill>
              <a:srgbClr val="8091B3"/>
            </a:solidFill>
            <a:ln>
              <a:noFill/>
            </a:ln>
          </c:spPr>
          <c:invertIfNegative val="0"/>
          <c:dLbls>
            <c:numFmt formatCode="[&lt;25]&quot;&quot;;#,##0" sourceLinked="0"/>
            <c:txPr>
              <a:bodyPr/>
              <a:lstStyle/>
              <a:p>
                <a:pPr>
                  <a:defRPr sz="900">
                    <a:solidFill>
                      <a:srgbClr val="FFFFFF"/>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Sheet1!$E$2:$E$7</c:f>
              <c:numCache>
                <c:formatCode>General</c:formatCode>
                <c:ptCount val="6"/>
                <c:pt idx="0">
                  <c:v>50</c:v>
                </c:pt>
                <c:pt idx="1">
                  <c:v>43</c:v>
                </c:pt>
                <c:pt idx="2">
                  <c:v>40</c:v>
                </c:pt>
                <c:pt idx="3">
                  <c:v>38</c:v>
                </c:pt>
                <c:pt idx="4">
                  <c:v>46</c:v>
                </c:pt>
                <c:pt idx="5">
                  <c:v>4</c:v>
                </c:pt>
              </c:numCache>
            </c:numRef>
          </c:val>
        </c:ser>
        <c:dLbls>
          <c:numFmt formatCode="#,##0" sourceLinked="0"/>
          <c:txPr>
            <a:bodyPr/>
            <a:lstStyle/>
            <a:p>
              <a:pPr>
                <a:defRPr sz="900" b="1">
                  <a:solidFill>
                    <a:srgbClr val="FFFFFF"/>
                  </a:solidFill>
                  <a:latin typeface="Arial"/>
                </a:defRPr>
              </a:pPr>
            </a:p>
          </c:txPr>
          <c:dLblPos val="ctr"/>
          <c:showLegendKey val="0"/>
          <c:showVal val="1"/>
          <c:showCatName val="0"/>
          <c:showSerName val="0"/>
          <c:showPercent val="0"/>
          <c:showBubbleSize val="0"/>
          <c:showLeaderLines val="1"/>
        </c:dLbls>
        <c:gapWidth val="40"/>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000">
                <a:solidFill>
                  <a:srgbClr val="002368"/>
                </a:solidFill>
                <a:latin typeface="Aria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legend>
      <c:legendPos val="t"/>
      <c:overlay val="0"/>
      <c:txPr>
        <a:bodyPr/>
        <a:lstStyle/>
        <a:p>
          <a:pPr>
            <a:defRPr sz="1000">
              <a:solidFill>
                <a:srgbClr val="002368"/>
              </a:solidFill>
              <a:latin typeface="Arial"/>
            </a:defRPr>
          </a:pPr>
        </a:p>
      </c:txPr>
    </c:legend>
    <c:dispBlanksAs val="gap"/>
  </c:chart>
  <c:txPr>
    <a:bodyPr/>
    <a:lstStyle/>
    <a:p>
      <a:pPr>
        <a:defRPr sz="1000">
          <a:solidFill>
            <a:srgbClr val="0023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Leads</c:v>
                </c:pt>
              </c:strCache>
            </c:strRef>
          </c:tx>
          <c:spPr>
            <a:solidFill>
              <a:srgbClr val="002368"/>
            </a:solidFill>
            <a:ln>
              <a:noFill/>
            </a:ln>
          </c:spPr>
          <c:invertIfNegative val="0"/>
          <c:cat>
            <c:strRef>
              <c:f>Sheet1!$A$2:$A$13</c:f>
              <c:strCache>
                <c:ptCount val="12"/>
                <c:pt idx="0">
                  <c:v>Safari operators and travel agencies</c:v>
                </c:pt>
                <c:pt idx="1">
                  <c:v>Hotels, lodges and camps</c:v>
                </c:pt>
                <c:pt idx="2">
                  <c:v>Hospitals and clinics</c:v>
                </c:pt>
                <c:pt idx="3">
                  <c:v>Banks and other companies</c:v>
                </c:pt>
                <c:pt idx="4">
                  <c:v>NGOs and research bodies</c:v>
                </c:pt>
                <c:pt idx="5">
                  <c:v>Colleges and universities</c:v>
                </c:pt>
                <c:pt idx="6">
                  <c:v>Public bodies (HR route)</c:v>
                </c:pt>
                <c:pt idx="7">
                  <c:v>Manufacturing</c:v>
                </c:pt>
                <c:pt idx="8">
                  <c:v>Retail</c:v>
                </c:pt>
                <c:pt idx="9">
                  <c:v>Farms and estates</c:v>
                </c:pt>
                <c:pt idx="10">
                  <c:v>International organisations</c:v>
                </c:pt>
                <c:pt idx="11">
                  <c:v>Aviation</c:v>
                </c:pt>
              </c:strCache>
            </c:strRef>
          </c:cat>
          <c:val>
            <c:numRef>
              <c:f>Sheet1!$B$2:$B$13</c:f>
              <c:numCache>
                <c:formatCode>General</c:formatCode>
                <c:ptCount val="12"/>
                <c:pt idx="0">
                  <c:v>480</c:v>
                </c:pt>
                <c:pt idx="1">
                  <c:v>194</c:v>
                </c:pt>
                <c:pt idx="2">
                  <c:v>188</c:v>
                </c:pt>
                <c:pt idx="3">
                  <c:v>87</c:v>
                </c:pt>
                <c:pt idx="4">
                  <c:v>62</c:v>
                </c:pt>
                <c:pt idx="5">
                  <c:v>23</c:v>
                </c:pt>
                <c:pt idx="6">
                  <c:v>19</c:v>
                </c:pt>
                <c:pt idx="7">
                  <c:v>19</c:v>
                </c:pt>
                <c:pt idx="8">
                  <c:v>17</c:v>
                </c:pt>
                <c:pt idx="9">
                  <c:v>14</c:v>
                </c:pt>
                <c:pt idx="10">
                  <c:v>10</c:v>
                </c:pt>
                <c:pt idx="11">
                  <c:v>5</c:v>
                </c:pt>
              </c:numCache>
            </c:numRef>
          </c:val>
        </c:ser>
        <c:ser>
          <c:idx val="1"/>
          <c:order val="1"/>
          <c:tx>
            <c:strRef>
              <c:f>Sheet1!$C$1</c:f>
              <c:strCache>
                <c:ptCount val="1"/>
                <c:pt idx="0">
                  <c:v>Ready for review</c:v>
                </c:pt>
              </c:strCache>
            </c:strRef>
          </c:tx>
          <c:spPr>
            <a:solidFill>
              <a:srgbClr val="80BFEC"/>
            </a:solidFill>
            <a:ln>
              <a:noFill/>
            </a:ln>
          </c:spPr>
          <c:invertIfNegative val="0"/>
          <c:cat>
            <c:strRef>
              <c:f>Sheet1!$A$2:$A$13</c:f>
              <c:strCache>
                <c:ptCount val="12"/>
                <c:pt idx="0">
                  <c:v>Safari operators and travel agencies</c:v>
                </c:pt>
                <c:pt idx="1">
                  <c:v>Hotels, lodges and camps</c:v>
                </c:pt>
                <c:pt idx="2">
                  <c:v>Hospitals and clinics</c:v>
                </c:pt>
                <c:pt idx="3">
                  <c:v>Banks and other companies</c:v>
                </c:pt>
                <c:pt idx="4">
                  <c:v>NGOs and research bodies</c:v>
                </c:pt>
                <c:pt idx="5">
                  <c:v>Colleges and universities</c:v>
                </c:pt>
                <c:pt idx="6">
                  <c:v>Public bodies (HR route)</c:v>
                </c:pt>
                <c:pt idx="7">
                  <c:v>Manufacturing</c:v>
                </c:pt>
                <c:pt idx="8">
                  <c:v>Retail</c:v>
                </c:pt>
                <c:pt idx="9">
                  <c:v>Farms and estates</c:v>
                </c:pt>
                <c:pt idx="10">
                  <c:v>International organisations</c:v>
                </c:pt>
                <c:pt idx="11">
                  <c:v>Aviation</c:v>
                </c:pt>
              </c:strCache>
            </c:strRef>
          </c:cat>
          <c:val>
            <c:numRef>
              <c:f>Sheet1!$C$2:$C$13</c:f>
              <c:numCache>
                <c:formatCode>General</c:formatCode>
                <c:ptCount val="12"/>
                <c:pt idx="0">
                  <c:v>432</c:v>
                </c:pt>
                <c:pt idx="1">
                  <c:v>123</c:v>
                </c:pt>
                <c:pt idx="2">
                  <c:v>37</c:v>
                </c:pt>
                <c:pt idx="3">
                  <c:v>70</c:v>
                </c:pt>
                <c:pt idx="4">
                  <c:v>28</c:v>
                </c:pt>
                <c:pt idx="5">
                  <c:v>19</c:v>
                </c:pt>
                <c:pt idx="6">
                  <c:v>12</c:v>
                </c:pt>
                <c:pt idx="7">
                  <c:v>11</c:v>
                </c:pt>
                <c:pt idx="8">
                  <c:v>6</c:v>
                </c:pt>
                <c:pt idx="9">
                  <c:v>3</c:v>
                </c:pt>
                <c:pt idx="10">
                  <c:v>9</c:v>
                </c:pt>
                <c:pt idx="11">
                  <c:v>2</c:v>
                </c:pt>
              </c:numCache>
            </c:numRef>
          </c:val>
        </c:ser>
        <c:dLbls>
          <c:numFmt formatCode="#,##0" sourceLinked="0"/>
          <c:txPr>
            <a:bodyPr/>
            <a:lstStyle/>
            <a:p>
              <a:pPr>
                <a:defRPr sz="900" b="1">
                  <a:solidFill>
                    <a:srgbClr val="002368"/>
                  </a:solidFill>
                  <a:latin typeface="Arial"/>
                </a:defRPr>
              </a:pPr>
            </a:p>
          </c:txPr>
          <c:showLegendKey val="0"/>
          <c:showVal val="1"/>
          <c:showCatName val="0"/>
          <c:showSerName val="0"/>
          <c:showPercent val="0"/>
          <c:showBubbleSize val="0"/>
          <c:showLeaderLines val="1"/>
        </c:dLbls>
        <c:gapWidth val="40"/>
        <c:overlap val="-1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000">
                <a:solidFill>
                  <a:srgbClr val="002368"/>
                </a:solidFill>
                <a:latin typeface="Aria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legend>
      <c:legendPos val="t"/>
      <c:overlay val="0"/>
      <c:txPr>
        <a:bodyPr/>
        <a:lstStyle/>
        <a:p>
          <a:pPr>
            <a:defRPr sz="1000">
              <a:solidFill>
                <a:srgbClr val="002368"/>
              </a:solidFill>
              <a:latin typeface="Arial"/>
            </a:defRPr>
          </a:pPr>
        </a:p>
      </c:txPr>
    </c:legend>
    <c:dispBlanksAs val="gap"/>
  </c:chart>
  <c:txPr>
    <a:bodyPr/>
    <a:lstStyle/>
    <a:p>
      <a:pPr>
        <a:defRPr sz="1000">
          <a:solidFill>
            <a:srgbClr val="00236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938e489a839d452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 coordinates (website pins): Arusha City -3.3604966, 36.6609326; Usa River -3.3610030, 36.8644524; Ilboru -3.3497598, 36.6822737; Kijenge -3.3829460, 36.7107520; Boma Ng'ombe -3.3414560, 37.1457123. Until 11 October the campuses sat at ward or town centres 0.1 to 1.2 km away. The map shades every point within 25 km of the nearest campus. Each dot is an organisation lead placed by the lead map builder.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Subject endings by segment for case B: employers and public bodies '– staff education benefit'; variant A sponsors and funders '– student sponsorship'; welfare homes and programmes '– education of the children in your care'; introducers and networks '– an education benefit for your members'. Placeholders replace every name, role and organisation; the sender is shown as &lt;Sender name&gt;.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Savings groups: Kiswahili wording still to be drafted and reviewed by a native speaker; most have no email, so the call script carries it. Government: the first-touch rule does not apply.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terms come from Silverleaf's 2025 Proposed Fees &amp; Discounts schedule (Summary of discounts offered); Finance checks them once before the first send. OF05 referral package has expired; no referral rewards until a new scheme is approved. OF08 (Rivertrees, 40%) is for Rivertrees only and is the model for a proposal after a meeting. No offer guarantees a place, transport route or capacity.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 codes per stage: S0 researching, check_pending, held; S1 ready; S2 delivered, redirect_sent, bounced, opted_out, no_answer, escalated, name_obtained; S3 interested, details_requested, referred, not_now, declined; S4 booked, held, rescheduled, no_show, no_fit; S5 booked, held, cancelled, attendance_recorded, circulated; S6 sent, revised, accepted, rejected; S7 circulation_partner, benefit_partner, sponsorship, placement, group_rate, introduced, meeting_held, informed; S8 producing, dormant; S9 recirculated, renewed, repeat_convener, lapsed. A hard bounce is not a lost reason: it sends the lead back to the redirect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variations: public bodies' front-desk call goes to the HR office or registry, never escalate to political or board heads; variant A sponsors get no offer details in the follow-up; SACCOS: a call to the chair or secretary, then a Kiswahili letter, dormant until the next members' meeting; welfare homes: a call, then a letter left at the office, never an unannounced visit; funders: email only; introducers: a call to the secretariat; government: a call after 5 working days, then a courtesy visit, re-deliver once before the next quarterly meeting, pause in an election period.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d1688d4ee064f44"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0918ad14f994acd" Type="http://schemas.openxmlformats.org/officeDocument/2006/relationships/slideLayout" Target="../slideLayouts/slideLayout1.xml"/><Relationship Id="R74cd2e922e854c38"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918ad14f994a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hyperlink" Target="file:///C:/Work/silverleaf-agentic-marketing/outputs/maps/Silverleaf%20Lead%20Map.html" TargetMode="External"/><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hyperlink" Target="file:///C:/Work/silverleaf-agentic-marketing/outputs/maps/Silverleaf%20Lead%20Map.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 Id="rId4" Type="http://schemas.openxmlformats.org/officeDocument/2006/relationships/hyperlink" Target="file:///C:/Work/silverleaf-agentic-marketing/outputs/strategy/Silverleaf%20Partnership%20Pipeline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 Id="rId4"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hyperlink" Target="file:///C:/Work/silverleaf-agentic-marketing/outputs/maps/Silverleaf%20Lead%20Map.html" TargetMode="External"/><Relationship Id="rId5" Type="http://schemas.openxmlformats.org/officeDocument/2006/relationships/hyperlink" Target="file:///C:/Work/silverleaf-agentic-marketing/outputs/strategy/Silverleaf%20Partnership%20Pipeline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640080" y="566928"/>
            <a:ext cx="2286000" cy="548640"/>
          </a:xfrm>
          <a:prstGeom prst="rect">
            <a:avLst/>
          </a:prstGeom>
        </p:spPr>
      </p:pic>
      <p:sp>
        <p:nvSpPr>
          <p:cNvPr id="3" name="TextBox 2"/>
          <p:cNvSpPr txBox="1"/>
          <p:nvPr/>
        </p:nvSpPr>
        <p:spPr>
          <a:xfrm>
            <a:off x="640080" y="2103120"/>
            <a:ext cx="5943600" cy="274320"/>
          </a:xfrm>
          <a:prstGeom prst="rect">
            <a:avLst/>
          </a:prstGeom>
          <a:noFill/>
        </p:spPr>
        <p:txBody>
          <a:bodyPr wrap="square" lIns="0" tIns="0" rIns="0" bIns="0" anchor="t">
            <a:spAutoFit/>
          </a:bodyPr>
          <a:lstStyle/>
          <a:p>
            <a:pPr algn="l"/>
            <a:r>
              <a:rPr sz="1200" b="0" i="0">
                <a:solidFill>
                  <a:srgbClr val="80BFEC"/>
                </a:solidFill>
                <a:latin typeface="Georgia"/>
              </a:rPr>
              <a:t>Marketing &amp; Partnerships  ·  Strategy review</a:t>
            </a:r>
          </a:p>
        </p:txBody>
      </p:sp>
      <p:sp>
        <p:nvSpPr>
          <p:cNvPr id="4" name="TextBox 3"/>
          <p:cNvSpPr txBox="1"/>
          <p:nvPr/>
        </p:nvSpPr>
        <p:spPr>
          <a:xfrm>
            <a:off x="640080" y="2395728"/>
            <a:ext cx="6309360" cy="1691640"/>
          </a:xfrm>
          <a:prstGeom prst="rect">
            <a:avLst/>
          </a:prstGeom>
          <a:noFill/>
        </p:spPr>
        <p:txBody>
          <a:bodyPr wrap="square" lIns="0" tIns="0" rIns="0" bIns="0" anchor="t">
            <a:spAutoFit/>
          </a:bodyPr>
          <a:lstStyle/>
          <a:p>
            <a:pPr algn="l"/>
            <a:r>
              <a:rPr sz="5200" b="1" i="0">
                <a:solidFill>
                  <a:srgbClr val="FFFFFF"/>
                </a:solidFill>
                <a:latin typeface="Arial"/>
              </a:rPr>
              <a:t>Partnership Lead</a:t>
            </a:r>
          </a:p>
          <a:p>
            <a:pPr algn="l"/>
            <a:r>
              <a:rPr sz="5200" b="1" i="0">
                <a:solidFill>
                  <a:srgbClr val="FFFFFF"/>
                </a:solidFill>
                <a:latin typeface="Arial"/>
              </a:rPr>
              <a:t>Strategy</a:t>
            </a:r>
          </a:p>
        </p:txBody>
      </p:sp>
      <p:sp>
        <p:nvSpPr>
          <p:cNvPr id="5" name="TextBox 4"/>
          <p:cNvSpPr txBox="1"/>
          <p:nvPr/>
        </p:nvSpPr>
        <p:spPr>
          <a:xfrm>
            <a:off x="640080" y="4160520"/>
            <a:ext cx="5852160" cy="685800"/>
          </a:xfrm>
          <a:prstGeom prst="rect">
            <a:avLst/>
          </a:prstGeom>
          <a:noFill/>
        </p:spPr>
        <p:txBody>
          <a:bodyPr wrap="square" lIns="0" tIns="0" rIns="0" bIns="0" anchor="t">
            <a:spAutoFit/>
          </a:bodyPr>
          <a:lstStyle/>
          <a:p>
            <a:pPr algn="l"/>
            <a:r>
              <a:rPr sz="1700" b="0" i="0">
                <a:solidFill>
                  <a:srgbClr val="80BFEC"/>
                </a:solidFill>
                <a:latin typeface="Georgia"/>
              </a:rPr>
              <a:t>Catchment, segments, first-touch drafting and the partnership pipelines</a:t>
            </a:r>
          </a:p>
        </p:txBody>
      </p:sp>
      <p:sp>
        <p:nvSpPr>
          <p:cNvPr id="6" name="TextBox 5"/>
          <p:cNvSpPr txBox="1"/>
          <p:nvPr/>
        </p:nvSpPr>
        <p:spPr>
          <a:xfrm>
            <a:off x="640080" y="4828032"/>
            <a:ext cx="5486400" cy="274320"/>
          </a:xfrm>
          <a:prstGeom prst="rect">
            <a:avLst/>
          </a:prstGeom>
          <a:noFill/>
        </p:spPr>
        <p:txBody>
          <a:bodyPr wrap="square" lIns="0" tIns="0" rIns="0" bIns="0" anchor="t">
            <a:spAutoFit/>
          </a:bodyPr>
          <a:lstStyle/>
          <a:p>
            <a:pPr algn="l"/>
            <a:r>
              <a:rPr sz="1100" b="0" i="0">
                <a:solidFill>
                  <a:srgbClr val="8091B3"/>
                </a:solidFill>
                <a:latin typeface="Arial"/>
              </a:rPr>
              <a:t>October 2026</a:t>
            </a:r>
          </a:p>
        </p:txBody>
      </p:sp>
      <p:sp>
        <p:nvSpPr>
          <p:cNvPr id="7" name="TextBox 6"/>
          <p:cNvSpPr txBox="1"/>
          <p:nvPr/>
        </p:nvSpPr>
        <p:spPr>
          <a:xfrm>
            <a:off x="64008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1,924</a:t>
            </a:r>
          </a:p>
        </p:txBody>
      </p:sp>
      <p:sp>
        <p:nvSpPr>
          <p:cNvPr id="8" name="TextBox 7"/>
          <p:cNvSpPr txBox="1"/>
          <p:nvPr/>
        </p:nvSpPr>
        <p:spPr>
          <a:xfrm>
            <a:off x="64008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leads with a first</a:t>
            </a:r>
          </a:p>
          <a:p>
            <a:pPr algn="l"/>
            <a:r>
              <a:rPr sz="1000" b="0" i="0">
                <a:solidFill>
                  <a:srgbClr val="FFFFFF"/>
                </a:solidFill>
                <a:latin typeface="Arial"/>
              </a:rPr>
              <a:t>message, three lists</a:t>
            </a:r>
          </a:p>
        </p:txBody>
      </p:sp>
      <p:sp>
        <p:nvSpPr>
          <p:cNvPr id="9" name="TextBox 8"/>
          <p:cNvSpPr txBox="1"/>
          <p:nvPr/>
        </p:nvSpPr>
        <p:spPr>
          <a:xfrm>
            <a:off x="274320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1,805</a:t>
            </a:r>
          </a:p>
        </p:txBody>
      </p:sp>
      <p:sp>
        <p:nvSpPr>
          <p:cNvPr id="10" name="TextBox 9"/>
          <p:cNvSpPr txBox="1"/>
          <p:nvPr/>
        </p:nvSpPr>
        <p:spPr>
          <a:xfrm>
            <a:off x="274320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leads within 25 km</a:t>
            </a:r>
          </a:p>
          <a:p>
            <a:pPr algn="l"/>
            <a:r>
              <a:rPr sz="1000" b="0" i="0">
                <a:solidFill>
                  <a:srgbClr val="FFFFFF"/>
                </a:solidFill>
                <a:latin typeface="Arial"/>
              </a:rPr>
              <a:t>of a campus on the map</a:t>
            </a:r>
          </a:p>
        </p:txBody>
      </p:sp>
      <p:sp>
        <p:nvSpPr>
          <p:cNvPr id="11" name="TextBox 10"/>
          <p:cNvSpPr txBox="1"/>
          <p:nvPr/>
        </p:nvSpPr>
        <p:spPr>
          <a:xfrm>
            <a:off x="484632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345</a:t>
            </a:r>
          </a:p>
        </p:txBody>
      </p:sp>
      <p:sp>
        <p:nvSpPr>
          <p:cNvPr id="12" name="TextBox 11"/>
          <p:cNvSpPr txBox="1"/>
          <p:nvPr/>
        </p:nvSpPr>
        <p:spPr>
          <a:xfrm>
            <a:off x="484632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high-confidence email</a:t>
            </a:r>
          </a:p>
          <a:p>
            <a:pPr algn="l"/>
            <a:r>
              <a:rPr sz="1000" b="0" i="0">
                <a:solidFill>
                  <a:srgbClr val="FFFFFF"/>
                </a:solidFill>
                <a:latin typeface="Arial"/>
              </a:rPr>
              <a:t>routes (54 direct)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CONTENTS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this review covers</a:t>
            </a:r>
          </a:p>
        </p:txBody>
      </p:sp>
      <p:sp>
        <p:nvSpPr>
          <p:cNvPr id="4" name="Rounded Rectangle 3"/>
          <p:cNvSpPr/>
          <p:nvPr/>
        </p:nvSpPr>
        <p:spPr>
          <a:xfrm>
            <a:off x="548640" y="1463040"/>
            <a:ext cx="11091672" cy="86868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618488"/>
            <a:ext cx="914400" cy="548640"/>
          </a:xfrm>
          <a:prstGeom prst="rect">
            <a:avLst/>
          </a:prstGeom>
          <a:noFill/>
        </p:spPr>
        <p:txBody>
          <a:bodyPr wrap="square" lIns="0" tIns="0" rIns="0" bIns="0" anchor="t">
            <a:spAutoFit/>
          </a:bodyPr>
          <a:lstStyle/>
          <a:p>
            <a:pPr algn="l"/>
            <a:r>
              <a:rPr sz="3000" b="0" i="0">
                <a:solidFill>
                  <a:srgbClr val="002368"/>
                </a:solidFill>
                <a:latin typeface="Georgia"/>
              </a:rPr>
              <a:t>01</a:t>
            </a:r>
          </a:p>
        </p:txBody>
      </p:sp>
      <p:sp>
        <p:nvSpPr>
          <p:cNvPr id="6" name="TextBox 5"/>
          <p:cNvSpPr txBox="1"/>
          <p:nvPr/>
        </p:nvSpPr>
        <p:spPr>
          <a:xfrm>
            <a:off x="1874519" y="1591056"/>
            <a:ext cx="4206240" cy="329184"/>
          </a:xfrm>
          <a:prstGeom prst="rect">
            <a:avLst/>
          </a:prstGeom>
          <a:noFill/>
        </p:spPr>
        <p:txBody>
          <a:bodyPr wrap="square" lIns="0" tIns="0" rIns="0" bIns="0" anchor="t">
            <a:spAutoFit/>
          </a:bodyPr>
          <a:lstStyle/>
          <a:p>
            <a:pPr algn="l"/>
            <a:r>
              <a:rPr sz="1700" b="1" i="0">
                <a:solidFill>
                  <a:srgbClr val="002368"/>
                </a:solidFill>
                <a:latin typeface="Arial"/>
              </a:rPr>
              <a:t>Catchment and lead capture</a:t>
            </a:r>
          </a:p>
        </p:txBody>
      </p:sp>
      <p:sp>
        <p:nvSpPr>
          <p:cNvPr id="7" name="TextBox 6"/>
          <p:cNvSpPr txBox="1"/>
          <p:nvPr/>
        </p:nvSpPr>
        <p:spPr>
          <a:xfrm>
            <a:off x="1874519" y="1938528"/>
            <a:ext cx="7863840" cy="292608"/>
          </a:xfrm>
          <a:prstGeom prst="rect">
            <a:avLst/>
          </a:prstGeom>
          <a:noFill/>
        </p:spPr>
        <p:txBody>
          <a:bodyPr wrap="square" lIns="0" tIns="0" rIns="0" bIns="0" anchor="t">
            <a:spAutoFit/>
          </a:bodyPr>
          <a:lstStyle/>
          <a:p>
            <a:pPr algn="l"/>
            <a:r>
              <a:rPr sz="1100" b="0" i="0">
                <a:solidFill>
                  <a:srgbClr val="000000"/>
                </a:solidFill>
                <a:latin typeface="Arial"/>
              </a:rPr>
              <a:t>The 25 km line, the distance bands and the eight sources behind the three lead lists</a:t>
            </a:r>
          </a:p>
        </p:txBody>
      </p:sp>
      <p:sp>
        <p:nvSpPr>
          <p:cNvPr id="8" name="TextBox 7"/>
          <p:cNvSpPr txBox="1"/>
          <p:nvPr/>
        </p:nvSpPr>
        <p:spPr>
          <a:xfrm>
            <a:off x="10241280" y="1737360"/>
            <a:ext cx="1097280" cy="329184"/>
          </a:xfrm>
          <a:prstGeom prst="rect">
            <a:avLst/>
          </a:prstGeom>
          <a:noFill/>
        </p:spPr>
        <p:txBody>
          <a:bodyPr wrap="square" lIns="0" tIns="0" rIns="0" bIns="0" anchor="t">
            <a:spAutoFit/>
          </a:bodyPr>
          <a:lstStyle/>
          <a:p>
            <a:pPr algn="r"/>
            <a:r>
              <a:rPr sz="1100" b="0" i="0">
                <a:solidFill>
                  <a:srgbClr val="818283"/>
                </a:solidFill>
                <a:latin typeface="Arial"/>
              </a:rPr>
              <a:t>Slide 04</a:t>
            </a:r>
          </a:p>
        </p:txBody>
      </p:sp>
      <p:sp>
        <p:nvSpPr>
          <p:cNvPr id="9" name="Rounded Rectangle 8"/>
          <p:cNvSpPr/>
          <p:nvPr/>
        </p:nvSpPr>
        <p:spPr>
          <a:xfrm>
            <a:off x="548640" y="2487168"/>
            <a:ext cx="11091672" cy="868680"/>
          </a:xfrm>
          <a:prstGeom prst="roundRect">
            <a:avLst>
              <a:gd name="adj" fmla="val 7368"/>
            </a:avLst>
          </a:prstGeom>
          <a:solidFill>
            <a:srgbClr val="FFFFFF"/>
          </a:solidFill>
          <a:ln w="12700">
            <a:solidFill>
              <a:srgbClr val="D9ECF9"/>
            </a:solidFill>
          </a:ln>
        </p:spPr>
        <p:txBody>
          <a:bodyPr rtlCol="0" anchor="ctr"/>
          <a:lstStyle/>
          <a:p>
            <a:pPr algn="ctr"/>
          </a:p>
        </p:txBody>
      </p:sp>
      <p:sp>
        <p:nvSpPr>
          <p:cNvPr id="10" name="TextBox 9"/>
          <p:cNvSpPr txBox="1"/>
          <p:nvPr/>
        </p:nvSpPr>
        <p:spPr>
          <a:xfrm>
            <a:off x="868680" y="2642616"/>
            <a:ext cx="914400" cy="548640"/>
          </a:xfrm>
          <a:prstGeom prst="rect">
            <a:avLst/>
          </a:prstGeom>
          <a:noFill/>
        </p:spPr>
        <p:txBody>
          <a:bodyPr wrap="square" lIns="0" tIns="0" rIns="0" bIns="0" anchor="t">
            <a:spAutoFit/>
          </a:bodyPr>
          <a:lstStyle/>
          <a:p>
            <a:pPr algn="l"/>
            <a:r>
              <a:rPr sz="3000" b="0" i="0">
                <a:solidFill>
                  <a:srgbClr val="002368"/>
                </a:solidFill>
                <a:latin typeface="Georgia"/>
              </a:rPr>
              <a:t>02</a:t>
            </a:r>
          </a:p>
        </p:txBody>
      </p:sp>
      <p:sp>
        <p:nvSpPr>
          <p:cNvPr id="11" name="TextBox 10"/>
          <p:cNvSpPr txBox="1"/>
          <p:nvPr/>
        </p:nvSpPr>
        <p:spPr>
          <a:xfrm>
            <a:off x="1874519" y="2615184"/>
            <a:ext cx="4206240" cy="329184"/>
          </a:xfrm>
          <a:prstGeom prst="rect">
            <a:avLst/>
          </a:prstGeom>
          <a:noFill/>
        </p:spPr>
        <p:txBody>
          <a:bodyPr wrap="square" lIns="0" tIns="0" rIns="0" bIns="0" anchor="t">
            <a:spAutoFit/>
          </a:bodyPr>
          <a:lstStyle/>
          <a:p>
            <a:pPr algn="l"/>
            <a:r>
              <a:rPr sz="1700" b="1" i="0">
                <a:solidFill>
                  <a:srgbClr val="002368"/>
                </a:solidFill>
                <a:latin typeface="Arial"/>
              </a:rPr>
              <a:t>Segments and confidence</a:t>
            </a:r>
          </a:p>
        </p:txBody>
      </p:sp>
      <p:sp>
        <p:nvSpPr>
          <p:cNvPr id="12" name="TextBox 11"/>
          <p:cNvSpPr txBox="1"/>
          <p:nvPr/>
        </p:nvSpPr>
        <p:spPr>
          <a:xfrm>
            <a:off x="1874519" y="2962656"/>
            <a:ext cx="7863840" cy="292608"/>
          </a:xfrm>
          <a:prstGeom prst="rect">
            <a:avLst/>
          </a:prstGeom>
          <a:noFill/>
        </p:spPr>
        <p:txBody>
          <a:bodyPr wrap="square" lIns="0" tIns="0" rIns="0" bIns="0" anchor="t">
            <a:spAutoFit/>
          </a:bodyPr>
          <a:lstStyle/>
          <a:p>
            <a:pPr algn="l"/>
            <a:r>
              <a:rPr sz="1100" b="0" i="0">
                <a:solidFill>
                  <a:srgbClr val="000000"/>
                </a:solidFill>
                <a:latin typeface="Arial"/>
              </a:rPr>
              <a:t>Four core segments, every subsegment, and how sure we are that a message reaches the decision-maker</a:t>
            </a:r>
          </a:p>
        </p:txBody>
      </p:sp>
      <p:sp>
        <p:nvSpPr>
          <p:cNvPr id="13" name="TextBox 12"/>
          <p:cNvSpPr txBox="1"/>
          <p:nvPr/>
        </p:nvSpPr>
        <p:spPr>
          <a:xfrm>
            <a:off x="10241280" y="2761488"/>
            <a:ext cx="1097280" cy="329184"/>
          </a:xfrm>
          <a:prstGeom prst="rect">
            <a:avLst/>
          </a:prstGeom>
          <a:noFill/>
        </p:spPr>
        <p:txBody>
          <a:bodyPr wrap="square" lIns="0" tIns="0" rIns="0" bIns="0" anchor="t">
            <a:spAutoFit/>
          </a:bodyPr>
          <a:lstStyle/>
          <a:p>
            <a:pPr algn="r"/>
            <a:r>
              <a:rPr sz="1100" b="0" i="0">
                <a:solidFill>
                  <a:srgbClr val="818283"/>
                </a:solidFill>
                <a:latin typeface="Arial"/>
              </a:rPr>
              <a:t>Slide 07</a:t>
            </a:r>
          </a:p>
        </p:txBody>
      </p:sp>
      <p:sp>
        <p:nvSpPr>
          <p:cNvPr id="14" name="Rounded Rectangle 13"/>
          <p:cNvSpPr/>
          <p:nvPr/>
        </p:nvSpPr>
        <p:spPr>
          <a:xfrm>
            <a:off x="548640" y="3511296"/>
            <a:ext cx="11091672" cy="86868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15" name="TextBox 14"/>
          <p:cNvSpPr txBox="1"/>
          <p:nvPr/>
        </p:nvSpPr>
        <p:spPr>
          <a:xfrm>
            <a:off x="868680" y="3666744"/>
            <a:ext cx="914400" cy="548640"/>
          </a:xfrm>
          <a:prstGeom prst="rect">
            <a:avLst/>
          </a:prstGeom>
          <a:noFill/>
        </p:spPr>
        <p:txBody>
          <a:bodyPr wrap="square" lIns="0" tIns="0" rIns="0" bIns="0" anchor="t">
            <a:spAutoFit/>
          </a:bodyPr>
          <a:lstStyle/>
          <a:p>
            <a:pPr algn="l"/>
            <a:r>
              <a:rPr sz="3000" b="0" i="0">
                <a:solidFill>
                  <a:srgbClr val="002368"/>
                </a:solidFill>
                <a:latin typeface="Georgia"/>
              </a:rPr>
              <a:t>03</a:t>
            </a:r>
          </a:p>
        </p:txBody>
      </p:sp>
      <p:sp>
        <p:nvSpPr>
          <p:cNvPr id="16" name="TextBox 15"/>
          <p:cNvSpPr txBox="1"/>
          <p:nvPr/>
        </p:nvSpPr>
        <p:spPr>
          <a:xfrm>
            <a:off x="1874519" y="3639312"/>
            <a:ext cx="4206240" cy="329184"/>
          </a:xfrm>
          <a:prstGeom prst="rect">
            <a:avLst/>
          </a:prstGeom>
          <a:noFill/>
        </p:spPr>
        <p:txBody>
          <a:bodyPr wrap="square" lIns="0" tIns="0" rIns="0" bIns="0" anchor="t">
            <a:spAutoFit/>
          </a:bodyPr>
          <a:lstStyle/>
          <a:p>
            <a:pPr algn="l"/>
            <a:r>
              <a:rPr sz="1700" b="1" i="0">
                <a:solidFill>
                  <a:srgbClr val="002368"/>
                </a:solidFill>
                <a:latin typeface="Arial"/>
              </a:rPr>
              <a:t>Drafting the first touch</a:t>
            </a:r>
          </a:p>
        </p:txBody>
      </p:sp>
      <p:sp>
        <p:nvSpPr>
          <p:cNvPr id="17" name="TextBox 16"/>
          <p:cNvSpPr txBox="1"/>
          <p:nvPr/>
        </p:nvSpPr>
        <p:spPr>
          <a:xfrm>
            <a:off x="1874519" y="3986784"/>
            <a:ext cx="7863840" cy="292608"/>
          </a:xfrm>
          <a:prstGeom prst="rect">
            <a:avLst/>
          </a:prstGeom>
          <a:noFill/>
        </p:spPr>
        <p:txBody>
          <a:bodyPr wrap="square" lIns="0" tIns="0" rIns="0" bIns="0" anchor="t">
            <a:spAutoFit/>
          </a:bodyPr>
          <a:lstStyle/>
          <a:p>
            <a:pPr algn="l"/>
            <a:r>
              <a:rPr sz="1100" b="0" i="0">
                <a:solidFill>
                  <a:srgbClr val="000000"/>
                </a:solidFill>
                <a:latin typeface="Arial"/>
              </a:rPr>
              <a:t>Request first, the three first-touch cases, templates, offers, hooks, and what happens when there is no reply</a:t>
            </a:r>
          </a:p>
        </p:txBody>
      </p:sp>
      <p:sp>
        <p:nvSpPr>
          <p:cNvPr id="18" name="TextBox 17"/>
          <p:cNvSpPr txBox="1"/>
          <p:nvPr/>
        </p:nvSpPr>
        <p:spPr>
          <a:xfrm>
            <a:off x="10241280" y="3785616"/>
            <a:ext cx="1097280" cy="329184"/>
          </a:xfrm>
          <a:prstGeom prst="rect">
            <a:avLst/>
          </a:prstGeom>
          <a:noFill/>
        </p:spPr>
        <p:txBody>
          <a:bodyPr wrap="square" lIns="0" tIns="0" rIns="0" bIns="0" anchor="t">
            <a:spAutoFit/>
          </a:bodyPr>
          <a:lstStyle/>
          <a:p>
            <a:pPr algn="r"/>
            <a:r>
              <a:rPr sz="1100" b="0" i="0">
                <a:solidFill>
                  <a:srgbClr val="818283"/>
                </a:solidFill>
                <a:latin typeface="Arial"/>
              </a:rPr>
              <a:t>Slide 12</a:t>
            </a:r>
          </a:p>
        </p:txBody>
      </p:sp>
      <p:sp>
        <p:nvSpPr>
          <p:cNvPr id="19" name="Rounded Rectangle 18"/>
          <p:cNvSpPr/>
          <p:nvPr/>
        </p:nvSpPr>
        <p:spPr>
          <a:xfrm>
            <a:off x="548640" y="4535424"/>
            <a:ext cx="11091672" cy="868680"/>
          </a:xfrm>
          <a:prstGeom prst="roundRect">
            <a:avLst>
              <a:gd name="adj" fmla="val 7368"/>
            </a:avLst>
          </a:prstGeom>
          <a:solidFill>
            <a:srgbClr val="FFFFFF"/>
          </a:solidFill>
          <a:ln w="12700">
            <a:solidFill>
              <a:srgbClr val="D9ECF9"/>
            </a:solidFill>
          </a:ln>
        </p:spPr>
        <p:txBody>
          <a:bodyPr rtlCol="0" anchor="ctr"/>
          <a:lstStyle/>
          <a:p>
            <a:pPr algn="ctr"/>
          </a:p>
        </p:txBody>
      </p:sp>
      <p:sp>
        <p:nvSpPr>
          <p:cNvPr id="20" name="TextBox 19"/>
          <p:cNvSpPr txBox="1"/>
          <p:nvPr/>
        </p:nvSpPr>
        <p:spPr>
          <a:xfrm>
            <a:off x="868680" y="4690872"/>
            <a:ext cx="914400" cy="548640"/>
          </a:xfrm>
          <a:prstGeom prst="rect">
            <a:avLst/>
          </a:prstGeom>
          <a:noFill/>
        </p:spPr>
        <p:txBody>
          <a:bodyPr wrap="square" lIns="0" tIns="0" rIns="0" bIns="0" anchor="t">
            <a:spAutoFit/>
          </a:bodyPr>
          <a:lstStyle/>
          <a:p>
            <a:pPr algn="l"/>
            <a:r>
              <a:rPr sz="3000" b="0" i="0">
                <a:solidFill>
                  <a:srgbClr val="002368"/>
                </a:solidFill>
                <a:latin typeface="Georgia"/>
              </a:rPr>
              <a:t>04</a:t>
            </a:r>
          </a:p>
        </p:txBody>
      </p:sp>
      <p:sp>
        <p:nvSpPr>
          <p:cNvPr id="21" name="TextBox 20"/>
          <p:cNvSpPr txBox="1"/>
          <p:nvPr/>
        </p:nvSpPr>
        <p:spPr>
          <a:xfrm>
            <a:off x="1874519" y="4663440"/>
            <a:ext cx="4206240" cy="329184"/>
          </a:xfrm>
          <a:prstGeom prst="rect">
            <a:avLst/>
          </a:prstGeom>
          <a:noFill/>
        </p:spPr>
        <p:txBody>
          <a:bodyPr wrap="square" lIns="0" tIns="0" rIns="0" bIns="0" anchor="t">
            <a:spAutoFit/>
          </a:bodyPr>
          <a:lstStyle/>
          <a:p>
            <a:pPr algn="l"/>
            <a:r>
              <a:rPr sz="1700" b="1" i="0">
                <a:solidFill>
                  <a:srgbClr val="002368"/>
                </a:solidFill>
                <a:latin typeface="Arial"/>
              </a:rPr>
              <a:t>Pipelines and tracking</a:t>
            </a:r>
          </a:p>
        </p:txBody>
      </p:sp>
      <p:sp>
        <p:nvSpPr>
          <p:cNvPr id="22" name="TextBox 21"/>
          <p:cNvSpPr txBox="1"/>
          <p:nvPr/>
        </p:nvSpPr>
        <p:spPr>
          <a:xfrm>
            <a:off x="1874519" y="5010912"/>
            <a:ext cx="7863840" cy="292608"/>
          </a:xfrm>
          <a:prstGeom prst="rect">
            <a:avLst/>
          </a:prstGeom>
          <a:noFill/>
        </p:spPr>
        <p:txBody>
          <a:bodyPr wrap="square" lIns="0" tIns="0" rIns="0" bIns="0" anchor="t">
            <a:spAutoFit/>
          </a:bodyPr>
          <a:lstStyle/>
          <a:p>
            <a:pPr algn="l"/>
            <a:r>
              <a:rPr sz="1100" b="0" i="0">
                <a:solidFill>
                  <a:srgbClr val="000000"/>
                </a:solidFill>
                <a:latin typeface="Arial"/>
              </a:rPr>
              <a:t>The shared spine, what follows the offer, and how results are tracked and reported</a:t>
            </a:r>
          </a:p>
        </p:txBody>
      </p:sp>
      <p:sp>
        <p:nvSpPr>
          <p:cNvPr id="23" name="TextBox 22"/>
          <p:cNvSpPr txBox="1"/>
          <p:nvPr/>
        </p:nvSpPr>
        <p:spPr>
          <a:xfrm>
            <a:off x="10241280" y="4809744"/>
            <a:ext cx="1097280" cy="329184"/>
          </a:xfrm>
          <a:prstGeom prst="rect">
            <a:avLst/>
          </a:prstGeom>
          <a:noFill/>
        </p:spPr>
        <p:txBody>
          <a:bodyPr wrap="square" lIns="0" tIns="0" rIns="0" bIns="0" anchor="t">
            <a:spAutoFit/>
          </a:bodyPr>
          <a:lstStyle/>
          <a:p>
            <a:pPr algn="r"/>
            <a:r>
              <a:rPr sz="1100" b="0" i="0">
                <a:solidFill>
                  <a:srgbClr val="818283"/>
                </a:solidFill>
                <a:latin typeface="Arial"/>
              </a:rPr>
              <a:t>Slide 18</a:t>
            </a:r>
          </a:p>
        </p:txBody>
      </p:sp>
      <p:sp>
        <p:nvSpPr>
          <p:cNvPr id="24" name="TextBox 23"/>
          <p:cNvSpPr txBox="1"/>
          <p:nvPr/>
        </p:nvSpPr>
        <p:spPr>
          <a:xfrm>
            <a:off x="548640" y="5623560"/>
            <a:ext cx="11064240" cy="329184"/>
          </a:xfrm>
          <a:prstGeom prst="rect">
            <a:avLst/>
          </a:prstGeom>
          <a:noFill/>
        </p:spPr>
        <p:txBody>
          <a:bodyPr wrap="square" lIns="0" tIns="0" rIns="0" bIns="0" anchor="t">
            <a:spAutoFit/>
          </a:bodyPr>
          <a:lstStyle/>
          <a:p>
            <a:pPr algn="l"/>
            <a:r>
              <a:rPr sz="1400" b="0" i="0">
                <a:solidFill>
                  <a:srgbClr val="002368"/>
                </a:solidFill>
                <a:latin typeface="Georgia"/>
              </a:rPr>
              <a:t>Then next steps (slide 21), and an appendix: segment funnels, fallout, records, decisions and known gaps.</a:t>
            </a:r>
          </a:p>
        </p:txBody>
      </p:sp>
      <p:pic>
        <p:nvPicPr>
          <p:cNvPr id="25" name="Picture 24" descr="image3.png"/>
          <p:cNvPicPr>
            <a:picLocks noChangeAspect="1"/>
          </p:cNvPicPr>
          <p:nvPr/>
        </p:nvPicPr>
        <p:blipFill>
          <a:blip r:embed="rId2"/>
          <a:stretch>
            <a:fillRect/>
          </a:stretch>
        </p:blipFill>
        <p:spPr>
          <a:xfrm>
            <a:off x="548640" y="6272784"/>
            <a:ext cx="1143000" cy="274320"/>
          </a:xfrm>
          <a:prstGeom prst="rect">
            <a:avLst/>
          </a:prstGeom>
        </p:spPr>
      </p:pic>
      <p:sp>
        <p:nvSpPr>
          <p:cNvPr id="2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lead-generation review, October 2026</a:t>
            </a:r>
          </a:p>
        </p:txBody>
      </p:sp>
      <p:sp>
        <p:nvSpPr>
          <p:cNvPr id="2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EXECUTIVE SUMMARY</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Where the partnership lead work stands</a:t>
            </a:r>
          </a:p>
        </p:txBody>
      </p:sp>
      <p:sp>
        <p:nvSpPr>
          <p:cNvPr id="4" name="Rounded Rectangle 3"/>
          <p:cNvSpPr/>
          <p:nvPr/>
        </p:nvSpPr>
        <p:spPr>
          <a:xfrm>
            <a:off x="548640" y="1371600"/>
            <a:ext cx="5440680" cy="4572000"/>
          </a:xfrm>
          <a:prstGeom prst="roundRect">
            <a:avLst>
              <a:gd name="adj" fmla="val 1400"/>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914400" y="1600200"/>
            <a:ext cx="4754880" cy="274320"/>
          </a:xfrm>
          <a:prstGeom prst="rect">
            <a:avLst/>
          </a:prstGeom>
          <a:noFill/>
        </p:spPr>
        <p:txBody>
          <a:bodyPr wrap="square" lIns="0" tIns="0" rIns="0" bIns="0" anchor="t">
            <a:spAutoFit/>
          </a:bodyPr>
          <a:lstStyle/>
          <a:p>
            <a:pPr algn="l"/>
            <a:r>
              <a:rPr sz="900" b="1" i="0" spc="200">
                <a:solidFill>
                  <a:srgbClr val="80BFEC"/>
                </a:solidFill>
                <a:latin typeface="Arial"/>
              </a:rPr>
              <a:t>THE LISTS</a:t>
            </a:r>
          </a:p>
        </p:txBody>
      </p:sp>
      <p:sp>
        <p:nvSpPr>
          <p:cNvPr id="6" name="TextBox 5"/>
          <p:cNvSpPr txBox="1"/>
          <p:nvPr/>
        </p:nvSpPr>
        <p:spPr>
          <a:xfrm>
            <a:off x="914400" y="1874519"/>
            <a:ext cx="2194560" cy="640080"/>
          </a:xfrm>
          <a:prstGeom prst="rect">
            <a:avLst/>
          </a:prstGeom>
          <a:noFill/>
        </p:spPr>
        <p:txBody>
          <a:bodyPr wrap="square" lIns="0" tIns="0" rIns="0" bIns="0" anchor="t">
            <a:spAutoFit/>
          </a:bodyPr>
          <a:lstStyle/>
          <a:p>
            <a:pPr algn="l"/>
            <a:r>
              <a:rPr sz="4000" b="0" i="0">
                <a:solidFill>
                  <a:srgbClr val="FFC952"/>
                </a:solidFill>
                <a:latin typeface="Georgia"/>
              </a:rPr>
              <a:t>2,107</a:t>
            </a:r>
          </a:p>
        </p:txBody>
      </p:sp>
      <p:sp>
        <p:nvSpPr>
          <p:cNvPr id="7" name="TextBox 6"/>
          <p:cNvSpPr txBox="1"/>
          <p:nvPr/>
        </p:nvSpPr>
        <p:spPr>
          <a:xfrm>
            <a:off x="3063240" y="1993392"/>
            <a:ext cx="2651760" cy="548640"/>
          </a:xfrm>
          <a:prstGeom prst="rect">
            <a:avLst/>
          </a:prstGeom>
          <a:noFill/>
        </p:spPr>
        <p:txBody>
          <a:bodyPr wrap="square" lIns="0" tIns="0" rIns="0" bIns="0" anchor="t">
            <a:spAutoFit/>
          </a:bodyPr>
          <a:lstStyle/>
          <a:p>
            <a:pPr algn="l"/>
            <a:r>
              <a:rPr sz="1100" b="0" i="0">
                <a:solidFill>
                  <a:srgbClr val="FFFFFF"/>
                </a:solidFill>
                <a:latin typeface="Arial"/>
              </a:rPr>
              <a:t>organisation records in the three databases</a:t>
            </a:r>
          </a:p>
        </p:txBody>
      </p:sp>
      <p:sp>
        <p:nvSpPr>
          <p:cNvPr id="8" name="TextBox 7"/>
          <p:cNvSpPr txBox="1"/>
          <p:nvPr/>
        </p:nvSpPr>
        <p:spPr>
          <a:xfrm>
            <a:off x="914400" y="2606040"/>
            <a:ext cx="2194560" cy="640080"/>
          </a:xfrm>
          <a:prstGeom prst="rect">
            <a:avLst/>
          </a:prstGeom>
          <a:noFill/>
        </p:spPr>
        <p:txBody>
          <a:bodyPr wrap="square" lIns="0" tIns="0" rIns="0" bIns="0" anchor="t">
            <a:spAutoFit/>
          </a:bodyPr>
          <a:lstStyle/>
          <a:p>
            <a:pPr algn="l"/>
            <a:r>
              <a:rPr sz="4000" b="0" i="0">
                <a:solidFill>
                  <a:srgbClr val="FFC952"/>
                </a:solidFill>
                <a:latin typeface="Georgia"/>
              </a:rPr>
              <a:t>1,924</a:t>
            </a:r>
          </a:p>
        </p:txBody>
      </p:sp>
      <p:sp>
        <p:nvSpPr>
          <p:cNvPr id="9" name="TextBox 8"/>
          <p:cNvSpPr txBox="1"/>
          <p:nvPr/>
        </p:nvSpPr>
        <p:spPr>
          <a:xfrm>
            <a:off x="3063240" y="2724912"/>
            <a:ext cx="2651760" cy="548640"/>
          </a:xfrm>
          <a:prstGeom prst="rect">
            <a:avLst/>
          </a:prstGeom>
          <a:noFill/>
        </p:spPr>
        <p:txBody>
          <a:bodyPr wrap="square" lIns="0" tIns="0" rIns="0" bIns="0" anchor="t">
            <a:spAutoFit/>
          </a:bodyPr>
          <a:lstStyle/>
          <a:p>
            <a:pPr algn="l"/>
            <a:r>
              <a:rPr sz="1100" b="0" i="0">
                <a:solidFill>
                  <a:srgbClr val="FFFFFF"/>
                </a:solidFill>
                <a:latin typeface="Arial"/>
              </a:rPr>
              <a:t>leads with a chosen first message (duplicates and out-of-scope records set aside)</a:t>
            </a:r>
          </a:p>
        </p:txBody>
      </p:sp>
      <p:cxnSp>
        <p:nvCxnSpPr>
          <p:cNvPr id="10" name="Connector 9"/>
          <p:cNvCxnSpPr/>
          <p:nvPr/>
        </p:nvCxnSpPr>
        <p:spPr>
          <a:xfrm>
            <a:off x="914400" y="3493008"/>
            <a:ext cx="4709160" cy="0"/>
          </a:xfrm>
          <a:prstGeom prst="line">
            <a:avLst/>
          </a:prstGeom>
          <a:ln w="9525">
            <a:solidFill>
              <a:srgbClr val="8091B3"/>
            </a:solidFill>
          </a:ln>
        </p:spPr>
      </p:cxnSp>
      <p:sp>
        <p:nvSpPr>
          <p:cNvPr id="11" name="TextBox 10"/>
          <p:cNvSpPr txBox="1"/>
          <p:nvPr/>
        </p:nvSpPr>
        <p:spPr>
          <a:xfrm>
            <a:off x="914400" y="3639312"/>
            <a:ext cx="1097280" cy="365760"/>
          </a:xfrm>
          <a:prstGeom prst="rect">
            <a:avLst/>
          </a:prstGeom>
          <a:noFill/>
        </p:spPr>
        <p:txBody>
          <a:bodyPr wrap="square" lIns="0" tIns="0" rIns="0" bIns="0" anchor="t">
            <a:spAutoFit/>
          </a:bodyPr>
          <a:lstStyle/>
          <a:p>
            <a:pPr algn="l"/>
            <a:r>
              <a:rPr sz="2000" b="0" i="0">
                <a:solidFill>
                  <a:srgbClr val="FFFFFF"/>
                </a:solidFill>
                <a:latin typeface="Georgia"/>
              </a:rPr>
              <a:t>1,118</a:t>
            </a:r>
          </a:p>
        </p:txBody>
      </p:sp>
      <p:sp>
        <p:nvSpPr>
          <p:cNvPr id="12" name="TextBox 11"/>
          <p:cNvSpPr txBox="1"/>
          <p:nvPr/>
        </p:nvSpPr>
        <p:spPr>
          <a:xfrm>
            <a:off x="2057400" y="3703320"/>
            <a:ext cx="3566160" cy="274320"/>
          </a:xfrm>
          <a:prstGeom prst="rect">
            <a:avLst/>
          </a:prstGeom>
          <a:noFill/>
        </p:spPr>
        <p:txBody>
          <a:bodyPr wrap="square" lIns="0" tIns="0" rIns="0" bIns="0" anchor="t">
            <a:spAutoFit/>
          </a:bodyPr>
          <a:lstStyle/>
          <a:p>
            <a:pPr algn="l"/>
            <a:r>
              <a:rPr sz="1100" b="0" i="0">
                <a:solidFill>
                  <a:srgbClr val="D9ECF9"/>
                </a:solidFill>
                <a:latin typeface="Arial"/>
              </a:rPr>
              <a:t>companies</a:t>
            </a:r>
          </a:p>
        </p:txBody>
      </p:sp>
      <p:sp>
        <p:nvSpPr>
          <p:cNvPr id="13" name="TextBox 12"/>
          <p:cNvSpPr txBox="1"/>
          <p:nvPr/>
        </p:nvSpPr>
        <p:spPr>
          <a:xfrm>
            <a:off x="914400" y="4069080"/>
            <a:ext cx="1097280" cy="365760"/>
          </a:xfrm>
          <a:prstGeom prst="rect">
            <a:avLst/>
          </a:prstGeom>
          <a:noFill/>
        </p:spPr>
        <p:txBody>
          <a:bodyPr wrap="square" lIns="0" tIns="0" rIns="0" bIns="0" anchor="t">
            <a:spAutoFit/>
          </a:bodyPr>
          <a:lstStyle/>
          <a:p>
            <a:pPr algn="l"/>
            <a:r>
              <a:rPr sz="2000" b="0" i="0">
                <a:solidFill>
                  <a:srgbClr val="FFFFFF"/>
                </a:solidFill>
                <a:latin typeface="Georgia"/>
              </a:rPr>
              <a:t>117</a:t>
            </a:r>
          </a:p>
        </p:txBody>
      </p:sp>
      <p:sp>
        <p:nvSpPr>
          <p:cNvPr id="14" name="TextBox 13"/>
          <p:cNvSpPr txBox="1"/>
          <p:nvPr/>
        </p:nvSpPr>
        <p:spPr>
          <a:xfrm>
            <a:off x="2057400" y="4133088"/>
            <a:ext cx="3566160" cy="274320"/>
          </a:xfrm>
          <a:prstGeom prst="rect">
            <a:avLst/>
          </a:prstGeom>
          <a:noFill/>
        </p:spPr>
        <p:txBody>
          <a:bodyPr wrap="square" lIns="0" tIns="0" rIns="0" bIns="0" anchor="t">
            <a:spAutoFit/>
          </a:bodyPr>
          <a:lstStyle/>
          <a:p>
            <a:pPr algn="l"/>
            <a:r>
              <a:rPr sz="1100" b="0" i="0">
                <a:solidFill>
                  <a:srgbClr val="D9ECF9"/>
                </a:solidFill>
                <a:latin typeface="Arial"/>
              </a:rPr>
              <a:t>savings groups (SACCOS)</a:t>
            </a:r>
          </a:p>
        </p:txBody>
      </p:sp>
      <p:sp>
        <p:nvSpPr>
          <p:cNvPr id="15" name="TextBox 14"/>
          <p:cNvSpPr txBox="1"/>
          <p:nvPr/>
        </p:nvSpPr>
        <p:spPr>
          <a:xfrm>
            <a:off x="914400" y="4498848"/>
            <a:ext cx="1097280" cy="365760"/>
          </a:xfrm>
          <a:prstGeom prst="rect">
            <a:avLst/>
          </a:prstGeom>
          <a:noFill/>
        </p:spPr>
        <p:txBody>
          <a:bodyPr wrap="square" lIns="0" tIns="0" rIns="0" bIns="0" anchor="t">
            <a:spAutoFit/>
          </a:bodyPr>
          <a:lstStyle/>
          <a:p>
            <a:pPr algn="l"/>
            <a:r>
              <a:rPr sz="2000" b="0" i="0">
                <a:solidFill>
                  <a:srgbClr val="FFFFFF"/>
                </a:solidFill>
                <a:latin typeface="Georgia"/>
              </a:rPr>
              <a:t>16</a:t>
            </a:r>
          </a:p>
        </p:txBody>
      </p:sp>
      <p:sp>
        <p:nvSpPr>
          <p:cNvPr id="16" name="TextBox 15"/>
          <p:cNvSpPr txBox="1"/>
          <p:nvPr/>
        </p:nvSpPr>
        <p:spPr>
          <a:xfrm>
            <a:off x="2057400" y="4562856"/>
            <a:ext cx="3566160" cy="274320"/>
          </a:xfrm>
          <a:prstGeom prst="rect">
            <a:avLst/>
          </a:prstGeom>
          <a:noFill/>
        </p:spPr>
        <p:txBody>
          <a:bodyPr wrap="square" lIns="0" tIns="0" rIns="0" bIns="0" anchor="t">
            <a:spAutoFit/>
          </a:bodyPr>
          <a:lstStyle/>
          <a:p>
            <a:pPr algn="l"/>
            <a:r>
              <a:rPr sz="1100" b="0" i="0">
                <a:solidFill>
                  <a:srgbClr val="D9ECF9"/>
                </a:solidFill>
                <a:latin typeface="Arial"/>
              </a:rPr>
              <a:t>introducers</a:t>
            </a:r>
          </a:p>
        </p:txBody>
      </p:sp>
      <p:sp>
        <p:nvSpPr>
          <p:cNvPr id="17" name="TextBox 16"/>
          <p:cNvSpPr txBox="1"/>
          <p:nvPr/>
        </p:nvSpPr>
        <p:spPr>
          <a:xfrm>
            <a:off x="914400" y="4928616"/>
            <a:ext cx="1097280" cy="365760"/>
          </a:xfrm>
          <a:prstGeom prst="rect">
            <a:avLst/>
          </a:prstGeom>
          <a:noFill/>
        </p:spPr>
        <p:txBody>
          <a:bodyPr wrap="square" lIns="0" tIns="0" rIns="0" bIns="0" anchor="t">
            <a:spAutoFit/>
          </a:bodyPr>
          <a:lstStyle/>
          <a:p>
            <a:pPr algn="l"/>
            <a:r>
              <a:rPr sz="2000" b="0" i="0">
                <a:solidFill>
                  <a:srgbClr val="FFFFFF"/>
                </a:solidFill>
                <a:latin typeface="Georgia"/>
              </a:rPr>
              <a:t>445</a:t>
            </a:r>
          </a:p>
        </p:txBody>
      </p:sp>
      <p:sp>
        <p:nvSpPr>
          <p:cNvPr id="18" name="TextBox 17"/>
          <p:cNvSpPr txBox="1"/>
          <p:nvPr/>
        </p:nvSpPr>
        <p:spPr>
          <a:xfrm>
            <a:off x="2057400" y="4992624"/>
            <a:ext cx="3566160" cy="274320"/>
          </a:xfrm>
          <a:prstGeom prst="rect">
            <a:avLst/>
          </a:prstGeom>
          <a:noFill/>
        </p:spPr>
        <p:txBody>
          <a:bodyPr wrap="square" lIns="0" tIns="0" rIns="0" bIns="0" anchor="t">
            <a:spAutoFit/>
          </a:bodyPr>
          <a:lstStyle/>
          <a:p>
            <a:pPr algn="l"/>
            <a:r>
              <a:rPr sz="1100" b="0" i="0">
                <a:solidFill>
                  <a:srgbClr val="D9ECF9"/>
                </a:solidFill>
                <a:latin typeface="Arial"/>
              </a:rPr>
              <a:t>welfare organisations</a:t>
            </a:r>
          </a:p>
        </p:txBody>
      </p:sp>
      <p:sp>
        <p:nvSpPr>
          <p:cNvPr id="19" name="TextBox 18"/>
          <p:cNvSpPr txBox="1"/>
          <p:nvPr/>
        </p:nvSpPr>
        <p:spPr>
          <a:xfrm>
            <a:off x="914400" y="5358383"/>
            <a:ext cx="1097280" cy="365760"/>
          </a:xfrm>
          <a:prstGeom prst="rect">
            <a:avLst/>
          </a:prstGeom>
          <a:noFill/>
        </p:spPr>
        <p:txBody>
          <a:bodyPr wrap="square" lIns="0" tIns="0" rIns="0" bIns="0" anchor="t">
            <a:spAutoFit/>
          </a:bodyPr>
          <a:lstStyle/>
          <a:p>
            <a:pPr algn="l"/>
            <a:r>
              <a:rPr sz="2000" b="0" i="0">
                <a:solidFill>
                  <a:srgbClr val="FFFFFF"/>
                </a:solidFill>
                <a:latin typeface="Georgia"/>
              </a:rPr>
              <a:t>228</a:t>
            </a:r>
          </a:p>
        </p:txBody>
      </p:sp>
      <p:sp>
        <p:nvSpPr>
          <p:cNvPr id="20" name="TextBox 19"/>
          <p:cNvSpPr txBox="1"/>
          <p:nvPr/>
        </p:nvSpPr>
        <p:spPr>
          <a:xfrm>
            <a:off x="2057400" y="5422392"/>
            <a:ext cx="3566160" cy="274320"/>
          </a:xfrm>
          <a:prstGeom prst="rect">
            <a:avLst/>
          </a:prstGeom>
          <a:noFill/>
        </p:spPr>
        <p:txBody>
          <a:bodyPr wrap="square" lIns="0" tIns="0" rIns="0" bIns="0" anchor="t">
            <a:spAutoFit/>
          </a:bodyPr>
          <a:lstStyle/>
          <a:p>
            <a:pPr algn="l"/>
            <a:r>
              <a:rPr sz="1100" b="0" i="0">
                <a:solidFill>
                  <a:srgbClr val="D9ECF9"/>
                </a:solidFill>
                <a:latin typeface="Arial"/>
              </a:rPr>
              <a:t>government offices</a:t>
            </a:r>
          </a:p>
        </p:txBody>
      </p:sp>
      <p:sp>
        <p:nvSpPr>
          <p:cNvPr id="21" name="Hexagon 20"/>
          <p:cNvSpPr/>
          <p:nvPr/>
        </p:nvSpPr>
        <p:spPr>
          <a:xfrm>
            <a:off x="6355080" y="150876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1</a:t>
            </a:r>
          </a:p>
        </p:txBody>
      </p:sp>
      <p:sp>
        <p:nvSpPr>
          <p:cNvPr id="22" name="TextBox 21"/>
          <p:cNvSpPr txBox="1"/>
          <p:nvPr/>
        </p:nvSpPr>
        <p:spPr>
          <a:xfrm>
            <a:off x="6949440" y="1463040"/>
            <a:ext cx="4663440" cy="310896"/>
          </a:xfrm>
          <a:prstGeom prst="rect">
            <a:avLst/>
          </a:prstGeom>
          <a:noFill/>
        </p:spPr>
        <p:txBody>
          <a:bodyPr wrap="square" lIns="0" tIns="0" rIns="0" bIns="0" anchor="t">
            <a:spAutoFit/>
          </a:bodyPr>
          <a:lstStyle/>
          <a:p>
            <a:pPr algn="l"/>
            <a:r>
              <a:rPr sz="1400" b="1" i="0">
                <a:solidFill>
                  <a:srgbClr val="002368"/>
                </a:solidFill>
                <a:latin typeface="Arial"/>
              </a:rPr>
              <a:t>On the map</a:t>
            </a:r>
          </a:p>
        </p:txBody>
      </p:sp>
      <p:sp>
        <p:nvSpPr>
          <p:cNvPr id="23" name="TextBox 22"/>
          <p:cNvSpPr txBox="1"/>
          <p:nvPr/>
        </p:nvSpPr>
        <p:spPr>
          <a:xfrm>
            <a:off x="6949440" y="1828800"/>
            <a:ext cx="4663440" cy="1005840"/>
          </a:xfrm>
          <a:prstGeom prst="rect">
            <a:avLst/>
          </a:prstGeom>
          <a:noFill/>
        </p:spPr>
        <p:txBody>
          <a:bodyPr wrap="square" lIns="0" tIns="0" rIns="0" bIns="0" anchor="t">
            <a:spAutoFit/>
          </a:bodyPr>
          <a:lstStyle/>
          <a:p>
            <a:pPr algn="l"/>
            <a:r>
              <a:rPr sz="1200" b="0" i="0">
                <a:solidFill>
                  <a:srgbClr val="000000"/>
                </a:solidFill>
                <a:latin typeface="Arial"/>
              </a:rPr>
              <a:t>1,864 leads are drawn on the lead map and 1,805 sit within 25 km of a campus; 60 have no usable point yet.</a:t>
            </a:r>
          </a:p>
        </p:txBody>
      </p:sp>
      <p:sp>
        <p:nvSpPr>
          <p:cNvPr id="24" name="Hexagon 23"/>
          <p:cNvSpPr/>
          <p:nvPr/>
        </p:nvSpPr>
        <p:spPr>
          <a:xfrm>
            <a:off x="6355080" y="301752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2</a:t>
            </a:r>
          </a:p>
        </p:txBody>
      </p:sp>
      <p:sp>
        <p:nvSpPr>
          <p:cNvPr id="25" name="TextBox 24"/>
          <p:cNvSpPr txBox="1"/>
          <p:nvPr/>
        </p:nvSpPr>
        <p:spPr>
          <a:xfrm>
            <a:off x="6949440" y="2971800"/>
            <a:ext cx="4663440" cy="310896"/>
          </a:xfrm>
          <a:prstGeom prst="rect">
            <a:avLst/>
          </a:prstGeom>
          <a:noFill/>
        </p:spPr>
        <p:txBody>
          <a:bodyPr wrap="square" lIns="0" tIns="0" rIns="0" bIns="0" anchor="t">
            <a:spAutoFit/>
          </a:bodyPr>
          <a:lstStyle/>
          <a:p>
            <a:pPr algn="l"/>
            <a:r>
              <a:rPr sz="1400" b="1" i="0">
                <a:solidFill>
                  <a:srgbClr val="002368"/>
                </a:solidFill>
                <a:latin typeface="Arial"/>
              </a:rPr>
              <a:t>Reach</a:t>
            </a:r>
          </a:p>
        </p:txBody>
      </p:sp>
      <p:sp>
        <p:nvSpPr>
          <p:cNvPr id="26" name="TextBox 25"/>
          <p:cNvSpPr txBox="1"/>
          <p:nvPr/>
        </p:nvSpPr>
        <p:spPr>
          <a:xfrm>
            <a:off x="6949440" y="3337560"/>
            <a:ext cx="4663440" cy="1005840"/>
          </a:xfrm>
          <a:prstGeom prst="rect">
            <a:avLst/>
          </a:prstGeom>
          <a:noFill/>
        </p:spPr>
        <p:txBody>
          <a:bodyPr wrap="square" lIns="0" tIns="0" rIns="0" bIns="0" anchor="t">
            <a:spAutoFit/>
          </a:bodyPr>
          <a:lstStyle/>
          <a:p>
            <a:pPr algn="l"/>
            <a:r>
              <a:rPr sz="1200" b="0" i="0">
                <a:solidFill>
                  <a:srgbClr val="000000"/>
                </a:solidFill>
                <a:latin typeface="Arial"/>
              </a:rPr>
              <a:t>345 email routes are high confidence: 54 reach the decision-maker directly, at their own or their role's inbox, and 291 reach them through a general inbox addressed to them.</a:t>
            </a:r>
          </a:p>
        </p:txBody>
      </p:sp>
      <p:sp>
        <p:nvSpPr>
          <p:cNvPr id="27" name="Hexagon 26"/>
          <p:cNvSpPr/>
          <p:nvPr/>
        </p:nvSpPr>
        <p:spPr>
          <a:xfrm>
            <a:off x="6355080" y="452628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3</a:t>
            </a:r>
          </a:p>
        </p:txBody>
      </p:sp>
      <p:sp>
        <p:nvSpPr>
          <p:cNvPr id="28" name="TextBox 27"/>
          <p:cNvSpPr txBox="1"/>
          <p:nvPr/>
        </p:nvSpPr>
        <p:spPr>
          <a:xfrm>
            <a:off x="6949440" y="4480560"/>
            <a:ext cx="4663440" cy="310896"/>
          </a:xfrm>
          <a:prstGeom prst="rect">
            <a:avLst/>
          </a:prstGeom>
          <a:noFill/>
        </p:spPr>
        <p:txBody>
          <a:bodyPr wrap="square" lIns="0" tIns="0" rIns="0" bIns="0" anchor="t">
            <a:spAutoFit/>
          </a:bodyPr>
          <a:lstStyle/>
          <a:p>
            <a:pPr algn="l"/>
            <a:r>
              <a:rPr sz="1400" b="1" i="0">
                <a:solidFill>
                  <a:srgbClr val="002368"/>
                </a:solidFill>
                <a:latin typeface="Arial"/>
              </a:rPr>
              <a:t>Drafts</a:t>
            </a:r>
          </a:p>
        </p:txBody>
      </p:sp>
      <p:sp>
        <p:nvSpPr>
          <p:cNvPr id="29" name="TextBox 28"/>
          <p:cNvSpPr txBox="1"/>
          <p:nvPr/>
        </p:nvSpPr>
        <p:spPr>
          <a:xfrm>
            <a:off x="6949440" y="4846320"/>
            <a:ext cx="4663440" cy="1005840"/>
          </a:xfrm>
          <a:prstGeom prst="rect">
            <a:avLst/>
          </a:prstGeom>
          <a:noFill/>
        </p:spPr>
        <p:txBody>
          <a:bodyPr wrap="square" lIns="0" tIns="0" rIns="0" bIns="0" anchor="t">
            <a:spAutoFit/>
          </a:bodyPr>
          <a:lstStyle/>
          <a:p>
            <a:pPr algn="l"/>
            <a:r>
              <a:rPr sz="1200" b="0" i="0">
                <a:solidFill>
                  <a:srgbClr val="000000"/>
                </a:solidFill>
                <a:latin typeface="Arial"/>
              </a:rPr>
              <a:t>Every first message asks for a meeting: 63 go direct (case A), 408 in the Attn format (case B) and 423 as redirect requests (case C). 802 leads without email go on the call sheets, and 228 government letters go by hand.</a:t>
            </a:r>
          </a:p>
        </p:txBody>
      </p:sp>
      <p:pic>
        <p:nvPicPr>
          <p:cNvPr id="30" name="Picture 29" descr="image3.png"/>
          <p:cNvPicPr>
            <a:picLocks noChangeAspect="1"/>
          </p:cNvPicPr>
          <p:nvPr/>
        </p:nvPicPr>
        <p:blipFill>
          <a:blip r:embed="rId2"/>
          <a:stretch>
            <a:fillRect/>
          </a:stretch>
        </p:blipFill>
        <p:spPr>
          <a:xfrm>
            <a:off x="548640" y="6272784"/>
            <a:ext cx="1143000" cy="274320"/>
          </a:xfrm>
          <a:prstGeom prst="rect">
            <a:avLst/>
          </a:prstGeom>
        </p:spPr>
      </p:pic>
      <p:sp>
        <p:nvSpPr>
          <p:cNvPr id="31"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32"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contact segments, October 2026</a:t>
            </a:r>
          </a:p>
        </p:txBody>
      </p:sp>
      <p:sp>
        <p:nvSpPr>
          <p:cNvPr id="33"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CATCHMENT  ·  ANCHORS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Five campuses, one 25 km catchment</a:t>
            </a:r>
          </a:p>
        </p:txBody>
      </p:sp>
      <p:pic>
        <p:nvPicPr>
          <p:cNvPr id="4" name="Picture 3" descr="catchment_map.png"/>
          <p:cNvPicPr>
            <a:picLocks noChangeAspect="1"/>
          </p:cNvPicPr>
          <p:nvPr/>
        </p:nvPicPr>
        <p:blipFill>
          <a:blip r:embed="rId2"/>
          <a:stretch>
            <a:fillRect/>
          </a:stretch>
        </p:blipFill>
        <p:spPr>
          <a:xfrm>
            <a:off x="548640" y="1298448"/>
            <a:ext cx="7315200" cy="3928533"/>
          </a:xfrm>
          <a:prstGeom prst="rect">
            <a:avLst/>
          </a:prstGeom>
        </p:spPr>
      </p:pic>
      <p:sp>
        <p:nvSpPr>
          <p:cNvPr id="5" name="Oval 4"/>
          <p:cNvSpPr/>
          <p:nvPr/>
        </p:nvSpPr>
        <p:spPr>
          <a:xfrm>
            <a:off x="548640" y="5357164"/>
            <a:ext cx="109728" cy="109728"/>
          </a:xfrm>
          <a:prstGeom prst="ellipse">
            <a:avLst/>
          </a:prstGeom>
          <a:solidFill>
            <a:srgbClr val="002368"/>
          </a:solidFill>
          <a:ln>
            <a:noFill/>
          </a:ln>
        </p:spPr>
        <p:txBody>
          <a:bodyPr rtlCol="0" anchor="ctr"/>
          <a:lstStyle/>
          <a:p>
            <a:pPr algn="ctr"/>
          </a:p>
        </p:txBody>
      </p:sp>
      <p:sp>
        <p:nvSpPr>
          <p:cNvPr id="6" name="TextBox 5"/>
          <p:cNvSpPr txBox="1"/>
          <p:nvPr/>
        </p:nvSpPr>
        <p:spPr>
          <a:xfrm>
            <a:off x="713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Employers</a:t>
            </a:r>
          </a:p>
        </p:txBody>
      </p:sp>
      <p:sp>
        <p:nvSpPr>
          <p:cNvPr id="7" name="Oval 6"/>
          <p:cNvSpPr/>
          <p:nvPr/>
        </p:nvSpPr>
        <p:spPr>
          <a:xfrm>
            <a:off x="1691640" y="5357164"/>
            <a:ext cx="109728" cy="109728"/>
          </a:xfrm>
          <a:prstGeom prst="ellipse">
            <a:avLst/>
          </a:prstGeom>
          <a:solidFill>
            <a:srgbClr val="3E8FCF"/>
          </a:solidFill>
          <a:ln>
            <a:noFill/>
          </a:ln>
        </p:spPr>
        <p:txBody>
          <a:bodyPr rtlCol="0" anchor="ctr"/>
          <a:lstStyle/>
          <a:p>
            <a:pPr algn="ctr"/>
          </a:p>
        </p:txBody>
      </p:sp>
      <p:sp>
        <p:nvSpPr>
          <p:cNvPr id="8" name="TextBox 7"/>
          <p:cNvSpPr txBox="1"/>
          <p:nvPr/>
        </p:nvSpPr>
        <p:spPr>
          <a:xfrm>
            <a:off x="1856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Welfare</a:t>
            </a:r>
          </a:p>
        </p:txBody>
      </p:sp>
      <p:sp>
        <p:nvSpPr>
          <p:cNvPr id="9" name="Oval 8"/>
          <p:cNvSpPr/>
          <p:nvPr/>
        </p:nvSpPr>
        <p:spPr>
          <a:xfrm>
            <a:off x="2834640" y="5357164"/>
            <a:ext cx="109728" cy="109728"/>
          </a:xfrm>
          <a:prstGeom prst="ellipse">
            <a:avLst/>
          </a:prstGeom>
          <a:solidFill>
            <a:srgbClr val="FFC952"/>
          </a:solidFill>
          <a:ln>
            <a:noFill/>
          </a:ln>
        </p:spPr>
        <p:txBody>
          <a:bodyPr rtlCol="0" anchor="ctr"/>
          <a:lstStyle/>
          <a:p>
            <a:pPr algn="ctr"/>
          </a:p>
        </p:txBody>
      </p:sp>
      <p:sp>
        <p:nvSpPr>
          <p:cNvPr id="10" name="TextBox 9"/>
          <p:cNvSpPr txBox="1"/>
          <p:nvPr/>
        </p:nvSpPr>
        <p:spPr>
          <a:xfrm>
            <a:off x="2999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Government</a:t>
            </a:r>
          </a:p>
        </p:txBody>
      </p:sp>
      <p:sp>
        <p:nvSpPr>
          <p:cNvPr id="11" name="Oval 10"/>
          <p:cNvSpPr/>
          <p:nvPr/>
        </p:nvSpPr>
        <p:spPr>
          <a:xfrm>
            <a:off x="3977639" y="5357164"/>
            <a:ext cx="109728" cy="109728"/>
          </a:xfrm>
          <a:prstGeom prst="ellipse">
            <a:avLst/>
          </a:prstGeom>
          <a:solidFill>
            <a:srgbClr val="C0392B"/>
          </a:solidFill>
          <a:ln>
            <a:noFill/>
          </a:ln>
        </p:spPr>
        <p:txBody>
          <a:bodyPr rtlCol="0" anchor="ctr"/>
          <a:lstStyle/>
          <a:p>
            <a:pPr algn="ctr"/>
          </a:p>
        </p:txBody>
      </p:sp>
      <p:sp>
        <p:nvSpPr>
          <p:cNvPr id="12" name="TextBox 11"/>
          <p:cNvSpPr txBox="1"/>
          <p:nvPr/>
        </p:nvSpPr>
        <p:spPr>
          <a:xfrm>
            <a:off x="4142231"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Introducers</a:t>
            </a:r>
          </a:p>
        </p:txBody>
      </p:sp>
      <p:sp>
        <p:nvSpPr>
          <p:cNvPr id="13" name="TextBox 12"/>
          <p:cNvSpPr txBox="1"/>
          <p:nvPr/>
        </p:nvSpPr>
        <p:spPr>
          <a:xfrm>
            <a:off x="5212079" y="5302300"/>
            <a:ext cx="2743200" cy="219456"/>
          </a:xfrm>
          <a:prstGeom prst="rect">
            <a:avLst/>
          </a:prstGeom>
          <a:noFill/>
        </p:spPr>
        <p:txBody>
          <a:bodyPr wrap="square" lIns="0" tIns="0" rIns="0" bIns="0" anchor="ctr">
            <a:spAutoFit/>
          </a:bodyPr>
          <a:lstStyle/>
          <a:p>
            <a:pPr algn="l"/>
            <a:r>
              <a:rPr sz="900" b="0" i="0">
                <a:solidFill>
                  <a:srgbClr val="818283"/>
                </a:solidFill>
                <a:latin typeface="Arial"/>
              </a:rPr>
              <a:t>Dashed: 25 km line · dotted: 5 and 10 km</a:t>
            </a:r>
          </a:p>
        </p:txBody>
      </p:sp>
      <p:sp>
        <p:nvSpPr>
          <p:cNvPr id="14" name="TextBox 13"/>
          <p:cNvSpPr txBox="1"/>
          <p:nvPr/>
        </p:nvSpPr>
        <p:spPr>
          <a:xfrm>
            <a:off x="8183879" y="1325880"/>
            <a:ext cx="3474720" cy="201168"/>
          </a:xfrm>
          <a:prstGeom prst="rect">
            <a:avLst/>
          </a:prstGeom>
          <a:noFill/>
        </p:spPr>
        <p:txBody>
          <a:bodyPr wrap="square" lIns="0" tIns="0" rIns="0" bIns="0" anchor="t">
            <a:spAutoFit/>
          </a:bodyPr>
          <a:lstStyle/>
          <a:p>
            <a:pPr algn="l"/>
            <a:r>
              <a:rPr sz="900" b="1" i="0" spc="200">
                <a:solidFill>
                  <a:srgbClr val="818283"/>
                </a:solidFill>
                <a:latin typeface="Arial"/>
              </a:rPr>
              <a:t>CAMPUS POINTS</a:t>
            </a:r>
          </a:p>
        </p:txBody>
      </p:sp>
      <p:sp>
        <p:nvSpPr>
          <p:cNvPr id="15" name="Hexagon 14"/>
          <p:cNvSpPr/>
          <p:nvPr/>
        </p:nvSpPr>
        <p:spPr>
          <a:xfrm>
            <a:off x="8183879" y="1618488"/>
            <a:ext cx="329184" cy="292608"/>
          </a:xfrm>
          <a:prstGeom prst="hexagon">
            <a:avLst>
              <a:gd name="adj" fmla="val 25000"/>
              <a:gd name="vf" fmla="val 115470"/>
            </a:avLst>
          </a:prstGeom>
          <a:solidFill>
            <a:srgbClr val="002368"/>
          </a:solidFill>
          <a:ln>
            <a:noFill/>
          </a:ln>
        </p:spPr>
        <p:txBody>
          <a:bodyPr rtlCol="0" anchor="ctr" wrap="square" lIns="0" tIns="0" rIns="0" bIns="0"/>
          <a:lstStyle/>
          <a:p>
            <a:pPr algn="ctr"/>
            <a:r>
              <a:rPr sz="900" b="1" i="0">
                <a:solidFill>
                  <a:srgbClr val="FFFFFF"/>
                </a:solidFill>
                <a:latin typeface="Arial"/>
              </a:rPr>
              <a:t>P</a:t>
            </a:r>
          </a:p>
        </p:txBody>
      </p:sp>
      <p:sp>
        <p:nvSpPr>
          <p:cNvPr id="16" name="TextBox 15"/>
          <p:cNvSpPr txBox="1"/>
          <p:nvPr/>
        </p:nvSpPr>
        <p:spPr>
          <a:xfrm>
            <a:off x="8641080" y="1600200"/>
            <a:ext cx="3017520" cy="219456"/>
          </a:xfrm>
          <a:prstGeom prst="rect">
            <a:avLst/>
          </a:prstGeom>
          <a:noFill/>
        </p:spPr>
        <p:txBody>
          <a:bodyPr wrap="square" lIns="0" tIns="0" rIns="0" bIns="0" anchor="t">
            <a:spAutoFit/>
          </a:bodyPr>
          <a:lstStyle/>
          <a:p>
            <a:pPr algn="l"/>
            <a:r>
              <a:rPr sz="1100" b="1" i="0">
                <a:solidFill>
                  <a:srgbClr val="002368"/>
                </a:solidFill>
                <a:latin typeface="Arial"/>
              </a:rPr>
              <a:t>Arusha City (Sakina)</a:t>
            </a:r>
          </a:p>
        </p:txBody>
      </p:sp>
      <p:sp>
        <p:nvSpPr>
          <p:cNvPr id="17" name="TextBox 16"/>
          <p:cNvSpPr txBox="1"/>
          <p:nvPr/>
        </p:nvSpPr>
        <p:spPr>
          <a:xfrm>
            <a:off x="8641080" y="1810512"/>
            <a:ext cx="3017520" cy="201168"/>
          </a:xfrm>
          <a:prstGeom prst="rect">
            <a:avLst/>
          </a:prstGeom>
          <a:noFill/>
        </p:spPr>
        <p:txBody>
          <a:bodyPr wrap="square" lIns="0" tIns="0" rIns="0" bIns="0" anchor="t">
            <a:spAutoFit/>
          </a:bodyPr>
          <a:lstStyle/>
          <a:p>
            <a:pPr algn="l"/>
            <a:r>
              <a:rPr sz="950" b="0" i="0">
                <a:solidFill>
                  <a:srgbClr val="818283"/>
                </a:solidFill>
                <a:latin typeface="Arial"/>
              </a:rPr>
              <a:t>K1–K2, Std 1–7</a:t>
            </a:r>
          </a:p>
        </p:txBody>
      </p:sp>
      <p:sp>
        <p:nvSpPr>
          <p:cNvPr id="18" name="Hexagon 17"/>
          <p:cNvSpPr/>
          <p:nvPr/>
        </p:nvSpPr>
        <p:spPr>
          <a:xfrm>
            <a:off x="8183879" y="2075688"/>
            <a:ext cx="329184" cy="292608"/>
          </a:xfrm>
          <a:prstGeom prst="hexagon">
            <a:avLst>
              <a:gd name="adj" fmla="val 25000"/>
              <a:gd name="vf" fmla="val 115470"/>
            </a:avLst>
          </a:prstGeom>
          <a:solidFill>
            <a:srgbClr val="002368"/>
          </a:solidFill>
          <a:ln>
            <a:noFill/>
          </a:ln>
        </p:spPr>
        <p:txBody>
          <a:bodyPr rtlCol="0" anchor="ctr" wrap="square" lIns="0" tIns="0" rIns="0" bIns="0"/>
          <a:lstStyle/>
          <a:p>
            <a:pPr algn="ctr"/>
            <a:r>
              <a:rPr sz="900" b="1" i="0">
                <a:solidFill>
                  <a:srgbClr val="FFFFFF"/>
                </a:solidFill>
                <a:latin typeface="Arial"/>
              </a:rPr>
              <a:t>P</a:t>
            </a:r>
          </a:p>
        </p:txBody>
      </p:sp>
      <p:sp>
        <p:nvSpPr>
          <p:cNvPr id="19" name="TextBox 18"/>
          <p:cNvSpPr txBox="1"/>
          <p:nvPr/>
        </p:nvSpPr>
        <p:spPr>
          <a:xfrm>
            <a:off x="8641080" y="2057400"/>
            <a:ext cx="3017520" cy="219456"/>
          </a:xfrm>
          <a:prstGeom prst="rect">
            <a:avLst/>
          </a:prstGeom>
          <a:noFill/>
        </p:spPr>
        <p:txBody>
          <a:bodyPr wrap="square" lIns="0" tIns="0" rIns="0" bIns="0" anchor="t">
            <a:spAutoFit/>
          </a:bodyPr>
          <a:lstStyle/>
          <a:p>
            <a:pPr algn="l"/>
            <a:r>
              <a:rPr sz="1100" b="1" i="0">
                <a:solidFill>
                  <a:srgbClr val="002368"/>
                </a:solidFill>
                <a:latin typeface="Arial"/>
              </a:rPr>
              <a:t>Usa River</a:t>
            </a:r>
          </a:p>
        </p:txBody>
      </p:sp>
      <p:sp>
        <p:nvSpPr>
          <p:cNvPr id="20" name="TextBox 19"/>
          <p:cNvSpPr txBox="1"/>
          <p:nvPr/>
        </p:nvSpPr>
        <p:spPr>
          <a:xfrm>
            <a:off x="8641080" y="2267712"/>
            <a:ext cx="3017520" cy="201168"/>
          </a:xfrm>
          <a:prstGeom prst="rect">
            <a:avLst/>
          </a:prstGeom>
          <a:noFill/>
        </p:spPr>
        <p:txBody>
          <a:bodyPr wrap="square" lIns="0" tIns="0" rIns="0" bIns="0" anchor="t">
            <a:spAutoFit/>
          </a:bodyPr>
          <a:lstStyle/>
          <a:p>
            <a:pPr algn="l"/>
            <a:r>
              <a:rPr sz="950" b="0" i="0">
                <a:solidFill>
                  <a:srgbClr val="818283"/>
                </a:solidFill>
                <a:latin typeface="Arial"/>
              </a:rPr>
              <a:t>K1–K2, Std 1–7, boarding</a:t>
            </a:r>
          </a:p>
        </p:txBody>
      </p:sp>
      <p:sp>
        <p:nvSpPr>
          <p:cNvPr id="21" name="Hexagon 20"/>
          <p:cNvSpPr/>
          <p:nvPr/>
        </p:nvSpPr>
        <p:spPr>
          <a:xfrm>
            <a:off x="8183879" y="25328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2" name="TextBox 21"/>
          <p:cNvSpPr txBox="1"/>
          <p:nvPr/>
        </p:nvSpPr>
        <p:spPr>
          <a:xfrm>
            <a:off x="8641080" y="2514600"/>
            <a:ext cx="3017520" cy="219456"/>
          </a:xfrm>
          <a:prstGeom prst="rect">
            <a:avLst/>
          </a:prstGeom>
          <a:noFill/>
        </p:spPr>
        <p:txBody>
          <a:bodyPr wrap="square" lIns="0" tIns="0" rIns="0" bIns="0" anchor="t">
            <a:spAutoFit/>
          </a:bodyPr>
          <a:lstStyle/>
          <a:p>
            <a:pPr algn="l"/>
            <a:r>
              <a:rPr sz="1100" b="1" i="0">
                <a:solidFill>
                  <a:srgbClr val="002368"/>
                </a:solidFill>
                <a:latin typeface="Arial"/>
              </a:rPr>
              <a:t>Ilboru</a:t>
            </a:r>
          </a:p>
        </p:txBody>
      </p:sp>
      <p:sp>
        <p:nvSpPr>
          <p:cNvPr id="23" name="TextBox 22"/>
          <p:cNvSpPr txBox="1"/>
          <p:nvPr/>
        </p:nvSpPr>
        <p:spPr>
          <a:xfrm>
            <a:off x="8641080" y="27249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24" name="Hexagon 23"/>
          <p:cNvSpPr/>
          <p:nvPr/>
        </p:nvSpPr>
        <p:spPr>
          <a:xfrm>
            <a:off x="8183879" y="29900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5" name="TextBox 24"/>
          <p:cNvSpPr txBox="1"/>
          <p:nvPr/>
        </p:nvSpPr>
        <p:spPr>
          <a:xfrm>
            <a:off x="8641080" y="2971800"/>
            <a:ext cx="3017520" cy="219456"/>
          </a:xfrm>
          <a:prstGeom prst="rect">
            <a:avLst/>
          </a:prstGeom>
          <a:noFill/>
        </p:spPr>
        <p:txBody>
          <a:bodyPr wrap="square" lIns="0" tIns="0" rIns="0" bIns="0" anchor="t">
            <a:spAutoFit/>
          </a:bodyPr>
          <a:lstStyle/>
          <a:p>
            <a:pPr algn="l"/>
            <a:r>
              <a:rPr sz="1100" b="1" i="0">
                <a:solidFill>
                  <a:srgbClr val="002368"/>
                </a:solidFill>
                <a:latin typeface="Arial"/>
              </a:rPr>
              <a:t>Kijenge</a:t>
            </a:r>
          </a:p>
        </p:txBody>
      </p:sp>
      <p:sp>
        <p:nvSpPr>
          <p:cNvPr id="26" name="TextBox 25"/>
          <p:cNvSpPr txBox="1"/>
          <p:nvPr/>
        </p:nvSpPr>
        <p:spPr>
          <a:xfrm>
            <a:off x="8641080" y="31821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27" name="Hexagon 26"/>
          <p:cNvSpPr/>
          <p:nvPr/>
        </p:nvSpPr>
        <p:spPr>
          <a:xfrm>
            <a:off x="8183879" y="34472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8" name="TextBox 27"/>
          <p:cNvSpPr txBox="1"/>
          <p:nvPr/>
        </p:nvSpPr>
        <p:spPr>
          <a:xfrm>
            <a:off x="8641080" y="3429000"/>
            <a:ext cx="3017520" cy="219456"/>
          </a:xfrm>
          <a:prstGeom prst="rect">
            <a:avLst/>
          </a:prstGeom>
          <a:noFill/>
        </p:spPr>
        <p:txBody>
          <a:bodyPr wrap="square" lIns="0" tIns="0" rIns="0" bIns="0" anchor="t">
            <a:spAutoFit/>
          </a:bodyPr>
          <a:lstStyle/>
          <a:p>
            <a:pPr algn="l"/>
            <a:r>
              <a:rPr sz="1100" b="1" i="0">
                <a:solidFill>
                  <a:srgbClr val="002368"/>
                </a:solidFill>
                <a:latin typeface="Arial"/>
              </a:rPr>
              <a:t>Boma Ng'ombe</a:t>
            </a:r>
          </a:p>
        </p:txBody>
      </p:sp>
      <p:sp>
        <p:nvSpPr>
          <p:cNvPr id="29" name="TextBox 28"/>
          <p:cNvSpPr txBox="1"/>
          <p:nvPr/>
        </p:nvSpPr>
        <p:spPr>
          <a:xfrm>
            <a:off x="8641080" y="36393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30" name="TextBox 29"/>
          <p:cNvSpPr txBox="1"/>
          <p:nvPr/>
        </p:nvSpPr>
        <p:spPr>
          <a:xfrm>
            <a:off x="8183879" y="3931920"/>
            <a:ext cx="3474720" cy="914400"/>
          </a:xfrm>
          <a:prstGeom prst="rect">
            <a:avLst/>
          </a:prstGeom>
          <a:noFill/>
        </p:spPr>
        <p:txBody>
          <a:bodyPr wrap="square" lIns="0" tIns="0" rIns="0" bIns="0" anchor="t">
            <a:spAutoFit/>
          </a:bodyPr>
          <a:lstStyle/>
          <a:p>
            <a:pPr algn="l"/>
            <a:r>
              <a:rPr sz="1050" b="0" i="0">
                <a:solidFill>
                  <a:srgbClr val="000000"/>
                </a:solidFill>
                <a:latin typeface="Arial"/>
              </a:rPr>
              <a:t>Every distance is measured from the map pin on each campus's own page of silverleaf.co.tz.</a:t>
            </a:r>
          </a:p>
        </p:txBody>
      </p:sp>
      <p:sp>
        <p:nvSpPr>
          <p:cNvPr id="31" name="Rounded Rectangle 30"/>
          <p:cNvSpPr/>
          <p:nvPr/>
        </p:nvSpPr>
        <p:spPr>
          <a:xfrm>
            <a:off x="8183879" y="4754880"/>
            <a:ext cx="3456432" cy="1207008"/>
          </a:xfrm>
          <a:prstGeom prst="roundRect">
            <a:avLst>
              <a:gd name="adj" fmla="val 5303"/>
            </a:avLst>
          </a:prstGeom>
          <a:solidFill>
            <a:srgbClr val="D9ECF9"/>
          </a:solidFill>
          <a:ln w="12700">
            <a:solidFill>
              <a:srgbClr val="D9ECF9"/>
            </a:solidFill>
          </a:ln>
        </p:spPr>
        <p:txBody>
          <a:bodyPr rtlCol="0" anchor="ctr"/>
          <a:lstStyle/>
          <a:p>
            <a:pPr algn="ctr"/>
          </a:p>
        </p:txBody>
      </p:sp>
      <p:sp>
        <p:nvSpPr>
          <p:cNvPr id="32" name="TextBox 31"/>
          <p:cNvSpPr txBox="1"/>
          <p:nvPr/>
        </p:nvSpPr>
        <p:spPr>
          <a:xfrm>
            <a:off x="8366760" y="4864608"/>
            <a:ext cx="3108960" cy="1005840"/>
          </a:xfrm>
          <a:prstGeom prst="rect">
            <a:avLst/>
          </a:prstGeom>
          <a:noFill/>
        </p:spPr>
        <p:txBody>
          <a:bodyPr wrap="square" lIns="0" tIns="0" rIns="0" bIns="0" anchor="t">
            <a:spAutoFit/>
          </a:bodyPr>
          <a:lstStyle/>
          <a:p>
            <a:pPr algn="l"/>
            <a:r>
              <a:rPr sz="1000" b="1" i="0">
                <a:solidFill>
                  <a:srgbClr val="002368"/>
                </a:solidFill>
                <a:latin typeface="Arial"/>
              </a:rPr>
              <a:t>Three clusters. </a:t>
            </a:r>
            <a:r>
              <a:rPr sz="1000" b="0" i="0">
                <a:solidFill>
                  <a:srgbClr val="000000"/>
                </a:solidFill>
                <a:latin typeface="Arial"/>
              </a:rPr>
              <a:t>Sakina, Ilboru and Kijenge lie within about 6 km of each other; Usa River is 17–23 km east; Boma Ng'ombe 31 km beyond. Only Usa River and Arusha City (P) teach primary.</a:t>
            </a:r>
          </a:p>
        </p:txBody>
      </p:sp>
      <p:pic>
        <p:nvPicPr>
          <p:cNvPr id="33" name="Picture 32" descr="image3.png"/>
          <p:cNvPicPr>
            <a:picLocks noChangeAspect="1"/>
          </p:cNvPicPr>
          <p:nvPr/>
        </p:nvPicPr>
        <p:blipFill>
          <a:blip r:embed="rId3"/>
          <a:stretch>
            <a:fillRect/>
          </a:stretch>
        </p:blipFill>
        <p:spPr>
          <a:xfrm>
            <a:off x="548640" y="6272784"/>
            <a:ext cx="1143000" cy="274320"/>
          </a:xfrm>
          <a:prstGeom prst="rect">
            <a:avLst/>
          </a:prstGeom>
        </p:spPr>
      </p:pic>
      <p:sp>
        <p:nvSpPr>
          <p:cNvPr id="34"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4">
                  <a:extLst>
                    <a:ext uri="{A12FA001-AC4F-418D-AE19-62706E023703}">
                      <ahyp:hlinkClr xmlns:ahyp="http://schemas.microsoft.com/office/drawing/2018/hyperlinkcolor" val="tx"/>
                    </a:ext>
                  </a:extLst>
                </a:hlinkClick>
              </a:rPr>
              <a:t>Open the lead map →</a:t>
            </a:r>
          </a:p>
        </p:txBody>
      </p:sp>
      <p:sp>
        <p:nvSpPr>
          <p:cNvPr id="35"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campus pages and lead databases, October 2026; map data © OpenStreetMap contributors</a:t>
            </a:r>
          </a:p>
        </p:txBody>
      </p:sp>
      <p:sp>
        <p:nvSpPr>
          <p:cNvPr id="36"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CATCHMENT  ·  DISTANCE BANDS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Nearer is better, in steps of 5 km</a:t>
            </a:r>
          </a:p>
        </p:txBody>
      </p:sp>
      <p:sp>
        <p:nvSpPr>
          <p:cNvPr id="4" name="Rounded Rectangle 3"/>
          <p:cNvSpPr/>
          <p:nvPr/>
        </p:nvSpPr>
        <p:spPr>
          <a:xfrm>
            <a:off x="548640" y="1298448"/>
            <a:ext cx="1737360" cy="749808"/>
          </a:xfrm>
          <a:prstGeom prst="roundRect">
            <a:avLst>
              <a:gd name="adj" fmla="val 8536"/>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685800"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0–5 km</a:t>
            </a:r>
          </a:p>
        </p:txBody>
      </p:sp>
      <p:sp>
        <p:nvSpPr>
          <p:cNvPr id="6" name="TextBox 5"/>
          <p:cNvSpPr txBox="1"/>
          <p:nvPr/>
        </p:nvSpPr>
        <p:spPr>
          <a:xfrm>
            <a:off x="685800"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First wave everywhere</a:t>
            </a:r>
          </a:p>
        </p:txBody>
      </p:sp>
      <p:sp>
        <p:nvSpPr>
          <p:cNvPr id="7" name="Rounded Rectangle 6"/>
          <p:cNvSpPr/>
          <p:nvPr/>
        </p:nvSpPr>
        <p:spPr>
          <a:xfrm>
            <a:off x="2414016" y="1298448"/>
            <a:ext cx="1737360" cy="749808"/>
          </a:xfrm>
          <a:prstGeom prst="roundRect">
            <a:avLst>
              <a:gd name="adj" fmla="val 8536"/>
            </a:avLst>
          </a:prstGeom>
          <a:solidFill>
            <a:srgbClr val="1C4A8A"/>
          </a:solidFill>
          <a:ln w="12700">
            <a:solidFill>
              <a:srgbClr val="1C4A8A"/>
            </a:solidFill>
          </a:ln>
        </p:spPr>
        <p:txBody>
          <a:bodyPr rtlCol="0" anchor="ctr"/>
          <a:lstStyle/>
          <a:p>
            <a:pPr algn="ctr"/>
          </a:p>
        </p:txBody>
      </p:sp>
      <p:sp>
        <p:nvSpPr>
          <p:cNvPr id="8" name="TextBox 7"/>
          <p:cNvSpPr txBox="1"/>
          <p:nvPr/>
        </p:nvSpPr>
        <p:spPr>
          <a:xfrm>
            <a:off x="2551176"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6–10 km</a:t>
            </a:r>
          </a:p>
        </p:txBody>
      </p:sp>
      <p:sp>
        <p:nvSpPr>
          <p:cNvPr id="9" name="TextBox 8"/>
          <p:cNvSpPr txBox="1"/>
          <p:nvPr/>
        </p:nvSpPr>
        <p:spPr>
          <a:xfrm>
            <a:off x="2551176"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First wave for employers and wards</a:t>
            </a:r>
          </a:p>
        </p:txBody>
      </p:sp>
      <p:sp>
        <p:nvSpPr>
          <p:cNvPr id="10" name="Rounded Rectangle 9"/>
          <p:cNvSpPr/>
          <p:nvPr/>
        </p:nvSpPr>
        <p:spPr>
          <a:xfrm>
            <a:off x="4279392" y="1298448"/>
            <a:ext cx="1737360" cy="749808"/>
          </a:xfrm>
          <a:prstGeom prst="roundRect">
            <a:avLst>
              <a:gd name="adj" fmla="val 8536"/>
            </a:avLst>
          </a:prstGeom>
          <a:solidFill>
            <a:srgbClr val="3E7BBE"/>
          </a:solidFill>
          <a:ln w="12700">
            <a:solidFill>
              <a:srgbClr val="3E7BBE"/>
            </a:solidFill>
          </a:ln>
        </p:spPr>
        <p:txBody>
          <a:bodyPr rtlCol="0" anchor="ctr"/>
          <a:lstStyle/>
          <a:p>
            <a:pPr algn="ctr"/>
          </a:p>
        </p:txBody>
      </p:sp>
      <p:sp>
        <p:nvSpPr>
          <p:cNvPr id="11" name="TextBox 10"/>
          <p:cNvSpPr txBox="1"/>
          <p:nvPr/>
        </p:nvSpPr>
        <p:spPr>
          <a:xfrm>
            <a:off x="4416552"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11–15 km</a:t>
            </a:r>
          </a:p>
        </p:txBody>
      </p:sp>
      <p:sp>
        <p:nvSpPr>
          <p:cNvPr id="12" name="TextBox 11"/>
          <p:cNvSpPr txBox="1"/>
          <p:nvPr/>
        </p:nvSpPr>
        <p:spPr>
          <a:xfrm>
            <a:off x="4416552"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Reachable with school transport</a:t>
            </a:r>
          </a:p>
        </p:txBody>
      </p:sp>
      <p:sp>
        <p:nvSpPr>
          <p:cNvPr id="13" name="Rounded Rectangle 12"/>
          <p:cNvSpPr/>
          <p:nvPr/>
        </p:nvSpPr>
        <p:spPr>
          <a:xfrm>
            <a:off x="6144768" y="1298448"/>
            <a:ext cx="1737360" cy="749808"/>
          </a:xfrm>
          <a:prstGeom prst="roundRect">
            <a:avLst>
              <a:gd name="adj" fmla="val 8536"/>
            </a:avLst>
          </a:prstGeom>
          <a:solidFill>
            <a:srgbClr val="80BFEC"/>
          </a:solidFill>
          <a:ln w="12700">
            <a:solidFill>
              <a:srgbClr val="80BFEC"/>
            </a:solidFill>
          </a:ln>
        </p:spPr>
        <p:txBody>
          <a:bodyPr rtlCol="0" anchor="ctr"/>
          <a:lstStyle/>
          <a:p>
            <a:pPr algn="ctr"/>
          </a:p>
        </p:txBody>
      </p:sp>
      <p:sp>
        <p:nvSpPr>
          <p:cNvPr id="14" name="TextBox 13"/>
          <p:cNvSpPr txBox="1"/>
          <p:nvPr/>
        </p:nvSpPr>
        <p:spPr>
          <a:xfrm>
            <a:off x="6281928"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16–20 km</a:t>
            </a:r>
          </a:p>
        </p:txBody>
      </p:sp>
      <p:sp>
        <p:nvSpPr>
          <p:cNvPr id="15" name="TextBox 14"/>
          <p:cNvSpPr txBox="1"/>
          <p:nvPr/>
        </p:nvSpPr>
        <p:spPr>
          <a:xfrm>
            <a:off x="6281928"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A later wave for wards</a:t>
            </a:r>
          </a:p>
        </p:txBody>
      </p:sp>
      <p:sp>
        <p:nvSpPr>
          <p:cNvPr id="16" name="Rounded Rectangle 15"/>
          <p:cNvSpPr/>
          <p:nvPr/>
        </p:nvSpPr>
        <p:spPr>
          <a:xfrm>
            <a:off x="8010144" y="1298448"/>
            <a:ext cx="1737360" cy="749808"/>
          </a:xfrm>
          <a:prstGeom prst="roundRect">
            <a:avLst>
              <a:gd name="adj" fmla="val 8536"/>
            </a:avLst>
          </a:prstGeom>
          <a:solidFill>
            <a:srgbClr val="D9ECF9"/>
          </a:solidFill>
          <a:ln w="12700">
            <a:solidFill>
              <a:srgbClr val="D9ECF9"/>
            </a:solidFill>
          </a:ln>
        </p:spPr>
        <p:txBody>
          <a:bodyPr rtlCol="0" anchor="ctr"/>
          <a:lstStyle/>
          <a:p>
            <a:pPr algn="ctr"/>
          </a:p>
        </p:txBody>
      </p:sp>
      <p:sp>
        <p:nvSpPr>
          <p:cNvPr id="17" name="TextBox 16"/>
          <p:cNvSpPr txBox="1"/>
          <p:nvPr/>
        </p:nvSpPr>
        <p:spPr>
          <a:xfrm>
            <a:off x="8147304"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21–25 km</a:t>
            </a:r>
          </a:p>
        </p:txBody>
      </p:sp>
      <p:sp>
        <p:nvSpPr>
          <p:cNvPr id="18" name="TextBox 17"/>
          <p:cNvSpPr txBox="1"/>
          <p:nvPr/>
        </p:nvSpPr>
        <p:spPr>
          <a:xfrm>
            <a:off x="8147304"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Edge of the transport area</a:t>
            </a:r>
          </a:p>
        </p:txBody>
      </p:sp>
      <p:sp>
        <p:nvSpPr>
          <p:cNvPr id="19" name="Rounded Rectangle 18"/>
          <p:cNvSpPr/>
          <p:nvPr/>
        </p:nvSpPr>
        <p:spPr>
          <a:xfrm>
            <a:off x="9875519" y="1298448"/>
            <a:ext cx="1737360" cy="749808"/>
          </a:xfrm>
          <a:prstGeom prst="roundRect">
            <a:avLst>
              <a:gd name="adj" fmla="val 8536"/>
            </a:avLst>
          </a:prstGeom>
          <a:solidFill>
            <a:srgbClr val="ECECEC"/>
          </a:solidFill>
          <a:ln w="12700">
            <a:solidFill>
              <a:srgbClr val="ECECEC"/>
            </a:solidFill>
          </a:ln>
        </p:spPr>
        <p:txBody>
          <a:bodyPr rtlCol="0" anchor="ctr"/>
          <a:lstStyle/>
          <a:p>
            <a:pPr algn="ctr"/>
          </a:p>
        </p:txBody>
      </p:sp>
      <p:sp>
        <p:nvSpPr>
          <p:cNvPr id="20" name="TextBox 19"/>
          <p:cNvSpPr txBox="1"/>
          <p:nvPr/>
        </p:nvSpPr>
        <p:spPr>
          <a:xfrm>
            <a:off x="10012680"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Beyond 25 km</a:t>
            </a:r>
          </a:p>
        </p:txBody>
      </p:sp>
      <p:sp>
        <p:nvSpPr>
          <p:cNvPr id="21" name="TextBox 20"/>
          <p:cNvSpPr txBox="1"/>
          <p:nvPr/>
        </p:nvSpPr>
        <p:spPr>
          <a:xfrm>
            <a:off x="10012680"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Outside the catchment</a:t>
            </a:r>
          </a:p>
        </p:txBody>
      </p:sp>
      <p:sp>
        <p:nvSpPr>
          <p:cNvPr id="22" name="TextBox 21"/>
          <p:cNvSpPr txBox="1"/>
          <p:nvPr/>
        </p:nvSpPr>
        <p:spPr>
          <a:xfrm>
            <a:off x="548640" y="228600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LEADS ON THE MAP BY BAND AND SEGMENT</a:t>
            </a:r>
          </a:p>
        </p:txBody>
      </p:sp>
      <p:graphicFrame>
        <p:nvGraphicFramePr>
          <p:cNvPr id="23" name="Chart 22"/>
          <p:cNvGraphicFramePr>
            <a:graphicFrameLocks noGrp="1"/>
          </p:cNvGraphicFramePr>
          <p:nvPr/>
        </p:nvGraphicFramePr>
        <p:xfrm>
          <a:off x="411480" y="2487168"/>
          <a:ext cx="5760720" cy="3017520"/>
        </p:xfrm>
        <a:graphic>
          <a:graphicData uri="http://schemas.openxmlformats.org/drawingml/2006/chart">
            <c:chart xmlns:c="http://schemas.openxmlformats.org/drawingml/2006/chart" r:id="rId2"/>
          </a:graphicData>
        </a:graphic>
      </p:graphicFrame>
      <p:sp>
        <p:nvSpPr>
          <p:cNvPr id="24" name="TextBox 23"/>
          <p:cNvSpPr txBox="1"/>
          <p:nvPr/>
        </p:nvSpPr>
        <p:spPr>
          <a:xfrm>
            <a:off x="548640" y="5596128"/>
            <a:ext cx="5577840" cy="457200"/>
          </a:xfrm>
          <a:prstGeom prst="rect">
            <a:avLst/>
          </a:prstGeom>
          <a:noFill/>
        </p:spPr>
        <p:txBody>
          <a:bodyPr wrap="square" lIns="0" tIns="0" rIns="0" bIns="0" anchor="t">
            <a:spAutoFit/>
          </a:bodyPr>
          <a:lstStyle/>
          <a:p>
            <a:pPr algn="l"/>
            <a:r>
              <a:rPr sz="1150" b="0" i="0">
                <a:solidFill>
                  <a:srgbClr val="002368"/>
                </a:solidFill>
                <a:latin typeface="Georgia"/>
              </a:rPr>
              <a:t>Corrections never remove a lead: a corrected campus pin can move a lead nearer another campus, never out of the list.</a:t>
            </a:r>
          </a:p>
        </p:txBody>
      </p:sp>
      <p:sp>
        <p:nvSpPr>
          <p:cNvPr id="25" name="Rounded Rectangle 24"/>
          <p:cNvSpPr/>
          <p:nvPr/>
        </p:nvSpPr>
        <p:spPr>
          <a:xfrm>
            <a:off x="6355080" y="22860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26" name="TextBox 25"/>
          <p:cNvSpPr txBox="1"/>
          <p:nvPr/>
        </p:nvSpPr>
        <p:spPr>
          <a:xfrm>
            <a:off x="6537960" y="2359152"/>
            <a:ext cx="1280160" cy="274320"/>
          </a:xfrm>
          <a:prstGeom prst="rect">
            <a:avLst/>
          </a:prstGeom>
          <a:noFill/>
        </p:spPr>
        <p:txBody>
          <a:bodyPr wrap="square" lIns="0" tIns="0" rIns="0" bIns="0" anchor="t">
            <a:spAutoFit/>
          </a:bodyPr>
          <a:lstStyle/>
          <a:p>
            <a:pPr algn="l"/>
            <a:r>
              <a:rPr sz="1100" b="1" i="0">
                <a:solidFill>
                  <a:srgbClr val="002368"/>
                </a:solidFill>
                <a:latin typeface="Arial"/>
              </a:rPr>
              <a:t>Employers</a:t>
            </a:r>
          </a:p>
        </p:txBody>
      </p:sp>
      <p:sp>
        <p:nvSpPr>
          <p:cNvPr id="27" name="TextBox 26"/>
          <p:cNvSpPr txBox="1"/>
          <p:nvPr/>
        </p:nvSpPr>
        <p:spPr>
          <a:xfrm>
            <a:off x="7772400" y="2359152"/>
            <a:ext cx="3749039" cy="731520"/>
          </a:xfrm>
          <a:prstGeom prst="rect">
            <a:avLst/>
          </a:prstGeom>
          <a:noFill/>
        </p:spPr>
        <p:txBody>
          <a:bodyPr wrap="square" lIns="0" tIns="0" rIns="0" bIns="0" anchor="t">
            <a:spAutoFit/>
          </a:bodyPr>
          <a:lstStyle/>
          <a:p>
            <a:pPr algn="l"/>
            <a:r>
              <a:rPr sz="950" b="0" i="0">
                <a:solidFill>
                  <a:srgbClr val="000000"/>
                </a:solidFill>
                <a:latin typeface="Arial"/>
              </a:rPr>
              <a:t>Distance ranks a company, never rules it out. It feeds the reach score that sets the waves P1–P3: most weight within 5 km, some within 10 km, last place beyond 40 km. Businesses operating outside Arusha–Kilimanjaro are held.</a:t>
            </a:r>
          </a:p>
        </p:txBody>
      </p:sp>
      <p:sp>
        <p:nvSpPr>
          <p:cNvPr id="28" name="Rounded Rectangle 27"/>
          <p:cNvSpPr/>
          <p:nvPr/>
        </p:nvSpPr>
        <p:spPr>
          <a:xfrm>
            <a:off x="6355080" y="32004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29" name="TextBox 28"/>
          <p:cNvSpPr txBox="1"/>
          <p:nvPr/>
        </p:nvSpPr>
        <p:spPr>
          <a:xfrm>
            <a:off x="6537960" y="3273552"/>
            <a:ext cx="1280160" cy="274320"/>
          </a:xfrm>
          <a:prstGeom prst="rect">
            <a:avLst/>
          </a:prstGeom>
          <a:noFill/>
        </p:spPr>
        <p:txBody>
          <a:bodyPr wrap="square" lIns="0" tIns="0" rIns="0" bIns="0" anchor="t">
            <a:spAutoFit/>
          </a:bodyPr>
          <a:lstStyle/>
          <a:p>
            <a:pPr algn="l"/>
            <a:r>
              <a:rPr sz="1100" b="1" i="0">
                <a:solidFill>
                  <a:srgbClr val="002368"/>
                </a:solidFill>
                <a:latin typeface="Arial"/>
              </a:rPr>
              <a:t>Introducers</a:t>
            </a:r>
          </a:p>
        </p:txBody>
      </p:sp>
      <p:sp>
        <p:nvSpPr>
          <p:cNvPr id="30" name="TextBox 29"/>
          <p:cNvSpPr txBox="1"/>
          <p:nvPr/>
        </p:nvSpPr>
        <p:spPr>
          <a:xfrm>
            <a:off x="7772400" y="3273552"/>
            <a:ext cx="3749039" cy="731520"/>
          </a:xfrm>
          <a:prstGeom prst="rect">
            <a:avLst/>
          </a:prstGeom>
          <a:noFill/>
        </p:spPr>
        <p:txBody>
          <a:bodyPr wrap="square" lIns="0" tIns="0" rIns="0" bIns="0" anchor="t">
            <a:spAutoFit/>
          </a:bodyPr>
          <a:lstStyle/>
          <a:p>
            <a:pPr algn="l"/>
            <a:r>
              <a:rPr sz="950" b="0" i="0">
                <a:solidFill>
                  <a:srgbClr val="000000"/>
                </a:solidFill>
                <a:latin typeface="Arial"/>
              </a:rPr>
              <a:t>No distance rule: a chamber or association counts for its members who employ staff near the campuses.</a:t>
            </a:r>
          </a:p>
        </p:txBody>
      </p:sp>
      <p:sp>
        <p:nvSpPr>
          <p:cNvPr id="31" name="Rounded Rectangle 30"/>
          <p:cNvSpPr/>
          <p:nvPr/>
        </p:nvSpPr>
        <p:spPr>
          <a:xfrm>
            <a:off x="6355080" y="41148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32" name="TextBox 31"/>
          <p:cNvSpPr txBox="1"/>
          <p:nvPr/>
        </p:nvSpPr>
        <p:spPr>
          <a:xfrm>
            <a:off x="6537960" y="4187952"/>
            <a:ext cx="1280160" cy="274320"/>
          </a:xfrm>
          <a:prstGeom prst="rect">
            <a:avLst/>
          </a:prstGeom>
          <a:noFill/>
        </p:spPr>
        <p:txBody>
          <a:bodyPr wrap="square" lIns="0" tIns="0" rIns="0" bIns="0" anchor="t">
            <a:spAutoFit/>
          </a:bodyPr>
          <a:lstStyle/>
          <a:p>
            <a:pPr algn="l"/>
            <a:r>
              <a:rPr sz="1100" b="1" i="0">
                <a:solidFill>
                  <a:srgbClr val="002368"/>
                </a:solidFill>
                <a:latin typeface="Arial"/>
              </a:rPr>
              <a:t>Welfare</a:t>
            </a:r>
          </a:p>
        </p:txBody>
      </p:sp>
      <p:sp>
        <p:nvSpPr>
          <p:cNvPr id="33" name="TextBox 32"/>
          <p:cNvSpPr txBox="1"/>
          <p:nvPr/>
        </p:nvSpPr>
        <p:spPr>
          <a:xfrm>
            <a:off x="7772400" y="4187952"/>
            <a:ext cx="3749039" cy="731520"/>
          </a:xfrm>
          <a:prstGeom prst="rect">
            <a:avLst/>
          </a:prstGeom>
          <a:noFill/>
        </p:spPr>
        <p:txBody>
          <a:bodyPr wrap="square" lIns="0" tIns="0" rIns="0" bIns="0" anchor="t">
            <a:spAutoFit/>
          </a:bodyPr>
          <a:lstStyle/>
          <a:p>
            <a:pPr algn="l"/>
            <a:r>
              <a:rPr sz="950" b="0" i="0">
                <a:solidFill>
                  <a:srgbClr val="000000"/>
                </a:solidFill>
                <a:latin typeface="Arial"/>
              </a:rPr>
              <a:t>Homes and programmes are in scope within 25 km; a funder needs a verified link to such a home; networks have no distance rule. Nearer homes rank higher: 15 priority points within 5 km, then 12, 9, 6 and 3.</a:t>
            </a:r>
          </a:p>
        </p:txBody>
      </p:sp>
      <p:sp>
        <p:nvSpPr>
          <p:cNvPr id="34" name="Rounded Rectangle 33"/>
          <p:cNvSpPr/>
          <p:nvPr/>
        </p:nvSpPr>
        <p:spPr>
          <a:xfrm>
            <a:off x="6355080" y="50292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35" name="TextBox 34"/>
          <p:cNvSpPr txBox="1"/>
          <p:nvPr/>
        </p:nvSpPr>
        <p:spPr>
          <a:xfrm>
            <a:off x="6537960" y="5102352"/>
            <a:ext cx="1280160" cy="274320"/>
          </a:xfrm>
          <a:prstGeom prst="rect">
            <a:avLst/>
          </a:prstGeom>
          <a:noFill/>
        </p:spPr>
        <p:txBody>
          <a:bodyPr wrap="square" lIns="0" tIns="0" rIns="0" bIns="0" anchor="t">
            <a:spAutoFit/>
          </a:bodyPr>
          <a:lstStyle/>
          <a:p>
            <a:pPr algn="l"/>
            <a:r>
              <a:rPr sz="1100" b="1" i="0">
                <a:solidFill>
                  <a:srgbClr val="002368"/>
                </a:solidFill>
                <a:latin typeface="Arial"/>
              </a:rPr>
              <a:t>Government</a:t>
            </a:r>
          </a:p>
        </p:txBody>
      </p:sp>
      <p:sp>
        <p:nvSpPr>
          <p:cNvPr id="36" name="TextBox 35"/>
          <p:cNvSpPr txBox="1"/>
          <p:nvPr/>
        </p:nvSpPr>
        <p:spPr>
          <a:xfrm>
            <a:off x="7772400" y="5102352"/>
            <a:ext cx="3749039" cy="731520"/>
          </a:xfrm>
          <a:prstGeom prst="rect">
            <a:avLst/>
          </a:prstGeom>
          <a:noFill/>
        </p:spPr>
        <p:txBody>
          <a:bodyPr wrap="square" lIns="0" tIns="0" rIns="0" bIns="0" anchor="t">
            <a:spAutoFit/>
          </a:bodyPr>
          <a:lstStyle/>
          <a:p>
            <a:pPr algn="l"/>
            <a:r>
              <a:rPr sz="950" b="0" i="0">
                <a:solidFill>
                  <a:srgbClr val="000000"/>
                </a:solidFill>
                <a:latin typeface="Arial"/>
              </a:rPr>
              <a:t>Wards are in scope within 25 km. Wards nearest a campus, and a campus that teaches primary, come first: within 10 km, then 10–20 km, then beyond 20 km.</a:t>
            </a:r>
          </a:p>
        </p:txBody>
      </p:sp>
      <p:pic>
        <p:nvPicPr>
          <p:cNvPr id="37" name="Picture 36" descr="image3.png"/>
          <p:cNvPicPr>
            <a:picLocks noChangeAspect="1"/>
          </p:cNvPicPr>
          <p:nvPr/>
        </p:nvPicPr>
        <p:blipFill>
          <a:blip r:embed="rId3"/>
          <a:stretch>
            <a:fillRect/>
          </a:stretch>
        </p:blipFill>
        <p:spPr>
          <a:xfrm>
            <a:off x="548640" y="6272784"/>
            <a:ext cx="1143000" cy="274320"/>
          </a:xfrm>
          <a:prstGeom prst="rect">
            <a:avLst/>
          </a:prstGeom>
        </p:spPr>
      </p:pic>
      <p:sp>
        <p:nvSpPr>
          <p:cNvPr id="38"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4">
                  <a:extLst>
                    <a:ext uri="{A12FA001-AC4F-418D-AE19-62706E023703}">
                      <ahyp:hlinkClr xmlns:ahyp="http://schemas.microsoft.com/office/drawing/2018/hyperlinkcolor" val="tx"/>
                    </a:ext>
                  </a:extLst>
                </a:hlinkClick>
              </a:rPr>
              <a:t>Open the lead map →</a:t>
            </a:r>
          </a:p>
        </p:txBody>
      </p:sp>
      <p:sp>
        <p:nvSpPr>
          <p:cNvPr id="39"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map and catchment criteria, October 2026</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LEAD CAPTURE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Eight sources feed the three lead lists</a:t>
            </a:r>
          </a:p>
        </p:txBody>
      </p:sp>
      <p:sp>
        <p:nvSpPr>
          <p:cNvPr id="4" name="Rounded Rectangle 3"/>
          <p:cNvSpPr/>
          <p:nvPr/>
        </p:nvSpPr>
        <p:spPr>
          <a:xfrm>
            <a:off x="8686800" y="1261872"/>
            <a:ext cx="941832" cy="841248"/>
          </a:xfrm>
          <a:prstGeom prst="roundRect">
            <a:avLst>
              <a:gd name="adj" fmla="val 7608"/>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8686800" y="1325880"/>
            <a:ext cx="941832" cy="256032"/>
          </a:xfrm>
          <a:prstGeom prst="rect">
            <a:avLst/>
          </a:prstGeom>
          <a:noFill/>
        </p:spPr>
        <p:txBody>
          <a:bodyPr wrap="square" lIns="0" tIns="0" rIns="0" bIns="0" anchor="t">
            <a:spAutoFit/>
          </a:bodyPr>
          <a:lstStyle/>
          <a:p>
            <a:pPr algn="ctr"/>
            <a:r>
              <a:rPr sz="1000" b="1" i="0">
                <a:solidFill>
                  <a:srgbClr val="FFFFFF"/>
                </a:solidFill>
                <a:latin typeface="Arial"/>
              </a:rPr>
              <a:t>Companies</a:t>
            </a:r>
          </a:p>
        </p:txBody>
      </p:sp>
      <p:sp>
        <p:nvSpPr>
          <p:cNvPr id="6" name="TextBox 5"/>
          <p:cNvSpPr txBox="1"/>
          <p:nvPr/>
        </p:nvSpPr>
        <p:spPr>
          <a:xfrm>
            <a:off x="8686800" y="1572768"/>
            <a:ext cx="941832" cy="457200"/>
          </a:xfrm>
          <a:prstGeom prst="rect">
            <a:avLst/>
          </a:prstGeom>
          <a:noFill/>
        </p:spPr>
        <p:txBody>
          <a:bodyPr wrap="square" lIns="0" tIns="0" rIns="0" bIns="0" anchor="t">
            <a:spAutoFit/>
          </a:bodyPr>
          <a:lstStyle/>
          <a:p>
            <a:pPr algn="ctr"/>
            <a:r>
              <a:rPr sz="2000" b="0" i="0">
                <a:solidFill>
                  <a:srgbClr val="FFC952"/>
                </a:solidFill>
                <a:latin typeface="Georgia"/>
              </a:rPr>
              <a:t>1,251</a:t>
            </a:r>
          </a:p>
        </p:txBody>
      </p:sp>
      <p:sp>
        <p:nvSpPr>
          <p:cNvPr id="7" name="Rounded Rectangle 6"/>
          <p:cNvSpPr/>
          <p:nvPr/>
        </p:nvSpPr>
        <p:spPr>
          <a:xfrm>
            <a:off x="9692640" y="1261872"/>
            <a:ext cx="941832" cy="841248"/>
          </a:xfrm>
          <a:prstGeom prst="roundRect">
            <a:avLst>
              <a:gd name="adj" fmla="val 7608"/>
            </a:avLst>
          </a:prstGeom>
          <a:solidFill>
            <a:srgbClr val="80BFEC"/>
          </a:solidFill>
          <a:ln w="12700">
            <a:solidFill>
              <a:srgbClr val="80BFEC"/>
            </a:solidFill>
          </a:ln>
        </p:spPr>
        <p:txBody>
          <a:bodyPr rtlCol="0" anchor="ctr"/>
          <a:lstStyle/>
          <a:p>
            <a:pPr algn="ctr"/>
          </a:p>
        </p:txBody>
      </p:sp>
      <p:sp>
        <p:nvSpPr>
          <p:cNvPr id="8" name="TextBox 7"/>
          <p:cNvSpPr txBox="1"/>
          <p:nvPr/>
        </p:nvSpPr>
        <p:spPr>
          <a:xfrm>
            <a:off x="9692640" y="1325880"/>
            <a:ext cx="941832" cy="256032"/>
          </a:xfrm>
          <a:prstGeom prst="rect">
            <a:avLst/>
          </a:prstGeom>
          <a:noFill/>
        </p:spPr>
        <p:txBody>
          <a:bodyPr wrap="square" lIns="0" tIns="0" rIns="0" bIns="0" anchor="t">
            <a:spAutoFit/>
          </a:bodyPr>
          <a:lstStyle/>
          <a:p>
            <a:pPr algn="ctr"/>
            <a:r>
              <a:rPr sz="1000" b="1" i="0">
                <a:solidFill>
                  <a:srgbClr val="002368"/>
                </a:solidFill>
                <a:latin typeface="Arial"/>
              </a:rPr>
              <a:t>Welfare</a:t>
            </a:r>
          </a:p>
        </p:txBody>
      </p:sp>
      <p:sp>
        <p:nvSpPr>
          <p:cNvPr id="9" name="TextBox 8"/>
          <p:cNvSpPr txBox="1"/>
          <p:nvPr/>
        </p:nvSpPr>
        <p:spPr>
          <a:xfrm>
            <a:off x="9692640" y="1572768"/>
            <a:ext cx="941832" cy="457200"/>
          </a:xfrm>
          <a:prstGeom prst="rect">
            <a:avLst/>
          </a:prstGeom>
          <a:noFill/>
        </p:spPr>
        <p:txBody>
          <a:bodyPr wrap="square" lIns="0" tIns="0" rIns="0" bIns="0" anchor="t">
            <a:spAutoFit/>
          </a:bodyPr>
          <a:lstStyle/>
          <a:p>
            <a:pPr algn="ctr"/>
            <a:r>
              <a:rPr sz="2000" b="0" i="0">
                <a:solidFill>
                  <a:srgbClr val="002368"/>
                </a:solidFill>
                <a:latin typeface="Georgia"/>
              </a:rPr>
              <a:t>445</a:t>
            </a:r>
          </a:p>
        </p:txBody>
      </p:sp>
      <p:sp>
        <p:nvSpPr>
          <p:cNvPr id="10" name="Rounded Rectangle 9"/>
          <p:cNvSpPr/>
          <p:nvPr/>
        </p:nvSpPr>
        <p:spPr>
          <a:xfrm>
            <a:off x="10698480" y="1261872"/>
            <a:ext cx="941832" cy="841248"/>
          </a:xfrm>
          <a:prstGeom prst="roundRect">
            <a:avLst>
              <a:gd name="adj" fmla="val 7608"/>
            </a:avLst>
          </a:prstGeom>
          <a:solidFill>
            <a:srgbClr val="D9ECF9"/>
          </a:solidFill>
          <a:ln w="12700">
            <a:solidFill>
              <a:srgbClr val="D9ECF9"/>
            </a:solidFill>
          </a:ln>
        </p:spPr>
        <p:txBody>
          <a:bodyPr rtlCol="0" anchor="ctr"/>
          <a:lstStyle/>
          <a:p>
            <a:pPr algn="ctr"/>
          </a:p>
        </p:txBody>
      </p:sp>
      <p:sp>
        <p:nvSpPr>
          <p:cNvPr id="11" name="TextBox 10"/>
          <p:cNvSpPr txBox="1"/>
          <p:nvPr/>
        </p:nvSpPr>
        <p:spPr>
          <a:xfrm>
            <a:off x="10698480" y="1325880"/>
            <a:ext cx="941832" cy="256032"/>
          </a:xfrm>
          <a:prstGeom prst="rect">
            <a:avLst/>
          </a:prstGeom>
          <a:noFill/>
        </p:spPr>
        <p:txBody>
          <a:bodyPr wrap="square" lIns="0" tIns="0" rIns="0" bIns="0" anchor="t">
            <a:spAutoFit/>
          </a:bodyPr>
          <a:lstStyle/>
          <a:p>
            <a:pPr algn="ctr"/>
            <a:r>
              <a:rPr sz="1000" b="1" i="0">
                <a:solidFill>
                  <a:srgbClr val="002368"/>
                </a:solidFill>
                <a:latin typeface="Arial"/>
              </a:rPr>
              <a:t>Government</a:t>
            </a:r>
          </a:p>
        </p:txBody>
      </p:sp>
      <p:sp>
        <p:nvSpPr>
          <p:cNvPr id="12" name="TextBox 11"/>
          <p:cNvSpPr txBox="1"/>
          <p:nvPr/>
        </p:nvSpPr>
        <p:spPr>
          <a:xfrm>
            <a:off x="10698480" y="1572768"/>
            <a:ext cx="941832" cy="457200"/>
          </a:xfrm>
          <a:prstGeom prst="rect">
            <a:avLst/>
          </a:prstGeom>
          <a:noFill/>
        </p:spPr>
        <p:txBody>
          <a:bodyPr wrap="square" lIns="0" tIns="0" rIns="0" bIns="0" anchor="t">
            <a:spAutoFit/>
          </a:bodyPr>
          <a:lstStyle/>
          <a:p>
            <a:pPr algn="ctr"/>
            <a:r>
              <a:rPr sz="2000" b="0" i="0">
                <a:solidFill>
                  <a:srgbClr val="002368"/>
                </a:solidFill>
                <a:latin typeface="Georgia"/>
              </a:rPr>
              <a:t>228</a:t>
            </a:r>
          </a:p>
        </p:txBody>
      </p:sp>
      <p:sp>
        <p:nvSpPr>
          <p:cNvPr id="13" name="TextBox 12"/>
          <p:cNvSpPr txBox="1"/>
          <p:nvPr/>
        </p:nvSpPr>
        <p:spPr>
          <a:xfrm>
            <a:off x="54864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SOURCE</a:t>
            </a:r>
          </a:p>
        </p:txBody>
      </p:sp>
      <p:sp>
        <p:nvSpPr>
          <p:cNvPr id="14" name="TextBox 13"/>
          <p:cNvSpPr txBox="1"/>
          <p:nvPr/>
        </p:nvSpPr>
        <p:spPr>
          <a:xfrm>
            <a:off x="3520440" y="1481328"/>
            <a:ext cx="1188720" cy="274320"/>
          </a:xfrm>
          <a:prstGeom prst="rect">
            <a:avLst/>
          </a:prstGeom>
          <a:noFill/>
        </p:spPr>
        <p:txBody>
          <a:bodyPr wrap="square" lIns="0" tIns="0" rIns="0" bIns="0" anchor="t">
            <a:spAutoFit/>
          </a:bodyPr>
          <a:lstStyle/>
          <a:p>
            <a:pPr algn="l"/>
            <a:r>
              <a:rPr sz="900" b="1" i="0" spc="200">
                <a:solidFill>
                  <a:srgbClr val="818283"/>
                </a:solidFill>
                <a:latin typeface="Arial"/>
              </a:rPr>
              <a:t>FOUND</a:t>
            </a:r>
          </a:p>
        </p:txBody>
      </p:sp>
      <p:sp>
        <p:nvSpPr>
          <p:cNvPr id="15" name="TextBox 14"/>
          <p:cNvSpPr txBox="1"/>
          <p:nvPr/>
        </p:nvSpPr>
        <p:spPr>
          <a:xfrm>
            <a:off x="484632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WHAT IT CONTRIBUTED</a:t>
            </a:r>
          </a:p>
        </p:txBody>
      </p:sp>
      <p:cxnSp>
        <p:nvCxnSpPr>
          <p:cNvPr id="16" name="Connector 15"/>
          <p:cNvCxnSpPr/>
          <p:nvPr/>
        </p:nvCxnSpPr>
        <p:spPr>
          <a:xfrm>
            <a:off x="548640" y="2130552"/>
            <a:ext cx="11091672" cy="0"/>
          </a:xfrm>
          <a:prstGeom prst="line">
            <a:avLst/>
          </a:prstGeom>
          <a:ln w="12700">
            <a:solidFill>
              <a:srgbClr val="80BFEC"/>
            </a:solidFill>
          </a:ln>
        </p:spPr>
      </p:cxnSp>
      <p:sp>
        <p:nvSpPr>
          <p:cNvPr id="17" name="Hexagon 16"/>
          <p:cNvSpPr/>
          <p:nvPr/>
        </p:nvSpPr>
        <p:spPr>
          <a:xfrm>
            <a:off x="548640" y="2276856"/>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18" name="TextBox 17"/>
          <p:cNvSpPr txBox="1"/>
          <p:nvPr/>
        </p:nvSpPr>
        <p:spPr>
          <a:xfrm>
            <a:off x="1051560" y="2240280"/>
            <a:ext cx="2423160" cy="237744"/>
          </a:xfrm>
          <a:prstGeom prst="rect">
            <a:avLst/>
          </a:prstGeom>
          <a:noFill/>
        </p:spPr>
        <p:txBody>
          <a:bodyPr wrap="square" lIns="0" tIns="0" rIns="0" bIns="0" anchor="t">
            <a:spAutoFit/>
          </a:bodyPr>
          <a:lstStyle/>
          <a:p>
            <a:pPr algn="l"/>
            <a:r>
              <a:rPr sz="1200" b="1" i="0">
                <a:solidFill>
                  <a:srgbClr val="002368"/>
                </a:solidFill>
                <a:latin typeface="Arial"/>
              </a:rPr>
              <a:t>TATO</a:t>
            </a:r>
          </a:p>
        </p:txBody>
      </p:sp>
      <p:sp>
        <p:nvSpPr>
          <p:cNvPr id="19" name="TextBox 18"/>
          <p:cNvSpPr txBox="1"/>
          <p:nvPr/>
        </p:nvSpPr>
        <p:spPr>
          <a:xfrm>
            <a:off x="1051560" y="2468880"/>
            <a:ext cx="2423160" cy="201168"/>
          </a:xfrm>
          <a:prstGeom prst="rect">
            <a:avLst/>
          </a:prstGeom>
          <a:noFill/>
        </p:spPr>
        <p:txBody>
          <a:bodyPr wrap="square" lIns="0" tIns="0" rIns="0" bIns="0" anchor="t">
            <a:spAutoFit/>
          </a:bodyPr>
          <a:lstStyle/>
          <a:p>
            <a:pPr algn="l"/>
            <a:r>
              <a:rPr sz="850" b="0" i="0">
                <a:solidFill>
                  <a:srgbClr val="818283"/>
                </a:solidFill>
                <a:latin typeface="Arial"/>
              </a:rPr>
              <a:t>tour operators' association</a:t>
            </a:r>
          </a:p>
        </p:txBody>
      </p:sp>
      <p:sp>
        <p:nvSpPr>
          <p:cNvPr id="20" name="TextBox 19"/>
          <p:cNvSpPr txBox="1"/>
          <p:nvPr/>
        </p:nvSpPr>
        <p:spPr>
          <a:xfrm>
            <a:off x="3520440" y="2240280"/>
            <a:ext cx="1280160" cy="411480"/>
          </a:xfrm>
          <a:prstGeom prst="rect">
            <a:avLst/>
          </a:prstGeom>
          <a:noFill/>
        </p:spPr>
        <p:txBody>
          <a:bodyPr wrap="square" lIns="0" tIns="0" rIns="0" bIns="0" anchor="ctr">
            <a:spAutoFit/>
          </a:bodyPr>
          <a:lstStyle/>
          <a:p>
            <a:pPr algn="l"/>
            <a:r>
              <a:rPr sz="2000" b="0" i="0">
                <a:solidFill>
                  <a:srgbClr val="002368"/>
                </a:solidFill>
                <a:latin typeface="Georgia"/>
              </a:rPr>
              <a:t>467</a:t>
            </a:r>
          </a:p>
        </p:txBody>
      </p:sp>
      <p:sp>
        <p:nvSpPr>
          <p:cNvPr id="21" name="TextBox 20"/>
          <p:cNvSpPr txBox="1"/>
          <p:nvPr/>
        </p:nvSpPr>
        <p:spPr>
          <a:xfrm>
            <a:off x="4846320" y="2240280"/>
            <a:ext cx="3703320" cy="411480"/>
          </a:xfrm>
          <a:prstGeom prst="rect">
            <a:avLst/>
          </a:prstGeom>
          <a:noFill/>
        </p:spPr>
        <p:txBody>
          <a:bodyPr wrap="square" lIns="0" tIns="0" rIns="0" bIns="0" anchor="ctr">
            <a:spAutoFit/>
          </a:bodyPr>
          <a:lstStyle/>
          <a:p>
            <a:pPr algn="l"/>
            <a:r>
              <a:rPr sz="1000" b="0" i="0">
                <a:solidFill>
                  <a:srgbClr val="000000"/>
                </a:solidFill>
                <a:latin typeface="Arial"/>
              </a:rPr>
              <a:t>member companies in the company list; TATO is also an introducer</a:t>
            </a:r>
          </a:p>
        </p:txBody>
      </p:sp>
      <p:sp>
        <p:nvSpPr>
          <p:cNvPr id="22" name="Hexagon 21"/>
          <p:cNvSpPr/>
          <p:nvPr/>
        </p:nvSpPr>
        <p:spPr>
          <a:xfrm>
            <a:off x="9025128" y="2313432"/>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cxnSp>
        <p:nvCxnSpPr>
          <p:cNvPr id="23" name="Connector 22"/>
          <p:cNvCxnSpPr/>
          <p:nvPr/>
        </p:nvCxnSpPr>
        <p:spPr>
          <a:xfrm>
            <a:off x="548640" y="2697480"/>
            <a:ext cx="11091672" cy="0"/>
          </a:xfrm>
          <a:prstGeom prst="line">
            <a:avLst/>
          </a:prstGeom>
          <a:ln w="9525">
            <a:solidFill>
              <a:srgbClr val="ECECEC"/>
            </a:solidFill>
          </a:ln>
        </p:spPr>
      </p:cxnSp>
      <p:sp>
        <p:nvSpPr>
          <p:cNvPr id="24" name="Hexagon 23"/>
          <p:cNvSpPr/>
          <p:nvPr/>
        </p:nvSpPr>
        <p:spPr>
          <a:xfrm>
            <a:off x="548640" y="27660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2</a:t>
            </a:r>
          </a:p>
        </p:txBody>
      </p:sp>
      <p:sp>
        <p:nvSpPr>
          <p:cNvPr id="25" name="TextBox 24"/>
          <p:cNvSpPr txBox="1"/>
          <p:nvPr/>
        </p:nvSpPr>
        <p:spPr>
          <a:xfrm>
            <a:off x="1051560" y="2729484"/>
            <a:ext cx="2423160" cy="237744"/>
          </a:xfrm>
          <a:prstGeom prst="rect">
            <a:avLst/>
          </a:prstGeom>
          <a:noFill/>
        </p:spPr>
        <p:txBody>
          <a:bodyPr wrap="square" lIns="0" tIns="0" rIns="0" bIns="0" anchor="t">
            <a:spAutoFit/>
          </a:bodyPr>
          <a:lstStyle/>
          <a:p>
            <a:pPr algn="l"/>
            <a:r>
              <a:rPr sz="1200" b="1" i="0">
                <a:solidFill>
                  <a:srgbClr val="002368"/>
                </a:solidFill>
                <a:latin typeface="Arial"/>
              </a:rPr>
              <a:t>TCDC</a:t>
            </a:r>
          </a:p>
        </p:txBody>
      </p:sp>
      <p:sp>
        <p:nvSpPr>
          <p:cNvPr id="26" name="TextBox 25"/>
          <p:cNvSpPr txBox="1"/>
          <p:nvPr/>
        </p:nvSpPr>
        <p:spPr>
          <a:xfrm>
            <a:off x="1051560" y="2958084"/>
            <a:ext cx="2423160" cy="201168"/>
          </a:xfrm>
          <a:prstGeom prst="rect">
            <a:avLst/>
          </a:prstGeom>
          <a:noFill/>
        </p:spPr>
        <p:txBody>
          <a:bodyPr wrap="square" lIns="0" tIns="0" rIns="0" bIns="0" anchor="t">
            <a:spAutoFit/>
          </a:bodyPr>
          <a:lstStyle/>
          <a:p>
            <a:pPr algn="l"/>
            <a:r>
              <a:rPr sz="850" b="0" i="0">
                <a:solidFill>
                  <a:srgbClr val="818283"/>
                </a:solidFill>
                <a:latin typeface="Arial"/>
              </a:rPr>
              <a:t>Tanzania Cooperative Development Commission</a:t>
            </a:r>
          </a:p>
        </p:txBody>
      </p:sp>
      <p:sp>
        <p:nvSpPr>
          <p:cNvPr id="27" name="TextBox 26"/>
          <p:cNvSpPr txBox="1"/>
          <p:nvPr/>
        </p:nvSpPr>
        <p:spPr>
          <a:xfrm>
            <a:off x="3520440" y="2729484"/>
            <a:ext cx="1280160" cy="411480"/>
          </a:xfrm>
          <a:prstGeom prst="rect">
            <a:avLst/>
          </a:prstGeom>
          <a:noFill/>
        </p:spPr>
        <p:txBody>
          <a:bodyPr wrap="square" lIns="0" tIns="0" rIns="0" bIns="0" anchor="ctr">
            <a:spAutoFit/>
          </a:bodyPr>
          <a:lstStyle/>
          <a:p>
            <a:pPr algn="l"/>
            <a:r>
              <a:rPr sz="2000" b="0" i="0">
                <a:solidFill>
                  <a:srgbClr val="002368"/>
                </a:solidFill>
                <a:latin typeface="Georgia"/>
              </a:rPr>
              <a:t>115</a:t>
            </a:r>
          </a:p>
        </p:txBody>
      </p:sp>
      <p:sp>
        <p:nvSpPr>
          <p:cNvPr id="28" name="TextBox 27"/>
          <p:cNvSpPr txBox="1"/>
          <p:nvPr/>
        </p:nvSpPr>
        <p:spPr>
          <a:xfrm>
            <a:off x="4846320" y="2729484"/>
            <a:ext cx="3703320" cy="411480"/>
          </a:xfrm>
          <a:prstGeom prst="rect">
            <a:avLst/>
          </a:prstGeom>
          <a:noFill/>
        </p:spPr>
        <p:txBody>
          <a:bodyPr wrap="square" lIns="0" tIns="0" rIns="0" bIns="0" anchor="ctr">
            <a:spAutoFit/>
          </a:bodyPr>
          <a:lstStyle/>
          <a:p>
            <a:pPr algn="l"/>
            <a:r>
              <a:rPr sz="1000" b="0" i="0">
                <a:solidFill>
                  <a:srgbClr val="000000"/>
                </a:solidFill>
                <a:latin typeface="Arial"/>
              </a:rPr>
              <a:t>licensed savings groups (SACCOS) around the campuses</a:t>
            </a:r>
          </a:p>
        </p:txBody>
      </p:sp>
      <p:sp>
        <p:nvSpPr>
          <p:cNvPr id="29" name="Hexagon 28"/>
          <p:cNvSpPr/>
          <p:nvPr/>
        </p:nvSpPr>
        <p:spPr>
          <a:xfrm>
            <a:off x="9025128" y="2802636"/>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cxnSp>
        <p:nvCxnSpPr>
          <p:cNvPr id="30" name="Connector 29"/>
          <p:cNvCxnSpPr/>
          <p:nvPr/>
        </p:nvCxnSpPr>
        <p:spPr>
          <a:xfrm>
            <a:off x="548640" y="3186684"/>
            <a:ext cx="11091672" cy="0"/>
          </a:xfrm>
          <a:prstGeom prst="line">
            <a:avLst/>
          </a:prstGeom>
          <a:ln w="9525">
            <a:solidFill>
              <a:srgbClr val="ECECEC"/>
            </a:solidFill>
          </a:ln>
        </p:spPr>
      </p:cxnSp>
      <p:sp>
        <p:nvSpPr>
          <p:cNvPr id="31" name="Hexagon 30"/>
          <p:cNvSpPr/>
          <p:nvPr/>
        </p:nvSpPr>
        <p:spPr>
          <a:xfrm>
            <a:off x="548640" y="3255264"/>
            <a:ext cx="384048" cy="338328"/>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3</a:t>
            </a:r>
          </a:p>
        </p:txBody>
      </p:sp>
      <p:sp>
        <p:nvSpPr>
          <p:cNvPr id="32" name="TextBox 31"/>
          <p:cNvSpPr txBox="1"/>
          <p:nvPr/>
        </p:nvSpPr>
        <p:spPr>
          <a:xfrm>
            <a:off x="1051560" y="3218688"/>
            <a:ext cx="2423160" cy="237744"/>
          </a:xfrm>
          <a:prstGeom prst="rect">
            <a:avLst/>
          </a:prstGeom>
          <a:noFill/>
        </p:spPr>
        <p:txBody>
          <a:bodyPr wrap="square" lIns="0" tIns="0" rIns="0" bIns="0" anchor="t">
            <a:spAutoFit/>
          </a:bodyPr>
          <a:lstStyle/>
          <a:p>
            <a:pPr algn="l"/>
            <a:r>
              <a:rPr sz="1200" b="1" i="0">
                <a:solidFill>
                  <a:srgbClr val="002368"/>
                </a:solidFill>
                <a:latin typeface="Arial"/>
              </a:rPr>
              <a:t>OpenStreetMap</a:t>
            </a:r>
          </a:p>
        </p:txBody>
      </p:sp>
      <p:sp>
        <p:nvSpPr>
          <p:cNvPr id="33" name="TextBox 32"/>
          <p:cNvSpPr txBox="1"/>
          <p:nvPr/>
        </p:nvSpPr>
        <p:spPr>
          <a:xfrm>
            <a:off x="1051560" y="3447288"/>
            <a:ext cx="2423160" cy="201168"/>
          </a:xfrm>
          <a:prstGeom prst="rect">
            <a:avLst/>
          </a:prstGeom>
          <a:noFill/>
        </p:spPr>
        <p:txBody>
          <a:bodyPr wrap="square" lIns="0" tIns="0" rIns="0" bIns="0" anchor="t">
            <a:spAutoFit/>
          </a:bodyPr>
          <a:lstStyle/>
          <a:p>
            <a:pPr algn="l"/>
            <a:r>
              <a:rPr sz="850" b="0" i="0">
                <a:solidFill>
                  <a:srgbClr val="818283"/>
                </a:solidFill>
                <a:latin typeface="Arial"/>
              </a:rPr>
              <a:t>mapped places around each campus</a:t>
            </a:r>
          </a:p>
        </p:txBody>
      </p:sp>
      <p:sp>
        <p:nvSpPr>
          <p:cNvPr id="34" name="TextBox 33"/>
          <p:cNvSpPr txBox="1"/>
          <p:nvPr/>
        </p:nvSpPr>
        <p:spPr>
          <a:xfrm>
            <a:off x="3520440" y="3218688"/>
            <a:ext cx="1280160" cy="411480"/>
          </a:xfrm>
          <a:prstGeom prst="rect">
            <a:avLst/>
          </a:prstGeom>
          <a:noFill/>
        </p:spPr>
        <p:txBody>
          <a:bodyPr wrap="square" lIns="0" tIns="0" rIns="0" bIns="0" anchor="ctr">
            <a:spAutoFit/>
          </a:bodyPr>
          <a:lstStyle/>
          <a:p>
            <a:pPr algn="l"/>
            <a:r>
              <a:rPr sz="2000" b="0" i="0">
                <a:solidFill>
                  <a:srgbClr val="002368"/>
                </a:solidFill>
                <a:latin typeface="Georgia"/>
              </a:rPr>
              <a:t>406</a:t>
            </a:r>
          </a:p>
        </p:txBody>
      </p:sp>
      <p:sp>
        <p:nvSpPr>
          <p:cNvPr id="35" name="TextBox 34"/>
          <p:cNvSpPr txBox="1"/>
          <p:nvPr/>
        </p:nvSpPr>
        <p:spPr>
          <a:xfrm>
            <a:off x="4846320" y="3218688"/>
            <a:ext cx="3703320" cy="411480"/>
          </a:xfrm>
          <a:prstGeom prst="rect">
            <a:avLst/>
          </a:prstGeom>
          <a:noFill/>
        </p:spPr>
        <p:txBody>
          <a:bodyPr wrap="square" lIns="0" tIns="0" rIns="0" bIns="0" anchor="ctr">
            <a:spAutoFit/>
          </a:bodyPr>
          <a:lstStyle/>
          <a:p>
            <a:pPr algn="l"/>
            <a:r>
              <a:rPr sz="1000" b="0" i="0">
                <a:solidFill>
                  <a:srgbClr val="000000"/>
                </a:solidFill>
                <a:latin typeface="Arial"/>
              </a:rPr>
              <a:t>employers placed on the map, plus 85 village and office points</a:t>
            </a:r>
          </a:p>
        </p:txBody>
      </p:sp>
      <p:sp>
        <p:nvSpPr>
          <p:cNvPr id="36" name="Hexagon 35"/>
          <p:cNvSpPr/>
          <p:nvPr/>
        </p:nvSpPr>
        <p:spPr>
          <a:xfrm>
            <a:off x="9025128" y="3291840"/>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37" name="Hexagon 36"/>
          <p:cNvSpPr/>
          <p:nvPr/>
        </p:nvSpPr>
        <p:spPr>
          <a:xfrm>
            <a:off x="11036807" y="3291840"/>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38" name="Connector 37"/>
          <p:cNvCxnSpPr/>
          <p:nvPr/>
        </p:nvCxnSpPr>
        <p:spPr>
          <a:xfrm>
            <a:off x="548640" y="3675887"/>
            <a:ext cx="11091672" cy="0"/>
          </a:xfrm>
          <a:prstGeom prst="line">
            <a:avLst/>
          </a:prstGeom>
          <a:ln w="9525">
            <a:solidFill>
              <a:srgbClr val="ECECEC"/>
            </a:solidFill>
          </a:ln>
        </p:spPr>
      </p:cxnSp>
      <p:sp>
        <p:nvSpPr>
          <p:cNvPr id="39" name="Hexagon 38"/>
          <p:cNvSpPr/>
          <p:nvPr/>
        </p:nvSpPr>
        <p:spPr>
          <a:xfrm>
            <a:off x="548640" y="3744468"/>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4</a:t>
            </a:r>
          </a:p>
        </p:txBody>
      </p:sp>
      <p:sp>
        <p:nvSpPr>
          <p:cNvPr id="40" name="TextBox 39"/>
          <p:cNvSpPr txBox="1"/>
          <p:nvPr/>
        </p:nvSpPr>
        <p:spPr>
          <a:xfrm>
            <a:off x="1051560" y="3707891"/>
            <a:ext cx="2423160" cy="237744"/>
          </a:xfrm>
          <a:prstGeom prst="rect">
            <a:avLst/>
          </a:prstGeom>
          <a:noFill/>
        </p:spPr>
        <p:txBody>
          <a:bodyPr wrap="square" lIns="0" tIns="0" rIns="0" bIns="0" anchor="t">
            <a:spAutoFit/>
          </a:bodyPr>
          <a:lstStyle/>
          <a:p>
            <a:pPr algn="l"/>
            <a:r>
              <a:rPr sz="1200" b="1" i="0">
                <a:solidFill>
                  <a:srgbClr val="002368"/>
                </a:solidFill>
                <a:latin typeface="Arial"/>
              </a:rPr>
              <a:t>Website deep crawl</a:t>
            </a:r>
          </a:p>
        </p:txBody>
      </p:sp>
      <p:sp>
        <p:nvSpPr>
          <p:cNvPr id="41" name="TextBox 40"/>
          <p:cNvSpPr txBox="1"/>
          <p:nvPr/>
        </p:nvSpPr>
        <p:spPr>
          <a:xfrm>
            <a:off x="1051560" y="3936491"/>
            <a:ext cx="2423160" cy="201168"/>
          </a:xfrm>
          <a:prstGeom prst="rect">
            <a:avLst/>
          </a:prstGeom>
          <a:noFill/>
        </p:spPr>
        <p:txBody>
          <a:bodyPr wrap="square" lIns="0" tIns="0" rIns="0" bIns="0" anchor="t">
            <a:spAutoFit/>
          </a:bodyPr>
          <a:lstStyle/>
          <a:p>
            <a:pPr algn="l"/>
            <a:r>
              <a:rPr sz="850" b="0" i="0">
                <a:solidFill>
                  <a:srgbClr val="818283"/>
                </a:solidFill>
                <a:latin typeface="Arial"/>
              </a:rPr>
              <a:t>each organisation's own site</a:t>
            </a:r>
          </a:p>
        </p:txBody>
      </p:sp>
      <p:sp>
        <p:nvSpPr>
          <p:cNvPr id="42" name="TextBox 41"/>
          <p:cNvSpPr txBox="1"/>
          <p:nvPr/>
        </p:nvSpPr>
        <p:spPr>
          <a:xfrm>
            <a:off x="3520440" y="3707891"/>
            <a:ext cx="1280160" cy="411480"/>
          </a:xfrm>
          <a:prstGeom prst="rect">
            <a:avLst/>
          </a:prstGeom>
          <a:noFill/>
        </p:spPr>
        <p:txBody>
          <a:bodyPr wrap="square" lIns="0" tIns="0" rIns="0" bIns="0" anchor="ctr">
            <a:spAutoFit/>
          </a:bodyPr>
          <a:lstStyle/>
          <a:p>
            <a:pPr algn="l"/>
            <a:r>
              <a:rPr sz="2000" b="0" i="0">
                <a:solidFill>
                  <a:srgbClr val="002368"/>
                </a:solidFill>
                <a:latin typeface="Georgia"/>
              </a:rPr>
              <a:t>507</a:t>
            </a:r>
          </a:p>
        </p:txBody>
      </p:sp>
      <p:sp>
        <p:nvSpPr>
          <p:cNvPr id="43" name="TextBox 42"/>
          <p:cNvSpPr txBox="1"/>
          <p:nvPr/>
        </p:nvSpPr>
        <p:spPr>
          <a:xfrm>
            <a:off x="4846320" y="3707891"/>
            <a:ext cx="3703320" cy="411480"/>
          </a:xfrm>
          <a:prstGeom prst="rect">
            <a:avLst/>
          </a:prstGeom>
          <a:noFill/>
        </p:spPr>
        <p:txBody>
          <a:bodyPr wrap="square" lIns="0" tIns="0" rIns="0" bIns="0" anchor="ctr">
            <a:spAutoFit/>
          </a:bodyPr>
          <a:lstStyle/>
          <a:p>
            <a:pPr algn="l"/>
            <a:r>
              <a:rPr sz="1000" b="0" i="0">
                <a:solidFill>
                  <a:srgbClr val="000000"/>
                </a:solidFill>
                <a:latin typeface="Arial"/>
              </a:rPr>
              <a:t>of 627 websites gave an email address; 217 named their people</a:t>
            </a:r>
          </a:p>
        </p:txBody>
      </p:sp>
      <p:sp>
        <p:nvSpPr>
          <p:cNvPr id="44" name="Hexagon 43"/>
          <p:cNvSpPr/>
          <p:nvPr/>
        </p:nvSpPr>
        <p:spPr>
          <a:xfrm>
            <a:off x="9025128" y="3781044"/>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45" name="Hexagon 44"/>
          <p:cNvSpPr/>
          <p:nvPr/>
        </p:nvSpPr>
        <p:spPr>
          <a:xfrm>
            <a:off x="10030967" y="3781044"/>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cxnSp>
        <p:nvCxnSpPr>
          <p:cNvPr id="46" name="Connector 45"/>
          <p:cNvCxnSpPr/>
          <p:nvPr/>
        </p:nvCxnSpPr>
        <p:spPr>
          <a:xfrm>
            <a:off x="548640" y="4165091"/>
            <a:ext cx="11091672" cy="0"/>
          </a:xfrm>
          <a:prstGeom prst="line">
            <a:avLst/>
          </a:prstGeom>
          <a:ln w="9525">
            <a:solidFill>
              <a:srgbClr val="ECECEC"/>
            </a:solidFill>
          </a:ln>
        </p:spPr>
      </p:cxnSp>
      <p:sp>
        <p:nvSpPr>
          <p:cNvPr id="47" name="Hexagon 46"/>
          <p:cNvSpPr/>
          <p:nvPr/>
        </p:nvSpPr>
        <p:spPr>
          <a:xfrm>
            <a:off x="548640" y="4233672"/>
            <a:ext cx="384048" cy="338328"/>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5</a:t>
            </a:r>
          </a:p>
        </p:txBody>
      </p:sp>
      <p:sp>
        <p:nvSpPr>
          <p:cNvPr id="48" name="TextBox 47"/>
          <p:cNvSpPr txBox="1"/>
          <p:nvPr/>
        </p:nvSpPr>
        <p:spPr>
          <a:xfrm>
            <a:off x="1051560" y="4197096"/>
            <a:ext cx="2423160" cy="237744"/>
          </a:xfrm>
          <a:prstGeom prst="rect">
            <a:avLst/>
          </a:prstGeom>
          <a:noFill/>
        </p:spPr>
        <p:txBody>
          <a:bodyPr wrap="square" lIns="0" tIns="0" rIns="0" bIns="0" anchor="t">
            <a:spAutoFit/>
          </a:bodyPr>
          <a:lstStyle/>
          <a:p>
            <a:pPr algn="l"/>
            <a:r>
              <a:rPr sz="1200" b="1" i="0">
                <a:solidFill>
                  <a:srgbClr val="002368"/>
                </a:solidFill>
                <a:latin typeface="Arial"/>
              </a:rPr>
              <a:t>Google Maps</a:t>
            </a:r>
          </a:p>
        </p:txBody>
      </p:sp>
      <p:sp>
        <p:nvSpPr>
          <p:cNvPr id="49" name="TextBox 48"/>
          <p:cNvSpPr txBox="1"/>
          <p:nvPr/>
        </p:nvSpPr>
        <p:spPr>
          <a:xfrm>
            <a:off x="1051560" y="4425696"/>
            <a:ext cx="2423160" cy="201168"/>
          </a:xfrm>
          <a:prstGeom prst="rect">
            <a:avLst/>
          </a:prstGeom>
          <a:noFill/>
        </p:spPr>
        <p:txBody>
          <a:bodyPr wrap="square" lIns="0" tIns="0" rIns="0" bIns="0" anchor="t">
            <a:spAutoFit/>
          </a:bodyPr>
          <a:lstStyle/>
          <a:p>
            <a:pPr algn="l"/>
            <a:r>
              <a:rPr sz="850" b="0" i="0">
                <a:solidFill>
                  <a:srgbClr val="818283"/>
                </a:solidFill>
                <a:latin typeface="Arial"/>
              </a:rPr>
              <a:t>listing lookups</a:t>
            </a:r>
          </a:p>
        </p:txBody>
      </p:sp>
      <p:sp>
        <p:nvSpPr>
          <p:cNvPr id="50" name="TextBox 49"/>
          <p:cNvSpPr txBox="1"/>
          <p:nvPr/>
        </p:nvSpPr>
        <p:spPr>
          <a:xfrm>
            <a:off x="3520440" y="4197096"/>
            <a:ext cx="1280160" cy="411480"/>
          </a:xfrm>
          <a:prstGeom prst="rect">
            <a:avLst/>
          </a:prstGeom>
          <a:noFill/>
        </p:spPr>
        <p:txBody>
          <a:bodyPr wrap="square" lIns="0" tIns="0" rIns="0" bIns="0" anchor="ctr">
            <a:spAutoFit/>
          </a:bodyPr>
          <a:lstStyle/>
          <a:p>
            <a:pPr algn="l"/>
            <a:r>
              <a:rPr sz="2000" b="0" i="0">
                <a:solidFill>
                  <a:srgbClr val="002368"/>
                </a:solidFill>
                <a:latin typeface="Georgia"/>
              </a:rPr>
              <a:t>333</a:t>
            </a:r>
          </a:p>
        </p:txBody>
      </p:sp>
      <p:sp>
        <p:nvSpPr>
          <p:cNvPr id="51" name="TextBox 50"/>
          <p:cNvSpPr txBox="1"/>
          <p:nvPr/>
        </p:nvSpPr>
        <p:spPr>
          <a:xfrm>
            <a:off x="4846320" y="4197096"/>
            <a:ext cx="3703320" cy="411480"/>
          </a:xfrm>
          <a:prstGeom prst="rect">
            <a:avLst/>
          </a:prstGeom>
          <a:noFill/>
        </p:spPr>
        <p:txBody>
          <a:bodyPr wrap="square" lIns="0" tIns="0" rIns="0" bIns="0" anchor="ctr">
            <a:spAutoFit/>
          </a:bodyPr>
          <a:lstStyle/>
          <a:p>
            <a:pPr algn="l"/>
            <a:r>
              <a:rPr sz="1000" b="0" i="0">
                <a:solidFill>
                  <a:srgbClr val="000000"/>
                </a:solidFill>
                <a:latin typeface="Arial"/>
              </a:rPr>
              <a:t>of 497 lookups confirmed a map pin, street address or phone</a:t>
            </a:r>
          </a:p>
        </p:txBody>
      </p:sp>
      <p:sp>
        <p:nvSpPr>
          <p:cNvPr id="52" name="Hexagon 51"/>
          <p:cNvSpPr/>
          <p:nvPr/>
        </p:nvSpPr>
        <p:spPr>
          <a:xfrm>
            <a:off x="9025128" y="4270248"/>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53" name="Hexagon 52"/>
          <p:cNvSpPr/>
          <p:nvPr/>
        </p:nvSpPr>
        <p:spPr>
          <a:xfrm>
            <a:off x="10030967" y="4270248"/>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sp>
        <p:nvSpPr>
          <p:cNvPr id="54" name="Hexagon 53"/>
          <p:cNvSpPr/>
          <p:nvPr/>
        </p:nvSpPr>
        <p:spPr>
          <a:xfrm>
            <a:off x="11036807" y="4270248"/>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55" name="Connector 54"/>
          <p:cNvCxnSpPr/>
          <p:nvPr/>
        </p:nvCxnSpPr>
        <p:spPr>
          <a:xfrm>
            <a:off x="548640" y="4654296"/>
            <a:ext cx="11091672" cy="0"/>
          </a:xfrm>
          <a:prstGeom prst="line">
            <a:avLst/>
          </a:prstGeom>
          <a:ln w="9525">
            <a:solidFill>
              <a:srgbClr val="ECECEC"/>
            </a:solidFill>
          </a:ln>
        </p:spPr>
      </p:cxnSp>
      <p:sp>
        <p:nvSpPr>
          <p:cNvPr id="56" name="Hexagon 55"/>
          <p:cNvSpPr/>
          <p:nvPr/>
        </p:nvSpPr>
        <p:spPr>
          <a:xfrm>
            <a:off x="548640" y="4722876"/>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57" name="TextBox 56"/>
          <p:cNvSpPr txBox="1"/>
          <p:nvPr/>
        </p:nvSpPr>
        <p:spPr>
          <a:xfrm>
            <a:off x="1051560" y="4686300"/>
            <a:ext cx="2423160" cy="237744"/>
          </a:xfrm>
          <a:prstGeom prst="rect">
            <a:avLst/>
          </a:prstGeom>
          <a:noFill/>
        </p:spPr>
        <p:txBody>
          <a:bodyPr wrap="square" lIns="0" tIns="0" rIns="0" bIns="0" anchor="t">
            <a:spAutoFit/>
          </a:bodyPr>
          <a:lstStyle/>
          <a:p>
            <a:pPr algn="l"/>
            <a:r>
              <a:rPr sz="1200" b="1" i="0">
                <a:solidFill>
                  <a:srgbClr val="002368"/>
                </a:solidFill>
                <a:latin typeface="Arial"/>
              </a:rPr>
              <a:t>NGO register</a:t>
            </a:r>
          </a:p>
        </p:txBody>
      </p:sp>
      <p:sp>
        <p:nvSpPr>
          <p:cNvPr id="58" name="TextBox 57"/>
          <p:cNvSpPr txBox="1"/>
          <p:nvPr/>
        </p:nvSpPr>
        <p:spPr>
          <a:xfrm>
            <a:off x="1051560" y="4914900"/>
            <a:ext cx="2423160" cy="201168"/>
          </a:xfrm>
          <a:prstGeom prst="rect">
            <a:avLst/>
          </a:prstGeom>
          <a:noFill/>
        </p:spPr>
        <p:txBody>
          <a:bodyPr wrap="square" lIns="0" tIns="0" rIns="0" bIns="0" anchor="t">
            <a:spAutoFit/>
          </a:bodyPr>
          <a:lstStyle/>
          <a:p>
            <a:pPr algn="l"/>
            <a:r>
              <a:rPr sz="850" b="0" i="0">
                <a:solidFill>
                  <a:srgbClr val="818283"/>
                </a:solidFill>
                <a:latin typeface="Arial"/>
              </a:rPr>
              <a:t>national NGO information system</a:t>
            </a:r>
          </a:p>
        </p:txBody>
      </p:sp>
      <p:sp>
        <p:nvSpPr>
          <p:cNvPr id="59" name="TextBox 58"/>
          <p:cNvSpPr txBox="1"/>
          <p:nvPr/>
        </p:nvSpPr>
        <p:spPr>
          <a:xfrm>
            <a:off x="3520440" y="4686300"/>
            <a:ext cx="1280160" cy="411480"/>
          </a:xfrm>
          <a:prstGeom prst="rect">
            <a:avLst/>
          </a:prstGeom>
          <a:noFill/>
        </p:spPr>
        <p:txBody>
          <a:bodyPr wrap="square" lIns="0" tIns="0" rIns="0" bIns="0" anchor="ctr">
            <a:spAutoFit/>
          </a:bodyPr>
          <a:lstStyle/>
          <a:p>
            <a:pPr algn="l"/>
            <a:r>
              <a:rPr sz="2000" b="0" i="0">
                <a:solidFill>
                  <a:srgbClr val="002368"/>
                </a:solidFill>
                <a:latin typeface="Georgia"/>
              </a:rPr>
              <a:t>898</a:t>
            </a:r>
          </a:p>
        </p:txBody>
      </p:sp>
      <p:sp>
        <p:nvSpPr>
          <p:cNvPr id="60" name="TextBox 59"/>
          <p:cNvSpPr txBox="1"/>
          <p:nvPr/>
        </p:nvSpPr>
        <p:spPr>
          <a:xfrm>
            <a:off x="4846320" y="4686300"/>
            <a:ext cx="3703320" cy="411480"/>
          </a:xfrm>
          <a:prstGeom prst="rect">
            <a:avLst/>
          </a:prstGeom>
          <a:noFill/>
        </p:spPr>
        <p:txBody>
          <a:bodyPr wrap="square" lIns="0" tIns="0" rIns="0" bIns="0" anchor="ctr">
            <a:spAutoFit/>
          </a:bodyPr>
          <a:lstStyle/>
          <a:p>
            <a:pPr algn="l"/>
            <a:r>
              <a:rPr sz="1000" b="0" i="0">
                <a:solidFill>
                  <a:srgbClr val="000000"/>
                </a:solidFill>
                <a:latin typeface="Arial"/>
              </a:rPr>
              <a:t>register entries read; 285 match a welfare lead</a:t>
            </a:r>
          </a:p>
        </p:txBody>
      </p:sp>
      <p:sp>
        <p:nvSpPr>
          <p:cNvPr id="61" name="Hexagon 60"/>
          <p:cNvSpPr/>
          <p:nvPr/>
        </p:nvSpPr>
        <p:spPr>
          <a:xfrm>
            <a:off x="10030967" y="4759452"/>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cxnSp>
        <p:nvCxnSpPr>
          <p:cNvPr id="62" name="Connector 61"/>
          <p:cNvCxnSpPr/>
          <p:nvPr/>
        </p:nvCxnSpPr>
        <p:spPr>
          <a:xfrm>
            <a:off x="548640" y="5143500"/>
            <a:ext cx="11091672" cy="0"/>
          </a:xfrm>
          <a:prstGeom prst="line">
            <a:avLst/>
          </a:prstGeom>
          <a:ln w="9525">
            <a:solidFill>
              <a:srgbClr val="ECECEC"/>
            </a:solidFill>
          </a:ln>
        </p:spPr>
      </p:cxnSp>
      <p:sp>
        <p:nvSpPr>
          <p:cNvPr id="63" name="Hexagon 62"/>
          <p:cNvSpPr/>
          <p:nvPr/>
        </p:nvSpPr>
        <p:spPr>
          <a:xfrm>
            <a:off x="548640" y="5212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7</a:t>
            </a:r>
          </a:p>
        </p:txBody>
      </p:sp>
      <p:sp>
        <p:nvSpPr>
          <p:cNvPr id="64" name="TextBox 63"/>
          <p:cNvSpPr txBox="1"/>
          <p:nvPr/>
        </p:nvSpPr>
        <p:spPr>
          <a:xfrm>
            <a:off x="1051560" y="5175504"/>
            <a:ext cx="2423160" cy="237744"/>
          </a:xfrm>
          <a:prstGeom prst="rect">
            <a:avLst/>
          </a:prstGeom>
          <a:noFill/>
        </p:spPr>
        <p:txBody>
          <a:bodyPr wrap="square" lIns="0" tIns="0" rIns="0" bIns="0" anchor="t">
            <a:spAutoFit/>
          </a:bodyPr>
          <a:lstStyle/>
          <a:p>
            <a:pPr algn="l"/>
            <a:r>
              <a:rPr sz="1200" b="1" i="0">
                <a:solidFill>
                  <a:srgbClr val="002368"/>
                </a:solidFill>
                <a:latin typeface="Arial"/>
              </a:rPr>
              <a:t>Council data</a:t>
            </a:r>
          </a:p>
        </p:txBody>
      </p:sp>
      <p:sp>
        <p:nvSpPr>
          <p:cNvPr id="65" name="TextBox 64"/>
          <p:cNvSpPr txBox="1"/>
          <p:nvPr/>
        </p:nvSpPr>
        <p:spPr>
          <a:xfrm>
            <a:off x="1051560" y="5404104"/>
            <a:ext cx="2423160" cy="201168"/>
          </a:xfrm>
          <a:prstGeom prst="rect">
            <a:avLst/>
          </a:prstGeom>
          <a:noFill/>
        </p:spPr>
        <p:txBody>
          <a:bodyPr wrap="square" lIns="0" tIns="0" rIns="0" bIns="0" anchor="t">
            <a:spAutoFit/>
          </a:bodyPr>
          <a:lstStyle/>
          <a:p>
            <a:pPr algn="l"/>
            <a:r>
              <a:rPr sz="850" b="0" i="0">
                <a:solidFill>
                  <a:srgbClr val="818283"/>
                </a:solidFill>
                <a:latin typeface="Arial"/>
              </a:rPr>
              <a:t>council websites and official sources</a:t>
            </a:r>
          </a:p>
        </p:txBody>
      </p:sp>
      <p:sp>
        <p:nvSpPr>
          <p:cNvPr id="66" name="TextBox 65"/>
          <p:cNvSpPr txBox="1"/>
          <p:nvPr/>
        </p:nvSpPr>
        <p:spPr>
          <a:xfrm>
            <a:off x="3520440" y="5175504"/>
            <a:ext cx="1280160" cy="411480"/>
          </a:xfrm>
          <a:prstGeom prst="rect">
            <a:avLst/>
          </a:prstGeom>
          <a:noFill/>
        </p:spPr>
        <p:txBody>
          <a:bodyPr wrap="square" lIns="0" tIns="0" rIns="0" bIns="0" anchor="ctr">
            <a:spAutoFit/>
          </a:bodyPr>
          <a:lstStyle/>
          <a:p>
            <a:pPr algn="l"/>
            <a:r>
              <a:rPr sz="2000" b="0" i="0">
                <a:solidFill>
                  <a:srgbClr val="002368"/>
                </a:solidFill>
                <a:latin typeface="Georgia"/>
              </a:rPr>
              <a:t>148</a:t>
            </a:r>
          </a:p>
        </p:txBody>
      </p:sp>
      <p:sp>
        <p:nvSpPr>
          <p:cNvPr id="67" name="TextBox 66"/>
          <p:cNvSpPr txBox="1"/>
          <p:nvPr/>
        </p:nvSpPr>
        <p:spPr>
          <a:xfrm>
            <a:off x="4846320" y="5175504"/>
            <a:ext cx="3703320" cy="411480"/>
          </a:xfrm>
          <a:prstGeom prst="rect">
            <a:avLst/>
          </a:prstGeom>
          <a:noFill/>
        </p:spPr>
        <p:txBody>
          <a:bodyPr wrap="square" lIns="0" tIns="0" rIns="0" bIns="0" anchor="ctr">
            <a:spAutoFit/>
          </a:bodyPr>
          <a:lstStyle/>
          <a:p>
            <a:pPr algn="l"/>
            <a:r>
              <a:rPr sz="1000" b="0" i="0">
                <a:solidFill>
                  <a:srgbClr val="000000"/>
                </a:solidFill>
                <a:latin typeface="Arial"/>
              </a:rPr>
              <a:t>offices: 9 councils, 7 districts, 3 regions and 129 wards</a:t>
            </a:r>
          </a:p>
        </p:txBody>
      </p:sp>
      <p:sp>
        <p:nvSpPr>
          <p:cNvPr id="68" name="Hexagon 67"/>
          <p:cNvSpPr/>
          <p:nvPr/>
        </p:nvSpPr>
        <p:spPr>
          <a:xfrm>
            <a:off x="11036807" y="5248656"/>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69" name="Connector 68"/>
          <p:cNvCxnSpPr/>
          <p:nvPr/>
        </p:nvCxnSpPr>
        <p:spPr>
          <a:xfrm>
            <a:off x="548640" y="5632704"/>
            <a:ext cx="11091672" cy="0"/>
          </a:xfrm>
          <a:prstGeom prst="line">
            <a:avLst/>
          </a:prstGeom>
          <a:ln w="9525">
            <a:solidFill>
              <a:srgbClr val="ECECEC"/>
            </a:solidFill>
          </a:ln>
        </p:spPr>
      </p:cxnSp>
      <p:sp>
        <p:nvSpPr>
          <p:cNvPr id="70" name="Hexagon 69"/>
          <p:cNvSpPr/>
          <p:nvPr/>
        </p:nvSpPr>
        <p:spPr>
          <a:xfrm>
            <a:off x="548640" y="5701284"/>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8</a:t>
            </a:r>
          </a:p>
        </p:txBody>
      </p:sp>
      <p:sp>
        <p:nvSpPr>
          <p:cNvPr id="71" name="TextBox 70"/>
          <p:cNvSpPr txBox="1"/>
          <p:nvPr/>
        </p:nvSpPr>
        <p:spPr>
          <a:xfrm>
            <a:off x="1051560" y="5664708"/>
            <a:ext cx="2423160" cy="237744"/>
          </a:xfrm>
          <a:prstGeom prst="rect">
            <a:avLst/>
          </a:prstGeom>
          <a:noFill/>
        </p:spPr>
        <p:txBody>
          <a:bodyPr wrap="square" lIns="0" tIns="0" rIns="0" bIns="0" anchor="t">
            <a:spAutoFit/>
          </a:bodyPr>
          <a:lstStyle/>
          <a:p>
            <a:pPr algn="l"/>
            <a:r>
              <a:rPr sz="1200" b="1" i="0">
                <a:solidFill>
                  <a:srgbClr val="002368"/>
                </a:solidFill>
                <a:latin typeface="Arial"/>
              </a:rPr>
              <a:t>Searches</a:t>
            </a:r>
          </a:p>
        </p:txBody>
      </p:sp>
      <p:sp>
        <p:nvSpPr>
          <p:cNvPr id="72" name="TextBox 71"/>
          <p:cNvSpPr txBox="1"/>
          <p:nvPr/>
        </p:nvSpPr>
        <p:spPr>
          <a:xfrm>
            <a:off x="1051560" y="5893308"/>
            <a:ext cx="2423160" cy="201168"/>
          </a:xfrm>
          <a:prstGeom prst="rect">
            <a:avLst/>
          </a:prstGeom>
          <a:noFill/>
        </p:spPr>
        <p:txBody>
          <a:bodyPr wrap="square" lIns="0" tIns="0" rIns="0" bIns="0" anchor="t">
            <a:spAutoFit/>
          </a:bodyPr>
          <a:lstStyle/>
          <a:p>
            <a:pPr algn="l"/>
            <a:r>
              <a:rPr sz="850" b="0" i="0">
                <a:solidFill>
                  <a:srgbClr val="818283"/>
                </a:solidFill>
                <a:latin typeface="Arial"/>
              </a:rPr>
              <a:t>automated and manual lookups</a:t>
            </a:r>
          </a:p>
        </p:txBody>
      </p:sp>
      <p:sp>
        <p:nvSpPr>
          <p:cNvPr id="73" name="TextBox 72"/>
          <p:cNvSpPr txBox="1"/>
          <p:nvPr/>
        </p:nvSpPr>
        <p:spPr>
          <a:xfrm>
            <a:off x="3520440" y="5664708"/>
            <a:ext cx="1280160" cy="411480"/>
          </a:xfrm>
          <a:prstGeom prst="rect">
            <a:avLst/>
          </a:prstGeom>
          <a:noFill/>
        </p:spPr>
        <p:txBody>
          <a:bodyPr wrap="square" lIns="0" tIns="0" rIns="0" bIns="0" anchor="ctr">
            <a:spAutoFit/>
          </a:bodyPr>
          <a:lstStyle/>
          <a:p>
            <a:pPr algn="l"/>
            <a:r>
              <a:rPr sz="2000" b="0" i="0">
                <a:solidFill>
                  <a:srgbClr val="002368"/>
                </a:solidFill>
                <a:latin typeface="Georgia"/>
              </a:rPr>
              <a:t>1,960</a:t>
            </a:r>
          </a:p>
        </p:txBody>
      </p:sp>
      <p:sp>
        <p:nvSpPr>
          <p:cNvPr id="74" name="TextBox 73"/>
          <p:cNvSpPr txBox="1"/>
          <p:nvPr/>
        </p:nvSpPr>
        <p:spPr>
          <a:xfrm>
            <a:off x="4846320" y="5664708"/>
            <a:ext cx="3703320" cy="411480"/>
          </a:xfrm>
          <a:prstGeom prst="rect">
            <a:avLst/>
          </a:prstGeom>
          <a:noFill/>
        </p:spPr>
        <p:txBody>
          <a:bodyPr wrap="square" lIns="0" tIns="0" rIns="0" bIns="0" anchor="ctr">
            <a:spAutoFit/>
          </a:bodyPr>
          <a:lstStyle/>
          <a:p>
            <a:pPr algn="l"/>
            <a:r>
              <a:rPr sz="1000" b="0" i="0">
                <a:solidFill>
                  <a:srgbClr val="000000"/>
                </a:solidFill>
                <a:latin typeface="Arial"/>
              </a:rPr>
              <a:t>web searches across 1,002 organisations, including the companies the team named</a:t>
            </a:r>
          </a:p>
        </p:txBody>
      </p:sp>
      <p:sp>
        <p:nvSpPr>
          <p:cNvPr id="75" name="Hexagon 74"/>
          <p:cNvSpPr/>
          <p:nvPr/>
        </p:nvSpPr>
        <p:spPr>
          <a:xfrm>
            <a:off x="9025128" y="5737860"/>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76" name="Hexagon 75"/>
          <p:cNvSpPr/>
          <p:nvPr/>
        </p:nvSpPr>
        <p:spPr>
          <a:xfrm>
            <a:off x="10030967" y="5737860"/>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sp>
        <p:nvSpPr>
          <p:cNvPr id="77" name="Hexagon 76"/>
          <p:cNvSpPr/>
          <p:nvPr/>
        </p:nvSpPr>
        <p:spPr>
          <a:xfrm>
            <a:off x="11036807" y="5737860"/>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pic>
        <p:nvPicPr>
          <p:cNvPr id="78" name="Picture 77" descr="image3.png"/>
          <p:cNvPicPr>
            <a:picLocks noChangeAspect="1"/>
          </p:cNvPicPr>
          <p:nvPr/>
        </p:nvPicPr>
        <p:blipFill>
          <a:blip r:embed="rId2"/>
          <a:stretch>
            <a:fillRect/>
          </a:stretch>
        </p:blipFill>
        <p:spPr>
          <a:xfrm>
            <a:off x="548640" y="6272784"/>
            <a:ext cx="1143000" cy="274320"/>
          </a:xfrm>
          <a:prstGeom prst="rect">
            <a:avLst/>
          </a:prstGeom>
        </p:spPr>
      </p:pic>
      <p:sp>
        <p:nvSpPr>
          <p:cNvPr id="79"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80"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research records, October 2026</a:t>
            </a:r>
          </a:p>
        </p:txBody>
      </p:sp>
      <p:sp>
        <p:nvSpPr>
          <p:cNvPr id="8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CORE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Four audiences, four different requests</a:t>
            </a:r>
          </a:p>
        </p:txBody>
      </p:sp>
      <p:sp>
        <p:nvSpPr>
          <p:cNvPr id="4" name="Lead"/>
          <p:cNvSpPr txBox="1"/>
          <p:nvPr/>
        </p:nvSpPr>
        <p:spPr>
          <a:xfrm>
            <a:off x="548640" y="1216152"/>
            <a:ext cx="11064240" cy="365760"/>
          </a:xfrm>
          <a:prstGeom prst="rect">
            <a:avLst/>
          </a:prstGeom>
          <a:noFill/>
        </p:spPr>
        <p:txBody>
          <a:bodyPr wrap="square" lIns="0" tIns="0" rIns="0" bIns="0" anchor="t">
            <a:spAutoFit/>
          </a:bodyPr>
          <a:lstStyle/>
          <a:p>
            <a:pPr algn="l"/>
            <a:r>
              <a:rPr sz="1500" b="0" i="0">
                <a:solidFill>
                  <a:srgbClr val="002368"/>
                </a:solidFill>
                <a:latin typeface="Georgia"/>
              </a:rPr>
              <a:t>Each audience has its own reason to talk to us, its own request and its own decision-maker.</a:t>
            </a:r>
          </a:p>
        </p:txBody>
      </p:sp>
      <p:sp>
        <p:nvSpPr>
          <p:cNvPr id="5" name="Rounded Rectangle 4"/>
          <p:cNvSpPr/>
          <p:nvPr/>
        </p:nvSpPr>
        <p:spPr>
          <a:xfrm>
            <a:off x="548640" y="1828800"/>
            <a:ext cx="2651760" cy="4069080"/>
          </a:xfrm>
          <a:prstGeom prst="roundRect">
            <a:avLst>
              <a:gd name="adj" fmla="val 2413"/>
            </a:avLst>
          </a:prstGeom>
          <a:solidFill>
            <a:srgbClr val="002368"/>
          </a:solidFill>
          <a:ln w="12700">
            <a:solidFill>
              <a:srgbClr val="002368"/>
            </a:solidFill>
          </a:ln>
        </p:spPr>
        <p:txBody>
          <a:bodyPr rtlCol="0" anchor="ctr"/>
          <a:lstStyle/>
          <a:p>
            <a:pPr algn="ctr"/>
          </a:p>
        </p:txBody>
      </p:sp>
      <p:sp>
        <p:nvSpPr>
          <p:cNvPr id="6" name="TextBox 5"/>
          <p:cNvSpPr txBox="1"/>
          <p:nvPr/>
        </p:nvSpPr>
        <p:spPr>
          <a:xfrm>
            <a:off x="777240" y="2011680"/>
            <a:ext cx="914400" cy="457200"/>
          </a:xfrm>
          <a:prstGeom prst="rect">
            <a:avLst/>
          </a:prstGeom>
          <a:noFill/>
        </p:spPr>
        <p:txBody>
          <a:bodyPr wrap="square" lIns="0" tIns="0" rIns="0" bIns="0" anchor="t">
            <a:spAutoFit/>
          </a:bodyPr>
          <a:lstStyle/>
          <a:p>
            <a:pPr algn="l"/>
            <a:r>
              <a:rPr sz="2400" b="0" i="0">
                <a:solidFill>
                  <a:srgbClr val="FFC952"/>
                </a:solidFill>
                <a:latin typeface="Georgia"/>
              </a:rPr>
              <a:t>01</a:t>
            </a:r>
          </a:p>
        </p:txBody>
      </p:sp>
      <p:sp>
        <p:nvSpPr>
          <p:cNvPr id="7" name="TextBox 6"/>
          <p:cNvSpPr txBox="1"/>
          <p:nvPr/>
        </p:nvSpPr>
        <p:spPr>
          <a:xfrm>
            <a:off x="777240" y="2514600"/>
            <a:ext cx="2286000" cy="320040"/>
          </a:xfrm>
          <a:prstGeom prst="rect">
            <a:avLst/>
          </a:prstGeom>
          <a:noFill/>
        </p:spPr>
        <p:txBody>
          <a:bodyPr wrap="square" lIns="0" tIns="0" rIns="0" bIns="0" anchor="t">
            <a:spAutoFit/>
          </a:bodyPr>
          <a:lstStyle/>
          <a:p>
            <a:pPr algn="l"/>
            <a:r>
              <a:rPr sz="1600" b="1" i="0">
                <a:solidFill>
                  <a:srgbClr val="FFFFFF"/>
                </a:solidFill>
                <a:latin typeface="Arial"/>
              </a:rPr>
              <a:t>Employers</a:t>
            </a:r>
          </a:p>
        </p:txBody>
      </p:sp>
      <p:sp>
        <p:nvSpPr>
          <p:cNvPr id="8" name="TextBox 7"/>
          <p:cNvSpPr txBox="1"/>
          <p:nvPr/>
        </p:nvSpPr>
        <p:spPr>
          <a:xfrm>
            <a:off x="777240" y="2926080"/>
            <a:ext cx="2286000" cy="640080"/>
          </a:xfrm>
          <a:prstGeom prst="rect">
            <a:avLst/>
          </a:prstGeom>
          <a:noFill/>
        </p:spPr>
        <p:txBody>
          <a:bodyPr wrap="square" lIns="0" tIns="0" rIns="0" bIns="0" anchor="t">
            <a:spAutoFit/>
          </a:bodyPr>
          <a:lstStyle/>
          <a:p>
            <a:pPr algn="l"/>
            <a:r>
              <a:rPr sz="3600" b="0" i="0">
                <a:solidFill>
                  <a:srgbClr val="FFC952"/>
                </a:solidFill>
                <a:latin typeface="Georgia"/>
              </a:rPr>
              <a:t>1,235</a:t>
            </a:r>
          </a:p>
        </p:txBody>
      </p:sp>
      <p:sp>
        <p:nvSpPr>
          <p:cNvPr id="9" name="TextBox 8"/>
          <p:cNvSpPr txBox="1"/>
          <p:nvPr/>
        </p:nvSpPr>
        <p:spPr>
          <a:xfrm>
            <a:off x="777240" y="3584448"/>
            <a:ext cx="2286000" cy="457200"/>
          </a:xfrm>
          <a:prstGeom prst="rect">
            <a:avLst/>
          </a:prstGeom>
          <a:noFill/>
        </p:spPr>
        <p:txBody>
          <a:bodyPr wrap="square" lIns="0" tIns="0" rIns="0" bIns="0" anchor="t">
            <a:spAutoFit/>
          </a:bodyPr>
          <a:lstStyle/>
          <a:p>
            <a:pPr algn="l"/>
            <a:r>
              <a:rPr sz="1000" b="0" i="0">
                <a:solidFill>
                  <a:srgbClr val="D9ECF9"/>
                </a:solidFill>
                <a:latin typeface="Arial"/>
              </a:rPr>
              <a:t>1,118 companies + 117 savings groups</a:t>
            </a:r>
          </a:p>
        </p:txBody>
      </p:sp>
      <p:cxnSp>
        <p:nvCxnSpPr>
          <p:cNvPr id="10" name="Connector 9"/>
          <p:cNvCxnSpPr/>
          <p:nvPr/>
        </p:nvCxnSpPr>
        <p:spPr>
          <a:xfrm>
            <a:off x="777240" y="4114800"/>
            <a:ext cx="2194560" cy="0"/>
          </a:xfrm>
          <a:prstGeom prst="line">
            <a:avLst/>
          </a:prstGeom>
          <a:ln w="9525">
            <a:solidFill>
              <a:srgbClr val="8091B3"/>
            </a:solidFill>
          </a:ln>
        </p:spPr>
      </p:cxnSp>
      <p:sp>
        <p:nvSpPr>
          <p:cNvPr id="11" name="TextBox 10"/>
          <p:cNvSpPr txBox="1"/>
          <p:nvPr/>
        </p:nvSpPr>
        <p:spPr>
          <a:xfrm>
            <a:off x="777240" y="4224528"/>
            <a:ext cx="2286000" cy="228600"/>
          </a:xfrm>
          <a:prstGeom prst="rect">
            <a:avLst/>
          </a:prstGeom>
          <a:noFill/>
        </p:spPr>
        <p:txBody>
          <a:bodyPr wrap="square" lIns="0" tIns="0" rIns="0" bIns="0" anchor="t">
            <a:spAutoFit/>
          </a:bodyPr>
          <a:lstStyle/>
          <a:p>
            <a:pPr algn="l"/>
            <a:r>
              <a:rPr sz="800" b="1" i="0" spc="150">
                <a:solidFill>
                  <a:srgbClr val="80BFEC"/>
                </a:solidFill>
                <a:latin typeface="Arial"/>
              </a:rPr>
              <a:t>WHAT THEY ARE TO US</a:t>
            </a:r>
          </a:p>
        </p:txBody>
      </p:sp>
      <p:sp>
        <p:nvSpPr>
          <p:cNvPr id="12" name="TextBox 11"/>
          <p:cNvSpPr txBox="1"/>
          <p:nvPr/>
        </p:nvSpPr>
        <p:spPr>
          <a:xfrm>
            <a:off x="777240" y="4462272"/>
            <a:ext cx="2286000" cy="274320"/>
          </a:xfrm>
          <a:prstGeom prst="rect">
            <a:avLst/>
          </a:prstGeom>
          <a:noFill/>
        </p:spPr>
        <p:txBody>
          <a:bodyPr wrap="square" lIns="0" tIns="0" rIns="0" bIns="0" anchor="t">
            <a:spAutoFit/>
          </a:bodyPr>
          <a:lstStyle/>
          <a:p>
            <a:pPr algn="l"/>
            <a:r>
              <a:rPr sz="1100" b="1" i="0">
                <a:solidFill>
                  <a:srgbClr val="FFFFFF"/>
                </a:solidFill>
                <a:latin typeface="Arial"/>
              </a:rPr>
              <a:t>Customers through their staff</a:t>
            </a:r>
          </a:p>
        </p:txBody>
      </p:sp>
      <p:sp>
        <p:nvSpPr>
          <p:cNvPr id="13" name="TextBox 12"/>
          <p:cNvSpPr txBox="1"/>
          <p:nvPr/>
        </p:nvSpPr>
        <p:spPr>
          <a:xfrm>
            <a:off x="777240" y="4800600"/>
            <a:ext cx="2286000" cy="228600"/>
          </a:xfrm>
          <a:prstGeom prst="rect">
            <a:avLst/>
          </a:prstGeom>
          <a:noFill/>
        </p:spPr>
        <p:txBody>
          <a:bodyPr wrap="square" lIns="0" tIns="0" rIns="0" bIns="0" anchor="t">
            <a:spAutoFit/>
          </a:bodyPr>
          <a:lstStyle/>
          <a:p>
            <a:pPr algn="l"/>
            <a:r>
              <a:rPr sz="800" b="1" i="0" spc="150">
                <a:solidFill>
                  <a:srgbClr val="80BFEC"/>
                </a:solidFill>
                <a:latin typeface="Arial"/>
              </a:rPr>
              <a:t>WHAT WE ASK</a:t>
            </a:r>
          </a:p>
        </p:txBody>
      </p:sp>
      <p:sp>
        <p:nvSpPr>
          <p:cNvPr id="14" name="TextBox 13"/>
          <p:cNvSpPr txBox="1"/>
          <p:nvPr/>
        </p:nvSpPr>
        <p:spPr>
          <a:xfrm>
            <a:off x="777240" y="5029200"/>
            <a:ext cx="2286000" cy="777240"/>
          </a:xfrm>
          <a:prstGeom prst="rect">
            <a:avLst/>
          </a:prstGeom>
          <a:noFill/>
        </p:spPr>
        <p:txBody>
          <a:bodyPr wrap="square" lIns="0" tIns="0" rIns="0" bIns="0" anchor="t">
            <a:spAutoFit/>
          </a:bodyPr>
          <a:lstStyle/>
          <a:p>
            <a:pPr algn="l"/>
            <a:r>
              <a:rPr sz="1050" b="0" i="0">
                <a:solidFill>
                  <a:srgbClr val="D9ECF9"/>
                </a:solidFill>
                <a:latin typeface="Arial"/>
              </a:rPr>
              <a:t>A staff education benefit partnership</a:t>
            </a:r>
          </a:p>
        </p:txBody>
      </p:sp>
      <p:sp>
        <p:nvSpPr>
          <p:cNvPr id="15" name="Rounded Rectangle 14"/>
          <p:cNvSpPr/>
          <p:nvPr/>
        </p:nvSpPr>
        <p:spPr>
          <a:xfrm>
            <a:off x="3355848" y="1828800"/>
            <a:ext cx="2651760" cy="4069080"/>
          </a:xfrm>
          <a:prstGeom prst="roundRect">
            <a:avLst>
              <a:gd name="adj" fmla="val 2413"/>
            </a:avLst>
          </a:prstGeom>
          <a:solidFill>
            <a:srgbClr val="80BFEC"/>
          </a:solidFill>
          <a:ln w="12700">
            <a:solidFill>
              <a:srgbClr val="80BFEC"/>
            </a:solidFill>
          </a:ln>
        </p:spPr>
        <p:txBody>
          <a:bodyPr rtlCol="0" anchor="ctr"/>
          <a:lstStyle/>
          <a:p>
            <a:pPr algn="ctr"/>
          </a:p>
        </p:txBody>
      </p:sp>
      <p:sp>
        <p:nvSpPr>
          <p:cNvPr id="16" name="TextBox 15"/>
          <p:cNvSpPr txBox="1"/>
          <p:nvPr/>
        </p:nvSpPr>
        <p:spPr>
          <a:xfrm>
            <a:off x="3584448"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02</a:t>
            </a:r>
          </a:p>
        </p:txBody>
      </p:sp>
      <p:sp>
        <p:nvSpPr>
          <p:cNvPr id="17" name="TextBox 16"/>
          <p:cNvSpPr txBox="1"/>
          <p:nvPr/>
        </p:nvSpPr>
        <p:spPr>
          <a:xfrm>
            <a:off x="3584448"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Introducers</a:t>
            </a:r>
          </a:p>
        </p:txBody>
      </p:sp>
      <p:sp>
        <p:nvSpPr>
          <p:cNvPr id="18" name="TextBox 17"/>
          <p:cNvSpPr txBox="1"/>
          <p:nvPr/>
        </p:nvSpPr>
        <p:spPr>
          <a:xfrm>
            <a:off x="3584448"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16</a:t>
            </a:r>
          </a:p>
        </p:txBody>
      </p:sp>
      <p:sp>
        <p:nvSpPr>
          <p:cNvPr id="19" name="TextBox 18"/>
          <p:cNvSpPr txBox="1"/>
          <p:nvPr/>
        </p:nvSpPr>
        <p:spPr>
          <a:xfrm>
            <a:off x="3584448"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chambers, associations, an HR body</a:t>
            </a:r>
          </a:p>
        </p:txBody>
      </p:sp>
      <p:cxnSp>
        <p:nvCxnSpPr>
          <p:cNvPr id="20" name="Connector 19"/>
          <p:cNvCxnSpPr/>
          <p:nvPr/>
        </p:nvCxnSpPr>
        <p:spPr>
          <a:xfrm>
            <a:off x="3584448" y="4114800"/>
            <a:ext cx="2194560" cy="0"/>
          </a:xfrm>
          <a:prstGeom prst="line">
            <a:avLst/>
          </a:prstGeom>
          <a:ln w="9525">
            <a:solidFill>
              <a:srgbClr val="80BFEC"/>
            </a:solidFill>
          </a:ln>
        </p:spPr>
      </p:cxnSp>
      <p:sp>
        <p:nvSpPr>
          <p:cNvPr id="21" name="TextBox 20"/>
          <p:cNvSpPr txBox="1"/>
          <p:nvPr/>
        </p:nvSpPr>
        <p:spPr>
          <a:xfrm>
            <a:off x="3584448"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22" name="TextBox 21"/>
          <p:cNvSpPr txBox="1"/>
          <p:nvPr/>
        </p:nvSpPr>
        <p:spPr>
          <a:xfrm>
            <a:off x="3584448"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Multipliers</a:t>
            </a:r>
          </a:p>
        </p:txBody>
      </p:sp>
      <p:sp>
        <p:nvSpPr>
          <p:cNvPr id="23" name="TextBox 22"/>
          <p:cNvSpPr txBox="1"/>
          <p:nvPr/>
        </p:nvSpPr>
        <p:spPr>
          <a:xfrm>
            <a:off x="3584448"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24" name="TextBox 23"/>
          <p:cNvSpPr txBox="1"/>
          <p:nvPr/>
        </p:nvSpPr>
        <p:spPr>
          <a:xfrm>
            <a:off x="3584448"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Share the staff benefit with members</a:t>
            </a:r>
          </a:p>
        </p:txBody>
      </p:sp>
      <p:sp>
        <p:nvSpPr>
          <p:cNvPr id="25" name="Rounded Rectangle 24"/>
          <p:cNvSpPr/>
          <p:nvPr/>
        </p:nvSpPr>
        <p:spPr>
          <a:xfrm>
            <a:off x="6163055" y="1828800"/>
            <a:ext cx="2651760" cy="4069080"/>
          </a:xfrm>
          <a:prstGeom prst="roundRect">
            <a:avLst>
              <a:gd name="adj" fmla="val 2413"/>
            </a:avLst>
          </a:prstGeom>
          <a:solidFill>
            <a:srgbClr val="D9ECF9"/>
          </a:solidFill>
          <a:ln w="12700">
            <a:solidFill>
              <a:srgbClr val="D9ECF9"/>
            </a:solidFill>
          </a:ln>
        </p:spPr>
        <p:txBody>
          <a:bodyPr rtlCol="0" anchor="ctr"/>
          <a:lstStyle/>
          <a:p>
            <a:pPr algn="ctr"/>
          </a:p>
        </p:txBody>
      </p:sp>
      <p:sp>
        <p:nvSpPr>
          <p:cNvPr id="26" name="TextBox 25"/>
          <p:cNvSpPr txBox="1"/>
          <p:nvPr/>
        </p:nvSpPr>
        <p:spPr>
          <a:xfrm>
            <a:off x="6391655"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03</a:t>
            </a:r>
          </a:p>
        </p:txBody>
      </p:sp>
      <p:sp>
        <p:nvSpPr>
          <p:cNvPr id="27" name="TextBox 26"/>
          <p:cNvSpPr txBox="1"/>
          <p:nvPr/>
        </p:nvSpPr>
        <p:spPr>
          <a:xfrm>
            <a:off x="6391655"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Welfare</a:t>
            </a:r>
          </a:p>
        </p:txBody>
      </p:sp>
      <p:sp>
        <p:nvSpPr>
          <p:cNvPr id="28" name="TextBox 27"/>
          <p:cNvSpPr txBox="1"/>
          <p:nvPr/>
        </p:nvSpPr>
        <p:spPr>
          <a:xfrm>
            <a:off x="6391655"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445</a:t>
            </a:r>
          </a:p>
        </p:txBody>
      </p:sp>
      <p:sp>
        <p:nvSpPr>
          <p:cNvPr id="29" name="TextBox 28"/>
          <p:cNvSpPr txBox="1"/>
          <p:nvPr/>
        </p:nvSpPr>
        <p:spPr>
          <a:xfrm>
            <a:off x="6391655"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homes, programmes, centres, funders, networks</a:t>
            </a:r>
          </a:p>
        </p:txBody>
      </p:sp>
      <p:cxnSp>
        <p:nvCxnSpPr>
          <p:cNvPr id="30" name="Connector 29"/>
          <p:cNvCxnSpPr/>
          <p:nvPr/>
        </p:nvCxnSpPr>
        <p:spPr>
          <a:xfrm>
            <a:off x="6391655" y="4114800"/>
            <a:ext cx="2194560" cy="0"/>
          </a:xfrm>
          <a:prstGeom prst="line">
            <a:avLst/>
          </a:prstGeom>
          <a:ln w="9525">
            <a:solidFill>
              <a:srgbClr val="80BFEC"/>
            </a:solidFill>
          </a:ln>
        </p:spPr>
      </p:cxnSp>
      <p:sp>
        <p:nvSpPr>
          <p:cNvPr id="31" name="TextBox 30"/>
          <p:cNvSpPr txBox="1"/>
          <p:nvPr/>
        </p:nvSpPr>
        <p:spPr>
          <a:xfrm>
            <a:off x="6391655"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32" name="TextBox 31"/>
          <p:cNvSpPr txBox="1"/>
          <p:nvPr/>
        </p:nvSpPr>
        <p:spPr>
          <a:xfrm>
            <a:off x="6391655"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Partners and funders</a:t>
            </a:r>
          </a:p>
        </p:txBody>
      </p:sp>
      <p:sp>
        <p:nvSpPr>
          <p:cNvPr id="33" name="TextBox 32"/>
          <p:cNvSpPr txBox="1"/>
          <p:nvPr/>
        </p:nvSpPr>
        <p:spPr>
          <a:xfrm>
            <a:off x="6391655"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34" name="TextBox 33"/>
          <p:cNvSpPr txBox="1"/>
          <p:nvPr/>
        </p:nvSpPr>
        <p:spPr>
          <a:xfrm>
            <a:off x="6391655"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An education partnership, or sponsorship</a:t>
            </a:r>
          </a:p>
        </p:txBody>
      </p:sp>
      <p:sp>
        <p:nvSpPr>
          <p:cNvPr id="35" name="Rounded Rectangle 34"/>
          <p:cNvSpPr/>
          <p:nvPr/>
        </p:nvSpPr>
        <p:spPr>
          <a:xfrm>
            <a:off x="8970263" y="1828800"/>
            <a:ext cx="2651760" cy="4069080"/>
          </a:xfrm>
          <a:prstGeom prst="roundRect">
            <a:avLst>
              <a:gd name="adj" fmla="val 2413"/>
            </a:avLst>
          </a:prstGeom>
          <a:solidFill>
            <a:srgbClr val="ECECEC"/>
          </a:solidFill>
          <a:ln w="12700">
            <a:solidFill>
              <a:srgbClr val="ECECEC"/>
            </a:solidFill>
          </a:ln>
        </p:spPr>
        <p:txBody>
          <a:bodyPr rtlCol="0" anchor="ctr"/>
          <a:lstStyle/>
          <a:p>
            <a:pPr algn="ctr"/>
          </a:p>
        </p:txBody>
      </p:sp>
      <p:sp>
        <p:nvSpPr>
          <p:cNvPr id="36" name="TextBox 35"/>
          <p:cNvSpPr txBox="1"/>
          <p:nvPr/>
        </p:nvSpPr>
        <p:spPr>
          <a:xfrm>
            <a:off x="9198863"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04</a:t>
            </a:r>
          </a:p>
        </p:txBody>
      </p:sp>
      <p:sp>
        <p:nvSpPr>
          <p:cNvPr id="37" name="TextBox 36"/>
          <p:cNvSpPr txBox="1"/>
          <p:nvPr/>
        </p:nvSpPr>
        <p:spPr>
          <a:xfrm>
            <a:off x="9198863"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Government</a:t>
            </a:r>
          </a:p>
        </p:txBody>
      </p:sp>
      <p:sp>
        <p:nvSpPr>
          <p:cNvPr id="38" name="TextBox 37"/>
          <p:cNvSpPr txBox="1"/>
          <p:nvPr/>
        </p:nvSpPr>
        <p:spPr>
          <a:xfrm>
            <a:off x="9198863"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228</a:t>
            </a:r>
          </a:p>
        </p:txBody>
      </p:sp>
      <p:sp>
        <p:nvSpPr>
          <p:cNvPr id="39" name="TextBox 38"/>
          <p:cNvSpPr txBox="1"/>
          <p:nvPr/>
        </p:nvSpPr>
        <p:spPr>
          <a:xfrm>
            <a:off x="9198863"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councils, districts, regions, wards, villages</a:t>
            </a:r>
          </a:p>
        </p:txBody>
      </p:sp>
      <p:cxnSp>
        <p:nvCxnSpPr>
          <p:cNvPr id="40" name="Connector 39"/>
          <p:cNvCxnSpPr/>
          <p:nvPr/>
        </p:nvCxnSpPr>
        <p:spPr>
          <a:xfrm>
            <a:off x="9198863" y="4114800"/>
            <a:ext cx="2194561" cy="0"/>
          </a:xfrm>
          <a:prstGeom prst="line">
            <a:avLst/>
          </a:prstGeom>
          <a:ln w="9525">
            <a:solidFill>
              <a:srgbClr val="80BFEC"/>
            </a:solidFill>
          </a:ln>
        </p:spPr>
      </p:cxnSp>
      <p:sp>
        <p:nvSpPr>
          <p:cNvPr id="41" name="TextBox 40"/>
          <p:cNvSpPr txBox="1"/>
          <p:nvPr/>
        </p:nvSpPr>
        <p:spPr>
          <a:xfrm>
            <a:off x="9198863"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42" name="TextBox 41"/>
          <p:cNvSpPr txBox="1"/>
          <p:nvPr/>
        </p:nvSpPr>
        <p:spPr>
          <a:xfrm>
            <a:off x="9198863"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A forum parents trust</a:t>
            </a:r>
          </a:p>
        </p:txBody>
      </p:sp>
      <p:sp>
        <p:nvSpPr>
          <p:cNvPr id="43" name="TextBox 42"/>
          <p:cNvSpPr txBox="1"/>
          <p:nvPr/>
        </p:nvSpPr>
        <p:spPr>
          <a:xfrm>
            <a:off x="9198863"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44" name="TextBox 43"/>
          <p:cNvSpPr txBox="1"/>
          <p:nvPr/>
        </p:nvSpPr>
        <p:spPr>
          <a:xfrm>
            <a:off x="9198863"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A free talk at a community meeting</a:t>
            </a:r>
          </a:p>
        </p:txBody>
      </p:sp>
      <p:pic>
        <p:nvPicPr>
          <p:cNvPr id="45" name="Picture 44" descr="image3.png"/>
          <p:cNvPicPr>
            <a:picLocks noChangeAspect="1"/>
          </p:cNvPicPr>
          <p:nvPr/>
        </p:nvPicPr>
        <p:blipFill>
          <a:blip r:embed="rId2"/>
          <a:stretch>
            <a:fillRect/>
          </a:stretch>
        </p:blipFill>
        <p:spPr>
          <a:xfrm>
            <a:off x="548640" y="6272784"/>
            <a:ext cx="1143000" cy="274320"/>
          </a:xfrm>
          <a:prstGeom prst="rect">
            <a:avLst/>
          </a:prstGeom>
        </p:spPr>
      </p:pic>
      <p:sp>
        <p:nvSpPr>
          <p:cNvPr id="4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4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EMPLOYERS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Employers: kind, message variant and reach tier</a:t>
            </a:r>
          </a:p>
        </p:txBody>
      </p:sp>
      <p:sp>
        <p:nvSpPr>
          <p:cNvPr id="4" name="TextBox 3"/>
          <p:cNvSpPr txBox="1"/>
          <p:nvPr/>
        </p:nvSpPr>
        <p:spPr>
          <a:xfrm>
            <a:off x="54864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COMPANIES BY KIND OF EMPLOYER: LEADS AND READY FOR REVIEW</a:t>
            </a:r>
          </a:p>
        </p:txBody>
      </p:sp>
      <p:graphicFrame>
        <p:nvGraphicFramePr>
          <p:cNvPr id="5" name="Chart 4"/>
          <p:cNvGraphicFramePr>
            <a:graphicFrameLocks noGrp="1"/>
          </p:cNvGraphicFramePr>
          <p:nvPr/>
        </p:nvGraphicFramePr>
        <p:xfrm>
          <a:off x="411480" y="1463040"/>
          <a:ext cx="685800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7452360" y="1325880"/>
            <a:ext cx="4187952" cy="1965960"/>
          </a:xfrm>
          <a:prstGeom prst="roundRect">
            <a:avLst>
              <a:gd name="adj" fmla="val 3255"/>
            </a:avLst>
          </a:prstGeom>
          <a:solidFill>
            <a:srgbClr val="D9ECF9"/>
          </a:solidFill>
          <a:ln w="12700">
            <a:solidFill>
              <a:srgbClr val="D9ECF9"/>
            </a:solidFill>
          </a:ln>
        </p:spPr>
        <p:txBody>
          <a:bodyPr rtlCol="0" anchor="ctr"/>
          <a:lstStyle/>
          <a:p>
            <a:pPr algn="ctr"/>
          </a:p>
        </p:txBody>
      </p:sp>
      <p:sp>
        <p:nvSpPr>
          <p:cNvPr id="7" name="TextBox 6"/>
          <p:cNvSpPr txBox="1"/>
          <p:nvPr/>
        </p:nvSpPr>
        <p:spPr>
          <a:xfrm>
            <a:off x="7680960" y="1463040"/>
            <a:ext cx="3749039" cy="228600"/>
          </a:xfrm>
          <a:prstGeom prst="rect">
            <a:avLst/>
          </a:prstGeom>
          <a:noFill/>
        </p:spPr>
        <p:txBody>
          <a:bodyPr wrap="square" lIns="0" tIns="0" rIns="0" bIns="0" anchor="t">
            <a:spAutoFit/>
          </a:bodyPr>
          <a:lstStyle/>
          <a:p>
            <a:pPr algn="l"/>
            <a:r>
              <a:rPr sz="900" b="1" i="0" spc="200">
                <a:solidFill>
                  <a:srgbClr val="818283"/>
                </a:solidFill>
                <a:latin typeface="Arial"/>
              </a:rPr>
              <a:t>MESSAGE VARIANT</a:t>
            </a:r>
          </a:p>
        </p:txBody>
      </p:sp>
      <p:sp>
        <p:nvSpPr>
          <p:cNvPr id="8" name="TextBox 7"/>
          <p:cNvSpPr txBox="1"/>
          <p:nvPr/>
        </p:nvSpPr>
        <p:spPr>
          <a:xfrm>
            <a:off x="7680960" y="1737360"/>
            <a:ext cx="1097280" cy="548640"/>
          </a:xfrm>
          <a:prstGeom prst="rect">
            <a:avLst/>
          </a:prstGeom>
          <a:noFill/>
        </p:spPr>
        <p:txBody>
          <a:bodyPr wrap="square" lIns="0" tIns="0" rIns="0" bIns="0" anchor="t">
            <a:spAutoFit/>
          </a:bodyPr>
          <a:lstStyle/>
          <a:p>
            <a:pPr algn="l"/>
            <a:r>
              <a:rPr sz="3000" b="0" i="0">
                <a:solidFill>
                  <a:srgbClr val="002368"/>
                </a:solidFill>
                <a:latin typeface="Georgia"/>
              </a:rPr>
              <a:t>14</a:t>
            </a:r>
          </a:p>
        </p:txBody>
      </p:sp>
      <p:sp>
        <p:nvSpPr>
          <p:cNvPr id="9" name="TextBox 8"/>
          <p:cNvSpPr txBox="1"/>
          <p:nvPr/>
        </p:nvSpPr>
        <p:spPr>
          <a:xfrm>
            <a:off x="8641080" y="1783080"/>
            <a:ext cx="2834640" cy="548640"/>
          </a:xfrm>
          <a:prstGeom prst="rect">
            <a:avLst/>
          </a:prstGeom>
          <a:noFill/>
        </p:spPr>
        <p:txBody>
          <a:bodyPr wrap="square" lIns="0" tIns="0" rIns="0" bIns="0" anchor="t">
            <a:spAutoFit/>
          </a:bodyPr>
          <a:lstStyle/>
          <a:p>
            <a:pPr algn="l"/>
            <a:r>
              <a:rPr sz="1000" b="1" i="0">
                <a:solidFill>
                  <a:srgbClr val="002368"/>
                </a:solidFill>
                <a:latin typeface="Arial"/>
              </a:rPr>
              <a:t>A · Sponsorship. </a:t>
            </a:r>
            <a:r>
              <a:rPr sz="1000" b="0" i="0">
                <a:solidFill>
                  <a:srgbClr val="000000"/>
                </a:solidFill>
                <a:latin typeface="Arial"/>
              </a:rPr>
              <a:t>Companies with sourced education or community giving; all safari operators.</a:t>
            </a:r>
          </a:p>
        </p:txBody>
      </p:sp>
      <p:sp>
        <p:nvSpPr>
          <p:cNvPr id="10" name="TextBox 9"/>
          <p:cNvSpPr txBox="1"/>
          <p:nvPr/>
        </p:nvSpPr>
        <p:spPr>
          <a:xfrm>
            <a:off x="7680960" y="2423160"/>
            <a:ext cx="1097280" cy="548640"/>
          </a:xfrm>
          <a:prstGeom prst="rect">
            <a:avLst/>
          </a:prstGeom>
          <a:noFill/>
        </p:spPr>
        <p:txBody>
          <a:bodyPr wrap="square" lIns="0" tIns="0" rIns="0" bIns="0" anchor="t">
            <a:spAutoFit/>
          </a:bodyPr>
          <a:lstStyle/>
          <a:p>
            <a:pPr algn="l"/>
            <a:r>
              <a:rPr sz="3000" b="0" i="0">
                <a:solidFill>
                  <a:srgbClr val="002368"/>
                </a:solidFill>
                <a:latin typeface="Georgia"/>
              </a:rPr>
              <a:t>1,104</a:t>
            </a:r>
          </a:p>
        </p:txBody>
      </p:sp>
      <p:sp>
        <p:nvSpPr>
          <p:cNvPr id="11" name="TextBox 10"/>
          <p:cNvSpPr txBox="1"/>
          <p:nvPr/>
        </p:nvSpPr>
        <p:spPr>
          <a:xfrm>
            <a:off x="8641080" y="2468880"/>
            <a:ext cx="2834640" cy="731520"/>
          </a:xfrm>
          <a:prstGeom prst="rect">
            <a:avLst/>
          </a:prstGeom>
          <a:noFill/>
        </p:spPr>
        <p:txBody>
          <a:bodyPr wrap="square" lIns="0" tIns="0" rIns="0" bIns="0" anchor="t">
            <a:spAutoFit/>
          </a:bodyPr>
          <a:lstStyle/>
          <a:p>
            <a:pPr algn="l"/>
            <a:r>
              <a:rPr sz="1000" b="1" i="0">
                <a:solidFill>
                  <a:srgbClr val="002368"/>
                </a:solidFill>
                <a:latin typeface="Arial"/>
              </a:rPr>
              <a:t>B · Staff benefit. </a:t>
            </a:r>
            <a:r>
              <a:rPr sz="1000" b="0" i="0">
                <a:solidFill>
                  <a:srgbClr val="000000"/>
                </a:solidFill>
                <a:latin typeface="Arial"/>
              </a:rPr>
              <a:t>Every other company: a partnership on an education benefit for staff's children.</a:t>
            </a:r>
          </a:p>
        </p:txBody>
      </p:sp>
      <p:sp>
        <p:nvSpPr>
          <p:cNvPr id="12" name="Rounded Rectangle 11"/>
          <p:cNvSpPr/>
          <p:nvPr/>
        </p:nvSpPr>
        <p:spPr>
          <a:xfrm>
            <a:off x="7452360" y="3429000"/>
            <a:ext cx="4187952" cy="2560320"/>
          </a:xfrm>
          <a:prstGeom prst="roundRect">
            <a:avLst>
              <a:gd name="adj" fmla="val 2500"/>
            </a:avLst>
          </a:prstGeom>
          <a:solidFill>
            <a:srgbClr val="FFFFFF"/>
          </a:solidFill>
          <a:ln w="12700">
            <a:solidFill>
              <a:srgbClr val="D9ECF9"/>
            </a:solidFill>
          </a:ln>
        </p:spPr>
        <p:txBody>
          <a:bodyPr rtlCol="0" anchor="ctr"/>
          <a:lstStyle/>
          <a:p>
            <a:pPr algn="ctr"/>
          </a:p>
        </p:txBody>
      </p:sp>
      <p:sp>
        <p:nvSpPr>
          <p:cNvPr id="13" name="TextBox 12"/>
          <p:cNvSpPr txBox="1"/>
          <p:nvPr/>
        </p:nvSpPr>
        <p:spPr>
          <a:xfrm>
            <a:off x="7680960" y="3566160"/>
            <a:ext cx="3749039" cy="228600"/>
          </a:xfrm>
          <a:prstGeom prst="rect">
            <a:avLst/>
          </a:prstGeom>
          <a:noFill/>
        </p:spPr>
        <p:txBody>
          <a:bodyPr wrap="square" lIns="0" tIns="0" rIns="0" bIns="0" anchor="t">
            <a:spAutoFit/>
          </a:bodyPr>
          <a:lstStyle/>
          <a:p>
            <a:pPr algn="l"/>
            <a:r>
              <a:rPr sz="900" b="1" i="0" spc="200">
                <a:solidFill>
                  <a:srgbClr val="818283"/>
                </a:solidFill>
                <a:latin typeface="Arial"/>
              </a:rPr>
              <a:t>REACH TIER (ALL 1,118 COMPANIES)</a:t>
            </a:r>
          </a:p>
        </p:txBody>
      </p:sp>
      <p:sp>
        <p:nvSpPr>
          <p:cNvPr id="14" name="Rounded Rectangle 13"/>
          <p:cNvSpPr/>
          <p:nvPr/>
        </p:nvSpPr>
        <p:spPr>
          <a:xfrm>
            <a:off x="7680960" y="3886200"/>
            <a:ext cx="868680" cy="1051560"/>
          </a:xfrm>
          <a:prstGeom prst="roundRect">
            <a:avLst>
              <a:gd name="adj" fmla="val 7368"/>
            </a:avLst>
          </a:prstGeom>
          <a:solidFill>
            <a:srgbClr val="002368"/>
          </a:solidFill>
          <a:ln w="12700">
            <a:solidFill>
              <a:srgbClr val="002368"/>
            </a:solidFill>
          </a:ln>
        </p:spPr>
        <p:txBody>
          <a:bodyPr rtlCol="0" anchor="ctr"/>
          <a:lstStyle/>
          <a:p>
            <a:pPr algn="ctr"/>
          </a:p>
        </p:txBody>
      </p:sp>
      <p:sp>
        <p:nvSpPr>
          <p:cNvPr id="15" name="TextBox 14"/>
          <p:cNvSpPr txBox="1"/>
          <p:nvPr/>
        </p:nvSpPr>
        <p:spPr>
          <a:xfrm>
            <a:off x="7680960" y="3950208"/>
            <a:ext cx="868680" cy="365760"/>
          </a:xfrm>
          <a:prstGeom prst="rect">
            <a:avLst/>
          </a:prstGeom>
          <a:noFill/>
        </p:spPr>
        <p:txBody>
          <a:bodyPr wrap="square" lIns="0" tIns="0" rIns="0" bIns="0" anchor="t">
            <a:spAutoFit/>
          </a:bodyPr>
          <a:lstStyle/>
          <a:p>
            <a:pPr algn="ctr"/>
            <a:r>
              <a:rPr sz="1600" b="0" i="0">
                <a:solidFill>
                  <a:srgbClr val="FFFFFF"/>
                </a:solidFill>
                <a:latin typeface="Georgia"/>
              </a:rPr>
              <a:t>P1</a:t>
            </a:r>
          </a:p>
        </p:txBody>
      </p:sp>
      <p:sp>
        <p:nvSpPr>
          <p:cNvPr id="16" name="TextBox 15"/>
          <p:cNvSpPr txBox="1"/>
          <p:nvPr/>
        </p:nvSpPr>
        <p:spPr>
          <a:xfrm>
            <a:off x="7680960" y="4297680"/>
            <a:ext cx="868680" cy="320040"/>
          </a:xfrm>
          <a:prstGeom prst="rect">
            <a:avLst/>
          </a:prstGeom>
          <a:noFill/>
        </p:spPr>
        <p:txBody>
          <a:bodyPr wrap="square" lIns="0" tIns="0" rIns="0" bIns="0" anchor="t">
            <a:spAutoFit/>
          </a:bodyPr>
          <a:lstStyle/>
          <a:p>
            <a:pPr algn="ctr"/>
            <a:r>
              <a:rPr sz="1500" b="1" i="0">
                <a:solidFill>
                  <a:srgbClr val="FFFFFF"/>
                </a:solidFill>
                <a:latin typeface="Arial"/>
              </a:rPr>
              <a:t>100</a:t>
            </a:r>
          </a:p>
        </p:txBody>
      </p:sp>
      <p:sp>
        <p:nvSpPr>
          <p:cNvPr id="17" name="TextBox 16"/>
          <p:cNvSpPr txBox="1"/>
          <p:nvPr/>
        </p:nvSpPr>
        <p:spPr>
          <a:xfrm>
            <a:off x="7680960" y="4617720"/>
            <a:ext cx="868680" cy="274320"/>
          </a:xfrm>
          <a:prstGeom prst="rect">
            <a:avLst/>
          </a:prstGeom>
          <a:noFill/>
        </p:spPr>
        <p:txBody>
          <a:bodyPr wrap="square" lIns="0" tIns="0" rIns="0" bIns="0" anchor="t">
            <a:spAutoFit/>
          </a:bodyPr>
          <a:lstStyle/>
          <a:p>
            <a:pPr algn="ctr"/>
            <a:r>
              <a:rPr sz="850" b="0" i="0">
                <a:solidFill>
                  <a:srgbClr val="FFFFFF"/>
                </a:solidFill>
                <a:latin typeface="Arial"/>
              </a:rPr>
              <a:t>First wave</a:t>
            </a:r>
          </a:p>
        </p:txBody>
      </p:sp>
      <p:sp>
        <p:nvSpPr>
          <p:cNvPr id="18" name="Rounded Rectangle 17"/>
          <p:cNvSpPr/>
          <p:nvPr/>
        </p:nvSpPr>
        <p:spPr>
          <a:xfrm>
            <a:off x="8659368" y="3886200"/>
            <a:ext cx="868680" cy="1051560"/>
          </a:xfrm>
          <a:prstGeom prst="roundRect">
            <a:avLst>
              <a:gd name="adj" fmla="val 7368"/>
            </a:avLst>
          </a:prstGeom>
          <a:solidFill>
            <a:srgbClr val="80BFEC"/>
          </a:solidFill>
          <a:ln w="12700">
            <a:solidFill>
              <a:srgbClr val="80BFEC"/>
            </a:solidFill>
          </a:ln>
        </p:spPr>
        <p:txBody>
          <a:bodyPr rtlCol="0" anchor="ctr"/>
          <a:lstStyle/>
          <a:p>
            <a:pPr algn="ctr"/>
          </a:p>
        </p:txBody>
      </p:sp>
      <p:sp>
        <p:nvSpPr>
          <p:cNvPr id="19" name="TextBox 18"/>
          <p:cNvSpPr txBox="1"/>
          <p:nvPr/>
        </p:nvSpPr>
        <p:spPr>
          <a:xfrm>
            <a:off x="8659368" y="3950208"/>
            <a:ext cx="868680" cy="365760"/>
          </a:xfrm>
          <a:prstGeom prst="rect">
            <a:avLst/>
          </a:prstGeom>
          <a:noFill/>
        </p:spPr>
        <p:txBody>
          <a:bodyPr wrap="square" lIns="0" tIns="0" rIns="0" bIns="0" anchor="t">
            <a:spAutoFit/>
          </a:bodyPr>
          <a:lstStyle/>
          <a:p>
            <a:pPr algn="ctr"/>
            <a:r>
              <a:rPr sz="1600" b="0" i="0">
                <a:solidFill>
                  <a:srgbClr val="002368"/>
                </a:solidFill>
                <a:latin typeface="Georgia"/>
              </a:rPr>
              <a:t>P2</a:t>
            </a:r>
          </a:p>
        </p:txBody>
      </p:sp>
      <p:sp>
        <p:nvSpPr>
          <p:cNvPr id="20" name="TextBox 19"/>
          <p:cNvSpPr txBox="1"/>
          <p:nvPr/>
        </p:nvSpPr>
        <p:spPr>
          <a:xfrm>
            <a:off x="8659368" y="4297680"/>
            <a:ext cx="868680" cy="320040"/>
          </a:xfrm>
          <a:prstGeom prst="rect">
            <a:avLst/>
          </a:prstGeom>
          <a:noFill/>
        </p:spPr>
        <p:txBody>
          <a:bodyPr wrap="square" lIns="0" tIns="0" rIns="0" bIns="0" anchor="t">
            <a:spAutoFit/>
          </a:bodyPr>
          <a:lstStyle/>
          <a:p>
            <a:pPr algn="ctr"/>
            <a:r>
              <a:rPr sz="1500" b="1" i="0">
                <a:solidFill>
                  <a:srgbClr val="002368"/>
                </a:solidFill>
                <a:latin typeface="Arial"/>
              </a:rPr>
              <a:t>150</a:t>
            </a:r>
          </a:p>
        </p:txBody>
      </p:sp>
      <p:sp>
        <p:nvSpPr>
          <p:cNvPr id="21" name="TextBox 20"/>
          <p:cNvSpPr txBox="1"/>
          <p:nvPr/>
        </p:nvSpPr>
        <p:spPr>
          <a:xfrm>
            <a:off x="8659368" y="4617720"/>
            <a:ext cx="868680" cy="274320"/>
          </a:xfrm>
          <a:prstGeom prst="rect">
            <a:avLst/>
          </a:prstGeom>
          <a:noFill/>
        </p:spPr>
        <p:txBody>
          <a:bodyPr wrap="square" lIns="0" tIns="0" rIns="0" bIns="0" anchor="t">
            <a:spAutoFit/>
          </a:bodyPr>
          <a:lstStyle/>
          <a:p>
            <a:pPr algn="ctr"/>
            <a:r>
              <a:rPr sz="850" b="0" i="0">
                <a:solidFill>
                  <a:srgbClr val="002368"/>
                </a:solidFill>
                <a:latin typeface="Arial"/>
              </a:rPr>
              <a:t>Second wave</a:t>
            </a:r>
          </a:p>
        </p:txBody>
      </p:sp>
      <p:sp>
        <p:nvSpPr>
          <p:cNvPr id="22" name="Rounded Rectangle 21"/>
          <p:cNvSpPr/>
          <p:nvPr/>
        </p:nvSpPr>
        <p:spPr>
          <a:xfrm>
            <a:off x="9637776" y="3886200"/>
            <a:ext cx="868680" cy="105156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23" name="TextBox 22"/>
          <p:cNvSpPr txBox="1"/>
          <p:nvPr/>
        </p:nvSpPr>
        <p:spPr>
          <a:xfrm>
            <a:off x="9637776" y="3950208"/>
            <a:ext cx="868680" cy="365760"/>
          </a:xfrm>
          <a:prstGeom prst="rect">
            <a:avLst/>
          </a:prstGeom>
          <a:noFill/>
        </p:spPr>
        <p:txBody>
          <a:bodyPr wrap="square" lIns="0" tIns="0" rIns="0" bIns="0" anchor="t">
            <a:spAutoFit/>
          </a:bodyPr>
          <a:lstStyle/>
          <a:p>
            <a:pPr algn="ctr"/>
            <a:r>
              <a:rPr sz="1600" b="0" i="0">
                <a:solidFill>
                  <a:srgbClr val="002368"/>
                </a:solidFill>
                <a:latin typeface="Georgia"/>
              </a:rPr>
              <a:t>P3</a:t>
            </a:r>
          </a:p>
        </p:txBody>
      </p:sp>
      <p:sp>
        <p:nvSpPr>
          <p:cNvPr id="24" name="TextBox 23"/>
          <p:cNvSpPr txBox="1"/>
          <p:nvPr/>
        </p:nvSpPr>
        <p:spPr>
          <a:xfrm>
            <a:off x="9637776" y="4297680"/>
            <a:ext cx="868680" cy="320040"/>
          </a:xfrm>
          <a:prstGeom prst="rect">
            <a:avLst/>
          </a:prstGeom>
          <a:noFill/>
        </p:spPr>
        <p:txBody>
          <a:bodyPr wrap="square" lIns="0" tIns="0" rIns="0" bIns="0" anchor="t">
            <a:spAutoFit/>
          </a:bodyPr>
          <a:lstStyle/>
          <a:p>
            <a:pPr algn="ctr"/>
            <a:r>
              <a:rPr sz="1500" b="1" i="0">
                <a:solidFill>
                  <a:srgbClr val="002368"/>
                </a:solidFill>
                <a:latin typeface="Arial"/>
              </a:rPr>
              <a:t>853</a:t>
            </a:r>
          </a:p>
        </p:txBody>
      </p:sp>
      <p:sp>
        <p:nvSpPr>
          <p:cNvPr id="25" name="TextBox 24"/>
          <p:cNvSpPr txBox="1"/>
          <p:nvPr/>
        </p:nvSpPr>
        <p:spPr>
          <a:xfrm>
            <a:off x="9637776" y="4617720"/>
            <a:ext cx="868680" cy="274320"/>
          </a:xfrm>
          <a:prstGeom prst="rect">
            <a:avLst/>
          </a:prstGeom>
          <a:noFill/>
        </p:spPr>
        <p:txBody>
          <a:bodyPr wrap="square" lIns="0" tIns="0" rIns="0" bIns="0" anchor="t">
            <a:spAutoFit/>
          </a:bodyPr>
          <a:lstStyle/>
          <a:p>
            <a:pPr algn="ctr"/>
            <a:r>
              <a:rPr sz="850" b="0" i="0">
                <a:solidFill>
                  <a:srgbClr val="002368"/>
                </a:solidFill>
                <a:latin typeface="Arial"/>
              </a:rPr>
              <a:t>The rest</a:t>
            </a:r>
          </a:p>
        </p:txBody>
      </p:sp>
      <p:sp>
        <p:nvSpPr>
          <p:cNvPr id="26" name="Rounded Rectangle 25"/>
          <p:cNvSpPr/>
          <p:nvPr/>
        </p:nvSpPr>
        <p:spPr>
          <a:xfrm>
            <a:off x="10616184" y="3886200"/>
            <a:ext cx="868680" cy="1051560"/>
          </a:xfrm>
          <a:prstGeom prst="roundRect">
            <a:avLst>
              <a:gd name="adj" fmla="val 7368"/>
            </a:avLst>
          </a:prstGeom>
          <a:solidFill>
            <a:srgbClr val="ECECEC"/>
          </a:solidFill>
          <a:ln w="12700">
            <a:solidFill>
              <a:srgbClr val="ECECEC"/>
            </a:solidFill>
          </a:ln>
        </p:spPr>
        <p:txBody>
          <a:bodyPr rtlCol="0" anchor="ctr"/>
          <a:lstStyle/>
          <a:p>
            <a:pPr algn="ctr"/>
          </a:p>
        </p:txBody>
      </p:sp>
      <p:sp>
        <p:nvSpPr>
          <p:cNvPr id="27" name="TextBox 26"/>
          <p:cNvSpPr txBox="1"/>
          <p:nvPr/>
        </p:nvSpPr>
        <p:spPr>
          <a:xfrm>
            <a:off x="10616184" y="3950208"/>
            <a:ext cx="868680" cy="365760"/>
          </a:xfrm>
          <a:prstGeom prst="rect">
            <a:avLst/>
          </a:prstGeom>
          <a:noFill/>
        </p:spPr>
        <p:txBody>
          <a:bodyPr wrap="square" lIns="0" tIns="0" rIns="0" bIns="0" anchor="t">
            <a:spAutoFit/>
          </a:bodyPr>
          <a:lstStyle/>
          <a:p>
            <a:pPr algn="ctr"/>
            <a:r>
              <a:rPr sz="1600" b="0" i="0">
                <a:solidFill>
                  <a:srgbClr val="818283"/>
                </a:solidFill>
                <a:latin typeface="Georgia"/>
              </a:rPr>
              <a:t>X</a:t>
            </a:r>
          </a:p>
        </p:txBody>
      </p:sp>
      <p:sp>
        <p:nvSpPr>
          <p:cNvPr id="28" name="TextBox 27"/>
          <p:cNvSpPr txBox="1"/>
          <p:nvPr/>
        </p:nvSpPr>
        <p:spPr>
          <a:xfrm>
            <a:off x="10616184" y="4297680"/>
            <a:ext cx="868680" cy="320040"/>
          </a:xfrm>
          <a:prstGeom prst="rect">
            <a:avLst/>
          </a:prstGeom>
          <a:noFill/>
        </p:spPr>
        <p:txBody>
          <a:bodyPr wrap="square" lIns="0" tIns="0" rIns="0" bIns="0" anchor="t">
            <a:spAutoFit/>
          </a:bodyPr>
          <a:lstStyle/>
          <a:p>
            <a:pPr algn="ctr"/>
            <a:r>
              <a:rPr sz="1500" b="1" i="0">
                <a:solidFill>
                  <a:srgbClr val="818283"/>
                </a:solidFill>
                <a:latin typeface="Arial"/>
              </a:rPr>
              <a:t>15</a:t>
            </a:r>
          </a:p>
        </p:txBody>
      </p:sp>
      <p:sp>
        <p:nvSpPr>
          <p:cNvPr id="29" name="TextBox 28"/>
          <p:cNvSpPr txBox="1"/>
          <p:nvPr/>
        </p:nvSpPr>
        <p:spPr>
          <a:xfrm>
            <a:off x="10616184" y="4617720"/>
            <a:ext cx="868680" cy="274320"/>
          </a:xfrm>
          <a:prstGeom prst="rect">
            <a:avLst/>
          </a:prstGeom>
          <a:noFill/>
        </p:spPr>
        <p:txBody>
          <a:bodyPr wrap="square" lIns="0" tIns="0" rIns="0" bIns="0" anchor="t">
            <a:spAutoFit/>
          </a:bodyPr>
          <a:lstStyle/>
          <a:p>
            <a:pPr algn="ctr"/>
            <a:r>
              <a:rPr sz="850" b="0" i="0">
                <a:solidFill>
                  <a:srgbClr val="818283"/>
                </a:solidFill>
                <a:latin typeface="Arial"/>
              </a:rPr>
              <a:t>Held</a:t>
            </a:r>
          </a:p>
        </p:txBody>
      </p:sp>
      <p:sp>
        <p:nvSpPr>
          <p:cNvPr id="30" name="TextBox 29"/>
          <p:cNvSpPr txBox="1"/>
          <p:nvPr/>
        </p:nvSpPr>
        <p:spPr>
          <a:xfrm>
            <a:off x="7680960" y="5074920"/>
            <a:ext cx="3794760" cy="868680"/>
          </a:xfrm>
          <a:prstGeom prst="rect">
            <a:avLst/>
          </a:prstGeom>
          <a:noFill/>
        </p:spPr>
        <p:txBody>
          <a:bodyPr wrap="square" lIns="0" tIns="0" rIns="0" bIns="0" anchor="t">
            <a:spAutoFit/>
          </a:bodyPr>
          <a:lstStyle/>
          <a:p>
            <a:pPr algn="l"/>
            <a:r>
              <a:rPr sz="1000" b="0" i="0">
                <a:solidFill>
                  <a:srgbClr val="000000"/>
                </a:solidFill>
                <a:latin typeface="Arial"/>
              </a:rPr>
              <a:t>The tier scores the kind of employer, published staff numbers, verified workforce facts, named people on file and distance to a campus.</a:t>
            </a:r>
          </a:p>
        </p:txBody>
      </p:sp>
      <p:pic>
        <p:nvPicPr>
          <p:cNvPr id="31" name="Picture 30" descr="image3.png"/>
          <p:cNvPicPr>
            <a:picLocks noChangeAspect="1"/>
          </p:cNvPicPr>
          <p:nvPr/>
        </p:nvPicPr>
        <p:blipFill>
          <a:blip r:embed="rId3"/>
          <a:stretch>
            <a:fillRect/>
          </a:stretch>
        </p:blipFill>
        <p:spPr>
          <a:xfrm>
            <a:off x="548640" y="6272784"/>
            <a:ext cx="1143000" cy="274320"/>
          </a:xfrm>
          <a:prstGeom prst="rect">
            <a:avLst/>
          </a:prstGeom>
        </p:spPr>
      </p:pic>
      <p:sp>
        <p:nvSpPr>
          <p:cNvPr id="32"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33"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MULTIPLIERS AND MEMBERS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Introducers multiply; savings groups reach members</a:t>
            </a:r>
          </a:p>
        </p:txBody>
      </p:sp>
      <p:sp>
        <p:nvSpPr>
          <p:cNvPr id="4" name="Rounded Rectangle 3"/>
          <p:cNvSpPr/>
          <p:nvPr/>
        </p:nvSpPr>
        <p:spPr>
          <a:xfrm>
            <a:off x="548640" y="1325880"/>
            <a:ext cx="5440680" cy="4617720"/>
          </a:xfrm>
          <a:prstGeom prst="roundRect">
            <a:avLst>
              <a:gd name="adj" fmla="val 138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554480"/>
            <a:ext cx="914400" cy="548640"/>
          </a:xfrm>
          <a:prstGeom prst="rect">
            <a:avLst/>
          </a:prstGeom>
          <a:noFill/>
        </p:spPr>
        <p:txBody>
          <a:bodyPr wrap="square" lIns="0" tIns="0" rIns="0" bIns="0" anchor="t">
            <a:spAutoFit/>
          </a:bodyPr>
          <a:lstStyle/>
          <a:p>
            <a:pPr algn="l"/>
            <a:r>
              <a:rPr sz="3600" b="0" i="0">
                <a:solidFill>
                  <a:srgbClr val="002368"/>
                </a:solidFill>
                <a:latin typeface="Georgia"/>
              </a:rPr>
              <a:t>16</a:t>
            </a:r>
          </a:p>
        </p:txBody>
      </p:sp>
      <p:sp>
        <p:nvSpPr>
          <p:cNvPr id="6" name="TextBox 5"/>
          <p:cNvSpPr txBox="1"/>
          <p:nvPr/>
        </p:nvSpPr>
        <p:spPr>
          <a:xfrm>
            <a:off x="1691640" y="1627632"/>
            <a:ext cx="4114800" cy="548640"/>
          </a:xfrm>
          <a:prstGeom prst="rect">
            <a:avLst/>
          </a:prstGeom>
          <a:noFill/>
        </p:spPr>
        <p:txBody>
          <a:bodyPr wrap="square" lIns="0" tIns="0" rIns="0" bIns="0" anchor="t">
            <a:spAutoFit/>
          </a:bodyPr>
          <a:lstStyle/>
          <a:p>
            <a:pPr algn="l"/>
            <a:r>
              <a:rPr sz="1100" b="0" i="0">
                <a:solidFill>
                  <a:srgbClr val="000000"/>
                </a:solidFill>
                <a:latin typeface="Arial"/>
              </a:rPr>
              <a:t>introducers: associations, chambers and HR bodies whose members are the employers we want</a:t>
            </a:r>
          </a:p>
        </p:txBody>
      </p:sp>
      <p:sp>
        <p:nvSpPr>
          <p:cNvPr id="7" name="Hexagon 6"/>
          <p:cNvSpPr/>
          <p:nvPr/>
        </p:nvSpPr>
        <p:spPr>
          <a:xfrm>
            <a:off x="868680" y="2331720"/>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3</a:t>
            </a:r>
          </a:p>
        </p:txBody>
      </p:sp>
      <p:sp>
        <p:nvSpPr>
          <p:cNvPr id="8" name="TextBox 7"/>
          <p:cNvSpPr txBox="1"/>
          <p:nvPr/>
        </p:nvSpPr>
        <p:spPr>
          <a:xfrm>
            <a:off x="1417320" y="2313432"/>
            <a:ext cx="4389120" cy="237744"/>
          </a:xfrm>
          <a:prstGeom prst="rect">
            <a:avLst/>
          </a:prstGeom>
          <a:noFill/>
        </p:spPr>
        <p:txBody>
          <a:bodyPr wrap="square" lIns="0" tIns="0" rIns="0" bIns="0" anchor="t">
            <a:spAutoFit/>
          </a:bodyPr>
          <a:lstStyle/>
          <a:p>
            <a:pPr algn="l"/>
            <a:r>
              <a:rPr sz="1150" b="1" i="0">
                <a:solidFill>
                  <a:srgbClr val="002368"/>
                </a:solidFill>
                <a:latin typeface="Arial"/>
              </a:rPr>
              <a:t>Chambers of commerce</a:t>
            </a:r>
          </a:p>
        </p:txBody>
      </p:sp>
      <p:sp>
        <p:nvSpPr>
          <p:cNvPr id="9" name="TextBox 8"/>
          <p:cNvSpPr txBox="1"/>
          <p:nvPr/>
        </p:nvSpPr>
        <p:spPr>
          <a:xfrm>
            <a:off x="1417320" y="2560320"/>
            <a:ext cx="4389120" cy="274320"/>
          </a:xfrm>
          <a:prstGeom prst="rect">
            <a:avLst/>
          </a:prstGeom>
          <a:noFill/>
        </p:spPr>
        <p:txBody>
          <a:bodyPr wrap="square" lIns="0" tIns="0" rIns="0" bIns="0" anchor="t">
            <a:spAutoFit/>
          </a:bodyPr>
          <a:lstStyle/>
          <a:p>
            <a:pPr algn="l"/>
            <a:r>
              <a:rPr sz="1000" b="0" i="0">
                <a:solidFill>
                  <a:srgbClr val="000000"/>
                </a:solidFill>
                <a:latin typeface="Arial"/>
              </a:rPr>
              <a:t>TNCC national, Arusha and Kilimanjaro regional</a:t>
            </a:r>
          </a:p>
        </p:txBody>
      </p:sp>
      <p:sp>
        <p:nvSpPr>
          <p:cNvPr id="10" name="Hexagon 9"/>
          <p:cNvSpPr/>
          <p:nvPr/>
        </p:nvSpPr>
        <p:spPr>
          <a:xfrm>
            <a:off x="868680" y="2898648"/>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5</a:t>
            </a:r>
          </a:p>
        </p:txBody>
      </p:sp>
      <p:sp>
        <p:nvSpPr>
          <p:cNvPr id="11" name="TextBox 10"/>
          <p:cNvSpPr txBox="1"/>
          <p:nvPr/>
        </p:nvSpPr>
        <p:spPr>
          <a:xfrm>
            <a:off x="1417320" y="2880360"/>
            <a:ext cx="4389120" cy="237744"/>
          </a:xfrm>
          <a:prstGeom prst="rect">
            <a:avLst/>
          </a:prstGeom>
          <a:noFill/>
        </p:spPr>
        <p:txBody>
          <a:bodyPr wrap="square" lIns="0" tIns="0" rIns="0" bIns="0" anchor="t">
            <a:spAutoFit/>
          </a:bodyPr>
          <a:lstStyle/>
          <a:p>
            <a:pPr algn="l"/>
            <a:r>
              <a:rPr sz="1150" b="1" i="0">
                <a:solidFill>
                  <a:srgbClr val="002368"/>
                </a:solidFill>
                <a:latin typeface="Arial"/>
              </a:rPr>
              <a:t>Employers' associations</a:t>
            </a:r>
          </a:p>
        </p:txBody>
      </p:sp>
      <p:sp>
        <p:nvSpPr>
          <p:cNvPr id="12" name="TextBox 11"/>
          <p:cNvSpPr txBox="1"/>
          <p:nvPr/>
        </p:nvSpPr>
        <p:spPr>
          <a:xfrm>
            <a:off x="1417320" y="3127248"/>
            <a:ext cx="4389120" cy="274320"/>
          </a:xfrm>
          <a:prstGeom prst="rect">
            <a:avLst/>
          </a:prstGeom>
          <a:noFill/>
        </p:spPr>
        <p:txBody>
          <a:bodyPr wrap="square" lIns="0" tIns="0" rIns="0" bIns="0" anchor="t">
            <a:spAutoFit/>
          </a:bodyPr>
          <a:lstStyle/>
          <a:p>
            <a:pPr algn="l"/>
            <a:r>
              <a:rPr sz="1000" b="0" i="0">
                <a:solidFill>
                  <a:srgbClr val="000000"/>
                </a:solidFill>
                <a:latin typeface="Arial"/>
              </a:rPr>
              <a:t>ATE national and Northern Zone, CTI national and Arusha/Moshi, TPSF</a:t>
            </a:r>
          </a:p>
        </p:txBody>
      </p:sp>
      <p:sp>
        <p:nvSpPr>
          <p:cNvPr id="13" name="Hexagon 12"/>
          <p:cNvSpPr/>
          <p:nvPr/>
        </p:nvSpPr>
        <p:spPr>
          <a:xfrm>
            <a:off x="868680" y="3465576"/>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14" name="TextBox 13"/>
          <p:cNvSpPr txBox="1"/>
          <p:nvPr/>
        </p:nvSpPr>
        <p:spPr>
          <a:xfrm>
            <a:off x="1417320" y="3447288"/>
            <a:ext cx="4389120" cy="237744"/>
          </a:xfrm>
          <a:prstGeom prst="rect">
            <a:avLst/>
          </a:prstGeom>
          <a:noFill/>
        </p:spPr>
        <p:txBody>
          <a:bodyPr wrap="square" lIns="0" tIns="0" rIns="0" bIns="0" anchor="t">
            <a:spAutoFit/>
          </a:bodyPr>
          <a:lstStyle/>
          <a:p>
            <a:pPr algn="l"/>
            <a:r>
              <a:rPr sz="1150" b="1" i="0">
                <a:solidFill>
                  <a:srgbClr val="002368"/>
                </a:solidFill>
                <a:latin typeface="Arial"/>
              </a:rPr>
              <a:t>Sector associations</a:t>
            </a:r>
          </a:p>
        </p:txBody>
      </p:sp>
      <p:sp>
        <p:nvSpPr>
          <p:cNvPr id="15" name="TextBox 14"/>
          <p:cNvSpPr txBox="1"/>
          <p:nvPr/>
        </p:nvSpPr>
        <p:spPr>
          <a:xfrm>
            <a:off x="1417320" y="3694176"/>
            <a:ext cx="4389120" cy="274320"/>
          </a:xfrm>
          <a:prstGeom prst="rect">
            <a:avLst/>
          </a:prstGeom>
          <a:noFill/>
        </p:spPr>
        <p:txBody>
          <a:bodyPr wrap="square" lIns="0" tIns="0" rIns="0" bIns="0" anchor="t">
            <a:spAutoFit/>
          </a:bodyPr>
          <a:lstStyle/>
          <a:p>
            <a:pPr algn="l"/>
            <a:r>
              <a:rPr sz="1000" b="0" i="0">
                <a:solidFill>
                  <a:srgbClr val="000000"/>
                </a:solidFill>
                <a:latin typeface="Arial"/>
              </a:rPr>
              <a:t>TATO, HAT, TBA, TAHA, APHFTA, CSSC</a:t>
            </a:r>
          </a:p>
        </p:txBody>
      </p:sp>
      <p:sp>
        <p:nvSpPr>
          <p:cNvPr id="16" name="Hexagon 15"/>
          <p:cNvSpPr/>
          <p:nvPr/>
        </p:nvSpPr>
        <p:spPr>
          <a:xfrm>
            <a:off x="868680" y="4032504"/>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17" name="TextBox 16"/>
          <p:cNvSpPr txBox="1"/>
          <p:nvPr/>
        </p:nvSpPr>
        <p:spPr>
          <a:xfrm>
            <a:off x="1417320" y="4014216"/>
            <a:ext cx="4389120" cy="237744"/>
          </a:xfrm>
          <a:prstGeom prst="rect">
            <a:avLst/>
          </a:prstGeom>
          <a:noFill/>
        </p:spPr>
        <p:txBody>
          <a:bodyPr wrap="square" lIns="0" tIns="0" rIns="0" bIns="0" anchor="t">
            <a:spAutoFit/>
          </a:bodyPr>
          <a:lstStyle/>
          <a:p>
            <a:pPr algn="l"/>
            <a:r>
              <a:rPr sz="1150" b="1" i="0">
                <a:solidFill>
                  <a:srgbClr val="002368"/>
                </a:solidFill>
                <a:latin typeface="Arial"/>
              </a:rPr>
              <a:t>HR body</a:t>
            </a:r>
          </a:p>
        </p:txBody>
      </p:sp>
      <p:sp>
        <p:nvSpPr>
          <p:cNvPr id="18" name="TextBox 17"/>
          <p:cNvSpPr txBox="1"/>
          <p:nvPr/>
        </p:nvSpPr>
        <p:spPr>
          <a:xfrm>
            <a:off x="1417320" y="4261104"/>
            <a:ext cx="4389120" cy="274320"/>
          </a:xfrm>
          <a:prstGeom prst="rect">
            <a:avLst/>
          </a:prstGeom>
          <a:noFill/>
        </p:spPr>
        <p:txBody>
          <a:bodyPr wrap="square" lIns="0" tIns="0" rIns="0" bIns="0" anchor="t">
            <a:spAutoFit/>
          </a:bodyPr>
          <a:lstStyle/>
          <a:p>
            <a:pPr algn="l"/>
            <a:r>
              <a:rPr sz="1000" b="0" i="0">
                <a:solidFill>
                  <a:srgbClr val="000000"/>
                </a:solidFill>
                <a:latin typeface="Arial"/>
              </a:rPr>
              <a:t>Women HR Association of Tanzania (WHAT)</a:t>
            </a:r>
          </a:p>
        </p:txBody>
      </p:sp>
      <p:sp>
        <p:nvSpPr>
          <p:cNvPr id="19" name="Hexagon 18"/>
          <p:cNvSpPr/>
          <p:nvPr/>
        </p:nvSpPr>
        <p:spPr>
          <a:xfrm>
            <a:off x="868680" y="4599431"/>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20" name="TextBox 19"/>
          <p:cNvSpPr txBox="1"/>
          <p:nvPr/>
        </p:nvSpPr>
        <p:spPr>
          <a:xfrm>
            <a:off x="1417320" y="4581144"/>
            <a:ext cx="4389120" cy="237744"/>
          </a:xfrm>
          <a:prstGeom prst="rect">
            <a:avLst/>
          </a:prstGeom>
          <a:noFill/>
        </p:spPr>
        <p:txBody>
          <a:bodyPr wrap="square" lIns="0" tIns="0" rIns="0" bIns="0" anchor="t">
            <a:spAutoFit/>
          </a:bodyPr>
          <a:lstStyle/>
          <a:p>
            <a:pPr algn="l"/>
            <a:r>
              <a:rPr sz="1150" b="1" i="0">
                <a:solidFill>
                  <a:srgbClr val="002368"/>
                </a:solidFill>
                <a:latin typeface="Arial"/>
              </a:rPr>
              <a:t>Other</a:t>
            </a:r>
          </a:p>
        </p:txBody>
      </p:sp>
      <p:sp>
        <p:nvSpPr>
          <p:cNvPr id="21" name="TextBox 20"/>
          <p:cNvSpPr txBox="1"/>
          <p:nvPr/>
        </p:nvSpPr>
        <p:spPr>
          <a:xfrm>
            <a:off x="1417320" y="4828031"/>
            <a:ext cx="4389120" cy="274320"/>
          </a:xfrm>
          <a:prstGeom prst="rect">
            <a:avLst/>
          </a:prstGeom>
          <a:noFill/>
        </p:spPr>
        <p:txBody>
          <a:bodyPr wrap="square" lIns="0" tIns="0" rIns="0" bIns="0" anchor="t">
            <a:spAutoFit/>
          </a:bodyPr>
          <a:lstStyle/>
          <a:p>
            <a:pPr algn="l"/>
            <a:r>
              <a:rPr sz="1000" b="0" i="0">
                <a:solidFill>
                  <a:srgbClr val="000000"/>
                </a:solidFill>
                <a:latin typeface="Arial"/>
              </a:rPr>
              <a:t>East African Business Council</a:t>
            </a:r>
          </a:p>
        </p:txBody>
      </p:sp>
      <p:sp>
        <p:nvSpPr>
          <p:cNvPr id="22" name="TextBox 21"/>
          <p:cNvSpPr txBox="1"/>
          <p:nvPr/>
        </p:nvSpPr>
        <p:spPr>
          <a:xfrm>
            <a:off x="868680" y="5212080"/>
            <a:ext cx="4937760" cy="640080"/>
          </a:xfrm>
          <a:prstGeom prst="rect">
            <a:avLst/>
          </a:prstGeom>
          <a:noFill/>
        </p:spPr>
        <p:txBody>
          <a:bodyPr wrap="square" lIns="0" tIns="0" rIns="0" bIns="0" anchor="t">
            <a:spAutoFit/>
          </a:bodyPr>
          <a:lstStyle/>
          <a:p>
            <a:pPr algn="l"/>
            <a:r>
              <a:rPr sz="1050" b="0" i="0">
                <a:solidFill>
                  <a:srgbClr val="002368"/>
                </a:solidFill>
                <a:latin typeface="Georgia"/>
              </a:rPr>
              <a:t>One yes can reach dozens of companies. Recipient: the executive secretary, CEO or secretariat; an elected chair only when no executive is named.</a:t>
            </a:r>
          </a:p>
        </p:txBody>
      </p:sp>
      <p:sp>
        <p:nvSpPr>
          <p:cNvPr id="23" name="Rounded Rectangle 22"/>
          <p:cNvSpPr/>
          <p:nvPr/>
        </p:nvSpPr>
        <p:spPr>
          <a:xfrm>
            <a:off x="6199632" y="1325880"/>
            <a:ext cx="5440680" cy="4617720"/>
          </a:xfrm>
          <a:prstGeom prst="roundRect">
            <a:avLst>
              <a:gd name="adj" fmla="val 1386"/>
            </a:avLst>
          </a:prstGeom>
          <a:solidFill>
            <a:srgbClr val="002368"/>
          </a:solidFill>
          <a:ln w="12700">
            <a:solidFill>
              <a:srgbClr val="002368"/>
            </a:solidFill>
          </a:ln>
        </p:spPr>
        <p:txBody>
          <a:bodyPr rtlCol="0" anchor="ctr"/>
          <a:lstStyle/>
          <a:p>
            <a:pPr algn="ctr"/>
          </a:p>
        </p:txBody>
      </p:sp>
      <p:sp>
        <p:nvSpPr>
          <p:cNvPr id="24" name="TextBox 23"/>
          <p:cNvSpPr txBox="1"/>
          <p:nvPr/>
        </p:nvSpPr>
        <p:spPr>
          <a:xfrm>
            <a:off x="6519672" y="1554480"/>
            <a:ext cx="1097280" cy="548640"/>
          </a:xfrm>
          <a:prstGeom prst="rect">
            <a:avLst/>
          </a:prstGeom>
          <a:noFill/>
        </p:spPr>
        <p:txBody>
          <a:bodyPr wrap="square" lIns="0" tIns="0" rIns="0" bIns="0" anchor="t">
            <a:spAutoFit/>
          </a:bodyPr>
          <a:lstStyle/>
          <a:p>
            <a:pPr algn="l"/>
            <a:r>
              <a:rPr sz="3600" b="0" i="0">
                <a:solidFill>
                  <a:srgbClr val="FFC952"/>
                </a:solidFill>
                <a:latin typeface="Georgia"/>
              </a:rPr>
              <a:t>117</a:t>
            </a:r>
          </a:p>
        </p:txBody>
      </p:sp>
      <p:sp>
        <p:nvSpPr>
          <p:cNvPr id="25" name="TextBox 24"/>
          <p:cNvSpPr txBox="1"/>
          <p:nvPr/>
        </p:nvSpPr>
        <p:spPr>
          <a:xfrm>
            <a:off x="7543800" y="1627632"/>
            <a:ext cx="3840480" cy="548640"/>
          </a:xfrm>
          <a:prstGeom prst="rect">
            <a:avLst/>
          </a:prstGeom>
          <a:noFill/>
        </p:spPr>
        <p:txBody>
          <a:bodyPr wrap="square" lIns="0" tIns="0" rIns="0" bIns="0" anchor="t">
            <a:spAutoFit/>
          </a:bodyPr>
          <a:lstStyle/>
          <a:p>
            <a:pPr algn="l"/>
            <a:r>
              <a:rPr sz="1100" b="0" i="0">
                <a:solidFill>
                  <a:srgbClr val="FFFFFF"/>
                </a:solidFill>
                <a:latin typeface="Arial"/>
              </a:rPr>
              <a:t>savings groups (SACCOS): members, not staff, approached through the committee in Kiswahili</a:t>
            </a:r>
          </a:p>
        </p:txBody>
      </p:sp>
      <p:sp>
        <p:nvSpPr>
          <p:cNvPr id="26" name="TextBox 25"/>
          <p:cNvSpPr txBox="1"/>
          <p:nvPr/>
        </p:nvSpPr>
        <p:spPr>
          <a:xfrm>
            <a:off x="6519672" y="2377440"/>
            <a:ext cx="731520" cy="457200"/>
          </a:xfrm>
          <a:prstGeom prst="rect">
            <a:avLst/>
          </a:prstGeom>
          <a:noFill/>
        </p:spPr>
        <p:txBody>
          <a:bodyPr wrap="square" lIns="0" tIns="0" rIns="0" bIns="0" anchor="t">
            <a:spAutoFit/>
          </a:bodyPr>
          <a:lstStyle/>
          <a:p>
            <a:pPr algn="l"/>
            <a:r>
              <a:rPr sz="2200" b="0" i="0">
                <a:solidFill>
                  <a:srgbClr val="80BFEC"/>
                </a:solidFill>
                <a:latin typeface="Georgia"/>
              </a:rPr>
              <a:t>48</a:t>
            </a:r>
          </a:p>
        </p:txBody>
      </p:sp>
      <p:sp>
        <p:nvSpPr>
          <p:cNvPr id="27" name="TextBox 26"/>
          <p:cNvSpPr txBox="1"/>
          <p:nvPr/>
        </p:nvSpPr>
        <p:spPr>
          <a:xfrm>
            <a:off x="7269480" y="2395728"/>
            <a:ext cx="4114800" cy="256032"/>
          </a:xfrm>
          <a:prstGeom prst="rect">
            <a:avLst/>
          </a:prstGeom>
          <a:noFill/>
        </p:spPr>
        <p:txBody>
          <a:bodyPr wrap="square" lIns="0" tIns="0" rIns="0" bIns="0" anchor="t">
            <a:spAutoFit/>
          </a:bodyPr>
          <a:lstStyle/>
          <a:p>
            <a:pPr algn="l"/>
            <a:r>
              <a:rPr sz="1150" b="1" i="0">
                <a:solidFill>
                  <a:srgbClr val="FFFFFF"/>
                </a:solidFill>
                <a:latin typeface="Arial"/>
              </a:rPr>
              <a:t>Employer- or institution-based</a:t>
            </a:r>
          </a:p>
        </p:txBody>
      </p:sp>
      <p:sp>
        <p:nvSpPr>
          <p:cNvPr id="28" name="TextBox 27"/>
          <p:cNvSpPr txBox="1"/>
          <p:nvPr/>
        </p:nvSpPr>
        <p:spPr>
          <a:xfrm>
            <a:off x="7269480" y="2660904"/>
            <a:ext cx="4114800" cy="411480"/>
          </a:xfrm>
          <a:prstGeom prst="rect">
            <a:avLst/>
          </a:prstGeom>
          <a:noFill/>
        </p:spPr>
        <p:txBody>
          <a:bodyPr wrap="square" lIns="0" tIns="0" rIns="0" bIns="0" anchor="t">
            <a:spAutoFit/>
          </a:bodyPr>
          <a:lstStyle/>
          <a:p>
            <a:pPr algn="l"/>
            <a:r>
              <a:rPr sz="1000" b="0" i="0">
                <a:solidFill>
                  <a:srgbClr val="D9ECF9"/>
                </a:solidFill>
                <a:latin typeface="Arial"/>
              </a:rPr>
              <a:t>One employer's staff: run one combined deal with the employer</a:t>
            </a:r>
          </a:p>
        </p:txBody>
      </p:sp>
      <p:sp>
        <p:nvSpPr>
          <p:cNvPr id="29" name="TextBox 28"/>
          <p:cNvSpPr txBox="1"/>
          <p:nvPr/>
        </p:nvSpPr>
        <p:spPr>
          <a:xfrm>
            <a:off x="6519672" y="3154680"/>
            <a:ext cx="731520" cy="457200"/>
          </a:xfrm>
          <a:prstGeom prst="rect">
            <a:avLst/>
          </a:prstGeom>
          <a:noFill/>
        </p:spPr>
        <p:txBody>
          <a:bodyPr wrap="square" lIns="0" tIns="0" rIns="0" bIns="0" anchor="t">
            <a:spAutoFit/>
          </a:bodyPr>
          <a:lstStyle/>
          <a:p>
            <a:pPr algn="l"/>
            <a:r>
              <a:rPr sz="2200" b="0" i="0">
                <a:solidFill>
                  <a:srgbClr val="80BFEC"/>
                </a:solidFill>
                <a:latin typeface="Georgia"/>
              </a:rPr>
              <a:t>67</a:t>
            </a:r>
          </a:p>
        </p:txBody>
      </p:sp>
      <p:sp>
        <p:nvSpPr>
          <p:cNvPr id="30" name="TextBox 29"/>
          <p:cNvSpPr txBox="1"/>
          <p:nvPr/>
        </p:nvSpPr>
        <p:spPr>
          <a:xfrm>
            <a:off x="7269480" y="3172968"/>
            <a:ext cx="4114800" cy="256032"/>
          </a:xfrm>
          <a:prstGeom prst="rect">
            <a:avLst/>
          </a:prstGeom>
          <a:noFill/>
        </p:spPr>
        <p:txBody>
          <a:bodyPr wrap="square" lIns="0" tIns="0" rIns="0" bIns="0" anchor="t">
            <a:spAutoFit/>
          </a:bodyPr>
          <a:lstStyle/>
          <a:p>
            <a:pPr algn="l"/>
            <a:r>
              <a:rPr sz="1150" b="1" i="0">
                <a:solidFill>
                  <a:srgbClr val="FFFFFF"/>
                </a:solidFill>
                <a:latin typeface="Arial"/>
              </a:rPr>
              <a:t>Community or open-bond</a:t>
            </a:r>
          </a:p>
        </p:txBody>
      </p:sp>
      <p:sp>
        <p:nvSpPr>
          <p:cNvPr id="31" name="TextBox 30"/>
          <p:cNvSpPr txBox="1"/>
          <p:nvPr/>
        </p:nvSpPr>
        <p:spPr>
          <a:xfrm>
            <a:off x="7269480" y="3438144"/>
            <a:ext cx="4114800" cy="411480"/>
          </a:xfrm>
          <a:prstGeom prst="rect">
            <a:avLst/>
          </a:prstGeom>
          <a:noFill/>
        </p:spPr>
        <p:txBody>
          <a:bodyPr wrap="square" lIns="0" tIns="0" rIns="0" bIns="0" anchor="t">
            <a:spAutoFit/>
          </a:bodyPr>
          <a:lstStyle/>
          <a:p>
            <a:pPr algn="l"/>
            <a:r>
              <a:rPr sz="1000" b="0" i="0">
                <a:solidFill>
                  <a:srgbClr val="D9ECF9"/>
                </a:solidFill>
                <a:latin typeface="Arial"/>
              </a:rPr>
              <a:t>Broader membership; the members' meeting is the main event</a:t>
            </a:r>
          </a:p>
        </p:txBody>
      </p:sp>
      <p:sp>
        <p:nvSpPr>
          <p:cNvPr id="32" name="TextBox 31"/>
          <p:cNvSpPr txBox="1"/>
          <p:nvPr/>
        </p:nvSpPr>
        <p:spPr>
          <a:xfrm>
            <a:off x="6519672" y="3931920"/>
            <a:ext cx="731520" cy="457200"/>
          </a:xfrm>
          <a:prstGeom prst="rect">
            <a:avLst/>
          </a:prstGeom>
          <a:noFill/>
        </p:spPr>
        <p:txBody>
          <a:bodyPr wrap="square" lIns="0" tIns="0" rIns="0" bIns="0" anchor="t">
            <a:spAutoFit/>
          </a:bodyPr>
          <a:lstStyle/>
          <a:p>
            <a:pPr algn="l"/>
            <a:r>
              <a:rPr sz="2200" b="0" i="0">
                <a:solidFill>
                  <a:srgbClr val="80BFEC"/>
                </a:solidFill>
                <a:latin typeface="Georgia"/>
              </a:rPr>
              <a:t>2</a:t>
            </a:r>
          </a:p>
        </p:txBody>
      </p:sp>
      <p:sp>
        <p:nvSpPr>
          <p:cNvPr id="33" name="TextBox 32"/>
          <p:cNvSpPr txBox="1"/>
          <p:nvPr/>
        </p:nvSpPr>
        <p:spPr>
          <a:xfrm>
            <a:off x="7269480" y="3950207"/>
            <a:ext cx="4114800" cy="256032"/>
          </a:xfrm>
          <a:prstGeom prst="rect">
            <a:avLst/>
          </a:prstGeom>
          <a:noFill/>
        </p:spPr>
        <p:txBody>
          <a:bodyPr wrap="square" lIns="0" tIns="0" rIns="0" bIns="0" anchor="t">
            <a:spAutoFit/>
          </a:bodyPr>
          <a:lstStyle/>
          <a:p>
            <a:pPr algn="l"/>
            <a:r>
              <a:rPr sz="1150" b="1" i="0">
                <a:solidFill>
                  <a:srgbClr val="FFFFFF"/>
                </a:solidFill>
                <a:latin typeface="Arial"/>
              </a:rPr>
              <a:t>Unclassified (from map data)</a:t>
            </a:r>
          </a:p>
        </p:txBody>
      </p:sp>
      <p:sp>
        <p:nvSpPr>
          <p:cNvPr id="34" name="TextBox 33"/>
          <p:cNvSpPr txBox="1"/>
          <p:nvPr/>
        </p:nvSpPr>
        <p:spPr>
          <a:xfrm>
            <a:off x="7269480" y="4215383"/>
            <a:ext cx="4114800" cy="411480"/>
          </a:xfrm>
          <a:prstGeom prst="rect">
            <a:avLst/>
          </a:prstGeom>
          <a:noFill/>
        </p:spPr>
        <p:txBody>
          <a:bodyPr wrap="square" lIns="0" tIns="0" rIns="0" bIns="0" anchor="t">
            <a:spAutoFit/>
          </a:bodyPr>
          <a:lstStyle/>
          <a:p>
            <a:pPr algn="l"/>
            <a:r>
              <a:rPr sz="1000" b="0" i="0">
                <a:solidFill>
                  <a:srgbClr val="D9ECF9"/>
                </a:solidFill>
                <a:latin typeface="Arial"/>
              </a:rPr>
              <a:t>Treated as community until the type is known</a:t>
            </a:r>
          </a:p>
        </p:txBody>
      </p:sp>
      <p:sp>
        <p:nvSpPr>
          <p:cNvPr id="35" name="Rounded Rectangle 34"/>
          <p:cNvSpPr/>
          <p:nvPr/>
        </p:nvSpPr>
        <p:spPr>
          <a:xfrm>
            <a:off x="6519672" y="4709160"/>
            <a:ext cx="4800600" cy="777240"/>
          </a:xfrm>
          <a:prstGeom prst="roundRect">
            <a:avLst>
              <a:gd name="adj" fmla="val 8235"/>
            </a:avLst>
          </a:prstGeom>
          <a:solidFill>
            <a:srgbClr val="FFF7E5"/>
          </a:solidFill>
          <a:ln w="12700">
            <a:solidFill>
              <a:srgbClr val="FFF7E5"/>
            </a:solidFill>
          </a:ln>
        </p:spPr>
        <p:txBody>
          <a:bodyPr rtlCol="0" anchor="ctr"/>
          <a:lstStyle/>
          <a:p>
            <a:pPr algn="ctr"/>
          </a:p>
        </p:txBody>
      </p:sp>
      <p:sp>
        <p:nvSpPr>
          <p:cNvPr id="36" name="Hexagon 35"/>
          <p:cNvSpPr/>
          <p:nvPr/>
        </p:nvSpPr>
        <p:spPr>
          <a:xfrm>
            <a:off x="6702552" y="4892040"/>
            <a:ext cx="292608" cy="256032"/>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a:t>
            </a:r>
          </a:p>
        </p:txBody>
      </p:sp>
      <p:sp>
        <p:nvSpPr>
          <p:cNvPr id="37" name="TextBox 36"/>
          <p:cNvSpPr txBox="1"/>
          <p:nvPr/>
        </p:nvSpPr>
        <p:spPr>
          <a:xfrm>
            <a:off x="7132320" y="4828032"/>
            <a:ext cx="4069080" cy="868680"/>
          </a:xfrm>
          <a:prstGeom prst="rect">
            <a:avLst/>
          </a:prstGeom>
          <a:noFill/>
        </p:spPr>
        <p:txBody>
          <a:bodyPr wrap="square" lIns="0" tIns="0" rIns="0" bIns="0" anchor="t">
            <a:spAutoFit/>
          </a:bodyPr>
          <a:lstStyle/>
          <a:p>
            <a:pPr algn="l"/>
            <a:r>
              <a:rPr sz="1000" b="1" i="0">
                <a:solidFill>
                  <a:srgbClr val="002368"/>
                </a:solidFill>
                <a:latin typeface="Arial"/>
              </a:rPr>
              <a:t>116 of 117 publish no email. </a:t>
            </a:r>
            <a:r>
              <a:rPr sz="1000" b="0" i="0">
                <a:solidFill>
                  <a:srgbClr val="000000"/>
                </a:solidFill>
                <a:latin typeface="Arial"/>
              </a:rPr>
              <a:t>The committee chair or secretary is reached by phone, or by a Kiswahili letter delivered by hand.</a:t>
            </a:r>
          </a:p>
        </p:txBody>
      </p:sp>
      <p:pic>
        <p:nvPicPr>
          <p:cNvPr id="38" name="Picture 37" descr="image3.png"/>
          <p:cNvPicPr>
            <a:picLocks noChangeAspect="1"/>
          </p:cNvPicPr>
          <p:nvPr/>
        </p:nvPicPr>
        <p:blipFill>
          <a:blip r:embed="rId2"/>
          <a:stretch>
            <a:fillRect/>
          </a:stretch>
        </p:blipFill>
        <p:spPr>
          <a:xfrm>
            <a:off x="548640" y="6272784"/>
            <a:ext cx="1143000" cy="274320"/>
          </a:xfrm>
          <a:prstGeom prst="rect">
            <a:avLst/>
          </a:prstGeom>
        </p:spPr>
      </p:pic>
      <p:sp>
        <p:nvSpPr>
          <p:cNvPr id="39"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WELFARE AND GOVERNMENT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Welfare by kind and priority; government by office level</a:t>
            </a:r>
          </a:p>
        </p:txBody>
      </p:sp>
      <p:sp>
        <p:nvSpPr>
          <p:cNvPr id="4" name="TextBox 3"/>
          <p:cNvSpPr txBox="1"/>
          <p:nvPr/>
        </p:nvSpPr>
        <p:spPr>
          <a:xfrm>
            <a:off x="54864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WELFARE: 445 IN SCOPE, BY KIND AND PRIORITY</a:t>
            </a:r>
          </a:p>
        </p:txBody>
      </p:sp>
      <p:sp>
        <p:nvSpPr>
          <p:cNvPr id="5" name="TextBox 4"/>
          <p:cNvSpPr txBox="1"/>
          <p:nvPr/>
        </p:nvSpPr>
        <p:spPr>
          <a:xfrm>
            <a:off x="5440680" y="1572768"/>
            <a:ext cx="685800" cy="228600"/>
          </a:xfrm>
          <a:prstGeom prst="rect">
            <a:avLst/>
          </a:prstGeom>
          <a:noFill/>
        </p:spPr>
        <p:txBody>
          <a:bodyPr wrap="square" lIns="0" tIns="0" rIns="0" bIns="0" anchor="t">
            <a:spAutoFit/>
          </a:bodyPr>
          <a:lstStyle/>
          <a:p>
            <a:pPr algn="ctr"/>
            <a:r>
              <a:rPr sz="850" b="1" i="0" spc="150">
                <a:solidFill>
                  <a:srgbClr val="818283"/>
                </a:solidFill>
                <a:latin typeface="Arial"/>
              </a:rPr>
              <a:t>READY</a:t>
            </a:r>
          </a:p>
        </p:txBody>
      </p:sp>
      <p:sp>
        <p:nvSpPr>
          <p:cNvPr id="6" name="TextBox 5"/>
          <p:cNvSpPr txBox="1"/>
          <p:nvPr/>
        </p:nvSpPr>
        <p:spPr>
          <a:xfrm>
            <a:off x="548640" y="1874519"/>
            <a:ext cx="2011680" cy="384048"/>
          </a:xfrm>
          <a:prstGeom prst="rect">
            <a:avLst/>
          </a:prstGeom>
          <a:noFill/>
        </p:spPr>
        <p:txBody>
          <a:bodyPr wrap="square" lIns="0" tIns="0" rIns="0" bIns="0" anchor="ctr">
            <a:spAutoFit/>
          </a:bodyPr>
          <a:lstStyle/>
          <a:p>
            <a:pPr algn="l"/>
            <a:r>
              <a:rPr sz="1050" b="1" i="0">
                <a:solidFill>
                  <a:srgbClr val="002368"/>
                </a:solidFill>
                <a:latin typeface="Arial"/>
              </a:rPr>
              <a:t>Residential care</a:t>
            </a:r>
          </a:p>
        </p:txBody>
      </p:sp>
      <p:sp>
        <p:nvSpPr>
          <p:cNvPr id="7" name="Rectangle 6"/>
          <p:cNvSpPr/>
          <p:nvPr/>
        </p:nvSpPr>
        <p:spPr>
          <a:xfrm>
            <a:off x="2606040" y="1911095"/>
            <a:ext cx="314185" cy="310896"/>
          </a:xfrm>
          <a:prstGeom prst="rect">
            <a:avLst/>
          </a:prstGeom>
          <a:solidFill>
            <a:srgbClr val="002368"/>
          </a:solidFill>
          <a:ln>
            <a:noFill/>
          </a:ln>
        </p:spPr>
        <p:txBody>
          <a:bodyPr rtlCol="0" anchor="ctr"/>
          <a:lstStyle/>
          <a:p>
            <a:pPr algn="ctr"/>
          </a:p>
        </p:txBody>
      </p:sp>
      <p:sp>
        <p:nvSpPr>
          <p:cNvPr id="8" name="TextBox 7"/>
          <p:cNvSpPr txBox="1"/>
          <p:nvPr/>
        </p:nvSpPr>
        <p:spPr>
          <a:xfrm>
            <a:off x="2606040" y="1911095"/>
            <a:ext cx="314185" cy="310896"/>
          </a:xfrm>
          <a:prstGeom prst="rect">
            <a:avLst/>
          </a:prstGeom>
          <a:noFill/>
        </p:spPr>
        <p:txBody>
          <a:bodyPr wrap="square" lIns="0" tIns="0" rIns="0" bIns="0" anchor="ctr">
            <a:spAutoFit/>
          </a:bodyPr>
          <a:lstStyle/>
          <a:p>
            <a:pPr algn="ctr"/>
            <a:r>
              <a:rPr sz="900" b="1" i="0">
                <a:solidFill>
                  <a:srgbClr val="FFFFFF"/>
                </a:solidFill>
                <a:latin typeface="Arial"/>
              </a:rPr>
              <a:t>23</a:t>
            </a:r>
          </a:p>
        </p:txBody>
      </p:sp>
      <p:sp>
        <p:nvSpPr>
          <p:cNvPr id="9" name="Rectangle 8"/>
          <p:cNvSpPr/>
          <p:nvPr/>
        </p:nvSpPr>
        <p:spPr>
          <a:xfrm>
            <a:off x="2920225" y="1911095"/>
            <a:ext cx="273204" cy="310896"/>
          </a:xfrm>
          <a:prstGeom prst="rect">
            <a:avLst/>
          </a:prstGeom>
          <a:solidFill>
            <a:srgbClr val="80BFEC"/>
          </a:solidFill>
          <a:ln>
            <a:noFill/>
          </a:ln>
        </p:spPr>
        <p:txBody>
          <a:bodyPr rtlCol="0" anchor="ctr"/>
          <a:lstStyle/>
          <a:p>
            <a:pPr algn="ctr"/>
          </a:p>
        </p:txBody>
      </p:sp>
      <p:sp>
        <p:nvSpPr>
          <p:cNvPr id="10" name="Rectangle 9"/>
          <p:cNvSpPr/>
          <p:nvPr/>
        </p:nvSpPr>
        <p:spPr>
          <a:xfrm>
            <a:off x="3193430" y="1911095"/>
            <a:ext cx="778633" cy="310896"/>
          </a:xfrm>
          <a:prstGeom prst="rect">
            <a:avLst/>
          </a:prstGeom>
          <a:solidFill>
            <a:srgbClr val="D9ECF9"/>
          </a:solidFill>
          <a:ln>
            <a:noFill/>
          </a:ln>
        </p:spPr>
        <p:txBody>
          <a:bodyPr rtlCol="0" anchor="ctr"/>
          <a:lstStyle/>
          <a:p>
            <a:pPr algn="ctr"/>
          </a:p>
        </p:txBody>
      </p:sp>
      <p:sp>
        <p:nvSpPr>
          <p:cNvPr id="11" name="TextBox 10"/>
          <p:cNvSpPr txBox="1"/>
          <p:nvPr/>
        </p:nvSpPr>
        <p:spPr>
          <a:xfrm>
            <a:off x="3193430" y="1911095"/>
            <a:ext cx="778633" cy="310896"/>
          </a:xfrm>
          <a:prstGeom prst="rect">
            <a:avLst/>
          </a:prstGeom>
          <a:noFill/>
        </p:spPr>
        <p:txBody>
          <a:bodyPr wrap="square" lIns="0" tIns="0" rIns="0" bIns="0" anchor="ctr">
            <a:spAutoFit/>
          </a:bodyPr>
          <a:lstStyle/>
          <a:p>
            <a:pPr algn="ctr"/>
            <a:r>
              <a:rPr sz="900" b="1" i="0">
                <a:solidFill>
                  <a:srgbClr val="002368"/>
                </a:solidFill>
                <a:latin typeface="Arial"/>
              </a:rPr>
              <a:t>57</a:t>
            </a:r>
          </a:p>
        </p:txBody>
      </p:sp>
      <p:sp>
        <p:nvSpPr>
          <p:cNvPr id="12" name="TextBox 11"/>
          <p:cNvSpPr txBox="1"/>
          <p:nvPr/>
        </p:nvSpPr>
        <p:spPr>
          <a:xfrm>
            <a:off x="4026928" y="1874519"/>
            <a:ext cx="548640" cy="384048"/>
          </a:xfrm>
          <a:prstGeom prst="rect">
            <a:avLst/>
          </a:prstGeom>
          <a:noFill/>
        </p:spPr>
        <p:txBody>
          <a:bodyPr wrap="square" lIns="0" tIns="0" rIns="0" bIns="0" anchor="ctr">
            <a:spAutoFit/>
          </a:bodyPr>
          <a:lstStyle/>
          <a:p>
            <a:pPr algn="l"/>
            <a:r>
              <a:rPr sz="1300" b="0" i="0">
                <a:solidFill>
                  <a:srgbClr val="002368"/>
                </a:solidFill>
                <a:latin typeface="Georgia"/>
              </a:rPr>
              <a:t>100</a:t>
            </a:r>
          </a:p>
        </p:txBody>
      </p:sp>
      <p:sp>
        <p:nvSpPr>
          <p:cNvPr id="13" name="Rounded Rectangle 12"/>
          <p:cNvSpPr/>
          <p:nvPr/>
        </p:nvSpPr>
        <p:spPr>
          <a:xfrm>
            <a:off x="5486400" y="1929384"/>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17</a:t>
            </a:r>
          </a:p>
        </p:txBody>
      </p:sp>
      <p:sp>
        <p:nvSpPr>
          <p:cNvPr id="14" name="TextBox 13"/>
          <p:cNvSpPr txBox="1"/>
          <p:nvPr/>
        </p:nvSpPr>
        <p:spPr>
          <a:xfrm>
            <a:off x="548640" y="2478024"/>
            <a:ext cx="2011680" cy="384048"/>
          </a:xfrm>
          <a:prstGeom prst="rect">
            <a:avLst/>
          </a:prstGeom>
          <a:noFill/>
        </p:spPr>
        <p:txBody>
          <a:bodyPr wrap="square" lIns="0" tIns="0" rIns="0" bIns="0" anchor="ctr">
            <a:spAutoFit/>
          </a:bodyPr>
          <a:lstStyle/>
          <a:p>
            <a:pPr algn="l"/>
            <a:r>
              <a:rPr sz="1050" b="1" i="0">
                <a:solidFill>
                  <a:srgbClr val="002368"/>
                </a:solidFill>
                <a:latin typeface="Arial"/>
              </a:rPr>
              <a:t>Family-based programmes</a:t>
            </a:r>
          </a:p>
        </p:txBody>
      </p:sp>
      <p:sp>
        <p:nvSpPr>
          <p:cNvPr id="15" name="Rectangle 14"/>
          <p:cNvSpPr/>
          <p:nvPr/>
        </p:nvSpPr>
        <p:spPr>
          <a:xfrm>
            <a:off x="2606040" y="2514600"/>
            <a:ext cx="163922" cy="310896"/>
          </a:xfrm>
          <a:prstGeom prst="rect">
            <a:avLst/>
          </a:prstGeom>
          <a:solidFill>
            <a:srgbClr val="002368"/>
          </a:solidFill>
          <a:ln>
            <a:noFill/>
          </a:ln>
        </p:spPr>
        <p:txBody>
          <a:bodyPr rtlCol="0" anchor="ctr"/>
          <a:lstStyle/>
          <a:p>
            <a:pPr algn="ctr"/>
          </a:p>
        </p:txBody>
      </p:sp>
      <p:sp>
        <p:nvSpPr>
          <p:cNvPr id="16" name="Rectangle 15"/>
          <p:cNvSpPr/>
          <p:nvPr/>
        </p:nvSpPr>
        <p:spPr>
          <a:xfrm>
            <a:off x="2769962" y="2514600"/>
            <a:ext cx="191243" cy="310896"/>
          </a:xfrm>
          <a:prstGeom prst="rect">
            <a:avLst/>
          </a:prstGeom>
          <a:solidFill>
            <a:srgbClr val="80BFEC"/>
          </a:solidFill>
          <a:ln>
            <a:noFill/>
          </a:ln>
        </p:spPr>
        <p:txBody>
          <a:bodyPr rtlCol="0" anchor="ctr"/>
          <a:lstStyle/>
          <a:p>
            <a:pPr algn="ctr"/>
          </a:p>
        </p:txBody>
      </p:sp>
      <p:sp>
        <p:nvSpPr>
          <p:cNvPr id="17" name="Rectangle 16"/>
          <p:cNvSpPr/>
          <p:nvPr/>
        </p:nvSpPr>
        <p:spPr>
          <a:xfrm>
            <a:off x="2961206" y="2514600"/>
            <a:ext cx="1885113" cy="310896"/>
          </a:xfrm>
          <a:prstGeom prst="rect">
            <a:avLst/>
          </a:prstGeom>
          <a:solidFill>
            <a:srgbClr val="D9ECF9"/>
          </a:solidFill>
          <a:ln>
            <a:noFill/>
          </a:ln>
        </p:spPr>
        <p:txBody>
          <a:bodyPr rtlCol="0" anchor="ctr"/>
          <a:lstStyle/>
          <a:p>
            <a:pPr algn="ctr"/>
          </a:p>
        </p:txBody>
      </p:sp>
      <p:sp>
        <p:nvSpPr>
          <p:cNvPr id="18" name="TextBox 17"/>
          <p:cNvSpPr txBox="1"/>
          <p:nvPr/>
        </p:nvSpPr>
        <p:spPr>
          <a:xfrm>
            <a:off x="2961206" y="2514600"/>
            <a:ext cx="1885113" cy="310896"/>
          </a:xfrm>
          <a:prstGeom prst="rect">
            <a:avLst/>
          </a:prstGeom>
          <a:noFill/>
        </p:spPr>
        <p:txBody>
          <a:bodyPr wrap="square" lIns="0" tIns="0" rIns="0" bIns="0" anchor="ctr">
            <a:spAutoFit/>
          </a:bodyPr>
          <a:lstStyle/>
          <a:p>
            <a:pPr algn="ctr"/>
            <a:r>
              <a:rPr sz="900" b="1" i="0">
                <a:solidFill>
                  <a:srgbClr val="002368"/>
                </a:solidFill>
                <a:latin typeface="Arial"/>
              </a:rPr>
              <a:t>138</a:t>
            </a:r>
          </a:p>
        </p:txBody>
      </p:sp>
      <p:sp>
        <p:nvSpPr>
          <p:cNvPr id="19" name="TextBox 18"/>
          <p:cNvSpPr txBox="1"/>
          <p:nvPr/>
        </p:nvSpPr>
        <p:spPr>
          <a:xfrm>
            <a:off x="4901183" y="2478024"/>
            <a:ext cx="548640" cy="384048"/>
          </a:xfrm>
          <a:prstGeom prst="rect">
            <a:avLst/>
          </a:prstGeom>
          <a:noFill/>
        </p:spPr>
        <p:txBody>
          <a:bodyPr wrap="square" lIns="0" tIns="0" rIns="0" bIns="0" anchor="ctr">
            <a:spAutoFit/>
          </a:bodyPr>
          <a:lstStyle/>
          <a:p>
            <a:pPr algn="l"/>
            <a:r>
              <a:rPr sz="1300" b="0" i="0">
                <a:solidFill>
                  <a:srgbClr val="002368"/>
                </a:solidFill>
                <a:latin typeface="Georgia"/>
              </a:rPr>
              <a:t>164</a:t>
            </a:r>
          </a:p>
        </p:txBody>
      </p:sp>
      <p:sp>
        <p:nvSpPr>
          <p:cNvPr id="20" name="Rounded Rectangle 19"/>
          <p:cNvSpPr/>
          <p:nvPr/>
        </p:nvSpPr>
        <p:spPr>
          <a:xfrm>
            <a:off x="5486400" y="2532888"/>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25</a:t>
            </a:r>
          </a:p>
        </p:txBody>
      </p:sp>
      <p:sp>
        <p:nvSpPr>
          <p:cNvPr id="21" name="TextBox 20"/>
          <p:cNvSpPr txBox="1"/>
          <p:nvPr/>
        </p:nvSpPr>
        <p:spPr>
          <a:xfrm>
            <a:off x="548640" y="3081528"/>
            <a:ext cx="2011680" cy="384048"/>
          </a:xfrm>
          <a:prstGeom prst="rect">
            <a:avLst/>
          </a:prstGeom>
          <a:noFill/>
        </p:spPr>
        <p:txBody>
          <a:bodyPr wrap="square" lIns="0" tIns="0" rIns="0" bIns="0" anchor="ctr">
            <a:spAutoFit/>
          </a:bodyPr>
          <a:lstStyle/>
          <a:p>
            <a:pPr algn="l"/>
            <a:r>
              <a:rPr sz="1050" b="1" i="0">
                <a:solidFill>
                  <a:srgbClr val="002368"/>
                </a:solidFill>
                <a:latin typeface="Arial"/>
              </a:rPr>
              <a:t>Specialised centres</a:t>
            </a:r>
          </a:p>
        </p:txBody>
      </p:sp>
      <p:sp>
        <p:nvSpPr>
          <p:cNvPr id="22" name="Rectangle 21"/>
          <p:cNvSpPr/>
          <p:nvPr/>
        </p:nvSpPr>
        <p:spPr>
          <a:xfrm>
            <a:off x="2606040" y="3118104"/>
            <a:ext cx="40980" cy="310896"/>
          </a:xfrm>
          <a:prstGeom prst="rect">
            <a:avLst/>
          </a:prstGeom>
          <a:solidFill>
            <a:srgbClr val="002368"/>
          </a:solidFill>
          <a:ln>
            <a:noFill/>
          </a:ln>
        </p:spPr>
        <p:txBody>
          <a:bodyPr rtlCol="0" anchor="ctr"/>
          <a:lstStyle/>
          <a:p>
            <a:pPr algn="ctr"/>
          </a:p>
        </p:txBody>
      </p:sp>
      <p:sp>
        <p:nvSpPr>
          <p:cNvPr id="23" name="Rectangle 22"/>
          <p:cNvSpPr/>
          <p:nvPr/>
        </p:nvSpPr>
        <p:spPr>
          <a:xfrm>
            <a:off x="2647020" y="3118104"/>
            <a:ext cx="81961" cy="310896"/>
          </a:xfrm>
          <a:prstGeom prst="rect">
            <a:avLst/>
          </a:prstGeom>
          <a:solidFill>
            <a:srgbClr val="80BFEC"/>
          </a:solidFill>
          <a:ln>
            <a:noFill/>
          </a:ln>
        </p:spPr>
        <p:txBody>
          <a:bodyPr rtlCol="0" anchor="ctr"/>
          <a:lstStyle/>
          <a:p>
            <a:pPr algn="ctr"/>
          </a:p>
        </p:txBody>
      </p:sp>
      <p:sp>
        <p:nvSpPr>
          <p:cNvPr id="24" name="Rectangle 23"/>
          <p:cNvSpPr/>
          <p:nvPr/>
        </p:nvSpPr>
        <p:spPr>
          <a:xfrm>
            <a:off x="2728982" y="3118104"/>
            <a:ext cx="833274" cy="310896"/>
          </a:xfrm>
          <a:prstGeom prst="rect">
            <a:avLst/>
          </a:prstGeom>
          <a:solidFill>
            <a:srgbClr val="D9ECF9"/>
          </a:solidFill>
          <a:ln>
            <a:noFill/>
          </a:ln>
        </p:spPr>
        <p:txBody>
          <a:bodyPr rtlCol="0" anchor="ctr"/>
          <a:lstStyle/>
          <a:p>
            <a:pPr algn="ctr"/>
          </a:p>
        </p:txBody>
      </p:sp>
      <p:sp>
        <p:nvSpPr>
          <p:cNvPr id="25" name="TextBox 24"/>
          <p:cNvSpPr txBox="1"/>
          <p:nvPr/>
        </p:nvSpPr>
        <p:spPr>
          <a:xfrm>
            <a:off x="2728982" y="3118104"/>
            <a:ext cx="833274" cy="310896"/>
          </a:xfrm>
          <a:prstGeom prst="rect">
            <a:avLst/>
          </a:prstGeom>
          <a:noFill/>
        </p:spPr>
        <p:txBody>
          <a:bodyPr wrap="square" lIns="0" tIns="0" rIns="0" bIns="0" anchor="ctr">
            <a:spAutoFit/>
          </a:bodyPr>
          <a:lstStyle/>
          <a:p>
            <a:pPr algn="ctr"/>
            <a:r>
              <a:rPr sz="900" b="1" i="0">
                <a:solidFill>
                  <a:srgbClr val="002368"/>
                </a:solidFill>
                <a:latin typeface="Arial"/>
              </a:rPr>
              <a:t>61</a:t>
            </a:r>
          </a:p>
        </p:txBody>
      </p:sp>
      <p:sp>
        <p:nvSpPr>
          <p:cNvPr id="26" name="TextBox 25"/>
          <p:cNvSpPr txBox="1"/>
          <p:nvPr/>
        </p:nvSpPr>
        <p:spPr>
          <a:xfrm>
            <a:off x="3617121" y="3081528"/>
            <a:ext cx="548640" cy="384048"/>
          </a:xfrm>
          <a:prstGeom prst="rect">
            <a:avLst/>
          </a:prstGeom>
          <a:noFill/>
        </p:spPr>
        <p:txBody>
          <a:bodyPr wrap="square" lIns="0" tIns="0" rIns="0" bIns="0" anchor="ctr">
            <a:spAutoFit/>
          </a:bodyPr>
          <a:lstStyle/>
          <a:p>
            <a:pPr algn="l"/>
            <a:r>
              <a:rPr sz="1300" b="0" i="0">
                <a:solidFill>
                  <a:srgbClr val="002368"/>
                </a:solidFill>
                <a:latin typeface="Georgia"/>
              </a:rPr>
              <a:t>70</a:t>
            </a:r>
          </a:p>
        </p:txBody>
      </p:sp>
      <p:sp>
        <p:nvSpPr>
          <p:cNvPr id="27" name="Rounded Rectangle 26"/>
          <p:cNvSpPr/>
          <p:nvPr/>
        </p:nvSpPr>
        <p:spPr>
          <a:xfrm>
            <a:off x="5486400" y="3136392"/>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5</a:t>
            </a:r>
          </a:p>
        </p:txBody>
      </p:sp>
      <p:sp>
        <p:nvSpPr>
          <p:cNvPr id="28" name="TextBox 27"/>
          <p:cNvSpPr txBox="1"/>
          <p:nvPr/>
        </p:nvSpPr>
        <p:spPr>
          <a:xfrm>
            <a:off x="548640" y="3685031"/>
            <a:ext cx="2011680" cy="384048"/>
          </a:xfrm>
          <a:prstGeom prst="rect">
            <a:avLst/>
          </a:prstGeom>
          <a:noFill/>
        </p:spPr>
        <p:txBody>
          <a:bodyPr wrap="square" lIns="0" tIns="0" rIns="0" bIns="0" anchor="ctr">
            <a:spAutoFit/>
          </a:bodyPr>
          <a:lstStyle/>
          <a:p>
            <a:pPr algn="l"/>
            <a:r>
              <a:rPr sz="1050" b="1" i="0">
                <a:solidFill>
                  <a:srgbClr val="002368"/>
                </a:solidFill>
                <a:latin typeface="Arial"/>
              </a:rPr>
              <a:t>Funders</a:t>
            </a:r>
          </a:p>
        </p:txBody>
      </p:sp>
      <p:sp>
        <p:nvSpPr>
          <p:cNvPr id="29" name="Rectangle 28"/>
          <p:cNvSpPr/>
          <p:nvPr/>
        </p:nvSpPr>
        <p:spPr>
          <a:xfrm>
            <a:off x="2606040" y="3721607"/>
            <a:ext cx="40980" cy="310896"/>
          </a:xfrm>
          <a:prstGeom prst="rect">
            <a:avLst/>
          </a:prstGeom>
          <a:solidFill>
            <a:srgbClr val="002368"/>
          </a:solidFill>
          <a:ln>
            <a:noFill/>
          </a:ln>
        </p:spPr>
        <p:txBody>
          <a:bodyPr rtlCol="0" anchor="ctr"/>
          <a:lstStyle/>
          <a:p>
            <a:pPr algn="ctr"/>
          </a:p>
        </p:txBody>
      </p:sp>
      <p:sp>
        <p:nvSpPr>
          <p:cNvPr id="30" name="Rectangle 29"/>
          <p:cNvSpPr/>
          <p:nvPr/>
        </p:nvSpPr>
        <p:spPr>
          <a:xfrm>
            <a:off x="2647020" y="3721607"/>
            <a:ext cx="95621" cy="310896"/>
          </a:xfrm>
          <a:prstGeom prst="rect">
            <a:avLst/>
          </a:prstGeom>
          <a:solidFill>
            <a:srgbClr val="80BFEC"/>
          </a:solidFill>
          <a:ln>
            <a:noFill/>
          </a:ln>
        </p:spPr>
        <p:txBody>
          <a:bodyPr rtlCol="0" anchor="ctr"/>
          <a:lstStyle/>
          <a:p>
            <a:pPr algn="ctr"/>
          </a:p>
        </p:txBody>
      </p:sp>
      <p:sp>
        <p:nvSpPr>
          <p:cNvPr id="31" name="Rectangle 30"/>
          <p:cNvSpPr/>
          <p:nvPr/>
        </p:nvSpPr>
        <p:spPr>
          <a:xfrm>
            <a:off x="2742642" y="3721607"/>
            <a:ext cx="1284062" cy="310896"/>
          </a:xfrm>
          <a:prstGeom prst="rect">
            <a:avLst/>
          </a:prstGeom>
          <a:solidFill>
            <a:srgbClr val="D9ECF9"/>
          </a:solidFill>
          <a:ln>
            <a:noFill/>
          </a:ln>
        </p:spPr>
        <p:txBody>
          <a:bodyPr rtlCol="0" anchor="ctr"/>
          <a:lstStyle/>
          <a:p>
            <a:pPr algn="ctr"/>
          </a:p>
        </p:txBody>
      </p:sp>
      <p:sp>
        <p:nvSpPr>
          <p:cNvPr id="32" name="TextBox 31"/>
          <p:cNvSpPr txBox="1"/>
          <p:nvPr/>
        </p:nvSpPr>
        <p:spPr>
          <a:xfrm>
            <a:off x="2742642" y="3721607"/>
            <a:ext cx="1284062" cy="310896"/>
          </a:xfrm>
          <a:prstGeom prst="rect">
            <a:avLst/>
          </a:prstGeom>
          <a:noFill/>
        </p:spPr>
        <p:txBody>
          <a:bodyPr wrap="square" lIns="0" tIns="0" rIns="0" bIns="0" anchor="ctr">
            <a:spAutoFit/>
          </a:bodyPr>
          <a:lstStyle/>
          <a:p>
            <a:pPr algn="ctr"/>
            <a:r>
              <a:rPr sz="900" b="1" i="0">
                <a:solidFill>
                  <a:srgbClr val="002368"/>
                </a:solidFill>
                <a:latin typeface="Arial"/>
              </a:rPr>
              <a:t>94</a:t>
            </a:r>
          </a:p>
        </p:txBody>
      </p:sp>
      <p:sp>
        <p:nvSpPr>
          <p:cNvPr id="33" name="TextBox 32"/>
          <p:cNvSpPr txBox="1"/>
          <p:nvPr/>
        </p:nvSpPr>
        <p:spPr>
          <a:xfrm>
            <a:off x="4081569" y="3685031"/>
            <a:ext cx="548640" cy="384048"/>
          </a:xfrm>
          <a:prstGeom prst="rect">
            <a:avLst/>
          </a:prstGeom>
          <a:noFill/>
        </p:spPr>
        <p:txBody>
          <a:bodyPr wrap="square" lIns="0" tIns="0" rIns="0" bIns="0" anchor="ctr">
            <a:spAutoFit/>
          </a:bodyPr>
          <a:lstStyle/>
          <a:p>
            <a:pPr algn="l"/>
            <a:r>
              <a:rPr sz="1300" b="0" i="0">
                <a:solidFill>
                  <a:srgbClr val="002368"/>
                </a:solidFill>
                <a:latin typeface="Georgia"/>
              </a:rPr>
              <a:t>104</a:t>
            </a:r>
          </a:p>
        </p:txBody>
      </p:sp>
      <p:sp>
        <p:nvSpPr>
          <p:cNvPr id="34" name="Rounded Rectangle 33"/>
          <p:cNvSpPr/>
          <p:nvPr/>
        </p:nvSpPr>
        <p:spPr>
          <a:xfrm>
            <a:off x="5486400" y="3739895"/>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34</a:t>
            </a:r>
          </a:p>
        </p:txBody>
      </p:sp>
      <p:sp>
        <p:nvSpPr>
          <p:cNvPr id="35" name="TextBox 34"/>
          <p:cNvSpPr txBox="1"/>
          <p:nvPr/>
        </p:nvSpPr>
        <p:spPr>
          <a:xfrm>
            <a:off x="548640" y="4288536"/>
            <a:ext cx="2011680" cy="384048"/>
          </a:xfrm>
          <a:prstGeom prst="rect">
            <a:avLst/>
          </a:prstGeom>
          <a:noFill/>
        </p:spPr>
        <p:txBody>
          <a:bodyPr wrap="square" lIns="0" tIns="0" rIns="0" bIns="0" anchor="ctr">
            <a:spAutoFit/>
          </a:bodyPr>
          <a:lstStyle/>
          <a:p>
            <a:pPr algn="l"/>
            <a:r>
              <a:rPr sz="1050" b="1" i="0">
                <a:solidFill>
                  <a:srgbClr val="002368"/>
                </a:solidFill>
                <a:latin typeface="Arial"/>
              </a:rPr>
              <a:t>Welfare networks</a:t>
            </a:r>
          </a:p>
        </p:txBody>
      </p:sp>
      <p:sp>
        <p:nvSpPr>
          <p:cNvPr id="36" name="Rectangle 35"/>
          <p:cNvSpPr/>
          <p:nvPr/>
        </p:nvSpPr>
        <p:spPr>
          <a:xfrm>
            <a:off x="2606040" y="4325112"/>
            <a:ext cx="95621" cy="310896"/>
          </a:xfrm>
          <a:prstGeom prst="rect">
            <a:avLst/>
          </a:prstGeom>
          <a:solidFill>
            <a:srgbClr val="D9ECF9"/>
          </a:solidFill>
          <a:ln>
            <a:noFill/>
          </a:ln>
        </p:spPr>
        <p:txBody>
          <a:bodyPr rtlCol="0" anchor="ctr"/>
          <a:lstStyle/>
          <a:p>
            <a:pPr algn="ctr"/>
          </a:p>
        </p:txBody>
      </p:sp>
      <p:sp>
        <p:nvSpPr>
          <p:cNvPr id="37" name="TextBox 36"/>
          <p:cNvSpPr txBox="1"/>
          <p:nvPr/>
        </p:nvSpPr>
        <p:spPr>
          <a:xfrm>
            <a:off x="2756525" y="4288536"/>
            <a:ext cx="548640" cy="384048"/>
          </a:xfrm>
          <a:prstGeom prst="rect">
            <a:avLst/>
          </a:prstGeom>
          <a:noFill/>
        </p:spPr>
        <p:txBody>
          <a:bodyPr wrap="square" lIns="0" tIns="0" rIns="0" bIns="0" anchor="ctr">
            <a:spAutoFit/>
          </a:bodyPr>
          <a:lstStyle/>
          <a:p>
            <a:pPr algn="l"/>
            <a:r>
              <a:rPr sz="1300" b="0" i="0">
                <a:solidFill>
                  <a:srgbClr val="002368"/>
                </a:solidFill>
                <a:latin typeface="Georgia"/>
              </a:rPr>
              <a:t>7</a:t>
            </a:r>
          </a:p>
        </p:txBody>
      </p:sp>
      <p:sp>
        <p:nvSpPr>
          <p:cNvPr id="38" name="Rounded Rectangle 37"/>
          <p:cNvSpPr/>
          <p:nvPr/>
        </p:nvSpPr>
        <p:spPr>
          <a:xfrm>
            <a:off x="5486400" y="4343399"/>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5</a:t>
            </a:r>
          </a:p>
        </p:txBody>
      </p:sp>
      <p:sp>
        <p:nvSpPr>
          <p:cNvPr id="39" name="Rectangle 38"/>
          <p:cNvSpPr/>
          <p:nvPr/>
        </p:nvSpPr>
        <p:spPr>
          <a:xfrm>
            <a:off x="548640" y="4956048"/>
            <a:ext cx="201168" cy="146304"/>
          </a:xfrm>
          <a:prstGeom prst="rect">
            <a:avLst/>
          </a:prstGeom>
          <a:solidFill>
            <a:srgbClr val="002368"/>
          </a:solidFill>
          <a:ln>
            <a:noFill/>
          </a:ln>
        </p:spPr>
        <p:txBody>
          <a:bodyPr rtlCol="0" anchor="ctr"/>
          <a:lstStyle/>
          <a:p>
            <a:pPr algn="ctr"/>
          </a:p>
        </p:txBody>
      </p:sp>
      <p:sp>
        <p:nvSpPr>
          <p:cNvPr id="40" name="TextBox 39"/>
          <p:cNvSpPr txBox="1"/>
          <p:nvPr/>
        </p:nvSpPr>
        <p:spPr>
          <a:xfrm>
            <a:off x="822959"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High priority</a:t>
            </a:r>
          </a:p>
        </p:txBody>
      </p:sp>
      <p:sp>
        <p:nvSpPr>
          <p:cNvPr id="41" name="Rectangle 40"/>
          <p:cNvSpPr/>
          <p:nvPr/>
        </p:nvSpPr>
        <p:spPr>
          <a:xfrm>
            <a:off x="1783080" y="4956048"/>
            <a:ext cx="201168" cy="146304"/>
          </a:xfrm>
          <a:prstGeom prst="rect">
            <a:avLst/>
          </a:prstGeom>
          <a:solidFill>
            <a:srgbClr val="80BFEC"/>
          </a:solidFill>
          <a:ln>
            <a:noFill/>
          </a:ln>
        </p:spPr>
        <p:txBody>
          <a:bodyPr rtlCol="0" anchor="ctr"/>
          <a:lstStyle/>
          <a:p>
            <a:pPr algn="ctr"/>
          </a:p>
        </p:txBody>
      </p:sp>
      <p:sp>
        <p:nvSpPr>
          <p:cNvPr id="42" name="TextBox 41"/>
          <p:cNvSpPr txBox="1"/>
          <p:nvPr/>
        </p:nvSpPr>
        <p:spPr>
          <a:xfrm>
            <a:off x="2057400"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Medium</a:t>
            </a:r>
          </a:p>
        </p:txBody>
      </p:sp>
      <p:sp>
        <p:nvSpPr>
          <p:cNvPr id="43" name="Rectangle 42"/>
          <p:cNvSpPr/>
          <p:nvPr/>
        </p:nvSpPr>
        <p:spPr>
          <a:xfrm>
            <a:off x="3017520" y="4956048"/>
            <a:ext cx="201168" cy="146304"/>
          </a:xfrm>
          <a:prstGeom prst="rect">
            <a:avLst/>
          </a:prstGeom>
          <a:solidFill>
            <a:srgbClr val="D9ECF9"/>
          </a:solidFill>
          <a:ln>
            <a:noFill/>
          </a:ln>
        </p:spPr>
        <p:txBody>
          <a:bodyPr rtlCol="0" anchor="ctr"/>
          <a:lstStyle/>
          <a:p>
            <a:pPr algn="ctr"/>
          </a:p>
        </p:txBody>
      </p:sp>
      <p:sp>
        <p:nvSpPr>
          <p:cNvPr id="44" name="TextBox 43"/>
          <p:cNvSpPr txBox="1"/>
          <p:nvPr/>
        </p:nvSpPr>
        <p:spPr>
          <a:xfrm>
            <a:off x="3291840"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Low</a:t>
            </a:r>
          </a:p>
        </p:txBody>
      </p:sp>
      <p:sp>
        <p:nvSpPr>
          <p:cNvPr id="45" name="TextBox 44"/>
          <p:cNvSpPr txBox="1"/>
          <p:nvPr/>
        </p:nvSpPr>
        <p:spPr>
          <a:xfrm>
            <a:off x="644652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GOVERNMENT: 228 OFFICES, LETTERS BY HAND</a:t>
            </a:r>
          </a:p>
        </p:txBody>
      </p:sp>
      <p:sp>
        <p:nvSpPr>
          <p:cNvPr id="46" name="Rounded Rectangle 45"/>
          <p:cNvSpPr/>
          <p:nvPr/>
        </p:nvSpPr>
        <p:spPr>
          <a:xfrm>
            <a:off x="6446520" y="1572768"/>
            <a:ext cx="1417320" cy="621792"/>
          </a:xfrm>
          <a:prstGeom prst="roundRect">
            <a:avLst>
              <a:gd name="adj" fmla="val 10294"/>
            </a:avLst>
          </a:prstGeom>
          <a:solidFill>
            <a:srgbClr val="002368"/>
          </a:solidFill>
          <a:ln w="12700">
            <a:solidFill>
              <a:srgbClr val="002368"/>
            </a:solidFill>
          </a:ln>
        </p:spPr>
        <p:txBody>
          <a:bodyPr rtlCol="0" anchor="ctr"/>
          <a:lstStyle/>
          <a:p>
            <a:pPr algn="ctr"/>
          </a:p>
        </p:txBody>
      </p:sp>
      <p:sp>
        <p:nvSpPr>
          <p:cNvPr id="47" name="TextBox 46"/>
          <p:cNvSpPr txBox="1"/>
          <p:nvPr/>
        </p:nvSpPr>
        <p:spPr>
          <a:xfrm>
            <a:off x="6583680" y="1609344"/>
            <a:ext cx="1188720" cy="274320"/>
          </a:xfrm>
          <a:prstGeom prst="rect">
            <a:avLst/>
          </a:prstGeom>
          <a:noFill/>
        </p:spPr>
        <p:txBody>
          <a:bodyPr wrap="square" lIns="0" tIns="0" rIns="0" bIns="0" anchor="t">
            <a:spAutoFit/>
          </a:bodyPr>
          <a:lstStyle/>
          <a:p>
            <a:pPr algn="l"/>
            <a:r>
              <a:rPr sz="1050" b="1" i="0">
                <a:solidFill>
                  <a:srgbClr val="FFFFFF"/>
                </a:solidFill>
                <a:latin typeface="Arial"/>
              </a:rPr>
              <a:t>Councils</a:t>
            </a:r>
          </a:p>
        </p:txBody>
      </p:sp>
      <p:sp>
        <p:nvSpPr>
          <p:cNvPr id="48" name="TextBox 47"/>
          <p:cNvSpPr txBox="1"/>
          <p:nvPr/>
        </p:nvSpPr>
        <p:spPr>
          <a:xfrm>
            <a:off x="6583680" y="1847088"/>
            <a:ext cx="1188720" cy="329184"/>
          </a:xfrm>
          <a:prstGeom prst="rect">
            <a:avLst/>
          </a:prstGeom>
          <a:noFill/>
        </p:spPr>
        <p:txBody>
          <a:bodyPr wrap="square" lIns="0" tIns="0" rIns="0" bIns="0" anchor="t">
            <a:spAutoFit/>
          </a:bodyPr>
          <a:lstStyle/>
          <a:p>
            <a:pPr algn="l"/>
            <a:r>
              <a:rPr sz="1600" b="0" i="0">
                <a:solidFill>
                  <a:srgbClr val="FFC952"/>
                </a:solidFill>
                <a:latin typeface="Georgia"/>
              </a:rPr>
              <a:t>9</a:t>
            </a:r>
          </a:p>
        </p:txBody>
      </p:sp>
      <p:sp>
        <p:nvSpPr>
          <p:cNvPr id="49" name="TextBox 48"/>
          <p:cNvSpPr txBox="1"/>
          <p:nvPr/>
        </p:nvSpPr>
        <p:spPr>
          <a:xfrm>
            <a:off x="8001000" y="1572768"/>
            <a:ext cx="3639312" cy="621792"/>
          </a:xfrm>
          <a:prstGeom prst="rect">
            <a:avLst/>
          </a:prstGeom>
          <a:noFill/>
        </p:spPr>
        <p:txBody>
          <a:bodyPr wrap="square" lIns="0" tIns="0" rIns="0" bIns="0" anchor="ctr">
            <a:spAutoFit/>
          </a:bodyPr>
          <a:lstStyle/>
          <a:p>
            <a:pPr algn="l"/>
            <a:r>
              <a:rPr sz="1000" b="0" i="0">
                <a:solidFill>
                  <a:srgbClr val="000000"/>
                </a:solidFill>
                <a:latin typeface="Arial"/>
              </a:rPr>
              <a:t>4 pilot councils first (Arusha City, Arusha District, Hai, Meru): a protocol introduction to the ward officers</a:t>
            </a:r>
          </a:p>
        </p:txBody>
      </p:sp>
      <p:sp>
        <p:nvSpPr>
          <p:cNvPr id="50" name="Rounded Rectangle 49"/>
          <p:cNvSpPr/>
          <p:nvPr/>
        </p:nvSpPr>
        <p:spPr>
          <a:xfrm>
            <a:off x="6446520" y="2304288"/>
            <a:ext cx="1691640" cy="621792"/>
          </a:xfrm>
          <a:prstGeom prst="roundRect">
            <a:avLst>
              <a:gd name="adj" fmla="val 10294"/>
            </a:avLst>
          </a:prstGeom>
          <a:solidFill>
            <a:srgbClr val="1C4A8A"/>
          </a:solidFill>
          <a:ln w="12700">
            <a:solidFill>
              <a:srgbClr val="1C4A8A"/>
            </a:solidFill>
          </a:ln>
        </p:spPr>
        <p:txBody>
          <a:bodyPr rtlCol="0" anchor="ctr"/>
          <a:lstStyle/>
          <a:p>
            <a:pPr algn="ctr"/>
          </a:p>
        </p:txBody>
      </p:sp>
      <p:sp>
        <p:nvSpPr>
          <p:cNvPr id="51" name="TextBox 50"/>
          <p:cNvSpPr txBox="1"/>
          <p:nvPr/>
        </p:nvSpPr>
        <p:spPr>
          <a:xfrm>
            <a:off x="6583680" y="2340864"/>
            <a:ext cx="1463040" cy="274320"/>
          </a:xfrm>
          <a:prstGeom prst="rect">
            <a:avLst/>
          </a:prstGeom>
          <a:noFill/>
        </p:spPr>
        <p:txBody>
          <a:bodyPr wrap="square" lIns="0" tIns="0" rIns="0" bIns="0" anchor="t">
            <a:spAutoFit/>
          </a:bodyPr>
          <a:lstStyle/>
          <a:p>
            <a:pPr algn="l"/>
            <a:r>
              <a:rPr sz="1050" b="1" i="0">
                <a:solidFill>
                  <a:srgbClr val="FFFFFF"/>
                </a:solidFill>
                <a:latin typeface="Arial"/>
              </a:rPr>
              <a:t>District and regional</a:t>
            </a:r>
          </a:p>
        </p:txBody>
      </p:sp>
      <p:sp>
        <p:nvSpPr>
          <p:cNvPr id="52" name="TextBox 51"/>
          <p:cNvSpPr txBox="1"/>
          <p:nvPr/>
        </p:nvSpPr>
        <p:spPr>
          <a:xfrm>
            <a:off x="6583680" y="2578608"/>
            <a:ext cx="1463040" cy="329184"/>
          </a:xfrm>
          <a:prstGeom prst="rect">
            <a:avLst/>
          </a:prstGeom>
          <a:noFill/>
        </p:spPr>
        <p:txBody>
          <a:bodyPr wrap="square" lIns="0" tIns="0" rIns="0" bIns="0" anchor="t">
            <a:spAutoFit/>
          </a:bodyPr>
          <a:lstStyle/>
          <a:p>
            <a:pPr algn="l"/>
            <a:r>
              <a:rPr sz="1600" b="0" i="0">
                <a:solidFill>
                  <a:srgbClr val="FFFFFF"/>
                </a:solidFill>
                <a:latin typeface="Georgia"/>
              </a:rPr>
              <a:t>10</a:t>
            </a:r>
          </a:p>
        </p:txBody>
      </p:sp>
      <p:sp>
        <p:nvSpPr>
          <p:cNvPr id="53" name="TextBox 52"/>
          <p:cNvSpPr txBox="1"/>
          <p:nvPr/>
        </p:nvSpPr>
        <p:spPr>
          <a:xfrm>
            <a:off x="8275320" y="2304288"/>
            <a:ext cx="3364991" cy="621792"/>
          </a:xfrm>
          <a:prstGeom prst="rect">
            <a:avLst/>
          </a:prstGeom>
          <a:noFill/>
        </p:spPr>
        <p:txBody>
          <a:bodyPr wrap="square" lIns="0" tIns="0" rIns="0" bIns="0" anchor="ctr">
            <a:spAutoFit/>
          </a:bodyPr>
          <a:lstStyle/>
          <a:p>
            <a:pPr algn="l"/>
            <a:r>
              <a:rPr sz="1000" b="0" i="0">
                <a:solidFill>
                  <a:srgbClr val="000000"/>
                </a:solidFill>
                <a:latin typeface="Arial"/>
              </a:rPr>
              <a:t>A courtesy notice once the pilot introductions are done</a:t>
            </a:r>
          </a:p>
        </p:txBody>
      </p:sp>
      <p:sp>
        <p:nvSpPr>
          <p:cNvPr id="54" name="Rounded Rectangle 53"/>
          <p:cNvSpPr/>
          <p:nvPr/>
        </p:nvSpPr>
        <p:spPr>
          <a:xfrm>
            <a:off x="6446520" y="3035808"/>
            <a:ext cx="1965960" cy="621792"/>
          </a:xfrm>
          <a:prstGeom prst="roundRect">
            <a:avLst>
              <a:gd name="adj" fmla="val 10294"/>
            </a:avLst>
          </a:prstGeom>
          <a:solidFill>
            <a:srgbClr val="80BFEC"/>
          </a:solidFill>
          <a:ln w="12700">
            <a:solidFill>
              <a:srgbClr val="80BFEC"/>
            </a:solidFill>
          </a:ln>
        </p:spPr>
        <p:txBody>
          <a:bodyPr rtlCol="0" anchor="ctr"/>
          <a:lstStyle/>
          <a:p>
            <a:pPr algn="ctr"/>
          </a:p>
        </p:txBody>
      </p:sp>
      <p:sp>
        <p:nvSpPr>
          <p:cNvPr id="55" name="TextBox 54"/>
          <p:cNvSpPr txBox="1"/>
          <p:nvPr/>
        </p:nvSpPr>
        <p:spPr>
          <a:xfrm>
            <a:off x="6583680" y="3072384"/>
            <a:ext cx="1737360" cy="274320"/>
          </a:xfrm>
          <a:prstGeom prst="rect">
            <a:avLst/>
          </a:prstGeom>
          <a:noFill/>
        </p:spPr>
        <p:txBody>
          <a:bodyPr wrap="square" lIns="0" tIns="0" rIns="0" bIns="0" anchor="t">
            <a:spAutoFit/>
          </a:bodyPr>
          <a:lstStyle/>
          <a:p>
            <a:pPr algn="l"/>
            <a:r>
              <a:rPr sz="1050" b="1" i="0">
                <a:solidFill>
                  <a:srgbClr val="002368"/>
                </a:solidFill>
                <a:latin typeface="Arial"/>
              </a:rPr>
              <a:t>Ward offices</a:t>
            </a:r>
          </a:p>
        </p:txBody>
      </p:sp>
      <p:sp>
        <p:nvSpPr>
          <p:cNvPr id="56" name="TextBox 55"/>
          <p:cNvSpPr txBox="1"/>
          <p:nvPr/>
        </p:nvSpPr>
        <p:spPr>
          <a:xfrm>
            <a:off x="6583680" y="3310128"/>
            <a:ext cx="1737360" cy="329184"/>
          </a:xfrm>
          <a:prstGeom prst="rect">
            <a:avLst/>
          </a:prstGeom>
          <a:noFill/>
        </p:spPr>
        <p:txBody>
          <a:bodyPr wrap="square" lIns="0" tIns="0" rIns="0" bIns="0" anchor="t">
            <a:spAutoFit/>
          </a:bodyPr>
          <a:lstStyle/>
          <a:p>
            <a:pPr algn="l"/>
            <a:r>
              <a:rPr sz="1600" b="0" i="0">
                <a:solidFill>
                  <a:srgbClr val="002368"/>
                </a:solidFill>
                <a:latin typeface="Georgia"/>
              </a:rPr>
              <a:t>129</a:t>
            </a:r>
          </a:p>
        </p:txBody>
      </p:sp>
      <p:sp>
        <p:nvSpPr>
          <p:cNvPr id="57" name="TextBox 56"/>
          <p:cNvSpPr txBox="1"/>
          <p:nvPr/>
        </p:nvSpPr>
        <p:spPr>
          <a:xfrm>
            <a:off x="8549640" y="3035808"/>
            <a:ext cx="3090672" cy="621792"/>
          </a:xfrm>
          <a:prstGeom prst="rect">
            <a:avLst/>
          </a:prstGeom>
          <a:noFill/>
        </p:spPr>
        <p:txBody>
          <a:bodyPr wrap="square" lIns="0" tIns="0" rIns="0" bIns="0" anchor="ctr">
            <a:spAutoFit/>
          </a:bodyPr>
          <a:lstStyle/>
          <a:p>
            <a:pPr algn="l"/>
            <a:r>
              <a:rPr sz="1000" b="0" i="0">
                <a:solidFill>
                  <a:srgbClr val="000000"/>
                </a:solidFill>
                <a:latin typeface="Arial"/>
              </a:rPr>
              <a:t>A request for a slot at the next community meeting, after the council's introduction</a:t>
            </a:r>
          </a:p>
        </p:txBody>
      </p:sp>
      <p:sp>
        <p:nvSpPr>
          <p:cNvPr id="58" name="Rounded Rectangle 57"/>
          <p:cNvSpPr/>
          <p:nvPr/>
        </p:nvSpPr>
        <p:spPr>
          <a:xfrm>
            <a:off x="6446520" y="3767328"/>
            <a:ext cx="2240280" cy="621792"/>
          </a:xfrm>
          <a:prstGeom prst="roundRect">
            <a:avLst>
              <a:gd name="adj" fmla="val 10294"/>
            </a:avLst>
          </a:prstGeom>
          <a:solidFill>
            <a:srgbClr val="D9ECF9"/>
          </a:solidFill>
          <a:ln w="12700">
            <a:solidFill>
              <a:srgbClr val="D9ECF9"/>
            </a:solidFill>
          </a:ln>
        </p:spPr>
        <p:txBody>
          <a:bodyPr rtlCol="0" anchor="ctr"/>
          <a:lstStyle/>
          <a:p>
            <a:pPr algn="ctr"/>
          </a:p>
        </p:txBody>
      </p:sp>
      <p:sp>
        <p:nvSpPr>
          <p:cNvPr id="59" name="TextBox 58"/>
          <p:cNvSpPr txBox="1"/>
          <p:nvPr/>
        </p:nvSpPr>
        <p:spPr>
          <a:xfrm>
            <a:off x="6583680" y="3803904"/>
            <a:ext cx="2011680" cy="274320"/>
          </a:xfrm>
          <a:prstGeom prst="rect">
            <a:avLst/>
          </a:prstGeom>
          <a:noFill/>
        </p:spPr>
        <p:txBody>
          <a:bodyPr wrap="square" lIns="0" tIns="0" rIns="0" bIns="0" anchor="t">
            <a:spAutoFit/>
          </a:bodyPr>
          <a:lstStyle/>
          <a:p>
            <a:pPr algn="l"/>
            <a:r>
              <a:rPr sz="1050" b="1" i="0">
                <a:solidFill>
                  <a:srgbClr val="002368"/>
                </a:solidFill>
                <a:latin typeface="Arial"/>
              </a:rPr>
              <a:t>Village offices</a:t>
            </a:r>
          </a:p>
        </p:txBody>
      </p:sp>
      <p:sp>
        <p:nvSpPr>
          <p:cNvPr id="60" name="TextBox 59"/>
          <p:cNvSpPr txBox="1"/>
          <p:nvPr/>
        </p:nvSpPr>
        <p:spPr>
          <a:xfrm>
            <a:off x="6583680" y="4041648"/>
            <a:ext cx="2011680" cy="329184"/>
          </a:xfrm>
          <a:prstGeom prst="rect">
            <a:avLst/>
          </a:prstGeom>
          <a:noFill/>
        </p:spPr>
        <p:txBody>
          <a:bodyPr wrap="square" lIns="0" tIns="0" rIns="0" bIns="0" anchor="t">
            <a:spAutoFit/>
          </a:bodyPr>
          <a:lstStyle/>
          <a:p>
            <a:pPr algn="l"/>
            <a:r>
              <a:rPr sz="1600" b="0" i="0">
                <a:solidFill>
                  <a:srgbClr val="002368"/>
                </a:solidFill>
                <a:latin typeface="Georgia"/>
              </a:rPr>
              <a:t>80</a:t>
            </a:r>
          </a:p>
        </p:txBody>
      </p:sp>
      <p:sp>
        <p:nvSpPr>
          <p:cNvPr id="61" name="TextBox 60"/>
          <p:cNvSpPr txBox="1"/>
          <p:nvPr/>
        </p:nvSpPr>
        <p:spPr>
          <a:xfrm>
            <a:off x="8823960" y="3767328"/>
            <a:ext cx="2816352" cy="621792"/>
          </a:xfrm>
          <a:prstGeom prst="rect">
            <a:avLst/>
          </a:prstGeom>
          <a:noFill/>
        </p:spPr>
        <p:txBody>
          <a:bodyPr wrap="square" lIns="0" tIns="0" rIns="0" bIns="0" anchor="ctr">
            <a:spAutoFit/>
          </a:bodyPr>
          <a:lstStyle/>
          <a:p>
            <a:pPr algn="l"/>
            <a:r>
              <a:rPr sz="1000" b="0" i="0">
                <a:solidFill>
                  <a:srgbClr val="000000"/>
                </a:solidFill>
                <a:latin typeface="Arial"/>
              </a:rPr>
              <a:t>The same request, at the village assembly</a:t>
            </a:r>
          </a:p>
        </p:txBody>
      </p:sp>
      <p:sp>
        <p:nvSpPr>
          <p:cNvPr id="62" name="TextBox 61"/>
          <p:cNvSpPr txBox="1"/>
          <p:nvPr/>
        </p:nvSpPr>
        <p:spPr>
          <a:xfrm>
            <a:off x="6446520" y="461772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WARDS BY DISTANCE: THE ORDER OF APPROACH</a:t>
            </a:r>
          </a:p>
        </p:txBody>
      </p:sp>
      <p:sp>
        <p:nvSpPr>
          <p:cNvPr id="63" name="Rounded Rectangle 62"/>
          <p:cNvSpPr/>
          <p:nvPr/>
        </p:nvSpPr>
        <p:spPr>
          <a:xfrm>
            <a:off x="6446520"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64" name="TextBox 63"/>
          <p:cNvSpPr txBox="1"/>
          <p:nvPr/>
        </p:nvSpPr>
        <p:spPr>
          <a:xfrm>
            <a:off x="6446520"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58</a:t>
            </a:r>
          </a:p>
        </p:txBody>
      </p:sp>
      <p:sp>
        <p:nvSpPr>
          <p:cNvPr id="65" name="TextBox 64"/>
          <p:cNvSpPr txBox="1"/>
          <p:nvPr/>
        </p:nvSpPr>
        <p:spPr>
          <a:xfrm>
            <a:off x="6446520"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within 10 km</a:t>
            </a:r>
          </a:p>
        </p:txBody>
      </p:sp>
      <p:sp>
        <p:nvSpPr>
          <p:cNvPr id="66" name="Rounded Rectangle 65"/>
          <p:cNvSpPr/>
          <p:nvPr/>
        </p:nvSpPr>
        <p:spPr>
          <a:xfrm>
            <a:off x="7763256"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67" name="TextBox 66"/>
          <p:cNvSpPr txBox="1"/>
          <p:nvPr/>
        </p:nvSpPr>
        <p:spPr>
          <a:xfrm>
            <a:off x="7763256"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35</a:t>
            </a:r>
          </a:p>
        </p:txBody>
      </p:sp>
      <p:sp>
        <p:nvSpPr>
          <p:cNvPr id="68" name="TextBox 67"/>
          <p:cNvSpPr txBox="1"/>
          <p:nvPr/>
        </p:nvSpPr>
        <p:spPr>
          <a:xfrm>
            <a:off x="7763256"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10–20 km</a:t>
            </a:r>
          </a:p>
        </p:txBody>
      </p:sp>
      <p:sp>
        <p:nvSpPr>
          <p:cNvPr id="69" name="Rounded Rectangle 68"/>
          <p:cNvSpPr/>
          <p:nvPr/>
        </p:nvSpPr>
        <p:spPr>
          <a:xfrm>
            <a:off x="9079992"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70" name="TextBox 69"/>
          <p:cNvSpPr txBox="1"/>
          <p:nvPr/>
        </p:nvSpPr>
        <p:spPr>
          <a:xfrm>
            <a:off x="9079992"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32</a:t>
            </a:r>
          </a:p>
        </p:txBody>
      </p:sp>
      <p:sp>
        <p:nvSpPr>
          <p:cNvPr id="71" name="TextBox 70"/>
          <p:cNvSpPr txBox="1"/>
          <p:nvPr/>
        </p:nvSpPr>
        <p:spPr>
          <a:xfrm>
            <a:off x="9079992"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beyond 20 km</a:t>
            </a:r>
          </a:p>
        </p:txBody>
      </p:sp>
      <p:sp>
        <p:nvSpPr>
          <p:cNvPr id="72" name="Rounded Rectangle 71"/>
          <p:cNvSpPr/>
          <p:nvPr/>
        </p:nvSpPr>
        <p:spPr>
          <a:xfrm>
            <a:off x="10396728" y="4892040"/>
            <a:ext cx="1207008" cy="1024128"/>
          </a:xfrm>
          <a:prstGeom prst="roundRect">
            <a:avLst>
              <a:gd name="adj" fmla="val 6250"/>
            </a:avLst>
          </a:prstGeom>
          <a:solidFill>
            <a:srgbClr val="ECECEC"/>
          </a:solidFill>
          <a:ln w="12700">
            <a:solidFill>
              <a:srgbClr val="ECECEC"/>
            </a:solidFill>
          </a:ln>
        </p:spPr>
        <p:txBody>
          <a:bodyPr rtlCol="0" anchor="ctr"/>
          <a:lstStyle/>
          <a:p>
            <a:pPr algn="ctr"/>
          </a:p>
        </p:txBody>
      </p:sp>
      <p:sp>
        <p:nvSpPr>
          <p:cNvPr id="73" name="TextBox 72"/>
          <p:cNvSpPr txBox="1"/>
          <p:nvPr/>
        </p:nvSpPr>
        <p:spPr>
          <a:xfrm>
            <a:off x="10396728"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4</a:t>
            </a:r>
          </a:p>
        </p:txBody>
      </p:sp>
      <p:sp>
        <p:nvSpPr>
          <p:cNvPr id="74" name="TextBox 73"/>
          <p:cNvSpPr txBox="1"/>
          <p:nvPr/>
        </p:nvSpPr>
        <p:spPr>
          <a:xfrm>
            <a:off x="10396728"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to locate</a:t>
            </a:r>
          </a:p>
        </p:txBody>
      </p:sp>
      <p:pic>
        <p:nvPicPr>
          <p:cNvPr id="75" name="Picture 74" descr="image3.png"/>
          <p:cNvPicPr>
            <a:picLocks noChangeAspect="1"/>
          </p:cNvPicPr>
          <p:nvPr/>
        </p:nvPicPr>
        <p:blipFill>
          <a:blip r:embed="rId2"/>
          <a:stretch>
            <a:fillRect/>
          </a:stretch>
        </p:blipFill>
        <p:spPr>
          <a:xfrm>
            <a:off x="548640" y="6272784"/>
            <a:ext cx="1143000" cy="274320"/>
          </a:xfrm>
          <a:prstGeom prst="rect">
            <a:avLst/>
          </a:prstGeom>
        </p:spPr>
      </p:pic>
      <p:sp>
        <p:nvSpPr>
          <p:cNvPr id="7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7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CONFIDENCE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How sure we are that a message reaches the person who can say yes</a:t>
            </a:r>
          </a:p>
        </p:txBody>
      </p:sp>
      <p:graphicFrame>
        <p:nvGraphicFramePr>
          <p:cNvPr id="4" name="Table 3"/>
          <p:cNvGraphicFramePr>
            <a:graphicFrameLocks noGrp="1"/>
          </p:cNvGraphicFramePr>
          <p:nvPr/>
        </p:nvGraphicFramePr>
        <p:xfrm>
          <a:off x="548640" y="1325880"/>
          <a:ext cx="6812280" cy="3291840"/>
        </p:xfrm>
        <a:graphic>
          <a:graphicData uri="http://schemas.openxmlformats.org/drawingml/2006/table">
            <a:tbl>
              <a:tblPr firstRow="0" bandRow="0">
                <a:tableStyleId>{2D5ABB26-0587-4C30-8999-92F81FD0307C}</a:tableStyleId>
              </a:tblPr>
              <a:tblGrid>
                <a:gridCol w="1280160"/>
                <a:gridCol w="2423160"/>
                <a:gridCol w="1051560"/>
                <a:gridCol w="1143000"/>
                <a:gridCol w="914400"/>
              </a:tblGrid>
              <a:tr h="548640">
                <a:tc>
                  <a:txBody>
                    <a:bodyPr wrap="square"/>
                    <a:lstStyle/>
                    <a:p>
                      <a:r>
                        <a:rPr sz="900" b="1" i="0" spc="100">
                          <a:solidFill>
                            <a:srgbClr val="818283"/>
                          </a:solidFill>
                          <a:latin typeface="Arial"/>
                        </a:rPr>
                        <a:t>BAND</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WHAT IT MEANS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COMPANIES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INTRODUCERS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WELFARE</a:t>
                      </a:r>
                    </a:p>
                  </a:txBody>
                  <a:tcPr marL="54864" marR="54864" marT="36576" marB="36576" anchor="ctr">
                    <a:lnL w="0">
                      <a:noFill/>
                    </a:lnL>
                    <a:lnR w="0">
                      <a:noFill/>
                    </a:lnR>
                    <a:lnT w="0">
                      <a:noFill/>
                    </a:lnT>
                    <a:lnB w="12700">
                      <a:solidFill>
                        <a:srgbClr val="80BFEC"/>
                      </a:solidFill>
                    </a:lnB>
                    <a:noFill/>
                  </a:tcPr>
                </a:tc>
              </a:tr>
              <a:tr h="548640">
                <a:tc>
                  <a:txBody>
                    <a:bodyPr wrap="square"/>
                    <a:lstStyle/>
                    <a:p>
                      <a:r>
                        <a:rPr sz="1050" b="1" i="0">
                          <a:solidFill>
                            <a:srgbClr val="002368"/>
                          </a:solidFill>
                          <a:latin typeface="Arial"/>
                        </a:rPr>
                        <a:t>High · direct</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Their own address, or the inbox for their role (hr@, md@)</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36</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4</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14</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High · indirect</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A general inbox (info@) addressed to the named person</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228</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8</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55</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Medium</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The organisation's inbox: the message needs routing</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349</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10</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Low</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Held for checks or research</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52</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0</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117</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No email</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A phone or no route: the call sheets</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569</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0</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233</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Rounded Rectangle 4"/>
          <p:cNvSpPr/>
          <p:nvPr/>
        </p:nvSpPr>
        <p:spPr>
          <a:xfrm>
            <a:off x="548640" y="4846320"/>
            <a:ext cx="6812280" cy="1051560"/>
          </a:xfrm>
          <a:prstGeom prst="roundRect">
            <a:avLst>
              <a:gd name="adj" fmla="val 6086"/>
            </a:avLst>
          </a:prstGeom>
          <a:solidFill>
            <a:srgbClr val="FFF7E5"/>
          </a:solidFill>
          <a:ln w="12700">
            <a:solidFill>
              <a:srgbClr val="FFF7E5"/>
            </a:solidFill>
          </a:ln>
        </p:spPr>
        <p:txBody>
          <a:bodyPr rtlCol="0" anchor="ctr"/>
          <a:lstStyle/>
          <a:p>
            <a:pPr algn="ctr"/>
          </a:p>
        </p:txBody>
      </p:sp>
      <p:sp>
        <p:nvSpPr>
          <p:cNvPr id="6" name="Hexagon 5"/>
          <p:cNvSpPr/>
          <p:nvPr/>
        </p:nvSpPr>
        <p:spPr>
          <a:xfrm>
            <a:off x="777240" y="5029200"/>
            <a:ext cx="292608" cy="256032"/>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a:t>
            </a:r>
          </a:p>
        </p:txBody>
      </p:sp>
      <p:sp>
        <p:nvSpPr>
          <p:cNvPr id="7" name="TextBox 6"/>
          <p:cNvSpPr txBox="1"/>
          <p:nvPr/>
        </p:nvSpPr>
        <p:spPr>
          <a:xfrm>
            <a:off x="1234440" y="4956048"/>
            <a:ext cx="5943600" cy="868680"/>
          </a:xfrm>
          <a:prstGeom prst="rect">
            <a:avLst/>
          </a:prstGeom>
          <a:noFill/>
        </p:spPr>
        <p:txBody>
          <a:bodyPr wrap="square" lIns="0" tIns="0" rIns="0" bIns="0" anchor="t">
            <a:spAutoFit/>
          </a:bodyPr>
          <a:lstStyle/>
          <a:p>
            <a:pPr algn="l"/>
            <a:r>
              <a:rPr sz="1050" b="1" i="0">
                <a:solidFill>
                  <a:srgbClr val="002368"/>
                </a:solidFill>
                <a:latin typeface="Arial"/>
              </a:rPr>
              <a:t>Government: letters by hand to every office. </a:t>
            </a:r>
            <a:r>
              <a:rPr sz="1050" b="0" i="0">
                <a:solidFill>
                  <a:srgbClr val="000000"/>
                </a:solidFill>
                <a:latin typeface="Arial"/>
              </a:rPr>
              <a:t>The 4 pilot council letters are ready; the other 224 wait for the pilot, or for the council's introduction to its wards and villages.</a:t>
            </a:r>
          </a:p>
        </p:txBody>
      </p:sp>
      <p:sp>
        <p:nvSpPr>
          <p:cNvPr id="8" name="Rounded Rectangle 7"/>
          <p:cNvSpPr/>
          <p:nvPr/>
        </p:nvSpPr>
        <p:spPr>
          <a:xfrm>
            <a:off x="7589520" y="1325880"/>
            <a:ext cx="4050791" cy="4572000"/>
          </a:xfrm>
          <a:prstGeom prst="roundRect">
            <a:avLst>
              <a:gd name="adj" fmla="val 1580"/>
            </a:avLst>
          </a:prstGeom>
          <a:solidFill>
            <a:srgbClr val="D9ECF9"/>
          </a:solidFill>
          <a:ln w="12700">
            <a:solidFill>
              <a:srgbClr val="D9ECF9"/>
            </a:solidFill>
          </a:ln>
        </p:spPr>
        <p:txBody>
          <a:bodyPr rtlCol="0" anchor="ctr"/>
          <a:lstStyle/>
          <a:p>
            <a:pPr algn="ctr"/>
          </a:p>
        </p:txBody>
      </p:sp>
      <p:sp>
        <p:nvSpPr>
          <p:cNvPr id="9" name="TextBox 8"/>
          <p:cNvSpPr txBox="1"/>
          <p:nvPr/>
        </p:nvSpPr>
        <p:spPr>
          <a:xfrm>
            <a:off x="781812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THE RECIPIENT RULE</a:t>
            </a:r>
          </a:p>
        </p:txBody>
      </p:sp>
      <p:sp>
        <p:nvSpPr>
          <p:cNvPr id="10" name="TextBox 9"/>
          <p:cNvSpPr txBox="1"/>
          <p:nvPr/>
        </p:nvSpPr>
        <p:spPr>
          <a:xfrm>
            <a:off x="7818120" y="1755648"/>
            <a:ext cx="3611880" cy="731520"/>
          </a:xfrm>
          <a:prstGeom prst="rect">
            <a:avLst/>
          </a:prstGeom>
          <a:noFill/>
        </p:spPr>
        <p:txBody>
          <a:bodyPr wrap="square" lIns="0" tIns="0" rIns="0" bIns="0" anchor="t">
            <a:spAutoFit/>
          </a:bodyPr>
          <a:lstStyle/>
          <a:p>
            <a:pPr algn="l"/>
            <a:r>
              <a:rPr sz="1500" b="0" i="0">
                <a:solidFill>
                  <a:srgbClr val="002368"/>
                </a:solidFill>
                <a:latin typeface="Georgia"/>
              </a:rPr>
              <a:t>The first message goes to the in-country person who can decide.</a:t>
            </a:r>
          </a:p>
        </p:txBody>
      </p:sp>
      <p:sp>
        <p:nvSpPr>
          <p:cNvPr id="11" name="TextBox 10"/>
          <p:cNvSpPr txBox="1"/>
          <p:nvPr/>
        </p:nvSpPr>
        <p:spPr>
          <a:xfrm>
            <a:off x="7818120" y="2606040"/>
            <a:ext cx="3611880" cy="237744"/>
          </a:xfrm>
          <a:prstGeom prst="rect">
            <a:avLst/>
          </a:prstGeom>
          <a:noFill/>
        </p:spPr>
        <p:txBody>
          <a:bodyPr wrap="square" lIns="0" tIns="0" rIns="0" bIns="0" anchor="t">
            <a:spAutoFit/>
          </a:bodyPr>
          <a:lstStyle/>
          <a:p>
            <a:pPr algn="l"/>
            <a:r>
              <a:rPr sz="1050" b="1" i="0">
                <a:solidFill>
                  <a:srgbClr val="002368"/>
                </a:solidFill>
                <a:latin typeface="Arial"/>
              </a:rPr>
              <a:t>Employers</a:t>
            </a:r>
          </a:p>
        </p:txBody>
      </p:sp>
      <p:sp>
        <p:nvSpPr>
          <p:cNvPr id="12" name="TextBox 11"/>
          <p:cNvSpPr txBox="1"/>
          <p:nvPr/>
        </p:nvSpPr>
        <p:spPr>
          <a:xfrm>
            <a:off x="7818120" y="2843784"/>
            <a:ext cx="3611880" cy="548640"/>
          </a:xfrm>
          <a:prstGeom prst="rect">
            <a:avLst/>
          </a:prstGeom>
          <a:noFill/>
        </p:spPr>
        <p:txBody>
          <a:bodyPr wrap="square" lIns="0" tIns="0" rIns="0" bIns="0" anchor="t">
            <a:spAutoFit/>
          </a:bodyPr>
          <a:lstStyle/>
          <a:p>
            <a:pPr algn="l"/>
            <a:r>
              <a:rPr sz="950" b="0" i="0">
                <a:solidFill>
                  <a:srgbClr val="000000"/>
                </a:solidFill>
                <a:latin typeface="Arial"/>
              </a:rPr>
              <a:t>The most senior person running the Tanzania or Arusha operation: owner, founder, MD, GM or HR head.</a:t>
            </a:r>
          </a:p>
        </p:txBody>
      </p:sp>
      <p:sp>
        <p:nvSpPr>
          <p:cNvPr id="13" name="TextBox 12"/>
          <p:cNvSpPr txBox="1"/>
          <p:nvPr/>
        </p:nvSpPr>
        <p:spPr>
          <a:xfrm>
            <a:off x="7818120" y="3410712"/>
            <a:ext cx="3611880" cy="237744"/>
          </a:xfrm>
          <a:prstGeom prst="rect">
            <a:avLst/>
          </a:prstGeom>
          <a:noFill/>
        </p:spPr>
        <p:txBody>
          <a:bodyPr wrap="square" lIns="0" tIns="0" rIns="0" bIns="0" anchor="t">
            <a:spAutoFit/>
          </a:bodyPr>
          <a:lstStyle/>
          <a:p>
            <a:pPr algn="l"/>
            <a:r>
              <a:rPr sz="1050" b="1" i="0">
                <a:solidFill>
                  <a:srgbClr val="002368"/>
                </a:solidFill>
                <a:latin typeface="Arial"/>
              </a:rPr>
              <a:t>Welfare</a:t>
            </a:r>
          </a:p>
        </p:txBody>
      </p:sp>
      <p:sp>
        <p:nvSpPr>
          <p:cNvPr id="14" name="TextBox 13"/>
          <p:cNvSpPr txBox="1"/>
          <p:nvPr/>
        </p:nvSpPr>
        <p:spPr>
          <a:xfrm>
            <a:off x="7818120" y="3648456"/>
            <a:ext cx="3611880" cy="548640"/>
          </a:xfrm>
          <a:prstGeom prst="rect">
            <a:avLst/>
          </a:prstGeom>
          <a:noFill/>
        </p:spPr>
        <p:txBody>
          <a:bodyPr wrap="square" lIns="0" tIns="0" rIns="0" bIns="0" anchor="t">
            <a:spAutoFit/>
          </a:bodyPr>
          <a:lstStyle/>
          <a:p>
            <a:pPr algn="l"/>
            <a:r>
              <a:rPr sz="950" b="0" i="0">
                <a:solidFill>
                  <a:srgbClr val="000000"/>
                </a:solidFill>
                <a:latin typeface="Arial"/>
              </a:rPr>
              <a:t>The head of the home, country manager or programme director; a chair only when no executive is named.</a:t>
            </a:r>
          </a:p>
        </p:txBody>
      </p:sp>
      <p:sp>
        <p:nvSpPr>
          <p:cNvPr id="15" name="TextBox 14"/>
          <p:cNvSpPr txBox="1"/>
          <p:nvPr/>
        </p:nvSpPr>
        <p:spPr>
          <a:xfrm>
            <a:off x="7818120" y="4215384"/>
            <a:ext cx="3611880" cy="237744"/>
          </a:xfrm>
          <a:prstGeom prst="rect">
            <a:avLst/>
          </a:prstGeom>
          <a:noFill/>
        </p:spPr>
        <p:txBody>
          <a:bodyPr wrap="square" lIns="0" tIns="0" rIns="0" bIns="0" anchor="t">
            <a:spAutoFit/>
          </a:bodyPr>
          <a:lstStyle/>
          <a:p>
            <a:pPr algn="l"/>
            <a:r>
              <a:rPr sz="1050" b="1" i="0">
                <a:solidFill>
                  <a:srgbClr val="002368"/>
                </a:solidFill>
                <a:latin typeface="Arial"/>
              </a:rPr>
              <a:t>Escalation</a:t>
            </a:r>
          </a:p>
        </p:txBody>
      </p:sp>
      <p:sp>
        <p:nvSpPr>
          <p:cNvPr id="16" name="TextBox 15"/>
          <p:cNvSpPr txBox="1"/>
          <p:nvPr/>
        </p:nvSpPr>
        <p:spPr>
          <a:xfrm>
            <a:off x="7818120" y="4453128"/>
            <a:ext cx="3611880" cy="548640"/>
          </a:xfrm>
          <a:prstGeom prst="rect">
            <a:avLst/>
          </a:prstGeom>
          <a:noFill/>
        </p:spPr>
        <p:txBody>
          <a:bodyPr wrap="square" lIns="0" tIns="0" rIns="0" bIns="0" anchor="t">
            <a:spAutoFit/>
          </a:bodyPr>
          <a:lstStyle/>
          <a:p>
            <a:pPr algn="l"/>
            <a:r>
              <a:rPr sz="950" b="0" i="0">
                <a:solidFill>
                  <a:srgbClr val="000000"/>
                </a:solidFill>
                <a:latin typeface="Arial"/>
              </a:rPr>
              <a:t>A group or global executive is recorded, never copied, and used only after silence, a decline or a referral to head office.</a:t>
            </a:r>
          </a:p>
        </p:txBody>
      </p:sp>
      <p:sp>
        <p:nvSpPr>
          <p:cNvPr id="17" name="TextBox 16"/>
          <p:cNvSpPr txBox="1"/>
          <p:nvPr/>
        </p:nvSpPr>
        <p:spPr>
          <a:xfrm>
            <a:off x="7818120" y="5020056"/>
            <a:ext cx="3611880" cy="237744"/>
          </a:xfrm>
          <a:prstGeom prst="rect">
            <a:avLst/>
          </a:prstGeom>
          <a:noFill/>
        </p:spPr>
        <p:txBody>
          <a:bodyPr wrap="square" lIns="0" tIns="0" rIns="0" bIns="0" anchor="t">
            <a:spAutoFit/>
          </a:bodyPr>
          <a:lstStyle/>
          <a:p>
            <a:pPr algn="l"/>
            <a:r>
              <a:rPr sz="1050" b="1" i="0">
                <a:solidFill>
                  <a:srgbClr val="002368"/>
                </a:solidFill>
                <a:latin typeface="Arial"/>
              </a:rPr>
              <a:t>Never chosen</a:t>
            </a:r>
          </a:p>
        </p:txBody>
      </p:sp>
      <p:sp>
        <p:nvSpPr>
          <p:cNvPr id="18" name="TextBox 17"/>
          <p:cNvSpPr txBox="1"/>
          <p:nvPr/>
        </p:nvSpPr>
        <p:spPr>
          <a:xfrm>
            <a:off x="7818120" y="5257800"/>
            <a:ext cx="3611880" cy="548640"/>
          </a:xfrm>
          <a:prstGeom prst="rect">
            <a:avLst/>
          </a:prstGeom>
          <a:noFill/>
        </p:spPr>
        <p:txBody>
          <a:bodyPr wrap="square" lIns="0" tIns="0" rIns="0" bIns="0" anchor="t">
            <a:spAutoFit/>
          </a:bodyPr>
          <a:lstStyle/>
          <a:p>
            <a:pPr algn="l"/>
            <a:r>
              <a:rPr sz="950" b="0" i="0">
                <a:solidFill>
                  <a:srgbClr val="000000"/>
                </a:solidFill>
                <a:latin typeface="Arial"/>
              </a:rPr>
              <a:t>Vice chairs, treasurers and secretaries.</a:t>
            </a:r>
          </a:p>
        </p:txBody>
      </p:sp>
      <p:pic>
        <p:nvPicPr>
          <p:cNvPr id="19" name="Picture 18" descr="image3.png"/>
          <p:cNvPicPr>
            <a:picLocks noChangeAspect="1"/>
          </p:cNvPicPr>
          <p:nvPr/>
        </p:nvPicPr>
        <p:blipFill>
          <a:blip r:embed="rId2"/>
          <a:stretch>
            <a:fillRect/>
          </a:stretch>
        </p:blipFill>
        <p:spPr>
          <a:xfrm>
            <a:off x="548640" y="6272784"/>
            <a:ext cx="1143000" cy="274320"/>
          </a:xfrm>
          <a:prstGeom prst="rect">
            <a:avLst/>
          </a:prstGeom>
        </p:spPr>
      </p:pic>
      <p:sp>
        <p:nvSpPr>
          <p:cNvPr id="20"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contact segments, October 2026</a:t>
            </a:r>
          </a:p>
        </p:txBody>
      </p:sp>
      <p:sp>
        <p:nvSpPr>
          <p:cNvPr id="2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FIRST TOUCH</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Relevance, not ambiguity</a:t>
            </a:r>
          </a:p>
        </p:txBody>
      </p:sp>
      <p:sp>
        <p:nvSpPr>
          <p:cNvPr id="4" name="Rounded Rectangle 3"/>
          <p:cNvSpPr/>
          <p:nvPr/>
        </p:nvSpPr>
        <p:spPr>
          <a:xfrm>
            <a:off x="548640" y="1298448"/>
            <a:ext cx="11091672" cy="1188720"/>
          </a:xfrm>
          <a:prstGeom prst="roundRect">
            <a:avLst>
              <a:gd name="adj" fmla="val 5384"/>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481328"/>
            <a:ext cx="3840480" cy="822960"/>
          </a:xfrm>
          <a:prstGeom prst="rect">
            <a:avLst/>
          </a:prstGeom>
          <a:noFill/>
        </p:spPr>
        <p:txBody>
          <a:bodyPr wrap="square" lIns="0" tIns="0" rIns="0" bIns="0" anchor="t">
            <a:spAutoFit/>
          </a:bodyPr>
          <a:lstStyle/>
          <a:p>
            <a:pPr algn="l"/>
            <a:r>
              <a:rPr sz="2400" b="0" i="0">
                <a:solidFill>
                  <a:srgbClr val="002368"/>
                </a:solidFill>
                <a:latin typeface="Georgia"/>
              </a:rPr>
              <a:t>Ask first. Offer second.</a:t>
            </a:r>
          </a:p>
        </p:txBody>
      </p:sp>
      <p:sp>
        <p:nvSpPr>
          <p:cNvPr id="6" name="TextBox 5"/>
          <p:cNvSpPr txBox="1"/>
          <p:nvPr/>
        </p:nvSpPr>
        <p:spPr>
          <a:xfrm>
            <a:off x="4754880" y="1417320"/>
            <a:ext cx="6629400" cy="1005840"/>
          </a:xfrm>
          <a:prstGeom prst="rect">
            <a:avLst/>
          </a:prstGeom>
          <a:noFill/>
        </p:spPr>
        <p:txBody>
          <a:bodyPr wrap="square" lIns="0" tIns="0" rIns="0" bIns="0" anchor="ctr">
            <a:spAutoFit/>
          </a:bodyPr>
          <a:lstStyle/>
          <a:p>
            <a:pPr algn="l"/>
            <a:r>
              <a:rPr sz="1150" b="1" i="0">
                <a:solidFill>
                  <a:srgbClr val="002368"/>
                </a:solidFill>
                <a:latin typeface="Arial"/>
              </a:rPr>
              <a:t>The first message asks for a short meeting and states no offer terms; the offer follows once the conversation is open. </a:t>
            </a:r>
            <a:r>
              <a:rPr sz="1150" b="0" i="0">
                <a:solidFill>
                  <a:srgbClr val="000000"/>
                </a:solidFill>
                <a:latin typeface="Arial"/>
              </a:rPr>
              <a:t>An ambiguous request to a general inbox is likely to be ignored, so the first job is to reach the person who decides.</a:t>
            </a:r>
          </a:p>
        </p:txBody>
      </p:sp>
      <p:sp>
        <p:nvSpPr>
          <p:cNvPr id="7" name="Rounded Rectangle 6"/>
          <p:cNvSpPr/>
          <p:nvPr/>
        </p:nvSpPr>
        <p:spPr>
          <a:xfrm>
            <a:off x="548640" y="2743200"/>
            <a:ext cx="3593592" cy="2743200"/>
          </a:xfrm>
          <a:prstGeom prst="roundRect">
            <a:avLst>
              <a:gd name="adj" fmla="val 2333"/>
            </a:avLst>
          </a:prstGeom>
          <a:solidFill>
            <a:srgbClr val="002368"/>
          </a:solidFill>
          <a:ln w="12700">
            <a:solidFill>
              <a:srgbClr val="002368"/>
            </a:solidFill>
          </a:ln>
        </p:spPr>
        <p:txBody>
          <a:bodyPr rtlCol="0" anchor="ctr"/>
          <a:lstStyle/>
          <a:p>
            <a:pPr algn="ctr"/>
          </a:p>
        </p:txBody>
      </p:sp>
      <p:sp>
        <p:nvSpPr>
          <p:cNvPr id="8" name="TextBox 7"/>
          <p:cNvSpPr txBox="1"/>
          <p:nvPr/>
        </p:nvSpPr>
        <p:spPr>
          <a:xfrm>
            <a:off x="822959" y="2880360"/>
            <a:ext cx="914400" cy="731520"/>
          </a:xfrm>
          <a:prstGeom prst="rect">
            <a:avLst/>
          </a:prstGeom>
          <a:noFill/>
        </p:spPr>
        <p:txBody>
          <a:bodyPr wrap="square" lIns="0" tIns="0" rIns="0" bIns="0" anchor="t">
            <a:spAutoFit/>
          </a:bodyPr>
          <a:lstStyle/>
          <a:p>
            <a:pPr algn="l"/>
            <a:r>
              <a:rPr sz="4000" b="0" i="0">
                <a:solidFill>
                  <a:srgbClr val="FFC952"/>
                </a:solidFill>
                <a:latin typeface="Georgia"/>
              </a:rPr>
              <a:t>A</a:t>
            </a:r>
          </a:p>
        </p:txBody>
      </p:sp>
      <p:sp>
        <p:nvSpPr>
          <p:cNvPr id="9" name="TextBox 8"/>
          <p:cNvSpPr txBox="1"/>
          <p:nvPr/>
        </p:nvSpPr>
        <p:spPr>
          <a:xfrm>
            <a:off x="1645919" y="3081528"/>
            <a:ext cx="2286000" cy="365760"/>
          </a:xfrm>
          <a:prstGeom prst="rect">
            <a:avLst/>
          </a:prstGeom>
          <a:noFill/>
        </p:spPr>
        <p:txBody>
          <a:bodyPr wrap="square" lIns="0" tIns="0" rIns="0" bIns="0" anchor="t">
            <a:spAutoFit/>
          </a:bodyPr>
          <a:lstStyle/>
          <a:p>
            <a:pPr algn="l"/>
            <a:r>
              <a:rPr sz="1700" b="1" i="0">
                <a:solidFill>
                  <a:srgbClr val="FFFFFF"/>
                </a:solidFill>
                <a:latin typeface="Arial"/>
              </a:rPr>
              <a:t>Direct</a:t>
            </a:r>
          </a:p>
        </p:txBody>
      </p:sp>
      <p:sp>
        <p:nvSpPr>
          <p:cNvPr id="10" name="TextBox 9"/>
          <p:cNvSpPr txBox="1"/>
          <p:nvPr/>
        </p:nvSpPr>
        <p:spPr>
          <a:xfrm>
            <a:off x="822959" y="3703320"/>
            <a:ext cx="3108960" cy="548640"/>
          </a:xfrm>
          <a:prstGeom prst="rect">
            <a:avLst/>
          </a:prstGeom>
          <a:noFill/>
        </p:spPr>
        <p:txBody>
          <a:bodyPr wrap="square" lIns="0" tIns="0" rIns="0" bIns="0" anchor="t">
            <a:spAutoFit/>
          </a:bodyPr>
          <a:lstStyle/>
          <a:p>
            <a:pPr algn="l"/>
            <a:r>
              <a:rPr sz="1200" b="1" i="0">
                <a:solidFill>
                  <a:srgbClr val="FFFFFF"/>
                </a:solidFill>
                <a:latin typeface="Arial"/>
              </a:rPr>
              <a:t>A named person with their own or their role's address</a:t>
            </a:r>
          </a:p>
        </p:txBody>
      </p:sp>
      <p:sp>
        <p:nvSpPr>
          <p:cNvPr id="11" name="TextBox 10"/>
          <p:cNvSpPr txBox="1"/>
          <p:nvPr/>
        </p:nvSpPr>
        <p:spPr>
          <a:xfrm>
            <a:off x="822959" y="4297680"/>
            <a:ext cx="3108960" cy="1097280"/>
          </a:xfrm>
          <a:prstGeom prst="rect">
            <a:avLst/>
          </a:prstGeom>
          <a:noFill/>
        </p:spPr>
        <p:txBody>
          <a:bodyPr wrap="square" lIns="0" tIns="0" rIns="0" bIns="0" anchor="t">
            <a:spAutoFit/>
          </a:bodyPr>
          <a:lstStyle/>
          <a:p>
            <a:pPr algn="l"/>
            <a:r>
              <a:rPr sz="1100" b="0" i="0">
                <a:solidFill>
                  <a:srgbClr val="FFFFFF"/>
                </a:solidFill>
                <a:latin typeface="Arial"/>
              </a:rPr>
              <a:t>The meeting request goes straight to them.</a:t>
            </a:r>
          </a:p>
        </p:txBody>
      </p:sp>
      <p:sp>
        <p:nvSpPr>
          <p:cNvPr id="12" name="Rounded Rectangle 11"/>
          <p:cNvSpPr/>
          <p:nvPr/>
        </p:nvSpPr>
        <p:spPr>
          <a:xfrm>
            <a:off x="4297679" y="2743200"/>
            <a:ext cx="3593592" cy="2743200"/>
          </a:xfrm>
          <a:prstGeom prst="roundRect">
            <a:avLst>
              <a:gd name="adj" fmla="val 2333"/>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4571999" y="2880360"/>
            <a:ext cx="914400" cy="731520"/>
          </a:xfrm>
          <a:prstGeom prst="rect">
            <a:avLst/>
          </a:prstGeom>
          <a:noFill/>
        </p:spPr>
        <p:txBody>
          <a:bodyPr wrap="square" lIns="0" tIns="0" rIns="0" bIns="0" anchor="t">
            <a:spAutoFit/>
          </a:bodyPr>
          <a:lstStyle/>
          <a:p>
            <a:pPr algn="l"/>
            <a:r>
              <a:rPr sz="4000" b="0" i="0">
                <a:solidFill>
                  <a:srgbClr val="002368"/>
                </a:solidFill>
                <a:latin typeface="Georgia"/>
              </a:rPr>
              <a:t>B</a:t>
            </a:r>
          </a:p>
        </p:txBody>
      </p:sp>
      <p:sp>
        <p:nvSpPr>
          <p:cNvPr id="14" name="TextBox 13"/>
          <p:cNvSpPr txBox="1"/>
          <p:nvPr/>
        </p:nvSpPr>
        <p:spPr>
          <a:xfrm>
            <a:off x="5394959" y="3081528"/>
            <a:ext cx="2286000" cy="365760"/>
          </a:xfrm>
          <a:prstGeom prst="rect">
            <a:avLst/>
          </a:prstGeom>
          <a:noFill/>
        </p:spPr>
        <p:txBody>
          <a:bodyPr wrap="square" lIns="0" tIns="0" rIns="0" bIns="0" anchor="t">
            <a:spAutoFit/>
          </a:bodyPr>
          <a:lstStyle/>
          <a:p>
            <a:pPr algn="l"/>
            <a:r>
              <a:rPr sz="1700" b="1" i="0">
                <a:solidFill>
                  <a:srgbClr val="002368"/>
                </a:solidFill>
                <a:latin typeface="Arial"/>
              </a:rPr>
              <a:t>Attn</a:t>
            </a:r>
          </a:p>
        </p:txBody>
      </p:sp>
      <p:sp>
        <p:nvSpPr>
          <p:cNvPr id="15" name="TextBox 14"/>
          <p:cNvSpPr txBox="1"/>
          <p:nvPr/>
        </p:nvSpPr>
        <p:spPr>
          <a:xfrm>
            <a:off x="4571999" y="3703320"/>
            <a:ext cx="3108960" cy="548640"/>
          </a:xfrm>
          <a:prstGeom prst="rect">
            <a:avLst/>
          </a:prstGeom>
          <a:noFill/>
        </p:spPr>
        <p:txBody>
          <a:bodyPr wrap="square" lIns="0" tIns="0" rIns="0" bIns="0" anchor="t">
            <a:spAutoFit/>
          </a:bodyPr>
          <a:lstStyle/>
          <a:p>
            <a:pPr algn="l"/>
            <a:r>
              <a:rPr sz="1200" b="1" i="0">
                <a:solidFill>
                  <a:srgbClr val="002368"/>
                </a:solidFill>
                <a:latin typeface="Arial"/>
              </a:rPr>
              <a:t>A named person, but only a general inbox</a:t>
            </a:r>
          </a:p>
        </p:txBody>
      </p:sp>
      <p:sp>
        <p:nvSpPr>
          <p:cNvPr id="16" name="TextBox 15"/>
          <p:cNvSpPr txBox="1"/>
          <p:nvPr/>
        </p:nvSpPr>
        <p:spPr>
          <a:xfrm>
            <a:off x="4571999" y="4297680"/>
            <a:ext cx="3108960" cy="1097280"/>
          </a:xfrm>
          <a:prstGeom prst="rect">
            <a:avLst/>
          </a:prstGeom>
          <a:noFill/>
        </p:spPr>
        <p:txBody>
          <a:bodyPr wrap="square" lIns="0" tIns="0" rIns="0" bIns="0" anchor="t">
            <a:spAutoFit/>
          </a:bodyPr>
          <a:lstStyle/>
          <a:p>
            <a:pPr algn="l"/>
            <a:r>
              <a:rPr sz="1100" b="0" i="0">
                <a:solidFill>
                  <a:srgbClr val="002368"/>
                </a:solidFill>
                <a:latin typeface="Arial"/>
              </a:rPr>
              <a:t>The full letter to the inbox, addressed to them by name, with a routing line at the top.</a:t>
            </a:r>
          </a:p>
        </p:txBody>
      </p:sp>
      <p:sp>
        <p:nvSpPr>
          <p:cNvPr id="17" name="Rounded Rectangle 16"/>
          <p:cNvSpPr/>
          <p:nvPr/>
        </p:nvSpPr>
        <p:spPr>
          <a:xfrm>
            <a:off x="8046719" y="2743200"/>
            <a:ext cx="3593592" cy="2743200"/>
          </a:xfrm>
          <a:prstGeom prst="roundRect">
            <a:avLst>
              <a:gd name="adj" fmla="val 2333"/>
            </a:avLst>
          </a:prstGeom>
          <a:solidFill>
            <a:srgbClr val="D9ECF9"/>
          </a:solidFill>
          <a:ln w="12700">
            <a:solidFill>
              <a:srgbClr val="D9ECF9"/>
            </a:solidFill>
          </a:ln>
        </p:spPr>
        <p:txBody>
          <a:bodyPr rtlCol="0" anchor="ctr"/>
          <a:lstStyle/>
          <a:p>
            <a:pPr algn="ctr"/>
          </a:p>
        </p:txBody>
      </p:sp>
      <p:sp>
        <p:nvSpPr>
          <p:cNvPr id="18" name="TextBox 17"/>
          <p:cNvSpPr txBox="1"/>
          <p:nvPr/>
        </p:nvSpPr>
        <p:spPr>
          <a:xfrm>
            <a:off x="8321040" y="2880360"/>
            <a:ext cx="914400" cy="731520"/>
          </a:xfrm>
          <a:prstGeom prst="rect">
            <a:avLst/>
          </a:prstGeom>
          <a:noFill/>
        </p:spPr>
        <p:txBody>
          <a:bodyPr wrap="square" lIns="0" tIns="0" rIns="0" bIns="0" anchor="t">
            <a:spAutoFit/>
          </a:bodyPr>
          <a:lstStyle/>
          <a:p>
            <a:pPr algn="l"/>
            <a:r>
              <a:rPr sz="4000" b="0" i="0">
                <a:solidFill>
                  <a:srgbClr val="002368"/>
                </a:solidFill>
                <a:latin typeface="Georgia"/>
              </a:rPr>
              <a:t>C</a:t>
            </a:r>
          </a:p>
        </p:txBody>
      </p:sp>
      <p:sp>
        <p:nvSpPr>
          <p:cNvPr id="19" name="TextBox 18"/>
          <p:cNvSpPr txBox="1"/>
          <p:nvPr/>
        </p:nvSpPr>
        <p:spPr>
          <a:xfrm>
            <a:off x="9143999" y="3081528"/>
            <a:ext cx="2286000" cy="365760"/>
          </a:xfrm>
          <a:prstGeom prst="rect">
            <a:avLst/>
          </a:prstGeom>
          <a:noFill/>
        </p:spPr>
        <p:txBody>
          <a:bodyPr wrap="square" lIns="0" tIns="0" rIns="0" bIns="0" anchor="t">
            <a:spAutoFit/>
          </a:bodyPr>
          <a:lstStyle/>
          <a:p>
            <a:pPr algn="l"/>
            <a:r>
              <a:rPr sz="1700" b="1" i="0">
                <a:solidFill>
                  <a:srgbClr val="002368"/>
                </a:solidFill>
                <a:latin typeface="Arial"/>
              </a:rPr>
              <a:t>Redirect</a:t>
            </a:r>
          </a:p>
        </p:txBody>
      </p:sp>
      <p:sp>
        <p:nvSpPr>
          <p:cNvPr id="20" name="TextBox 19"/>
          <p:cNvSpPr txBox="1"/>
          <p:nvPr/>
        </p:nvSpPr>
        <p:spPr>
          <a:xfrm>
            <a:off x="8321040" y="3703320"/>
            <a:ext cx="3108960" cy="548640"/>
          </a:xfrm>
          <a:prstGeom prst="rect">
            <a:avLst/>
          </a:prstGeom>
          <a:noFill/>
        </p:spPr>
        <p:txBody>
          <a:bodyPr wrap="square" lIns="0" tIns="0" rIns="0" bIns="0" anchor="t">
            <a:spAutoFit/>
          </a:bodyPr>
          <a:lstStyle/>
          <a:p>
            <a:pPr algn="l"/>
            <a:r>
              <a:rPr sz="1200" b="1" i="0">
                <a:solidFill>
                  <a:srgbClr val="002368"/>
                </a:solidFill>
                <a:latin typeface="Arial"/>
              </a:rPr>
              <a:t>No named person, only a general inbox</a:t>
            </a:r>
          </a:p>
        </p:txBody>
      </p:sp>
      <p:sp>
        <p:nvSpPr>
          <p:cNvPr id="21" name="TextBox 20"/>
          <p:cNvSpPr txBox="1"/>
          <p:nvPr/>
        </p:nvSpPr>
        <p:spPr>
          <a:xfrm>
            <a:off x="8321040" y="4297680"/>
            <a:ext cx="3108960" cy="1097280"/>
          </a:xfrm>
          <a:prstGeom prst="rect">
            <a:avLst/>
          </a:prstGeom>
          <a:noFill/>
        </p:spPr>
        <p:txBody>
          <a:bodyPr wrap="square" lIns="0" tIns="0" rIns="0" bIns="0" anchor="t">
            <a:spAutoFit/>
          </a:bodyPr>
          <a:lstStyle/>
          <a:p>
            <a:pPr algn="l"/>
            <a:r>
              <a:rPr sz="1100" b="0" i="0">
                <a:solidFill>
                  <a:srgbClr val="002368"/>
                </a:solidFill>
                <a:latin typeface="Arial"/>
              </a:rPr>
              <a:t>A short redirect request instead of the pitch. A reply or forward gives a name, and the lead moves to B or A.</a:t>
            </a:r>
          </a:p>
        </p:txBody>
      </p:sp>
      <p:sp>
        <p:nvSpPr>
          <p:cNvPr id="22" name="TextBox 21"/>
          <p:cNvSpPr txBox="1"/>
          <p:nvPr/>
        </p:nvSpPr>
        <p:spPr>
          <a:xfrm>
            <a:off x="548640" y="5623560"/>
            <a:ext cx="11064240" cy="365760"/>
          </a:xfrm>
          <a:prstGeom prst="rect">
            <a:avLst/>
          </a:prstGeom>
          <a:noFill/>
        </p:spPr>
        <p:txBody>
          <a:bodyPr wrap="square" lIns="0" tIns="0" rIns="0" bIns="0" anchor="t">
            <a:spAutoFit/>
          </a:bodyPr>
          <a:lstStyle/>
          <a:p>
            <a:pPr algn="l"/>
            <a:r>
              <a:rPr sz="1300" b="0" i="0">
                <a:solidFill>
                  <a:srgbClr val="002368"/>
                </a:solidFill>
                <a:latin typeface="Georgia"/>
              </a:rPr>
              <a:t>No email: case C by phone. Government: letters by hand, addressed to the office by title.</a:t>
            </a:r>
          </a:p>
        </p:txBody>
      </p:sp>
      <p:pic>
        <p:nvPicPr>
          <p:cNvPr id="23" name="Picture 22" descr="image3.png"/>
          <p:cNvPicPr>
            <a:picLocks noChangeAspect="1"/>
          </p:cNvPicPr>
          <p:nvPr/>
        </p:nvPicPr>
        <p:blipFill>
          <a:blip r:embed="rId2"/>
          <a:stretch>
            <a:fillRect/>
          </a:stretch>
        </p:blipFill>
        <p:spPr>
          <a:xfrm>
            <a:off x="548640" y="6272784"/>
            <a:ext cx="1143000" cy="274320"/>
          </a:xfrm>
          <a:prstGeom prst="rect">
            <a:avLst/>
          </a:prstGeom>
        </p:spPr>
      </p:pic>
      <p:sp>
        <p:nvSpPr>
          <p:cNvPr id="24"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and offer register</a:t>
            </a:r>
          </a:p>
        </p:txBody>
      </p:sp>
      <p:sp>
        <p:nvSpPr>
          <p:cNvPr id="2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TEMPLATES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Case A and case B: the same letter, routed differently</a:t>
            </a:r>
          </a:p>
        </p:txBody>
      </p:sp>
      <p:sp>
        <p:nvSpPr>
          <p:cNvPr id="4" name="Rounded Rectangle 3"/>
          <p:cNvSpPr/>
          <p:nvPr/>
        </p:nvSpPr>
        <p:spPr>
          <a:xfrm>
            <a:off x="548640" y="1325880"/>
            <a:ext cx="5440680" cy="3520440"/>
          </a:xfrm>
          <a:prstGeom prst="roundRect">
            <a:avLst>
              <a:gd name="adj" fmla="val 1818"/>
            </a:avLst>
          </a:prstGeom>
          <a:solidFill>
            <a:srgbClr val="FFFFFF"/>
          </a:solidFill>
          <a:ln w="12700">
            <a:solidFill>
              <a:srgbClr val="D9ECF9"/>
            </a:solidFill>
          </a:ln>
        </p:spPr>
        <p:txBody>
          <a:bodyPr rtlCol="0" anchor="ctr"/>
          <a:lstStyle/>
          <a:p>
            <a:pPr algn="ctr"/>
          </a:p>
        </p:txBody>
      </p:sp>
      <p:sp>
        <p:nvSpPr>
          <p:cNvPr id="5" name="TextBox 4"/>
          <p:cNvSpPr txBox="1"/>
          <p:nvPr/>
        </p:nvSpPr>
        <p:spPr>
          <a:xfrm>
            <a:off x="777240" y="1463040"/>
            <a:ext cx="5029200" cy="274320"/>
          </a:xfrm>
          <a:prstGeom prst="rect">
            <a:avLst/>
          </a:prstGeom>
          <a:noFill/>
        </p:spPr>
        <p:txBody>
          <a:bodyPr wrap="square" lIns="0" tIns="0" rIns="0" bIns="0" anchor="t">
            <a:spAutoFit/>
          </a:bodyPr>
          <a:lstStyle/>
          <a:p>
            <a:pPr algn="l"/>
            <a:r>
              <a:rPr sz="900" b="1" i="0" spc="200">
                <a:solidFill>
                  <a:srgbClr val="818283"/>
                </a:solidFill>
                <a:latin typeface="Arial"/>
              </a:rPr>
              <a:t>CASE A  ·  EMPLOYER (VARIANT B), DIRECT</a:t>
            </a:r>
          </a:p>
        </p:txBody>
      </p:sp>
      <p:sp>
        <p:nvSpPr>
          <p:cNvPr id="6" name="TextBox 5"/>
          <p:cNvSpPr txBox="1"/>
          <p:nvPr/>
        </p:nvSpPr>
        <p:spPr>
          <a:xfrm>
            <a:off x="777240" y="1755648"/>
            <a:ext cx="5029200" cy="3017520"/>
          </a:xfrm>
          <a:prstGeom prst="rect">
            <a:avLst/>
          </a:prstGeom>
          <a:noFill/>
        </p:spPr>
        <p:txBody>
          <a:bodyPr wrap="square" lIns="0" tIns="0" rIns="0" bIns="0" anchor="t">
            <a:spAutoFit/>
          </a:bodyPr>
          <a:lstStyle/>
          <a:p>
            <a:pPr algn="l"/>
            <a:r>
              <a:rPr sz="1000" b="1" i="0">
                <a:solidFill>
                  <a:srgbClr val="002368"/>
                </a:solidFill>
                <a:latin typeface="Arial"/>
              </a:rPr>
              <a:t>Subject: A partnership on education benefits for &lt;Organisation&gt; staff</a:t>
            </a:r>
          </a:p>
          <a:p>
            <a:pPr algn="l"/>
            <a:r>
              <a:rPr sz="1000" b="0" i="0">
                <a:solidFill>
                  <a:srgbClr val="000000"/>
                </a:solidFill>
                <a:latin typeface="Arial"/>
              </a:rPr>
              <a:t/>
            </a:r>
          </a:p>
          <a:p>
            <a:pPr algn="l"/>
            <a:r>
              <a:rPr sz="1000" b="0" i="0">
                <a:solidFill>
                  <a:srgbClr val="000000"/>
                </a:solidFill>
                <a:latin typeface="Arial"/>
              </a:rPr>
              <a:t>Dear &lt;Full Name&gt;,</a:t>
            </a:r>
          </a:p>
          <a:p>
            <a:pPr algn="l"/>
            <a:r>
              <a:rPr sz="1000" b="0" i="0">
                <a:solidFill>
                  <a:srgbClr val="000000"/>
                </a:solidFill>
                <a:latin typeface="Arial"/>
              </a:rPr>
              <a:t/>
            </a:r>
          </a:p>
          <a:p>
            <a:pPr algn="l"/>
            <a:r>
              <a:rPr sz="1000" b="0" i="0">
                <a:solidFill>
                  <a:srgbClr val="000000"/>
                </a:solidFill>
                <a:latin typeface="Arial"/>
              </a:rPr>
              <a:t>My name is &lt;Sender name&gt;, &lt;Sender role&gt; at Silverleaf Academy in Arusha.</a:t>
            </a:r>
          </a:p>
          <a:p>
            <a:pPr algn="l"/>
            <a:r>
              <a:rPr sz="1000" b="0" i="0">
                <a:solidFill>
                  <a:srgbClr val="000000"/>
                </a:solidFill>
                <a:latin typeface="Arial"/>
              </a:rPr>
              <a:t/>
            </a:r>
          </a:p>
          <a:p>
            <a:pPr algn="l"/>
            <a:r>
              <a:rPr sz="1000" b="0" i="0">
                <a:solidFill>
                  <a:srgbClr val="000000"/>
                </a:solidFill>
                <a:latin typeface="Arial"/>
              </a:rPr>
              <a:t>We are looking to set up a partnership with &lt;Organisation&gt; to provide an education benefit for the children of your staff. [Verified hook, if any.] I would welcome the chance to explain how it could work, and to discuss whether it might suit you and your team.</a:t>
            </a:r>
          </a:p>
          <a:p>
            <a:pPr algn="l"/>
            <a:r>
              <a:rPr sz="1000" b="0" i="0">
                <a:solidFill>
                  <a:srgbClr val="000000"/>
                </a:solidFill>
                <a:latin typeface="Arial"/>
              </a:rPr>
              <a:t/>
            </a:r>
          </a:p>
          <a:p>
            <a:pPr algn="l"/>
            <a:r>
              <a:rPr sz="1000" b="0" i="0">
                <a:solidFill>
                  <a:srgbClr val="000000"/>
                </a:solidFill>
                <a:latin typeface="Arial"/>
              </a:rPr>
              <a:t>Would it be possible to arrange a short meeting, either in person or by phone, to discuss this further?</a:t>
            </a:r>
          </a:p>
          <a:p>
            <a:pPr algn="l"/>
            <a:r>
              <a:rPr sz="1000" b="0" i="0">
                <a:solidFill>
                  <a:srgbClr val="000000"/>
                </a:solidFill>
                <a:latin typeface="Arial"/>
              </a:rPr>
              <a:t/>
            </a:r>
          </a:p>
          <a:p>
            <a:pPr algn="l"/>
            <a:r>
              <a:rPr sz="1000" b="0" i="0">
                <a:solidFill>
                  <a:srgbClr val="000000"/>
                </a:solidFill>
                <a:latin typeface="Arial"/>
              </a:rPr>
              <a:t>Warm regards, &lt;Sender name&gt;</a:t>
            </a:r>
          </a:p>
        </p:txBody>
      </p:sp>
      <p:sp>
        <p:nvSpPr>
          <p:cNvPr id="7" name="Rounded Rectangle 6"/>
          <p:cNvSpPr/>
          <p:nvPr/>
        </p:nvSpPr>
        <p:spPr>
          <a:xfrm>
            <a:off x="6199632" y="1325880"/>
            <a:ext cx="5440680" cy="3520440"/>
          </a:xfrm>
          <a:prstGeom prst="roundRect">
            <a:avLst>
              <a:gd name="adj" fmla="val 1818"/>
            </a:avLst>
          </a:prstGeom>
          <a:solidFill>
            <a:srgbClr val="D9ECF9"/>
          </a:solidFill>
          <a:ln w="12700">
            <a:solidFill>
              <a:srgbClr val="D9ECF9"/>
            </a:solidFill>
          </a:ln>
        </p:spPr>
        <p:txBody>
          <a:bodyPr rtlCol="0" anchor="ctr"/>
          <a:lstStyle/>
          <a:p>
            <a:pPr algn="ctr"/>
          </a:p>
        </p:txBody>
      </p:sp>
      <p:sp>
        <p:nvSpPr>
          <p:cNvPr id="8" name="TextBox 7"/>
          <p:cNvSpPr txBox="1"/>
          <p:nvPr/>
        </p:nvSpPr>
        <p:spPr>
          <a:xfrm>
            <a:off x="6428232" y="1463040"/>
            <a:ext cx="5029200" cy="274320"/>
          </a:xfrm>
          <a:prstGeom prst="rect">
            <a:avLst/>
          </a:prstGeom>
          <a:noFill/>
        </p:spPr>
        <p:txBody>
          <a:bodyPr wrap="square" lIns="0" tIns="0" rIns="0" bIns="0" anchor="t">
            <a:spAutoFit/>
          </a:bodyPr>
          <a:lstStyle/>
          <a:p>
            <a:pPr algn="l"/>
            <a:r>
              <a:rPr sz="900" b="1" i="0" spc="200">
                <a:solidFill>
                  <a:srgbClr val="818283"/>
                </a:solidFill>
                <a:latin typeface="Arial"/>
              </a:rPr>
              <a:t>CASE B  ·  THE ATTN FORMAT</a:t>
            </a:r>
          </a:p>
        </p:txBody>
      </p:sp>
      <p:sp>
        <p:nvSpPr>
          <p:cNvPr id="9" name="TextBox 8"/>
          <p:cNvSpPr txBox="1"/>
          <p:nvPr/>
        </p:nvSpPr>
        <p:spPr>
          <a:xfrm>
            <a:off x="6428232" y="1755648"/>
            <a:ext cx="5029200" cy="1417320"/>
          </a:xfrm>
          <a:prstGeom prst="rect">
            <a:avLst/>
          </a:prstGeom>
          <a:noFill/>
        </p:spPr>
        <p:txBody>
          <a:bodyPr wrap="square" lIns="0" tIns="0" rIns="0" bIns="0" anchor="t">
            <a:spAutoFit/>
          </a:bodyPr>
          <a:lstStyle/>
          <a:p>
            <a:pPr algn="l"/>
            <a:r>
              <a:rPr sz="1000" b="1" i="0">
                <a:solidFill>
                  <a:srgbClr val="002368"/>
                </a:solidFill>
                <a:latin typeface="Arial"/>
              </a:rPr>
              <a:t>Subject: Attn: &lt;Full Name&gt;, &lt;Role&gt; – staff education benefit</a:t>
            </a:r>
          </a:p>
          <a:p>
            <a:pPr algn="l"/>
            <a:r>
              <a:rPr sz="1000" b="0" i="0">
                <a:solidFill>
                  <a:srgbClr val="000000"/>
                </a:solidFill>
                <a:latin typeface="Arial"/>
              </a:rPr>
              <a:t/>
            </a:r>
          </a:p>
          <a:p>
            <a:pPr algn="l"/>
            <a:r>
              <a:rPr sz="1000" b="1" i="0">
                <a:solidFill>
                  <a:srgbClr val="002368"/>
                </a:solidFill>
                <a:latin typeface="Arial"/>
              </a:rPr>
              <a:t>For the attention of &lt;Full Name&gt;, &lt;Role&gt;. If this inbox does not reach them, we would be grateful if it could be forwarded.</a:t>
            </a:r>
          </a:p>
          <a:p>
            <a:pPr algn="l"/>
            <a:r>
              <a:rPr sz="1000" b="0" i="0">
                <a:solidFill>
                  <a:srgbClr val="000000"/>
                </a:solidFill>
                <a:latin typeface="Arial"/>
              </a:rPr>
              <a:t/>
            </a:r>
          </a:p>
          <a:p>
            <a:pPr algn="l"/>
            <a:r>
              <a:rPr sz="1000" b="0" i="0">
                <a:solidFill>
                  <a:srgbClr val="000000"/>
                </a:solidFill>
                <a:latin typeface="Arial"/>
              </a:rPr>
              <a:t>Dear &lt;Full Name&gt;,</a:t>
            </a:r>
          </a:p>
          <a:p>
            <a:pPr algn="l"/>
            <a:r>
              <a:rPr sz="1000" b="0" i="0">
                <a:solidFill>
                  <a:srgbClr val="000000"/>
                </a:solidFill>
                <a:latin typeface="Arial"/>
              </a:rPr>
              <a:t/>
            </a:r>
          </a:p>
          <a:p>
            <a:pPr algn="l"/>
            <a:r>
              <a:rPr sz="1000" b="0" i="0">
                <a:solidFill>
                  <a:srgbClr val="000000"/>
                </a:solidFill>
                <a:latin typeface="Arial"/>
              </a:rPr>
              <a:t>&lt;the letter, written exactly as if to their own address&gt;</a:t>
            </a:r>
          </a:p>
        </p:txBody>
      </p:sp>
      <p:sp>
        <p:nvSpPr>
          <p:cNvPr id="10" name="TextBox 9"/>
          <p:cNvSpPr txBox="1"/>
          <p:nvPr/>
        </p:nvSpPr>
        <p:spPr>
          <a:xfrm>
            <a:off x="6428232" y="3246120"/>
            <a:ext cx="5029200" cy="1600200"/>
          </a:xfrm>
          <a:prstGeom prst="rect">
            <a:avLst/>
          </a:prstGeom>
          <a:noFill/>
        </p:spPr>
        <p:txBody>
          <a:bodyPr wrap="square" lIns="0" tIns="0" rIns="0" bIns="0" anchor="t">
            <a:spAutoFit/>
          </a:bodyPr>
          <a:lstStyle/>
          <a:p>
            <a:pPr algn="l" marL="155448" indent="-155448">
              <a:spcAft>
                <a:spcPts val="200"/>
              </a:spcAft>
              <a:buFont typeface="Arial"/>
              <a:buChar char="•"/>
            </a:pPr>
            <a:r>
              <a:rPr sz="950" b="0" i="0">
                <a:solidFill>
                  <a:srgbClr val="000000"/>
                </a:solidFill>
                <a:latin typeface="Arial"/>
              </a:rPr>
              <a:t>The routing line sits at the very top, set apart by a blank line; it reads naturally to the front desk and to the person.</a:t>
            </a:r>
          </a:p>
          <a:p>
            <a:pPr algn="l" marL="155448" indent="-155448">
              <a:spcAft>
                <a:spcPts val="200"/>
              </a:spcAft>
              <a:buFont typeface="Arial"/>
              <a:buChar char="•"/>
            </a:pPr>
            <a:r>
              <a:rPr sz="950" b="0" i="0">
                <a:solidFill>
                  <a:srgbClr val="000000"/>
                </a:solidFill>
                <a:latin typeface="Arial"/>
              </a:rPr>
              <a:t>The person's name, not 'he' or 'him'; no honorific (Mr, Dr) unless a source states it.</a:t>
            </a:r>
          </a:p>
          <a:p>
            <a:pPr algn="l" marL="155448" indent="-155448">
              <a:spcAft>
                <a:spcPts val="200"/>
              </a:spcAft>
              <a:buFont typeface="Arial"/>
              <a:buChar char="•"/>
            </a:pPr>
            <a:r>
              <a:rPr sz="950" b="0" i="0">
                <a:solidFill>
                  <a:srgbClr val="000000"/>
                </a:solidFill>
                <a:latin typeface="Arial"/>
              </a:rPr>
              <a:t>Or your HR lead: when the MD, owner or founder is named, no HR head is on file and the company is large (P1 or P2, 50+ staff, or a bank, hospital, college, international body, manufacturer, aviation employer or public body), the line reads '&lt;Full Name&gt;, &lt;Role&gt;, or your HR lead.' 48 company drafts carry it.</a:t>
            </a:r>
          </a:p>
        </p:txBody>
      </p:sp>
      <p:sp>
        <p:nvSpPr>
          <p:cNvPr id="11" name="TextBox 10"/>
          <p:cNvSpPr txBox="1"/>
          <p:nvPr/>
        </p:nvSpPr>
        <p:spPr>
          <a:xfrm>
            <a:off x="548640" y="5029200"/>
            <a:ext cx="10972800" cy="201168"/>
          </a:xfrm>
          <a:prstGeom prst="rect">
            <a:avLst/>
          </a:prstGeom>
          <a:noFill/>
        </p:spPr>
        <p:txBody>
          <a:bodyPr wrap="square" lIns="0" tIns="0" rIns="0" bIns="0" anchor="t">
            <a:spAutoFit/>
          </a:bodyPr>
          <a:lstStyle/>
          <a:p>
            <a:pPr algn="l"/>
            <a:r>
              <a:rPr sz="900" b="1" i="0" spc="200">
                <a:solidFill>
                  <a:srgbClr val="818283"/>
                </a:solidFill>
                <a:latin typeface="Arial"/>
              </a:rPr>
              <a:t>CASE B SUBJECT ENDINGS BY SEGMENT</a:t>
            </a:r>
          </a:p>
        </p:txBody>
      </p:sp>
      <p:sp>
        <p:nvSpPr>
          <p:cNvPr id="12" name="TextBox 11"/>
          <p:cNvSpPr txBox="1"/>
          <p:nvPr/>
        </p:nvSpPr>
        <p:spPr>
          <a:xfrm>
            <a:off x="548640"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Employers, public bodies</a:t>
            </a:r>
          </a:p>
        </p:txBody>
      </p:sp>
      <p:sp>
        <p:nvSpPr>
          <p:cNvPr id="13" name="Rounded Rectangle 12"/>
          <p:cNvSpPr/>
          <p:nvPr/>
        </p:nvSpPr>
        <p:spPr>
          <a:xfrm>
            <a:off x="548640"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staff education benefit</a:t>
            </a:r>
          </a:p>
        </p:txBody>
      </p:sp>
      <p:sp>
        <p:nvSpPr>
          <p:cNvPr id="14" name="TextBox 13"/>
          <p:cNvSpPr txBox="1"/>
          <p:nvPr/>
        </p:nvSpPr>
        <p:spPr>
          <a:xfrm>
            <a:off x="3355848"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Sponsors, funders</a:t>
            </a:r>
          </a:p>
        </p:txBody>
      </p:sp>
      <p:sp>
        <p:nvSpPr>
          <p:cNvPr id="15" name="Rounded Rectangle 14"/>
          <p:cNvSpPr/>
          <p:nvPr/>
        </p:nvSpPr>
        <p:spPr>
          <a:xfrm>
            <a:off x="3355848"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student sponsorship</a:t>
            </a:r>
          </a:p>
        </p:txBody>
      </p:sp>
      <p:sp>
        <p:nvSpPr>
          <p:cNvPr id="16" name="TextBox 15"/>
          <p:cNvSpPr txBox="1"/>
          <p:nvPr/>
        </p:nvSpPr>
        <p:spPr>
          <a:xfrm>
            <a:off x="6163055"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Homes, programmes</a:t>
            </a:r>
          </a:p>
        </p:txBody>
      </p:sp>
      <p:sp>
        <p:nvSpPr>
          <p:cNvPr id="17" name="Rounded Rectangle 16"/>
          <p:cNvSpPr/>
          <p:nvPr/>
        </p:nvSpPr>
        <p:spPr>
          <a:xfrm>
            <a:off x="6163055"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education of the children in your care</a:t>
            </a:r>
          </a:p>
        </p:txBody>
      </p:sp>
      <p:sp>
        <p:nvSpPr>
          <p:cNvPr id="18" name="TextBox 17"/>
          <p:cNvSpPr txBox="1"/>
          <p:nvPr/>
        </p:nvSpPr>
        <p:spPr>
          <a:xfrm>
            <a:off x="8970263"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Introducers, networks</a:t>
            </a:r>
          </a:p>
        </p:txBody>
      </p:sp>
      <p:sp>
        <p:nvSpPr>
          <p:cNvPr id="19" name="Rounded Rectangle 18"/>
          <p:cNvSpPr/>
          <p:nvPr/>
        </p:nvSpPr>
        <p:spPr>
          <a:xfrm>
            <a:off x="8970263"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an education benefit for your members</a:t>
            </a:r>
          </a:p>
        </p:txBody>
      </p:sp>
      <p:pic>
        <p:nvPicPr>
          <p:cNvPr id="20" name="Picture 19" descr="image3.png"/>
          <p:cNvPicPr>
            <a:picLocks noChangeAspect="1"/>
          </p:cNvPicPr>
          <p:nvPr/>
        </p:nvPicPr>
        <p:blipFill>
          <a:blip r:embed="rId2"/>
          <a:stretch>
            <a:fillRect/>
          </a:stretch>
        </p:blipFill>
        <p:spPr>
          <a:xfrm>
            <a:off x="548640" y="6272784"/>
            <a:ext cx="1143000" cy="274320"/>
          </a:xfrm>
          <a:prstGeom prst="rect">
            <a:avLst/>
          </a:prstGeom>
        </p:spPr>
      </p:pic>
      <p:sp>
        <p:nvSpPr>
          <p:cNvPr id="21"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and drafts, October 2026</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REDIRECT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Case C asks one question: who should we write to?</a:t>
            </a:r>
          </a:p>
        </p:txBody>
      </p:sp>
      <p:sp>
        <p:nvSpPr>
          <p:cNvPr id="4" name="Rounded Rectangle 3"/>
          <p:cNvSpPr/>
          <p:nvPr/>
        </p:nvSpPr>
        <p:spPr>
          <a:xfrm>
            <a:off x="548640" y="1325880"/>
            <a:ext cx="4206240" cy="4617720"/>
          </a:xfrm>
          <a:prstGeom prst="roundRect">
            <a:avLst>
              <a:gd name="adj" fmla="val 1521"/>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777240" y="1463040"/>
            <a:ext cx="3840480" cy="274320"/>
          </a:xfrm>
          <a:prstGeom prst="rect">
            <a:avLst/>
          </a:prstGeom>
          <a:noFill/>
        </p:spPr>
        <p:txBody>
          <a:bodyPr wrap="square" lIns="0" tIns="0" rIns="0" bIns="0" anchor="t">
            <a:spAutoFit/>
          </a:bodyPr>
          <a:lstStyle/>
          <a:p>
            <a:pPr algn="l"/>
            <a:r>
              <a:rPr sz="900" b="1" i="0" spc="200">
                <a:solidFill>
                  <a:srgbClr val="80BFEC"/>
                </a:solidFill>
                <a:latin typeface="Arial"/>
              </a:rPr>
              <a:t>CASE C  ·  THE REDIRECT REQUEST</a:t>
            </a:r>
          </a:p>
        </p:txBody>
      </p:sp>
      <p:sp>
        <p:nvSpPr>
          <p:cNvPr id="6" name="TextBox 5"/>
          <p:cNvSpPr txBox="1"/>
          <p:nvPr/>
        </p:nvSpPr>
        <p:spPr>
          <a:xfrm>
            <a:off x="777240" y="1783080"/>
            <a:ext cx="3794760" cy="4023360"/>
          </a:xfrm>
          <a:prstGeom prst="rect">
            <a:avLst/>
          </a:prstGeom>
          <a:noFill/>
        </p:spPr>
        <p:txBody>
          <a:bodyPr wrap="square" lIns="0" tIns="0" rIns="0" bIns="0" anchor="t">
            <a:spAutoFit/>
          </a:bodyPr>
          <a:lstStyle/>
          <a:p>
            <a:pPr algn="l"/>
            <a:r>
              <a:rPr sz="1050" b="1" i="0">
                <a:solidFill>
                  <a:srgbClr val="FFC952"/>
                </a:solidFill>
                <a:latin typeface="Arial"/>
              </a:rPr>
              <a:t>Subject: Staff education benefit – who should we write to?</a:t>
            </a:r>
          </a:p>
          <a:p>
            <a:pPr algn="l"/>
            <a:r>
              <a:rPr sz="1050" b="0" i="0">
                <a:solidFill>
                  <a:srgbClr val="FFFFFF"/>
                </a:solidFill>
                <a:latin typeface="Arial"/>
              </a:rPr>
              <a:t/>
            </a:r>
          </a:p>
          <a:p>
            <a:pPr algn="l"/>
            <a:r>
              <a:rPr sz="1050" b="0" i="0">
                <a:solidFill>
                  <a:srgbClr val="FFFFFF"/>
                </a:solidFill>
                <a:latin typeface="Arial"/>
              </a:rPr>
              <a:t>Hello,</a:t>
            </a:r>
          </a:p>
          <a:p>
            <a:pPr algn="l"/>
            <a:r>
              <a:rPr sz="1050" b="0" i="0">
                <a:solidFill>
                  <a:srgbClr val="FFFFFF"/>
                </a:solidFill>
                <a:latin typeface="Arial"/>
              </a:rPr>
              <a:t/>
            </a:r>
          </a:p>
          <a:p>
            <a:pPr algn="l"/>
            <a:r>
              <a:rPr sz="1050" b="0" i="0">
                <a:solidFill>
                  <a:srgbClr val="FFFFFF"/>
                </a:solidFill>
                <a:latin typeface="Arial"/>
              </a:rPr>
              <a:t>I am writing from Silverleaf Academy in Arusha about a staff education benefit for the children of &lt;Organisation&gt;'s employees.</a:t>
            </a:r>
          </a:p>
          <a:p>
            <a:pPr algn="l"/>
            <a:r>
              <a:rPr sz="1050" b="0" i="0">
                <a:solidFill>
                  <a:srgbClr val="FFFFFF"/>
                </a:solidFill>
                <a:latin typeface="Arial"/>
              </a:rPr>
              <a:t/>
            </a:r>
          </a:p>
          <a:p>
            <a:pPr algn="l"/>
            <a:r>
              <a:rPr sz="1050" b="0" i="0">
                <a:solidFill>
                  <a:srgbClr val="FFFFFF"/>
                </a:solidFill>
                <a:latin typeface="Arial"/>
              </a:rPr>
              <a:t>Who looks after staff welfare and benefits (HR, the welfare officer or the COO)? We would like to send them a short note.</a:t>
            </a:r>
          </a:p>
          <a:p>
            <a:pPr algn="l"/>
            <a:r>
              <a:rPr sz="1050" b="0" i="0">
                <a:solidFill>
                  <a:srgbClr val="FFFFFF"/>
                </a:solidFill>
                <a:latin typeface="Arial"/>
              </a:rPr>
              <a:t/>
            </a:r>
          </a:p>
          <a:p>
            <a:pPr algn="l"/>
            <a:r>
              <a:rPr sz="1050" b="0" i="0">
                <a:solidFill>
                  <a:srgbClr val="FFFFFF"/>
                </a:solidFill>
                <a:latin typeface="Arial"/>
              </a:rPr>
              <a:t>Thank you,</a:t>
            </a:r>
          </a:p>
          <a:p>
            <a:pPr algn="l"/>
            <a:r>
              <a:rPr sz="1050" b="0" i="0">
                <a:solidFill>
                  <a:srgbClr val="FFFFFF"/>
                </a:solidFill>
                <a:latin typeface="Arial"/>
              </a:rPr>
              <a:t>&lt;Sender name&gt;</a:t>
            </a:r>
          </a:p>
          <a:p>
            <a:pPr algn="l"/>
            <a:r>
              <a:rPr sz="1050" b="0" i="0">
                <a:solidFill>
                  <a:srgbClr val="FFFFFF"/>
                </a:solidFill>
                <a:latin typeface="Arial"/>
              </a:rPr>
              <a:t>&lt;Sender role&gt;, Silverleaf Academy</a:t>
            </a:r>
          </a:p>
        </p:txBody>
      </p:sp>
      <p:graphicFrame>
        <p:nvGraphicFramePr>
          <p:cNvPr id="7" name="Table 6"/>
          <p:cNvGraphicFramePr>
            <a:graphicFrameLocks noGrp="1"/>
          </p:cNvGraphicFramePr>
          <p:nvPr/>
        </p:nvGraphicFramePr>
        <p:xfrm>
          <a:off x="4983480" y="1325880"/>
          <a:ext cx="6656832" cy="3968496"/>
        </p:xfrm>
        <a:graphic>
          <a:graphicData uri="http://schemas.openxmlformats.org/drawingml/2006/table">
            <a:tbl>
              <a:tblPr firstRow="0" bandRow="0">
                <a:tableStyleId>{2D5ABB26-0587-4C30-8999-92F81FD0307C}</a:tableStyleId>
              </a:tblPr>
              <a:tblGrid>
                <a:gridCol w="1417320"/>
                <a:gridCol w="2148840"/>
                <a:gridCol w="3090672"/>
              </a:tblGrid>
              <a:tr h="566928">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"I AM WRITING … ABOUT"</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THE ASK</a:t>
                      </a:r>
                    </a:p>
                  </a:txBody>
                  <a:tcPr marL="54864" marR="54864" marT="36576" marB="36576" anchor="ctr">
                    <a:lnL w="0">
                      <a:noFill/>
                    </a:lnL>
                    <a:lnR w="0">
                      <a:noFill/>
                    </a:lnR>
                    <a:lnT w="0">
                      <a:noFill/>
                    </a:lnT>
                    <a:lnB w="12700">
                      <a:solidFill>
                        <a:srgbClr val="80BFEC"/>
                      </a:solidFill>
                    </a:lnB>
                    <a:noFill/>
                  </a:tcPr>
                </a:tc>
              </a:tr>
              <a:tr h="566928">
                <a:tc>
                  <a:txBody>
                    <a:bodyPr wrap="square"/>
                    <a:lstStyle/>
                    <a:p>
                      <a:r>
                        <a:rPr sz="950" b="1" i="0">
                          <a:solidFill>
                            <a:srgbClr val="002368"/>
                          </a:solidFill>
                          <a:latin typeface="Arial"/>
                        </a:rPr>
                        <a:t>Employers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staff education benefit for the children of &lt;Organisation&gt;'s employees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staff welfare and benefits (HR, the welfare officer or the COO)?</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Public bodies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same as employers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heads human resources?</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Variant A sponsors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sponsoring students' education at Silverleaf</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the company's community giving?</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sponsoring students' education at Silverleaf</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is the programme officer for your work in Tanzania?</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Homes and programmes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education of the children in &lt;Organisation&gt;'s care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leads the home (or the programme) and looks after the children's schooling?</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Introducers, networks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an education benefit for &lt;Organisation&gt;'s members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member benefits and communications (the executive secretary or CEO)?</a:t>
                      </a:r>
                    </a:p>
                  </a:txBody>
                  <a:tcPr marL="54864" marR="54864" marT="36576" marB="36576" anchor="ctr">
                    <a:lnL w="0">
                      <a:noFill/>
                    </a:lnL>
                    <a:lnR w="0">
                      <a:noFill/>
                    </a:lnR>
                    <a:lnT w="0">
                      <a:noFill/>
                    </a:lnT>
                    <a:lnB w="9525">
                      <a:solidFill>
                        <a:srgbClr val="ECECEC"/>
                      </a:solidFill>
                    </a:lnB>
                    <a:noFill/>
                  </a:tcPr>
                </a:tc>
              </a:tr>
            </a:tbl>
          </a:graphicData>
        </a:graphic>
      </p:graphicFrame>
      <p:sp>
        <p:nvSpPr>
          <p:cNvPr id="8" name="TextBox 7"/>
          <p:cNvSpPr txBox="1"/>
          <p:nvPr/>
        </p:nvSpPr>
        <p:spPr>
          <a:xfrm>
            <a:off x="4983480" y="5486400"/>
            <a:ext cx="6656832" cy="457200"/>
          </a:xfrm>
          <a:prstGeom prst="rect">
            <a:avLst/>
          </a:prstGeom>
          <a:noFill/>
        </p:spPr>
        <p:txBody>
          <a:bodyPr wrap="square" lIns="0" tIns="0" rIns="0" bIns="0" anchor="t">
            <a:spAutoFit/>
          </a:bodyPr>
          <a:lstStyle/>
          <a:p>
            <a:pPr algn="l"/>
            <a:r>
              <a:rPr sz="950" b="0" i="0">
                <a:solidFill>
                  <a:srgbClr val="818283"/>
                </a:solidFill>
                <a:latin typeface="Arial"/>
              </a:rPr>
              <a:t>Every ask ends 'We would like to send them a short note.' Any name the front desk gives is recorded with its source and date, and the lead moves to case B, or A if the address is their own.</a:t>
            </a:r>
          </a:p>
        </p:txBody>
      </p:sp>
      <p:pic>
        <p:nvPicPr>
          <p:cNvPr id="9" name="Picture 8" descr="image3.png"/>
          <p:cNvPicPr>
            <a:picLocks noChangeAspect="1"/>
          </p:cNvPicPr>
          <p:nvPr/>
        </p:nvPicPr>
        <p:blipFill>
          <a:blip r:embed="rId2"/>
          <a:stretch>
            <a:fillRect/>
          </a:stretch>
        </p:blipFill>
        <p:spPr>
          <a:xfrm>
            <a:off x="548640" y="6272784"/>
            <a:ext cx="1143000" cy="274320"/>
          </a:xfrm>
          <a:prstGeom prst="rect">
            <a:avLst/>
          </a:prstGeom>
        </p:spPr>
      </p:pic>
      <p:sp>
        <p:nvSpPr>
          <p:cNvPr id="10"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a:t>
            </a:r>
          </a:p>
        </p:txBody>
      </p:sp>
      <p:sp>
        <p:nvSpPr>
          <p:cNvPr id="1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THE OFFER</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follows the meeting request, segment by segment</a:t>
            </a:r>
          </a:p>
        </p:txBody>
      </p:sp>
      <p:graphicFrame>
        <p:nvGraphicFramePr>
          <p:cNvPr id="4" name="Table 3"/>
          <p:cNvGraphicFramePr>
            <a:graphicFrameLocks noGrp="1"/>
          </p:cNvGraphicFramePr>
          <p:nvPr/>
        </p:nvGraphicFramePr>
        <p:xfrm>
          <a:off x="548640" y="1298448"/>
          <a:ext cx="11091672" cy="4389120"/>
        </p:xfrm>
        <a:graphic>
          <a:graphicData uri="http://schemas.openxmlformats.org/drawingml/2006/table">
            <a:tbl>
              <a:tblPr firstRow="0" bandRow="0">
                <a:tableStyleId>{2D5ABB26-0587-4C30-8999-92F81FD0307C}</a:tableStyleId>
              </a:tblPr>
              <a:tblGrid>
                <a:gridCol w="1828800"/>
                <a:gridCol w="3246120"/>
                <a:gridCol w="4069080"/>
                <a:gridCol w="1947672"/>
              </a:tblGrid>
              <a:tr h="548640">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FIRST MESSAGE (NO TERMS)</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OFFER MESSAGE: FOLLOW-UP 1 (REGISTER TERMS)</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CONDITION</a:t>
                      </a:r>
                    </a:p>
                  </a:txBody>
                  <a:tcPr marL="54864" marR="54864" marT="36576" marB="36576" anchor="ctr">
                    <a:lnL w="0">
                      <a:noFill/>
                    </a:lnL>
                    <a:lnR w="0">
                      <a:noFill/>
                    </a:lnR>
                    <a:lnT w="0">
                      <a:noFill/>
                    </a:lnT>
                    <a:lnB w="12700">
                      <a:solidFill>
                        <a:srgbClr val="80BFEC"/>
                      </a:solidFill>
                    </a:lnB>
                    <a:noFill/>
                  </a:tcPr>
                </a:tc>
              </a:tr>
              <a:tr h="548640">
                <a:tc>
                  <a:txBody>
                    <a:bodyPr wrap="square"/>
                    <a:lstStyle/>
                    <a:p>
                      <a:r>
                        <a:rPr sz="950" b="1" i="0">
                          <a:solidFill>
                            <a:srgbClr val="002368"/>
                          </a:solidFill>
                          <a:latin typeface="Arial"/>
                        </a:rPr>
                        <a:t>Employers (B)</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on an education benefit for staff's children, and a short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fee benefit at no cost to the employer (OF04): 20% for heads of department while the child studies; 10% off year one for other staff. Family offer: free uniform for full-year payment (OF01), sibling 10% / 20% (OF02), four instalments (OF09)</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Variant A sponsors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of students, any size (textbooks, transport, meals), with its own published giving as the reason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 until it replies; sponsorship follow-up copy awaits approval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offer before a reply</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Savings groups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meeting with the committee about members' children's education (Kiswahili for review)</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Family offer, plus the member-association group rate (OF07): 7% per student at 50, 12% at 100, 17% at 150</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Finance must extend OF07; Kiswahili review</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Welfare homes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on the education of the children in their care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Partner rate (OF03): 3% per child at 10 children rising to 18% at 60, when all primary-age children are placed; free uniform and instalments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All primary-age children placed</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of students, with its verified support for a home as the reason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partner rate as a way to stretch sponsorship</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Held without a verified link</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Introducers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so members can offer the benefit; share it in a bulletin or forum</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OF04 for '&lt;Organisation&gt;'s member organisations' staff, plus the family offer; a one-page note for the bulletin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Government</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free 15–20 minute Kiswahili school-readiness talk at community meetings, with a parent booklet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 no offer, fee or service; never a discount to officials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Register rule 5</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offer register; message drafts, October 2026</a:t>
            </a:r>
          </a:p>
        </p:txBody>
      </p:sp>
      <p:sp>
        <p:nvSpPr>
          <p:cNvPr id="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15</a:t>
            </a:r>
          </a:p>
        </p:txBody>
      </p:sp>
      <p:sp>
        <p:nvSpPr>
          <p:cNvPr id="6" name="Offer source note"/>
          <p:cNvSpPr txBox="1"/>
          <p:nvPr/>
        </p:nvSpPr>
        <p:spPr>
          <a:xfrm>
            <a:off x="548640" y="5797296"/>
            <a:ext cx="11091672" cy="274320"/>
          </a:xfrm>
          <a:prstGeom prst="rect">
            <a:avLst/>
          </a:prstGeom>
          <a:noFill/>
        </p:spPr>
        <p:txBody>
          <a:bodyPr wrap="square" lIns="0" tIns="0" rIns="0" bIns="0" anchor="ctr">
            <a:spAutoFit/>
          </a:bodyPr>
          <a:lstStyle/>
          <a:p>
            <a:pPr algn="l"/>
            <a:r>
              <a:rPr sz="1100" b="0" i="1">
                <a:solidFill>
                  <a:srgbClr val="818283"/>
                </a:solidFill>
                <a:latin typeface="Arial"/>
              </a:rPr>
              <a:t>Offer terms come from Silverleaf's 2025 Proposed Fees &amp; Discounts schedule. Confirm with Finance before the first send.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HOOKS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A hook is a sourced fact from the organisation's own page, or nothing</a:t>
            </a:r>
          </a:p>
        </p:txBody>
      </p:sp>
      <p:sp>
        <p:nvSpPr>
          <p:cNvPr id="4" name="Rounded Rectangle 3"/>
          <p:cNvSpPr/>
          <p:nvPr/>
        </p:nvSpPr>
        <p:spPr>
          <a:xfrm>
            <a:off x="548640" y="1325880"/>
            <a:ext cx="6035040" cy="1828800"/>
          </a:xfrm>
          <a:prstGeom prst="roundRect">
            <a:avLst>
              <a:gd name="adj" fmla="val 3500"/>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22960" y="1463040"/>
            <a:ext cx="5577840" cy="274320"/>
          </a:xfrm>
          <a:prstGeom prst="rect">
            <a:avLst/>
          </a:prstGeom>
          <a:noFill/>
        </p:spPr>
        <p:txBody>
          <a:bodyPr wrap="square" lIns="0" tIns="0" rIns="0" bIns="0" anchor="t">
            <a:spAutoFit/>
          </a:bodyPr>
          <a:lstStyle/>
          <a:p>
            <a:pPr algn="l"/>
            <a:r>
              <a:rPr sz="900" b="1" i="0" spc="200">
                <a:solidFill>
                  <a:srgbClr val="818283"/>
                </a:solidFill>
                <a:latin typeface="Arial"/>
              </a:rPr>
              <a:t>THE PATTERN</a:t>
            </a:r>
          </a:p>
        </p:txBody>
      </p:sp>
      <p:sp>
        <p:nvSpPr>
          <p:cNvPr id="6" name="TextBox 5"/>
          <p:cNvSpPr txBox="1"/>
          <p:nvPr/>
        </p:nvSpPr>
        <p:spPr>
          <a:xfrm>
            <a:off x="822960" y="1755648"/>
            <a:ext cx="5577840" cy="457200"/>
          </a:xfrm>
          <a:prstGeom prst="rect">
            <a:avLst/>
          </a:prstGeom>
          <a:noFill/>
        </p:spPr>
        <p:txBody>
          <a:bodyPr wrap="square" lIns="0" tIns="0" rIns="0" bIns="0" anchor="t">
            <a:spAutoFit/>
          </a:bodyPr>
          <a:lstStyle/>
          <a:p>
            <a:pPr algn="l"/>
            <a:r>
              <a:rPr sz="1500" b="0" i="0">
                <a:solidFill>
                  <a:srgbClr val="002368"/>
                </a:solidFill>
                <a:latin typeface="Georgia"/>
              </a:rPr>
              <a:t>Observed fact → practical relevance → low-effort benefit</a:t>
            </a:r>
          </a:p>
        </p:txBody>
      </p:sp>
      <p:sp>
        <p:nvSpPr>
          <p:cNvPr id="7" name="TextBox 6"/>
          <p:cNvSpPr txBox="1"/>
          <p:nvPr/>
        </p:nvSpPr>
        <p:spPr>
          <a:xfrm>
            <a:off x="822960" y="2240280"/>
            <a:ext cx="5577840" cy="868680"/>
          </a:xfrm>
          <a:prstGeom prst="rect">
            <a:avLst/>
          </a:prstGeom>
          <a:noFill/>
        </p:spPr>
        <p:txBody>
          <a:bodyPr wrap="square" lIns="0" tIns="0" rIns="0" bIns="0" anchor="t">
            <a:spAutoFit/>
          </a:bodyPr>
          <a:lstStyle/>
          <a:p>
            <a:pPr algn="l"/>
            <a:r>
              <a:rPr sz="1050" b="0" i="0">
                <a:solidFill>
                  <a:srgbClr val="000000"/>
                </a:solidFill>
                <a:latin typeface="Arial"/>
              </a:rPr>
              <a:t>Kept only when the exact claim has a source URL and a verification date; otherwise the hook is left blank and the message opens directly with the request. No flattery, no personal details, no implication that the recipient is a parent.</a:t>
            </a:r>
          </a:p>
        </p:txBody>
      </p:sp>
      <p:sp>
        <p:nvSpPr>
          <p:cNvPr id="8" name="TextBox 7"/>
          <p:cNvSpPr txBox="1"/>
          <p:nvPr/>
        </p:nvSpPr>
        <p:spPr>
          <a:xfrm>
            <a:off x="548640" y="3337560"/>
            <a:ext cx="1463040" cy="502920"/>
          </a:xfrm>
          <a:prstGeom prst="rect">
            <a:avLst/>
          </a:prstGeom>
          <a:noFill/>
        </p:spPr>
        <p:txBody>
          <a:bodyPr wrap="square" lIns="0" tIns="0" rIns="0" bIns="0" anchor="t">
            <a:spAutoFit/>
          </a:bodyPr>
          <a:lstStyle/>
          <a:p>
            <a:pPr algn="l"/>
            <a:r>
              <a:rPr sz="2800" b="0" i="0">
                <a:solidFill>
                  <a:srgbClr val="002368"/>
                </a:solidFill>
                <a:latin typeface="Georgia"/>
              </a:rPr>
              <a:t>103</a:t>
            </a:r>
          </a:p>
        </p:txBody>
      </p:sp>
      <p:sp>
        <p:nvSpPr>
          <p:cNvPr id="9" name="TextBox 8"/>
          <p:cNvSpPr txBox="1"/>
          <p:nvPr/>
        </p:nvSpPr>
        <p:spPr>
          <a:xfrm>
            <a:off x="548640"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verified hooks on master drafts</a:t>
            </a:r>
          </a:p>
        </p:txBody>
      </p:sp>
      <p:sp>
        <p:nvSpPr>
          <p:cNvPr id="10" name="TextBox 9"/>
          <p:cNvSpPr txBox="1"/>
          <p:nvPr/>
        </p:nvSpPr>
        <p:spPr>
          <a:xfrm>
            <a:off x="2066543" y="3337560"/>
            <a:ext cx="1463040" cy="502920"/>
          </a:xfrm>
          <a:prstGeom prst="rect">
            <a:avLst/>
          </a:prstGeom>
          <a:noFill/>
        </p:spPr>
        <p:txBody>
          <a:bodyPr wrap="square" lIns="0" tIns="0" rIns="0" bIns="0" anchor="t">
            <a:spAutoFit/>
          </a:bodyPr>
          <a:lstStyle/>
          <a:p>
            <a:pPr algn="l"/>
            <a:r>
              <a:rPr sz="2800" b="0" i="0">
                <a:solidFill>
                  <a:srgbClr val="818283"/>
                </a:solidFill>
                <a:latin typeface="Georgia"/>
              </a:rPr>
              <a:t>354</a:t>
            </a:r>
          </a:p>
        </p:txBody>
      </p:sp>
      <p:sp>
        <p:nvSpPr>
          <p:cNvPr id="11" name="TextBox 10"/>
          <p:cNvSpPr txBox="1"/>
          <p:nvPr/>
        </p:nvSpPr>
        <p:spPr>
          <a:xfrm>
            <a:off x="2066543"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removed: exact claim not independently verified</a:t>
            </a:r>
          </a:p>
        </p:txBody>
      </p:sp>
      <p:sp>
        <p:nvSpPr>
          <p:cNvPr id="12" name="TextBox 11"/>
          <p:cNvSpPr txBox="1"/>
          <p:nvPr/>
        </p:nvSpPr>
        <p:spPr>
          <a:xfrm>
            <a:off x="3584448" y="3337560"/>
            <a:ext cx="1463040" cy="502920"/>
          </a:xfrm>
          <a:prstGeom prst="rect">
            <a:avLst/>
          </a:prstGeom>
          <a:noFill/>
        </p:spPr>
        <p:txBody>
          <a:bodyPr wrap="square" lIns="0" tIns="0" rIns="0" bIns="0" anchor="t">
            <a:spAutoFit/>
          </a:bodyPr>
          <a:lstStyle/>
          <a:p>
            <a:pPr algn="l"/>
            <a:r>
              <a:rPr sz="2800" b="0" i="0">
                <a:solidFill>
                  <a:srgbClr val="8091B3"/>
                </a:solidFill>
                <a:latin typeface="Georgia"/>
              </a:rPr>
              <a:t>794</a:t>
            </a:r>
          </a:p>
        </p:txBody>
      </p:sp>
      <p:sp>
        <p:nvSpPr>
          <p:cNvPr id="13" name="TextBox 12"/>
          <p:cNvSpPr txBox="1"/>
          <p:nvPr/>
        </p:nvSpPr>
        <p:spPr>
          <a:xfrm>
            <a:off x="3584448"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no hook: request-first opening</a:t>
            </a:r>
          </a:p>
        </p:txBody>
      </p:sp>
      <p:sp>
        <p:nvSpPr>
          <p:cNvPr id="14" name="TextBox 13"/>
          <p:cNvSpPr txBox="1"/>
          <p:nvPr/>
        </p:nvSpPr>
        <p:spPr>
          <a:xfrm>
            <a:off x="5102351" y="3337560"/>
            <a:ext cx="1463040" cy="502920"/>
          </a:xfrm>
          <a:prstGeom prst="rect">
            <a:avLst/>
          </a:prstGeom>
          <a:noFill/>
        </p:spPr>
        <p:txBody>
          <a:bodyPr wrap="square" lIns="0" tIns="0" rIns="0" bIns="0" anchor="t">
            <a:spAutoFit/>
          </a:bodyPr>
          <a:lstStyle/>
          <a:p>
            <a:pPr algn="l"/>
            <a:r>
              <a:rPr sz="2800" b="0" i="0">
                <a:solidFill>
                  <a:srgbClr val="002368"/>
                </a:solidFill>
                <a:latin typeface="Georgia"/>
              </a:rPr>
              <a:t>67</a:t>
            </a:r>
          </a:p>
        </p:txBody>
      </p:sp>
      <p:sp>
        <p:nvSpPr>
          <p:cNvPr id="15" name="TextBox 14"/>
          <p:cNvSpPr txBox="1"/>
          <p:nvPr/>
        </p:nvSpPr>
        <p:spPr>
          <a:xfrm>
            <a:off x="5102351"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welfare drafts with a sourced reason</a:t>
            </a:r>
          </a:p>
        </p:txBody>
      </p:sp>
      <p:sp>
        <p:nvSpPr>
          <p:cNvPr id="16" name="TextBox 15"/>
          <p:cNvSpPr txBox="1"/>
          <p:nvPr/>
        </p:nvSpPr>
        <p:spPr>
          <a:xfrm>
            <a:off x="548640" y="4572000"/>
            <a:ext cx="6035040" cy="1371600"/>
          </a:xfrm>
          <a:prstGeom prst="rect">
            <a:avLst/>
          </a:prstGeom>
          <a:noFill/>
        </p:spPr>
        <p:txBody>
          <a:bodyPr wrap="square" lIns="0" tIns="0" rIns="0" bIns="0" anchor="t">
            <a:spAutoFit/>
          </a:bodyPr>
          <a:lstStyle/>
          <a:p>
            <a:pPr algn="l" marL="155448" indent="-155448">
              <a:spcAft>
                <a:spcPts val="300"/>
              </a:spcAft>
              <a:buFont typeface="Arial"/>
              <a:buChar char="•"/>
            </a:pPr>
            <a:r>
              <a:rPr sz="1000" b="0" i="0">
                <a:solidFill>
                  <a:srgbClr val="000000"/>
                </a:solidFill>
                <a:latin typeface="Arial"/>
              </a:rPr>
              <a:t>Example: 'Your website says the agency employs more than 100 local people, including guides, receptionists and cooks, so such a benefit could reach a wide team.' (a workforce fact from the company's own website)</a:t>
            </a:r>
          </a:p>
          <a:p>
            <a:pPr algn="l" marL="155448" indent="-155448">
              <a:spcAft>
                <a:spcPts val="300"/>
              </a:spcAft>
              <a:buFont typeface="Arial"/>
              <a:buChar char="•"/>
            </a:pPr>
            <a:r>
              <a:rPr sz="1000" b="0" i="0">
                <a:solidFill>
                  <a:srgbClr val="000000"/>
                </a:solidFill>
                <a:latin typeface="Arial"/>
              </a:rPr>
              <a:t>Hook types on file: workforce 33, staff welfare 20, community programme 20, education programme 17, locality 11, growth 2.</a:t>
            </a:r>
          </a:p>
        </p:txBody>
      </p:sp>
      <p:sp>
        <p:nvSpPr>
          <p:cNvPr id="17" name="Rounded Rectangle 16"/>
          <p:cNvSpPr/>
          <p:nvPr/>
        </p:nvSpPr>
        <p:spPr>
          <a:xfrm>
            <a:off x="6812280" y="1325880"/>
            <a:ext cx="4828032" cy="4617720"/>
          </a:xfrm>
          <a:prstGeom prst="roundRect">
            <a:avLst>
              <a:gd name="adj" fmla="val 1386"/>
            </a:avLst>
          </a:prstGeom>
          <a:solidFill>
            <a:srgbClr val="002368"/>
          </a:solidFill>
          <a:ln w="12700">
            <a:solidFill>
              <a:srgbClr val="002368"/>
            </a:solidFill>
          </a:ln>
        </p:spPr>
        <p:txBody>
          <a:bodyPr rtlCol="0" anchor="ctr"/>
          <a:lstStyle/>
          <a:p>
            <a:pPr algn="ctr"/>
          </a:p>
        </p:txBody>
      </p:sp>
      <p:sp>
        <p:nvSpPr>
          <p:cNvPr id="18" name="TextBox 17"/>
          <p:cNvSpPr txBox="1"/>
          <p:nvPr/>
        </p:nvSpPr>
        <p:spPr>
          <a:xfrm>
            <a:off x="7040880" y="1463040"/>
            <a:ext cx="4389120" cy="274320"/>
          </a:xfrm>
          <a:prstGeom prst="rect">
            <a:avLst/>
          </a:prstGeom>
          <a:noFill/>
        </p:spPr>
        <p:txBody>
          <a:bodyPr wrap="square" lIns="0" tIns="0" rIns="0" bIns="0" anchor="t">
            <a:spAutoFit/>
          </a:bodyPr>
          <a:lstStyle/>
          <a:p>
            <a:pPr algn="l"/>
            <a:r>
              <a:rPr sz="900" b="1" i="0" spc="200">
                <a:solidFill>
                  <a:srgbClr val="80BFEC"/>
                </a:solidFill>
                <a:latin typeface="Arial"/>
              </a:rPr>
              <a:t>GOVERNMENT  ·  COUNCIL LETTER, ENGLISH MEANING</a:t>
            </a:r>
          </a:p>
        </p:txBody>
      </p:sp>
      <p:sp>
        <p:nvSpPr>
          <p:cNvPr id="19" name="TextBox 18"/>
          <p:cNvSpPr txBox="1"/>
          <p:nvPr/>
        </p:nvSpPr>
        <p:spPr>
          <a:xfrm>
            <a:off x="7040880" y="1783080"/>
            <a:ext cx="4434840" cy="4069080"/>
          </a:xfrm>
          <a:prstGeom prst="rect">
            <a:avLst/>
          </a:prstGeom>
          <a:noFill/>
        </p:spPr>
        <p:txBody>
          <a:bodyPr wrap="square" lIns="0" tIns="0" rIns="0" bIns="0" anchor="t">
            <a:spAutoFit/>
          </a:bodyPr>
          <a:lstStyle/>
          <a:p>
            <a:pPr algn="l"/>
            <a:r>
              <a:rPr sz="1100" b="1" i="0">
                <a:solidFill>
                  <a:srgbClr val="FFC952"/>
                </a:solidFill>
                <a:latin typeface="Arial"/>
              </a:rPr>
              <a:t>RE: Request for an introduction to give parents information on preparing children to start school</a:t>
            </a:r>
          </a:p>
          <a:p>
            <a:pPr algn="l"/>
            <a:r>
              <a:rPr sz="1100" b="0" i="0">
                <a:solidFill>
                  <a:srgbClr val="FFFFFF"/>
                </a:solidFill>
                <a:latin typeface="Arial"/>
              </a:rPr>
              <a:t/>
            </a:r>
          </a:p>
          <a:p>
            <a:pPr algn="l"/>
            <a:r>
              <a:rPr sz="1100" b="0" i="0">
                <a:solidFill>
                  <a:srgbClr val="FFFFFF"/>
                </a:solidFill>
                <a:latin typeface="Arial"/>
              </a:rPr>
              <a:t>We ask for your advice and a letter introducing us to the ward executive officers so that, where appropriate, we can have a short 15 to 20 minutes at community meetings. We will give a free talk in Kiswahili on getting children ready for school, learning at home and the admissions calendar. Every parent will receive a parent booklet.</a:t>
            </a:r>
          </a:p>
          <a:p>
            <a:pPr algn="l"/>
            <a:r>
              <a:rPr sz="1100" b="0" i="0">
                <a:solidFill>
                  <a:srgbClr val="FFFFFF"/>
                </a:solidFill>
                <a:latin typeface="Arial"/>
              </a:rPr>
              <a:t/>
            </a:r>
          </a:p>
          <a:p>
            <a:pPr algn="l"/>
            <a:r>
              <a:rPr sz="1100" b="0" i="0">
                <a:solidFill>
                  <a:srgbClr val="FFFFFF"/>
                </a:solidFill>
                <a:latin typeface="Arial"/>
              </a:rPr>
              <a:t>Parents who want more information will fill in our form only if they choose to. We will not ask for resident lists or any residents' information, and we will not offer payments or gifts to anyone.</a:t>
            </a:r>
          </a:p>
          <a:p>
            <a:pPr algn="l"/>
            <a:r>
              <a:rPr sz="1100" b="0" i="0">
                <a:solidFill>
                  <a:srgbClr val="FFFFFF"/>
                </a:solidFill>
                <a:latin typeface="Arial"/>
              </a:rPr>
              <a:t/>
            </a:r>
          </a:p>
          <a:p>
            <a:pPr algn="l"/>
            <a:r>
              <a:rPr sz="1100" b="0" i="0">
                <a:solidFill>
                  <a:srgbClr val="80BFEC"/>
                </a:solidFill>
                <a:latin typeface="Arial"/>
              </a:rPr>
              <a:t>Formal Kiswahili on letterhead, to the office by title, by hand. No hook that is personal; no offer.</a:t>
            </a:r>
          </a:p>
        </p:txBody>
      </p:sp>
      <p:pic>
        <p:nvPicPr>
          <p:cNvPr id="20" name="Picture 19" descr="image3.png"/>
          <p:cNvPicPr>
            <a:picLocks noChangeAspect="1"/>
          </p:cNvPicPr>
          <p:nvPr/>
        </p:nvPicPr>
        <p:blipFill>
          <a:blip r:embed="rId2"/>
          <a:stretch>
            <a:fillRect/>
          </a:stretch>
        </p:blipFill>
        <p:spPr>
          <a:xfrm>
            <a:off x="548640" y="6272784"/>
            <a:ext cx="1143000" cy="274320"/>
          </a:xfrm>
          <a:prstGeom prst="rect">
            <a:avLst/>
          </a:prstGeom>
        </p:spPr>
      </p:pic>
      <p:sp>
        <p:nvSpPr>
          <p:cNvPr id="21"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hook guidance and message drafts; government letter drafts</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FALLOUT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When there's no reply</a:t>
            </a:r>
          </a:p>
        </p:txBody>
      </p:sp>
      <p:sp>
        <p:nvSpPr>
          <p:cNvPr id="4" name="TextBox 3"/>
          <p:cNvSpPr txBox="1"/>
          <p:nvPr/>
        </p:nvSpPr>
        <p:spPr>
          <a:xfrm>
            <a:off x="548640" y="1417320"/>
            <a:ext cx="1463040" cy="548640"/>
          </a:xfrm>
          <a:prstGeom prst="rect">
            <a:avLst/>
          </a:prstGeom>
          <a:noFill/>
        </p:spPr>
        <p:txBody>
          <a:bodyPr wrap="square" lIns="0" tIns="0" rIns="0" bIns="0" anchor="t">
            <a:spAutoFit/>
          </a:bodyPr>
          <a:lstStyle/>
          <a:p>
            <a:pPr algn="l"/>
            <a:r>
              <a:rPr sz="1300" b="1" i="0">
                <a:solidFill>
                  <a:srgbClr val="002368"/>
                </a:solidFill>
                <a:latin typeface="Arial"/>
              </a:rPr>
              <a:t>A named person</a:t>
            </a:r>
          </a:p>
        </p:txBody>
      </p:sp>
      <p:sp>
        <p:nvSpPr>
          <p:cNvPr id="5" name="TextBox 4"/>
          <p:cNvSpPr txBox="1"/>
          <p:nvPr/>
        </p:nvSpPr>
        <p:spPr>
          <a:xfrm>
            <a:off x="214884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DAY 0</a:t>
            </a:r>
          </a:p>
        </p:txBody>
      </p:sp>
      <p:sp>
        <p:nvSpPr>
          <p:cNvPr id="6" name="Rounded Rectangle 5"/>
          <p:cNvSpPr/>
          <p:nvPr/>
        </p:nvSpPr>
        <p:spPr>
          <a:xfrm>
            <a:off x="2148840" y="1481328"/>
            <a:ext cx="2240280" cy="1005840"/>
          </a:xfrm>
          <a:prstGeom prst="roundRect">
            <a:avLst>
              <a:gd name="adj" fmla="val 6363"/>
            </a:avLst>
          </a:prstGeom>
          <a:solidFill>
            <a:srgbClr val="002368"/>
          </a:solidFill>
          <a:ln w="12700">
            <a:solidFill>
              <a:srgbClr val="002368"/>
            </a:solidFill>
          </a:ln>
        </p:spPr>
        <p:txBody>
          <a:bodyPr rtlCol="0" anchor="ctr"/>
          <a:lstStyle/>
          <a:p>
            <a:pPr algn="ctr"/>
          </a:p>
        </p:txBody>
      </p:sp>
      <p:sp>
        <p:nvSpPr>
          <p:cNvPr id="7" name="TextBox 6"/>
          <p:cNvSpPr txBox="1"/>
          <p:nvPr/>
        </p:nvSpPr>
        <p:spPr>
          <a:xfrm>
            <a:off x="2286000" y="1554480"/>
            <a:ext cx="2011680" cy="274320"/>
          </a:xfrm>
          <a:prstGeom prst="rect">
            <a:avLst/>
          </a:prstGeom>
          <a:noFill/>
        </p:spPr>
        <p:txBody>
          <a:bodyPr wrap="square" lIns="0" tIns="0" rIns="0" bIns="0" anchor="t">
            <a:spAutoFit/>
          </a:bodyPr>
          <a:lstStyle/>
          <a:p>
            <a:pPr algn="l"/>
            <a:r>
              <a:rPr sz="1100" b="1" i="0">
                <a:solidFill>
                  <a:srgbClr val="FFFFFF"/>
                </a:solidFill>
                <a:latin typeface="Arial"/>
              </a:rPr>
              <a:t>First message</a:t>
            </a:r>
          </a:p>
        </p:txBody>
      </p:sp>
      <p:sp>
        <p:nvSpPr>
          <p:cNvPr id="8" name="TextBox 7"/>
          <p:cNvSpPr txBox="1"/>
          <p:nvPr/>
        </p:nvSpPr>
        <p:spPr>
          <a:xfrm>
            <a:off x="2286000" y="1847088"/>
            <a:ext cx="2011680" cy="594360"/>
          </a:xfrm>
          <a:prstGeom prst="rect">
            <a:avLst/>
          </a:prstGeom>
          <a:noFill/>
        </p:spPr>
        <p:txBody>
          <a:bodyPr wrap="square" lIns="0" tIns="0" rIns="0" bIns="0" anchor="t">
            <a:spAutoFit/>
          </a:bodyPr>
          <a:lstStyle/>
          <a:p>
            <a:pPr algn="l"/>
            <a:r>
              <a:rPr sz="950" b="0" i="0">
                <a:solidFill>
                  <a:srgbClr val="FFFFFF"/>
                </a:solidFill>
                <a:latin typeface="Arial"/>
              </a:rPr>
              <a:t>the meeting request, or the Attn letter</a:t>
            </a:r>
          </a:p>
        </p:txBody>
      </p:sp>
      <p:sp>
        <p:nvSpPr>
          <p:cNvPr id="9" name="Chevron 8"/>
          <p:cNvSpPr/>
          <p:nvPr/>
        </p:nvSpPr>
        <p:spPr>
          <a:xfrm>
            <a:off x="4407408" y="1883664"/>
            <a:ext cx="91440" cy="201168"/>
          </a:xfrm>
          <a:prstGeom prst="chevron">
            <a:avLst>
              <a:gd name="adj" fmla="val 55000"/>
            </a:avLst>
          </a:prstGeom>
          <a:solidFill>
            <a:srgbClr val="80BFEC"/>
          </a:solidFill>
          <a:ln>
            <a:noFill/>
          </a:ln>
        </p:spPr>
        <p:txBody>
          <a:bodyPr rtlCol="0" anchor="ctr"/>
          <a:lstStyle/>
          <a:p>
            <a:pPr algn="ctr"/>
          </a:p>
        </p:txBody>
      </p:sp>
      <p:sp>
        <p:nvSpPr>
          <p:cNvPr id="10" name="TextBox 9"/>
          <p:cNvSpPr txBox="1"/>
          <p:nvPr/>
        </p:nvSpPr>
        <p:spPr>
          <a:xfrm>
            <a:off x="452628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+4 WORKING DAYS</a:t>
            </a:r>
          </a:p>
        </p:txBody>
      </p:sp>
      <p:sp>
        <p:nvSpPr>
          <p:cNvPr id="11" name="Rounded Rectangle 10"/>
          <p:cNvSpPr/>
          <p:nvPr/>
        </p:nvSpPr>
        <p:spPr>
          <a:xfrm>
            <a:off x="4526280" y="1481328"/>
            <a:ext cx="2240280" cy="1005840"/>
          </a:xfrm>
          <a:prstGeom prst="roundRect">
            <a:avLst>
              <a:gd name="adj" fmla="val 6363"/>
            </a:avLst>
          </a:prstGeom>
          <a:solidFill>
            <a:srgbClr val="80BFEC"/>
          </a:solidFill>
          <a:ln w="12700">
            <a:solidFill>
              <a:srgbClr val="80BFEC"/>
            </a:solidFill>
          </a:ln>
        </p:spPr>
        <p:txBody>
          <a:bodyPr rtlCol="0" anchor="ctr"/>
          <a:lstStyle/>
          <a:p>
            <a:pPr algn="ctr"/>
          </a:p>
        </p:txBody>
      </p:sp>
      <p:sp>
        <p:nvSpPr>
          <p:cNvPr id="12" name="TextBox 11"/>
          <p:cNvSpPr txBox="1"/>
          <p:nvPr/>
        </p:nvSpPr>
        <p:spPr>
          <a:xfrm>
            <a:off x="466344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Follow-up 1: the offer</a:t>
            </a:r>
          </a:p>
        </p:txBody>
      </p:sp>
      <p:sp>
        <p:nvSpPr>
          <p:cNvPr id="13" name="TextBox 12"/>
          <p:cNvSpPr txBox="1"/>
          <p:nvPr/>
        </p:nvSpPr>
        <p:spPr>
          <a:xfrm>
            <a:off x="466344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register terms: OF04 and the family offer</a:t>
            </a:r>
          </a:p>
        </p:txBody>
      </p:sp>
      <p:sp>
        <p:nvSpPr>
          <p:cNvPr id="14" name="Chevron 13"/>
          <p:cNvSpPr/>
          <p:nvPr/>
        </p:nvSpPr>
        <p:spPr>
          <a:xfrm>
            <a:off x="6784848" y="1883664"/>
            <a:ext cx="91440" cy="201168"/>
          </a:xfrm>
          <a:prstGeom prst="chevron">
            <a:avLst>
              <a:gd name="adj" fmla="val 55000"/>
            </a:avLst>
          </a:prstGeom>
          <a:solidFill>
            <a:srgbClr val="80BFEC"/>
          </a:solidFill>
          <a:ln>
            <a:noFill/>
          </a:ln>
        </p:spPr>
        <p:txBody>
          <a:bodyPr rtlCol="0" anchor="ctr"/>
          <a:lstStyle/>
          <a:p>
            <a:pPr algn="ctr"/>
          </a:p>
        </p:txBody>
      </p:sp>
      <p:sp>
        <p:nvSpPr>
          <p:cNvPr id="15" name="TextBox 14"/>
          <p:cNvSpPr txBox="1"/>
          <p:nvPr/>
        </p:nvSpPr>
        <p:spPr>
          <a:xfrm>
            <a:off x="690372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+4 WORKING DAYS</a:t>
            </a:r>
          </a:p>
        </p:txBody>
      </p:sp>
      <p:sp>
        <p:nvSpPr>
          <p:cNvPr id="16" name="Rounded Rectangle 15"/>
          <p:cNvSpPr/>
          <p:nvPr/>
        </p:nvSpPr>
        <p:spPr>
          <a:xfrm>
            <a:off x="6903720" y="1481328"/>
            <a:ext cx="2240280" cy="1005840"/>
          </a:xfrm>
          <a:prstGeom prst="roundRect">
            <a:avLst>
              <a:gd name="adj" fmla="val 6363"/>
            </a:avLst>
          </a:prstGeom>
          <a:solidFill>
            <a:srgbClr val="D9ECF9"/>
          </a:solidFill>
          <a:ln w="12700">
            <a:solidFill>
              <a:srgbClr val="D9ECF9"/>
            </a:solidFill>
          </a:ln>
        </p:spPr>
        <p:txBody>
          <a:bodyPr rtlCol="0" anchor="ctr"/>
          <a:lstStyle/>
          <a:p>
            <a:pPr algn="ctr"/>
          </a:p>
        </p:txBody>
      </p:sp>
      <p:sp>
        <p:nvSpPr>
          <p:cNvPr id="17" name="TextBox 16"/>
          <p:cNvSpPr txBox="1"/>
          <p:nvPr/>
        </p:nvSpPr>
        <p:spPr>
          <a:xfrm>
            <a:off x="704088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Follow-up 2: the close</a:t>
            </a:r>
          </a:p>
        </p:txBody>
      </p:sp>
      <p:sp>
        <p:nvSpPr>
          <p:cNvPr id="18" name="TextBox 17"/>
          <p:cNvSpPr txBox="1"/>
          <p:nvPr/>
        </p:nvSpPr>
        <p:spPr>
          <a:xfrm>
            <a:off x="704088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'If this sits with someone else, who should I write to?'</a:t>
            </a:r>
          </a:p>
        </p:txBody>
      </p:sp>
      <p:sp>
        <p:nvSpPr>
          <p:cNvPr id="19" name="Chevron 18"/>
          <p:cNvSpPr/>
          <p:nvPr/>
        </p:nvSpPr>
        <p:spPr>
          <a:xfrm>
            <a:off x="9162288" y="1883664"/>
            <a:ext cx="91440" cy="201168"/>
          </a:xfrm>
          <a:prstGeom prst="chevron">
            <a:avLst>
              <a:gd name="adj" fmla="val 55000"/>
            </a:avLst>
          </a:prstGeom>
          <a:solidFill>
            <a:srgbClr val="80BFEC"/>
          </a:solidFill>
          <a:ln>
            <a:noFill/>
          </a:ln>
        </p:spPr>
        <p:txBody>
          <a:bodyPr rtlCol="0" anchor="ctr"/>
          <a:lstStyle/>
          <a:p>
            <a:pPr algn="ctr"/>
          </a:p>
        </p:txBody>
      </p:sp>
      <p:sp>
        <p:nvSpPr>
          <p:cNvPr id="20" name="TextBox 19"/>
          <p:cNvSpPr txBox="1"/>
          <p:nvPr/>
        </p:nvSpPr>
        <p:spPr>
          <a:xfrm>
            <a:off x="928116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+5 WORKING DAYS</a:t>
            </a:r>
          </a:p>
        </p:txBody>
      </p:sp>
      <p:sp>
        <p:nvSpPr>
          <p:cNvPr id="21" name="Rounded Rectangle 20"/>
          <p:cNvSpPr/>
          <p:nvPr/>
        </p:nvSpPr>
        <p:spPr>
          <a:xfrm>
            <a:off x="9281160" y="1481328"/>
            <a:ext cx="2240280" cy="1005840"/>
          </a:xfrm>
          <a:prstGeom prst="roundRect">
            <a:avLst>
              <a:gd name="adj" fmla="val 6363"/>
            </a:avLst>
          </a:prstGeom>
          <a:solidFill>
            <a:srgbClr val="FFC952"/>
          </a:solidFill>
          <a:ln w="12700">
            <a:solidFill>
              <a:srgbClr val="FFC952"/>
            </a:solidFill>
          </a:ln>
        </p:spPr>
        <p:txBody>
          <a:bodyPr rtlCol="0" anchor="ctr"/>
          <a:lstStyle/>
          <a:p>
            <a:pPr algn="ctr"/>
          </a:p>
        </p:txBody>
      </p:sp>
      <p:sp>
        <p:nvSpPr>
          <p:cNvPr id="22" name="TextBox 21"/>
          <p:cNvSpPr txBox="1"/>
          <p:nvPr/>
        </p:nvSpPr>
        <p:spPr>
          <a:xfrm>
            <a:off x="941832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One escalation</a:t>
            </a:r>
          </a:p>
        </p:txBody>
      </p:sp>
      <p:sp>
        <p:nvSpPr>
          <p:cNvPr id="23" name="TextBox 22"/>
          <p:cNvSpPr txBox="1"/>
          <p:nvPr/>
        </p:nvSpPr>
        <p:spPr>
          <a:xfrm>
            <a:off x="941832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to the senior contact, if one is recorded</a:t>
            </a:r>
          </a:p>
        </p:txBody>
      </p:sp>
      <p:sp>
        <p:nvSpPr>
          <p:cNvPr id="24" name="TextBox 23"/>
          <p:cNvSpPr txBox="1"/>
          <p:nvPr/>
        </p:nvSpPr>
        <p:spPr>
          <a:xfrm>
            <a:off x="548640" y="2971800"/>
            <a:ext cx="1463040" cy="548640"/>
          </a:xfrm>
          <a:prstGeom prst="rect">
            <a:avLst/>
          </a:prstGeom>
          <a:noFill/>
        </p:spPr>
        <p:txBody>
          <a:bodyPr wrap="square" lIns="0" tIns="0" rIns="0" bIns="0" anchor="t">
            <a:spAutoFit/>
          </a:bodyPr>
          <a:lstStyle/>
          <a:p>
            <a:pPr algn="l"/>
            <a:r>
              <a:rPr sz="1300" b="1" i="0">
                <a:solidFill>
                  <a:srgbClr val="002368"/>
                </a:solidFill>
                <a:latin typeface="Arial"/>
              </a:rPr>
              <a:t>A general inbox, or no email</a:t>
            </a:r>
          </a:p>
        </p:txBody>
      </p:sp>
      <p:sp>
        <p:nvSpPr>
          <p:cNvPr id="25" name="TextBox 24"/>
          <p:cNvSpPr txBox="1"/>
          <p:nvPr/>
        </p:nvSpPr>
        <p:spPr>
          <a:xfrm>
            <a:off x="2148840"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DAY 0</a:t>
            </a:r>
          </a:p>
        </p:txBody>
      </p:sp>
      <p:sp>
        <p:nvSpPr>
          <p:cNvPr id="26" name="Rounded Rectangle 25"/>
          <p:cNvSpPr/>
          <p:nvPr/>
        </p:nvSpPr>
        <p:spPr>
          <a:xfrm>
            <a:off x="2148840" y="3035808"/>
            <a:ext cx="3017520" cy="1005840"/>
          </a:xfrm>
          <a:prstGeom prst="roundRect">
            <a:avLst>
              <a:gd name="adj" fmla="val 6363"/>
            </a:avLst>
          </a:prstGeom>
          <a:solidFill>
            <a:srgbClr val="D9ECF9"/>
          </a:solidFill>
          <a:ln w="12700">
            <a:solidFill>
              <a:srgbClr val="D9ECF9"/>
            </a:solidFill>
          </a:ln>
        </p:spPr>
        <p:txBody>
          <a:bodyPr rtlCol="0" anchor="ctr"/>
          <a:lstStyle/>
          <a:p>
            <a:pPr algn="ctr"/>
          </a:p>
        </p:txBody>
      </p:sp>
      <p:sp>
        <p:nvSpPr>
          <p:cNvPr id="27" name="TextBox 26"/>
          <p:cNvSpPr txBox="1"/>
          <p:nvPr/>
        </p:nvSpPr>
        <p:spPr>
          <a:xfrm>
            <a:off x="2286000" y="3108960"/>
            <a:ext cx="2743200" cy="274320"/>
          </a:xfrm>
          <a:prstGeom prst="rect">
            <a:avLst/>
          </a:prstGeom>
          <a:noFill/>
        </p:spPr>
        <p:txBody>
          <a:bodyPr wrap="square" lIns="0" tIns="0" rIns="0" bIns="0" anchor="t">
            <a:spAutoFit/>
          </a:bodyPr>
          <a:lstStyle/>
          <a:p>
            <a:pPr algn="l"/>
            <a:r>
              <a:rPr sz="1100" b="1" i="0">
                <a:solidFill>
                  <a:srgbClr val="002368"/>
                </a:solidFill>
                <a:latin typeface="Arial"/>
              </a:rPr>
              <a:t>Redirect request</a:t>
            </a:r>
          </a:p>
        </p:txBody>
      </p:sp>
      <p:sp>
        <p:nvSpPr>
          <p:cNvPr id="28" name="TextBox 27"/>
          <p:cNvSpPr txBox="1"/>
          <p:nvPr/>
        </p:nvSpPr>
        <p:spPr>
          <a:xfrm>
            <a:off x="2286000" y="3401568"/>
            <a:ext cx="2743200" cy="594360"/>
          </a:xfrm>
          <a:prstGeom prst="rect">
            <a:avLst/>
          </a:prstGeom>
          <a:noFill/>
        </p:spPr>
        <p:txBody>
          <a:bodyPr wrap="square" lIns="0" tIns="0" rIns="0" bIns="0" anchor="t">
            <a:spAutoFit/>
          </a:bodyPr>
          <a:lstStyle/>
          <a:p>
            <a:pPr algn="l"/>
            <a:r>
              <a:rPr sz="950" b="0" i="0">
                <a:solidFill>
                  <a:srgbClr val="002368"/>
                </a:solidFill>
                <a:latin typeface="Arial"/>
              </a:rPr>
              <a:t>who should we write to? (no email: the same question by phone)</a:t>
            </a:r>
          </a:p>
        </p:txBody>
      </p:sp>
      <p:sp>
        <p:nvSpPr>
          <p:cNvPr id="29" name="Chevron 28"/>
          <p:cNvSpPr/>
          <p:nvPr/>
        </p:nvSpPr>
        <p:spPr>
          <a:xfrm>
            <a:off x="5193792" y="3438144"/>
            <a:ext cx="91440" cy="201168"/>
          </a:xfrm>
          <a:prstGeom prst="chevron">
            <a:avLst>
              <a:gd name="adj" fmla="val 55000"/>
            </a:avLst>
          </a:prstGeom>
          <a:solidFill>
            <a:srgbClr val="80BFEC"/>
          </a:solidFill>
          <a:ln>
            <a:noFill/>
          </a:ln>
        </p:spPr>
        <p:txBody>
          <a:bodyPr rtlCol="0" anchor="ctr"/>
          <a:lstStyle/>
          <a:p>
            <a:pPr algn="ctr"/>
          </a:p>
        </p:txBody>
      </p:sp>
      <p:sp>
        <p:nvSpPr>
          <p:cNvPr id="30" name="TextBox 29"/>
          <p:cNvSpPr txBox="1"/>
          <p:nvPr/>
        </p:nvSpPr>
        <p:spPr>
          <a:xfrm>
            <a:off x="5321808"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+2 WORKING DAYS</a:t>
            </a:r>
          </a:p>
        </p:txBody>
      </p:sp>
      <p:sp>
        <p:nvSpPr>
          <p:cNvPr id="31" name="Rounded Rectangle 30"/>
          <p:cNvSpPr/>
          <p:nvPr/>
        </p:nvSpPr>
        <p:spPr>
          <a:xfrm>
            <a:off x="5321808" y="3035808"/>
            <a:ext cx="3017520" cy="1005840"/>
          </a:xfrm>
          <a:prstGeom prst="roundRect">
            <a:avLst>
              <a:gd name="adj" fmla="val 6363"/>
            </a:avLst>
          </a:prstGeom>
          <a:solidFill>
            <a:srgbClr val="80BFEC"/>
          </a:solidFill>
          <a:ln w="12700">
            <a:solidFill>
              <a:srgbClr val="80BFEC"/>
            </a:solidFill>
          </a:ln>
        </p:spPr>
        <p:txBody>
          <a:bodyPr rtlCol="0" anchor="ctr"/>
          <a:lstStyle/>
          <a:p>
            <a:pPr algn="ctr"/>
          </a:p>
        </p:txBody>
      </p:sp>
      <p:sp>
        <p:nvSpPr>
          <p:cNvPr id="32" name="TextBox 31"/>
          <p:cNvSpPr txBox="1"/>
          <p:nvPr/>
        </p:nvSpPr>
        <p:spPr>
          <a:xfrm>
            <a:off x="5458968" y="3108960"/>
            <a:ext cx="2743200" cy="274320"/>
          </a:xfrm>
          <a:prstGeom prst="rect">
            <a:avLst/>
          </a:prstGeom>
          <a:noFill/>
        </p:spPr>
        <p:txBody>
          <a:bodyPr wrap="square" lIns="0" tIns="0" rIns="0" bIns="0" anchor="t">
            <a:spAutoFit/>
          </a:bodyPr>
          <a:lstStyle/>
          <a:p>
            <a:pPr algn="l"/>
            <a:r>
              <a:rPr sz="1100" b="1" i="0">
                <a:solidFill>
                  <a:srgbClr val="002368"/>
                </a:solidFill>
                <a:latin typeface="Arial"/>
              </a:rPr>
              <a:t>Front-desk call</a:t>
            </a:r>
          </a:p>
        </p:txBody>
      </p:sp>
      <p:sp>
        <p:nvSpPr>
          <p:cNvPr id="33" name="TextBox 32"/>
          <p:cNvSpPr txBox="1"/>
          <p:nvPr/>
        </p:nvSpPr>
        <p:spPr>
          <a:xfrm>
            <a:off x="5458968" y="3401568"/>
            <a:ext cx="2743200" cy="594360"/>
          </a:xfrm>
          <a:prstGeom prst="rect">
            <a:avLst/>
          </a:prstGeom>
          <a:noFill/>
        </p:spPr>
        <p:txBody>
          <a:bodyPr wrap="square" lIns="0" tIns="0" rIns="0" bIns="0" anchor="t">
            <a:spAutoFit/>
          </a:bodyPr>
          <a:lstStyle/>
          <a:p>
            <a:pPr algn="l"/>
            <a:r>
              <a:rPr sz="950" b="0" i="0">
                <a:solidFill>
                  <a:srgbClr val="002368"/>
                </a:solidFill>
                <a:latin typeface="Arial"/>
              </a:rPr>
              <a:t>ask for the HR or welfare officer's name and email</a:t>
            </a:r>
          </a:p>
        </p:txBody>
      </p:sp>
      <p:sp>
        <p:nvSpPr>
          <p:cNvPr id="34" name="Chevron 33"/>
          <p:cNvSpPr/>
          <p:nvPr/>
        </p:nvSpPr>
        <p:spPr>
          <a:xfrm>
            <a:off x="8366760" y="3438144"/>
            <a:ext cx="91440" cy="201168"/>
          </a:xfrm>
          <a:prstGeom prst="chevron">
            <a:avLst>
              <a:gd name="adj" fmla="val 55000"/>
            </a:avLst>
          </a:prstGeom>
          <a:solidFill>
            <a:srgbClr val="80BFEC"/>
          </a:solidFill>
          <a:ln>
            <a:noFill/>
          </a:ln>
        </p:spPr>
        <p:txBody>
          <a:bodyPr rtlCol="0" anchor="ctr"/>
          <a:lstStyle/>
          <a:p>
            <a:pPr algn="ctr"/>
          </a:p>
        </p:txBody>
      </p:sp>
      <p:sp>
        <p:nvSpPr>
          <p:cNvPr id="35" name="TextBox 34"/>
          <p:cNvSpPr txBox="1"/>
          <p:nvPr/>
        </p:nvSpPr>
        <p:spPr>
          <a:xfrm>
            <a:off x="8494776"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THEN</a:t>
            </a:r>
          </a:p>
        </p:txBody>
      </p:sp>
      <p:sp>
        <p:nvSpPr>
          <p:cNvPr id="36" name="Rounded Rectangle 35"/>
          <p:cNvSpPr/>
          <p:nvPr/>
        </p:nvSpPr>
        <p:spPr>
          <a:xfrm>
            <a:off x="8494776" y="3035808"/>
            <a:ext cx="3017520" cy="1005840"/>
          </a:xfrm>
          <a:prstGeom prst="roundRect">
            <a:avLst>
              <a:gd name="adj" fmla="val 6363"/>
            </a:avLst>
          </a:prstGeom>
          <a:solidFill>
            <a:srgbClr val="002368"/>
          </a:solidFill>
          <a:ln w="12700">
            <a:solidFill>
              <a:srgbClr val="002368"/>
            </a:solidFill>
          </a:ln>
        </p:spPr>
        <p:txBody>
          <a:bodyPr rtlCol="0" anchor="ctr"/>
          <a:lstStyle/>
          <a:p>
            <a:pPr algn="ctr"/>
          </a:p>
        </p:txBody>
      </p:sp>
      <p:sp>
        <p:nvSpPr>
          <p:cNvPr id="37" name="TextBox 36"/>
          <p:cNvSpPr txBox="1"/>
          <p:nvPr/>
        </p:nvSpPr>
        <p:spPr>
          <a:xfrm>
            <a:off x="8631936" y="3108960"/>
            <a:ext cx="2743200" cy="274320"/>
          </a:xfrm>
          <a:prstGeom prst="rect">
            <a:avLst/>
          </a:prstGeom>
          <a:noFill/>
        </p:spPr>
        <p:txBody>
          <a:bodyPr wrap="square" lIns="0" tIns="0" rIns="0" bIns="0" anchor="t">
            <a:spAutoFit/>
          </a:bodyPr>
          <a:lstStyle/>
          <a:p>
            <a:pPr algn="l"/>
            <a:r>
              <a:rPr sz="1100" b="1" i="0">
                <a:solidFill>
                  <a:srgbClr val="FFFFFF"/>
                </a:solidFill>
                <a:latin typeface="Arial"/>
              </a:rPr>
              <a:t>Letter by hand</a:t>
            </a:r>
          </a:p>
        </p:txBody>
      </p:sp>
      <p:sp>
        <p:nvSpPr>
          <p:cNvPr id="38" name="TextBox 37"/>
          <p:cNvSpPr txBox="1"/>
          <p:nvPr/>
        </p:nvSpPr>
        <p:spPr>
          <a:xfrm>
            <a:off x="8631936" y="3401568"/>
            <a:ext cx="2743200" cy="594360"/>
          </a:xfrm>
          <a:prstGeom prst="rect">
            <a:avLst/>
          </a:prstGeom>
          <a:noFill/>
        </p:spPr>
        <p:txBody>
          <a:bodyPr wrap="square" lIns="0" tIns="0" rIns="0" bIns="0" anchor="t">
            <a:spAutoFit/>
          </a:bodyPr>
          <a:lstStyle/>
          <a:p>
            <a:pPr algn="l"/>
            <a:r>
              <a:rPr sz="950" b="0" i="0">
                <a:solidFill>
                  <a:srgbClr val="FFFFFF"/>
                </a:solidFill>
                <a:latin typeface="Arial"/>
              </a:rPr>
              <a:t>for the nearest P1 and P2 leads</a:t>
            </a:r>
          </a:p>
        </p:txBody>
      </p:sp>
      <p:sp>
        <p:nvSpPr>
          <p:cNvPr id="39" name="Rounded Rectangle 38"/>
          <p:cNvSpPr/>
          <p:nvPr/>
        </p:nvSpPr>
        <p:spPr>
          <a:xfrm>
            <a:off x="548640" y="4343400"/>
            <a:ext cx="11091672" cy="566928"/>
          </a:xfrm>
          <a:prstGeom prst="roundRect">
            <a:avLst>
              <a:gd name="adj" fmla="val 11290"/>
            </a:avLst>
          </a:prstGeom>
          <a:solidFill>
            <a:srgbClr val="ECECEC"/>
          </a:solidFill>
          <a:ln w="12700">
            <a:solidFill>
              <a:srgbClr val="818283"/>
            </a:solidFill>
            <a:prstDash val="sysDot"/>
          </a:ln>
        </p:spPr>
        <p:txBody>
          <a:bodyPr rtlCol="0" anchor="ctr" wrap="square" lIns="45720" rIns="45720" tIns="27432" bIns="27432"/>
          <a:lstStyle/>
          <a:p>
            <a:pPr algn="ctr"/>
            <a:r>
              <a:rPr sz="1100" b="1" i="0">
                <a:solidFill>
                  <a:srgbClr val="4D4E50"/>
                </a:solidFill>
                <a:latin typeface="Arial"/>
              </a:rPr>
              <a:t>Then dormant until the next intake window</a:t>
            </a:r>
          </a:p>
          <a:p>
            <a:pPr algn="ctr"/>
            <a:r>
              <a:rPr sz="950" b="0" i="0">
                <a:solidFill>
                  <a:srgbClr val="4D4E50"/>
                </a:solidFill>
                <a:latin typeface="Arial"/>
              </a:rPr>
              <a:t>re-tried once, or sooner through a warm route such as TATO or HAT  ·  funders abroad: email only  ·  homes are never visited unannounced</a:t>
            </a:r>
          </a:p>
        </p:txBody>
      </p:sp>
      <p:sp>
        <p:nvSpPr>
          <p:cNvPr id="40" name="Rounded Rectangle 39"/>
          <p:cNvSpPr/>
          <p:nvPr/>
        </p:nvSpPr>
        <p:spPr>
          <a:xfrm>
            <a:off x="548640" y="5138928"/>
            <a:ext cx="11091672" cy="777240"/>
          </a:xfrm>
          <a:prstGeom prst="roundRect">
            <a:avLst>
              <a:gd name="adj" fmla="val 8235"/>
            </a:avLst>
          </a:prstGeom>
          <a:solidFill>
            <a:srgbClr val="FFF7E5"/>
          </a:solidFill>
          <a:ln w="12700">
            <a:solidFill>
              <a:srgbClr val="FFF7E5"/>
            </a:solidFill>
          </a:ln>
        </p:spPr>
        <p:txBody>
          <a:bodyPr rtlCol="0" anchor="ctr"/>
          <a:lstStyle/>
          <a:p>
            <a:pPr algn="ctr"/>
          </a:p>
        </p:txBody>
      </p:sp>
      <p:pic>
        <p:nvPicPr>
          <p:cNvPr id="41" name="Picture 40" descr="image12.png"/>
          <p:cNvPicPr>
            <a:picLocks noChangeAspect="1"/>
          </p:cNvPicPr>
          <p:nvPr/>
        </p:nvPicPr>
        <p:blipFill>
          <a:blip r:embed="rId2"/>
          <a:stretch>
            <a:fillRect/>
          </a:stretch>
        </p:blipFill>
        <p:spPr>
          <a:xfrm>
            <a:off x="10972800" y="5212080"/>
            <a:ext cx="475488" cy="619575"/>
          </a:xfrm>
          <a:prstGeom prst="rect">
            <a:avLst/>
          </a:prstGeom>
        </p:spPr>
      </p:pic>
      <p:sp>
        <p:nvSpPr>
          <p:cNvPr id="42" name="TextBox 41"/>
          <p:cNvSpPr txBox="1"/>
          <p:nvPr/>
        </p:nvSpPr>
        <p:spPr>
          <a:xfrm>
            <a:off x="822960" y="5166360"/>
            <a:ext cx="9875520" cy="731520"/>
          </a:xfrm>
          <a:prstGeom prst="rect">
            <a:avLst/>
          </a:prstGeom>
          <a:noFill/>
        </p:spPr>
        <p:txBody>
          <a:bodyPr wrap="square" lIns="0" tIns="0" rIns="0" bIns="0" anchor="ctr">
            <a:spAutoFit/>
          </a:bodyPr>
          <a:lstStyle/>
          <a:p>
            <a:pPr algn="l"/>
            <a:r>
              <a:rPr sz="1700" b="0" i="0">
                <a:solidFill>
                  <a:srgbClr val="002368"/>
                </a:solidFill>
                <a:latin typeface="Georgia"/>
              </a:rPr>
              <a:t>Incentives are a last resort, never in the flow.</a:t>
            </a:r>
          </a:p>
        </p:txBody>
      </p:sp>
      <p:pic>
        <p:nvPicPr>
          <p:cNvPr id="43" name="Picture 42" descr="image3.png"/>
          <p:cNvPicPr>
            <a:picLocks noChangeAspect="1"/>
          </p:cNvPicPr>
          <p:nvPr/>
        </p:nvPicPr>
        <p:blipFill>
          <a:blip r:embed="rId3"/>
          <a:stretch>
            <a:fillRect/>
          </a:stretch>
        </p:blipFill>
        <p:spPr>
          <a:xfrm>
            <a:off x="548640" y="6272784"/>
            <a:ext cx="1143000" cy="274320"/>
          </a:xfrm>
          <a:prstGeom prst="rect">
            <a:avLst/>
          </a:prstGeom>
        </p:spPr>
      </p:pic>
      <p:sp>
        <p:nvSpPr>
          <p:cNvPr id="44"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partnership pipelines</a:t>
            </a:r>
          </a:p>
        </p:txBody>
      </p:sp>
      <p:sp>
        <p:nvSpPr>
          <p:cNvPr id="4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THE SPINE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One shared spine, so results add up across segments</a:t>
            </a:r>
          </a:p>
        </p:txBody>
      </p:sp>
      <p:sp>
        <p:nvSpPr>
          <p:cNvPr id="4" name="Hexagon 3"/>
          <p:cNvSpPr/>
          <p:nvPr/>
        </p:nvSpPr>
        <p:spPr>
          <a:xfrm>
            <a:off x="548640" y="2148840"/>
            <a:ext cx="950976" cy="960120"/>
          </a:xfrm>
          <a:prstGeom prst="hexagon">
            <a:avLst>
              <a:gd name="adj" fmla="val 9615"/>
              <a:gd name="vf" fmla="val 115470"/>
            </a:avLst>
          </a:prstGeom>
          <a:solidFill>
            <a:srgbClr val="FFFFFF"/>
          </a:solidFill>
          <a:ln w="12700">
            <a:solidFill>
              <a:srgbClr val="818283"/>
            </a:solidFill>
            <a:prstDash val="dash"/>
          </a:ln>
        </p:spPr>
        <p:txBody>
          <a:bodyPr rtlCol="0" anchor="ctr" wrap="square" tIns="27432" bIns="27432"/>
          <a:lstStyle/>
          <a:p>
            <a:pPr algn="ctr"/>
            <a:r>
              <a:rPr sz="1000" b="1" i="0">
                <a:solidFill>
                  <a:srgbClr val="002368"/>
                </a:solidFill>
                <a:latin typeface="Arial"/>
              </a:rPr>
              <a:t>S0 Held</a:t>
            </a:r>
          </a:p>
          <a:p>
            <a:pPr algn="ctr"/>
            <a:r>
              <a:rPr sz="850" b="0" i="0">
                <a:solidFill>
                  <a:srgbClr val="002368"/>
                </a:solidFill>
                <a:latin typeface="Arial"/>
              </a:rPr>
              <a:t>research or checks</a:t>
            </a:r>
          </a:p>
        </p:txBody>
      </p:sp>
      <p:sp>
        <p:nvSpPr>
          <p:cNvPr id="5" name="Chevron 4"/>
          <p:cNvSpPr/>
          <p:nvPr/>
        </p:nvSpPr>
        <p:spPr>
          <a:xfrm>
            <a:off x="1531620" y="2523744"/>
            <a:ext cx="91440" cy="201168"/>
          </a:xfrm>
          <a:prstGeom prst="chevron">
            <a:avLst>
              <a:gd name="adj" fmla="val 55000"/>
            </a:avLst>
          </a:prstGeom>
          <a:solidFill>
            <a:srgbClr val="80BFEC"/>
          </a:solidFill>
          <a:ln>
            <a:noFill/>
          </a:ln>
        </p:spPr>
        <p:txBody>
          <a:bodyPr rtlCol="0" anchor="ctr"/>
          <a:lstStyle/>
          <a:p>
            <a:pPr algn="ctr"/>
          </a:p>
        </p:txBody>
      </p:sp>
      <p:sp>
        <p:nvSpPr>
          <p:cNvPr id="6" name="Rounded Rectangle 5"/>
          <p:cNvSpPr/>
          <p:nvPr/>
        </p:nvSpPr>
        <p:spPr>
          <a:xfrm>
            <a:off x="1655064"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S1 Ready</a:t>
            </a:r>
          </a:p>
          <a:p>
            <a:pPr algn="ctr"/>
            <a:r>
              <a:rPr sz="850" b="0" i="0">
                <a:solidFill>
                  <a:srgbClr val="002368"/>
                </a:solidFill>
                <a:latin typeface="Arial"/>
              </a:rPr>
              <a:t>approved to contact</a:t>
            </a:r>
          </a:p>
        </p:txBody>
      </p:sp>
      <p:sp>
        <p:nvSpPr>
          <p:cNvPr id="7" name="Chevron 6"/>
          <p:cNvSpPr/>
          <p:nvPr/>
        </p:nvSpPr>
        <p:spPr>
          <a:xfrm>
            <a:off x="2638044" y="2523744"/>
            <a:ext cx="91440" cy="201168"/>
          </a:xfrm>
          <a:prstGeom prst="chevron">
            <a:avLst>
              <a:gd name="adj" fmla="val 55000"/>
            </a:avLst>
          </a:prstGeom>
          <a:solidFill>
            <a:srgbClr val="80BFEC"/>
          </a:solidFill>
          <a:ln>
            <a:noFill/>
          </a:ln>
        </p:spPr>
        <p:txBody>
          <a:bodyPr rtlCol="0" anchor="ctr"/>
          <a:lstStyle/>
          <a:p>
            <a:pPr algn="ctr"/>
          </a:p>
        </p:txBody>
      </p:sp>
      <p:sp>
        <p:nvSpPr>
          <p:cNvPr id="8" name="Rounded Rectangle 7"/>
          <p:cNvSpPr/>
          <p:nvPr/>
        </p:nvSpPr>
        <p:spPr>
          <a:xfrm>
            <a:off x="2761488"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S2 Contacted</a:t>
            </a:r>
          </a:p>
          <a:p>
            <a:pPr algn="ctr"/>
            <a:r>
              <a:rPr sz="850" b="0" i="0">
                <a:solidFill>
                  <a:srgbClr val="002368"/>
                </a:solidFill>
                <a:latin typeface="Arial"/>
              </a:rPr>
              <a:t>reach who decides</a:t>
            </a:r>
          </a:p>
        </p:txBody>
      </p:sp>
      <p:sp>
        <p:nvSpPr>
          <p:cNvPr id="9" name="Chevron 8"/>
          <p:cNvSpPr/>
          <p:nvPr/>
        </p:nvSpPr>
        <p:spPr>
          <a:xfrm>
            <a:off x="3744468" y="2523744"/>
            <a:ext cx="91440" cy="201168"/>
          </a:xfrm>
          <a:prstGeom prst="chevron">
            <a:avLst>
              <a:gd name="adj" fmla="val 55000"/>
            </a:avLst>
          </a:prstGeom>
          <a:solidFill>
            <a:srgbClr val="80BFEC"/>
          </a:solidFill>
          <a:ln>
            <a:noFill/>
          </a:ln>
        </p:spPr>
        <p:txBody>
          <a:bodyPr rtlCol="0" anchor="ctr"/>
          <a:lstStyle/>
          <a:p>
            <a:pPr algn="ctr"/>
          </a:p>
        </p:txBody>
      </p:sp>
      <p:sp>
        <p:nvSpPr>
          <p:cNvPr id="10" name="Rounded Rectangle 9"/>
          <p:cNvSpPr/>
          <p:nvPr/>
        </p:nvSpPr>
        <p:spPr>
          <a:xfrm>
            <a:off x="3867911" y="2148840"/>
            <a:ext cx="950976" cy="960120"/>
          </a:xfrm>
          <a:prstGeom prst="roundRect">
            <a:avLst>
              <a:gd name="adj" fmla="val 6730"/>
            </a:avLst>
          </a:prstGeom>
          <a:solidFill>
            <a:srgbClr val="FFF7E5"/>
          </a:solidFill>
          <a:ln w="12700">
            <a:solidFill>
              <a:srgbClr val="FFC952"/>
            </a:solidFill>
          </a:ln>
        </p:spPr>
        <p:txBody>
          <a:bodyPr rtlCol="0" anchor="ctr" wrap="square" lIns="45720" rIns="45720" tIns="27432" bIns="27432"/>
          <a:lstStyle/>
          <a:p>
            <a:pPr algn="ctr"/>
            <a:r>
              <a:rPr sz="1000" b="1" i="0">
                <a:solidFill>
                  <a:srgbClr val="002368"/>
                </a:solidFill>
                <a:latin typeface="Arial"/>
              </a:rPr>
              <a:t>S3 Responded</a:t>
            </a:r>
          </a:p>
          <a:p>
            <a:pPr algn="ctr"/>
            <a:r>
              <a:rPr sz="850" b="0" i="0">
                <a:solidFill>
                  <a:srgbClr val="002368"/>
                </a:solidFill>
                <a:latin typeface="Arial"/>
              </a:rPr>
              <a:t>a human reply</a:t>
            </a:r>
          </a:p>
        </p:txBody>
      </p:sp>
      <p:sp>
        <p:nvSpPr>
          <p:cNvPr id="11" name="Chevron 10"/>
          <p:cNvSpPr/>
          <p:nvPr/>
        </p:nvSpPr>
        <p:spPr>
          <a:xfrm>
            <a:off x="4850892" y="2523744"/>
            <a:ext cx="91440" cy="201168"/>
          </a:xfrm>
          <a:prstGeom prst="chevron">
            <a:avLst>
              <a:gd name="adj" fmla="val 55000"/>
            </a:avLst>
          </a:prstGeom>
          <a:solidFill>
            <a:srgbClr val="80BFEC"/>
          </a:solidFill>
          <a:ln>
            <a:noFill/>
          </a:ln>
        </p:spPr>
        <p:txBody>
          <a:bodyPr rtlCol="0" anchor="ctr"/>
          <a:lstStyle/>
          <a:p>
            <a:pPr algn="ctr"/>
          </a:p>
        </p:txBody>
      </p:sp>
      <p:sp>
        <p:nvSpPr>
          <p:cNvPr id="12" name="Rounded Rectangle 11"/>
          <p:cNvSpPr/>
          <p:nvPr/>
        </p:nvSpPr>
        <p:spPr>
          <a:xfrm>
            <a:off x="4974336"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S4 Meeting</a:t>
            </a:r>
          </a:p>
          <a:p>
            <a:pPr algn="ctr"/>
            <a:r>
              <a:rPr sz="850" b="0" i="0">
                <a:solidFill>
                  <a:srgbClr val="002368"/>
                </a:solidFill>
                <a:latin typeface="Arial"/>
              </a:rPr>
              <a:t>fit and format</a:t>
            </a:r>
          </a:p>
        </p:txBody>
      </p:sp>
      <p:sp>
        <p:nvSpPr>
          <p:cNvPr id="13" name="Chevron 12"/>
          <p:cNvSpPr/>
          <p:nvPr/>
        </p:nvSpPr>
        <p:spPr>
          <a:xfrm>
            <a:off x="5957316" y="2523744"/>
            <a:ext cx="91440" cy="201168"/>
          </a:xfrm>
          <a:prstGeom prst="chevron">
            <a:avLst>
              <a:gd name="adj" fmla="val 55000"/>
            </a:avLst>
          </a:prstGeom>
          <a:solidFill>
            <a:srgbClr val="80BFEC"/>
          </a:solidFill>
          <a:ln>
            <a:noFill/>
          </a:ln>
        </p:spPr>
        <p:txBody>
          <a:bodyPr rtlCol="0" anchor="ctr"/>
          <a:lstStyle/>
          <a:p>
            <a:pPr algn="ctr"/>
          </a:p>
        </p:txBody>
      </p:sp>
      <p:sp>
        <p:nvSpPr>
          <p:cNvPr id="14" name="Rounded Rectangle 13"/>
          <p:cNvSpPr/>
          <p:nvPr/>
        </p:nvSpPr>
        <p:spPr>
          <a:xfrm>
            <a:off x="6080759"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S5 Activation</a:t>
            </a:r>
          </a:p>
          <a:p>
            <a:pPr algn="ctr"/>
            <a:r>
              <a:rPr sz="850" b="0" i="0">
                <a:solidFill>
                  <a:srgbClr val="002368"/>
                </a:solidFill>
                <a:latin typeface="Arial"/>
              </a:rPr>
              <a:t>session, visit, slot or circulation</a:t>
            </a:r>
          </a:p>
        </p:txBody>
      </p:sp>
      <p:sp>
        <p:nvSpPr>
          <p:cNvPr id="15" name="Chevron 14"/>
          <p:cNvSpPr/>
          <p:nvPr/>
        </p:nvSpPr>
        <p:spPr>
          <a:xfrm>
            <a:off x="7063740" y="2523744"/>
            <a:ext cx="91440" cy="201168"/>
          </a:xfrm>
          <a:prstGeom prst="chevron">
            <a:avLst>
              <a:gd name="adj" fmla="val 55000"/>
            </a:avLst>
          </a:prstGeom>
          <a:solidFill>
            <a:srgbClr val="80BFEC"/>
          </a:solidFill>
          <a:ln>
            <a:noFill/>
          </a:ln>
        </p:spPr>
        <p:txBody>
          <a:bodyPr rtlCol="0" anchor="ctr"/>
          <a:lstStyle/>
          <a:p>
            <a:pPr algn="ctr"/>
          </a:p>
        </p:txBody>
      </p:sp>
      <p:sp>
        <p:nvSpPr>
          <p:cNvPr id="16" name="Rounded Rectangle 15"/>
          <p:cNvSpPr/>
          <p:nvPr/>
        </p:nvSpPr>
        <p:spPr>
          <a:xfrm>
            <a:off x="7187183"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S6 Proposal</a:t>
            </a:r>
          </a:p>
          <a:p>
            <a:pPr algn="ctr"/>
            <a:r>
              <a:rPr sz="850" b="0" i="0">
                <a:solidFill>
                  <a:srgbClr val="002368"/>
                </a:solidFill>
                <a:latin typeface="Arial"/>
              </a:rPr>
              <a:t>only when terms are signed</a:t>
            </a:r>
          </a:p>
        </p:txBody>
      </p:sp>
      <p:sp>
        <p:nvSpPr>
          <p:cNvPr id="17" name="Chevron 16"/>
          <p:cNvSpPr/>
          <p:nvPr/>
        </p:nvSpPr>
        <p:spPr>
          <a:xfrm>
            <a:off x="8170163" y="2523744"/>
            <a:ext cx="91440" cy="201168"/>
          </a:xfrm>
          <a:prstGeom prst="chevron">
            <a:avLst>
              <a:gd name="adj" fmla="val 55000"/>
            </a:avLst>
          </a:prstGeom>
          <a:solidFill>
            <a:srgbClr val="80BFEC"/>
          </a:solidFill>
          <a:ln>
            <a:noFill/>
          </a:ln>
        </p:spPr>
        <p:txBody>
          <a:bodyPr rtlCol="0" anchor="ctr"/>
          <a:lstStyle/>
          <a:p>
            <a:pPr algn="ctr"/>
          </a:p>
        </p:txBody>
      </p:sp>
      <p:sp>
        <p:nvSpPr>
          <p:cNvPr id="18" name="Rounded Rectangle 17"/>
          <p:cNvSpPr/>
          <p:nvPr/>
        </p:nvSpPr>
        <p:spPr>
          <a:xfrm>
            <a:off x="8293607" y="2148840"/>
            <a:ext cx="950976" cy="960120"/>
          </a:xfrm>
          <a:prstGeom prst="roundRect">
            <a:avLst>
              <a:gd name="adj" fmla="val 6730"/>
            </a:avLst>
          </a:prstGeom>
          <a:solidFill>
            <a:srgbClr val="002368"/>
          </a:solidFill>
          <a:ln w="31750">
            <a:solidFill>
              <a:srgbClr val="FFC952"/>
            </a:solidFill>
          </a:ln>
        </p:spPr>
        <p:txBody>
          <a:bodyPr rtlCol="0" anchor="ctr" wrap="square" lIns="45720" rIns="45720" tIns="27432" bIns="27432"/>
          <a:lstStyle/>
          <a:p>
            <a:pPr algn="ctr"/>
            <a:r>
              <a:rPr sz="1000" b="1" i="0">
                <a:solidFill>
                  <a:srgbClr val="FFFFFF"/>
                </a:solidFill>
                <a:latin typeface="Arial"/>
              </a:rPr>
              <a:t>S7 PARTNER</a:t>
            </a:r>
          </a:p>
          <a:p>
            <a:pPr algn="ctr"/>
            <a:r>
              <a:rPr sz="850" b="0" i="0">
                <a:solidFill>
                  <a:srgbClr val="FFFFFF"/>
                </a:solidFill>
                <a:latin typeface="Arial"/>
              </a:rPr>
              <a:t>partnership closed</a:t>
            </a:r>
          </a:p>
        </p:txBody>
      </p:sp>
      <p:sp>
        <p:nvSpPr>
          <p:cNvPr id="19" name="Chevron 18"/>
          <p:cNvSpPr/>
          <p:nvPr/>
        </p:nvSpPr>
        <p:spPr>
          <a:xfrm>
            <a:off x="9276588" y="2523744"/>
            <a:ext cx="91440" cy="201168"/>
          </a:xfrm>
          <a:prstGeom prst="chevron">
            <a:avLst>
              <a:gd name="adj" fmla="val 55000"/>
            </a:avLst>
          </a:prstGeom>
          <a:solidFill>
            <a:srgbClr val="80BFEC"/>
          </a:solidFill>
          <a:ln>
            <a:noFill/>
          </a:ln>
        </p:spPr>
        <p:txBody>
          <a:bodyPr rtlCol="0" anchor="ctr"/>
          <a:lstStyle/>
          <a:p>
            <a:pPr algn="ctr"/>
          </a:p>
        </p:txBody>
      </p:sp>
      <p:sp>
        <p:nvSpPr>
          <p:cNvPr id="20" name="Rounded Rectangle 19"/>
          <p:cNvSpPr/>
          <p:nvPr/>
        </p:nvSpPr>
        <p:spPr>
          <a:xfrm>
            <a:off x="9400032" y="2148840"/>
            <a:ext cx="950976" cy="960120"/>
          </a:xfrm>
          <a:prstGeom prst="roundRect">
            <a:avLst>
              <a:gd name="adj" fmla="val 6730"/>
            </a:avLst>
          </a:prstGeom>
          <a:solidFill>
            <a:srgbClr val="80BFEC"/>
          </a:solidFill>
          <a:ln w="12700">
            <a:solidFill>
              <a:srgbClr val="80BFEC"/>
            </a:solidFill>
          </a:ln>
        </p:spPr>
        <p:txBody>
          <a:bodyPr rtlCol="0" anchor="ctr" wrap="square" lIns="45720" rIns="45720" tIns="27432" bIns="27432"/>
          <a:lstStyle/>
          <a:p>
            <a:pPr algn="ctr"/>
            <a:r>
              <a:rPr sz="1000" b="1" i="0">
                <a:solidFill>
                  <a:srgbClr val="002368"/>
                </a:solidFill>
                <a:latin typeface="Arial"/>
              </a:rPr>
              <a:t>S8 Results</a:t>
            </a:r>
          </a:p>
          <a:p>
            <a:pPr algn="ctr"/>
            <a:r>
              <a:rPr sz="850" b="0" i="0">
                <a:solidFill>
                  <a:srgbClr val="002368"/>
                </a:solidFill>
                <a:latin typeface="Arial"/>
              </a:rPr>
              <a:t>families, referrals, placements</a:t>
            </a:r>
          </a:p>
        </p:txBody>
      </p:sp>
      <p:sp>
        <p:nvSpPr>
          <p:cNvPr id="21" name="Chevron 20"/>
          <p:cNvSpPr/>
          <p:nvPr/>
        </p:nvSpPr>
        <p:spPr>
          <a:xfrm>
            <a:off x="10383012" y="2523744"/>
            <a:ext cx="91440" cy="201168"/>
          </a:xfrm>
          <a:prstGeom prst="chevron">
            <a:avLst>
              <a:gd name="adj" fmla="val 55000"/>
            </a:avLst>
          </a:prstGeom>
          <a:solidFill>
            <a:srgbClr val="80BFEC"/>
          </a:solidFill>
          <a:ln>
            <a:noFill/>
          </a:ln>
        </p:spPr>
        <p:txBody>
          <a:bodyPr rtlCol="0" anchor="ctr"/>
          <a:lstStyle/>
          <a:p>
            <a:pPr algn="ctr"/>
          </a:p>
        </p:txBody>
      </p:sp>
      <p:sp>
        <p:nvSpPr>
          <p:cNvPr id="22" name="Rounded Rectangle 21"/>
          <p:cNvSpPr/>
          <p:nvPr/>
        </p:nvSpPr>
        <p:spPr>
          <a:xfrm>
            <a:off x="10506456"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S9 Renewal</a:t>
            </a:r>
          </a:p>
          <a:p>
            <a:pPr algn="ctr"/>
            <a:r>
              <a:rPr sz="850" b="0" i="0">
                <a:solidFill>
                  <a:srgbClr val="002368"/>
                </a:solidFill>
                <a:latin typeface="Arial"/>
              </a:rPr>
              <a:t>each intake window</a:t>
            </a:r>
          </a:p>
        </p:txBody>
      </p:sp>
      <p:cxnSp>
        <p:nvCxnSpPr>
          <p:cNvPr id="23" name="Connector 22"/>
          <p:cNvCxnSpPr/>
          <p:nvPr/>
        </p:nvCxnSpPr>
        <p:spPr>
          <a:xfrm flipV="1">
            <a:off x="6556248" y="1783080"/>
            <a:ext cx="0" cy="365760"/>
          </a:xfrm>
          <a:prstGeom prst="line">
            <a:avLst/>
          </a:prstGeom>
          <a:ln w="12700">
            <a:solidFill>
              <a:srgbClr val="002368"/>
            </a:solidFill>
          </a:ln>
        </p:spPr>
      </p:cxnSp>
      <p:cxnSp>
        <p:nvCxnSpPr>
          <p:cNvPr id="24" name="Connector 23"/>
          <p:cNvCxnSpPr/>
          <p:nvPr/>
        </p:nvCxnSpPr>
        <p:spPr>
          <a:xfrm>
            <a:off x="6556248" y="1783080"/>
            <a:ext cx="2212847" cy="0"/>
          </a:xfrm>
          <a:prstGeom prst="line">
            <a:avLst/>
          </a:prstGeom>
          <a:ln w="12700">
            <a:solidFill>
              <a:srgbClr val="002368"/>
            </a:solidFill>
          </a:ln>
        </p:spPr>
      </p:cxnSp>
      <p:cxnSp>
        <p:nvCxnSpPr>
          <p:cNvPr id="25" name="Connector 24"/>
          <p:cNvCxnSpPr/>
          <p:nvPr/>
        </p:nvCxnSpPr>
        <p:spPr>
          <a:xfrm>
            <a:off x="8769095" y="1783080"/>
            <a:ext cx="0" cy="365760"/>
          </a:xfrm>
          <a:prstGeom prst="line">
            <a:avLst/>
          </a:prstGeom>
          <a:ln w="12700">
            <a:solidFill>
              <a:srgbClr val="002368"/>
            </a:solidFill>
            <a:tailEnd type="triangle" w="med" len="med"/>
          </a:ln>
        </p:spPr>
      </p:cxnSp>
      <p:sp>
        <p:nvSpPr>
          <p:cNvPr id="26" name="TextBox 25"/>
          <p:cNvSpPr txBox="1"/>
          <p:nvPr/>
        </p:nvSpPr>
        <p:spPr>
          <a:xfrm>
            <a:off x="6601968" y="1536192"/>
            <a:ext cx="2578607" cy="219456"/>
          </a:xfrm>
          <a:prstGeom prst="rect">
            <a:avLst/>
          </a:prstGeom>
          <a:noFill/>
        </p:spPr>
        <p:txBody>
          <a:bodyPr wrap="square" lIns="0" tIns="0" rIns="0" bIns="0" anchor="t">
            <a:spAutoFit/>
          </a:bodyPr>
          <a:lstStyle/>
          <a:p>
            <a:pPr algn="l"/>
            <a:r>
              <a:rPr sz="900" b="0" i="0">
                <a:solidFill>
                  <a:srgbClr val="002368"/>
                </a:solidFill>
                <a:latin typeface="Arial"/>
              </a:rPr>
              <a:t>no terms to sign: S6 skipped</a:t>
            </a:r>
          </a:p>
        </p:txBody>
      </p:sp>
      <p:cxnSp>
        <p:nvCxnSpPr>
          <p:cNvPr id="27" name="Connector 26"/>
          <p:cNvCxnSpPr/>
          <p:nvPr/>
        </p:nvCxnSpPr>
        <p:spPr>
          <a:xfrm flipV="1">
            <a:off x="10981944" y="1783080"/>
            <a:ext cx="0" cy="365760"/>
          </a:xfrm>
          <a:prstGeom prst="line">
            <a:avLst/>
          </a:prstGeom>
          <a:ln w="12700">
            <a:solidFill>
              <a:srgbClr val="002368"/>
            </a:solidFill>
          </a:ln>
        </p:spPr>
      </p:cxnSp>
      <p:cxnSp>
        <p:nvCxnSpPr>
          <p:cNvPr id="28" name="Connector 27"/>
          <p:cNvCxnSpPr/>
          <p:nvPr/>
        </p:nvCxnSpPr>
        <p:spPr>
          <a:xfrm flipH="1">
            <a:off x="9875519" y="1783080"/>
            <a:ext cx="1106425" cy="0"/>
          </a:xfrm>
          <a:prstGeom prst="line">
            <a:avLst/>
          </a:prstGeom>
          <a:ln w="12700">
            <a:solidFill>
              <a:srgbClr val="002368"/>
            </a:solidFill>
          </a:ln>
        </p:spPr>
      </p:cxnSp>
      <p:cxnSp>
        <p:nvCxnSpPr>
          <p:cNvPr id="29" name="Connector 28"/>
          <p:cNvCxnSpPr/>
          <p:nvPr/>
        </p:nvCxnSpPr>
        <p:spPr>
          <a:xfrm>
            <a:off x="9875519" y="1783080"/>
            <a:ext cx="0" cy="365760"/>
          </a:xfrm>
          <a:prstGeom prst="line">
            <a:avLst/>
          </a:prstGeom>
          <a:ln w="12700">
            <a:solidFill>
              <a:srgbClr val="002368"/>
            </a:solidFill>
            <a:tailEnd type="triangle" w="med" len="med"/>
          </a:ln>
        </p:spPr>
      </p:cxnSp>
      <p:sp>
        <p:nvSpPr>
          <p:cNvPr id="30" name="TextBox 29"/>
          <p:cNvSpPr txBox="1"/>
          <p:nvPr/>
        </p:nvSpPr>
        <p:spPr>
          <a:xfrm>
            <a:off x="9921240" y="1536192"/>
            <a:ext cx="1472184" cy="219456"/>
          </a:xfrm>
          <a:prstGeom prst="rect">
            <a:avLst/>
          </a:prstGeom>
          <a:noFill/>
        </p:spPr>
        <p:txBody>
          <a:bodyPr wrap="square" lIns="0" tIns="0" rIns="0" bIns="0" anchor="t">
            <a:spAutoFit/>
          </a:bodyPr>
          <a:lstStyle/>
          <a:p>
            <a:pPr algn="l"/>
            <a:r>
              <a:rPr sz="900" b="0" i="0">
                <a:solidFill>
                  <a:srgbClr val="002368"/>
                </a:solidFill>
                <a:latin typeface="Arial"/>
              </a:rPr>
              <a:t>next intake window</a:t>
            </a:r>
          </a:p>
        </p:txBody>
      </p:sp>
      <p:cxnSp>
        <p:nvCxnSpPr>
          <p:cNvPr id="31" name="Connector 30"/>
          <p:cNvCxnSpPr/>
          <p:nvPr/>
        </p:nvCxnSpPr>
        <p:spPr>
          <a:xfrm>
            <a:off x="3236976" y="3108960"/>
            <a:ext cx="0" cy="594360"/>
          </a:xfrm>
          <a:prstGeom prst="line">
            <a:avLst/>
          </a:prstGeom>
          <a:ln w="12700">
            <a:solidFill>
              <a:srgbClr val="818283"/>
            </a:solidFill>
            <a:prstDash val="dash"/>
            <a:tailEnd type="triangle" w="med" len="med"/>
          </a:ln>
        </p:spPr>
      </p:cxnSp>
      <p:cxnSp>
        <p:nvCxnSpPr>
          <p:cNvPr id="32" name="Connector 31"/>
          <p:cNvCxnSpPr/>
          <p:nvPr/>
        </p:nvCxnSpPr>
        <p:spPr>
          <a:xfrm>
            <a:off x="5449823" y="3108960"/>
            <a:ext cx="0" cy="594360"/>
          </a:xfrm>
          <a:prstGeom prst="line">
            <a:avLst/>
          </a:prstGeom>
          <a:ln w="12700">
            <a:solidFill>
              <a:srgbClr val="818283"/>
            </a:solidFill>
            <a:prstDash val="dash"/>
            <a:tailEnd type="triangle" w="med" len="med"/>
          </a:ln>
        </p:spPr>
      </p:cxnSp>
      <p:cxnSp>
        <p:nvCxnSpPr>
          <p:cNvPr id="33" name="Connector 32"/>
          <p:cNvCxnSpPr/>
          <p:nvPr/>
        </p:nvCxnSpPr>
        <p:spPr>
          <a:xfrm>
            <a:off x="6556248" y="3108960"/>
            <a:ext cx="0" cy="594360"/>
          </a:xfrm>
          <a:prstGeom prst="line">
            <a:avLst/>
          </a:prstGeom>
          <a:ln w="12700">
            <a:solidFill>
              <a:srgbClr val="818283"/>
            </a:solidFill>
            <a:prstDash val="dash"/>
            <a:tailEnd type="triangle" w="med" len="med"/>
          </a:ln>
        </p:spPr>
      </p:cxnSp>
      <p:cxnSp>
        <p:nvCxnSpPr>
          <p:cNvPr id="34" name="Connector 33"/>
          <p:cNvCxnSpPr/>
          <p:nvPr/>
        </p:nvCxnSpPr>
        <p:spPr>
          <a:xfrm>
            <a:off x="7662671" y="3108960"/>
            <a:ext cx="0" cy="594360"/>
          </a:xfrm>
          <a:prstGeom prst="line">
            <a:avLst/>
          </a:prstGeom>
          <a:ln w="12700">
            <a:solidFill>
              <a:srgbClr val="818283"/>
            </a:solidFill>
            <a:prstDash val="dash"/>
            <a:tailEnd type="triangle" w="med" len="med"/>
          </a:ln>
        </p:spPr>
      </p:cxnSp>
      <p:sp>
        <p:nvSpPr>
          <p:cNvPr id="35" name="Rounded Rectangle 34"/>
          <p:cNvSpPr/>
          <p:nvPr/>
        </p:nvSpPr>
        <p:spPr>
          <a:xfrm>
            <a:off x="2779776" y="3703320"/>
            <a:ext cx="5340095" cy="658368"/>
          </a:xfrm>
          <a:prstGeom prst="roundRect">
            <a:avLst>
              <a:gd name="adj" fmla="val 9722"/>
            </a:avLst>
          </a:prstGeom>
          <a:solidFill>
            <a:srgbClr val="ECECEC"/>
          </a:solidFill>
          <a:ln w="12700">
            <a:solidFill>
              <a:srgbClr val="818283"/>
            </a:solidFill>
            <a:prstDash val="sysDot"/>
          </a:ln>
        </p:spPr>
        <p:txBody>
          <a:bodyPr rtlCol="0" anchor="ctr" wrap="square" lIns="45720" rIns="45720" tIns="27432" bIns="27432"/>
          <a:lstStyle/>
          <a:p>
            <a:pPr algn="ctr"/>
            <a:r>
              <a:rPr sz="1050" b="1" i="0">
                <a:solidFill>
                  <a:srgbClr val="4D4E50"/>
                </a:solidFill>
                <a:latin typeface="Arial"/>
              </a:rPr>
              <a:t>Dormant</a:t>
            </a:r>
          </a:p>
          <a:p>
            <a:pPr algn="ctr"/>
            <a:r>
              <a:rPr sz="900" b="0" i="0">
                <a:solidFill>
                  <a:srgbClr val="4D4E50"/>
                </a:solidFill>
                <a:latin typeface="Arial"/>
              </a:rPr>
              <a:t>silent after the planned fallout touch · re-tried once at the next intake window, or sooner via a warm route, back to S2</a:t>
            </a:r>
          </a:p>
        </p:txBody>
      </p:sp>
      <p:sp>
        <p:nvSpPr>
          <p:cNvPr id="36" name="Rounded Rectangle 35"/>
          <p:cNvSpPr/>
          <p:nvPr/>
        </p:nvSpPr>
        <p:spPr>
          <a:xfrm>
            <a:off x="3886200" y="1847088"/>
            <a:ext cx="914400" cy="237744"/>
          </a:xfrm>
          <a:prstGeom prst="roundRect">
            <a:avLst>
              <a:gd name="adj" fmla="val 26923"/>
            </a:avLst>
          </a:prstGeom>
          <a:solidFill>
            <a:srgbClr val="818283"/>
          </a:solidFill>
          <a:ln w="12700">
            <a:solidFill>
              <a:srgbClr val="818283"/>
            </a:solidFill>
          </a:ln>
        </p:spPr>
        <p:txBody>
          <a:bodyPr rtlCol="0" anchor="ctr" wrap="square" lIns="45720" rIns="45720" tIns="27432" bIns="27432"/>
          <a:lstStyle/>
          <a:p>
            <a:pPr algn="ctr"/>
            <a:r>
              <a:rPr sz="850" b="1" i="0">
                <a:solidFill>
                  <a:srgbClr val="FFFFFF"/>
                </a:solidFill>
                <a:latin typeface="Arial"/>
              </a:rPr>
              <a:t>declined → SX</a:t>
            </a:r>
          </a:p>
        </p:txBody>
      </p:sp>
      <p:sp>
        <p:nvSpPr>
          <p:cNvPr id="37" name="Rounded Rectangle 36"/>
          <p:cNvSpPr/>
          <p:nvPr/>
        </p:nvSpPr>
        <p:spPr>
          <a:xfrm>
            <a:off x="7205471" y="1847088"/>
            <a:ext cx="914400" cy="237744"/>
          </a:xfrm>
          <a:prstGeom prst="roundRect">
            <a:avLst>
              <a:gd name="adj" fmla="val 26923"/>
            </a:avLst>
          </a:prstGeom>
          <a:solidFill>
            <a:srgbClr val="818283"/>
          </a:solidFill>
          <a:ln w="12700">
            <a:solidFill>
              <a:srgbClr val="818283"/>
            </a:solidFill>
          </a:ln>
        </p:spPr>
        <p:txBody>
          <a:bodyPr rtlCol="0" anchor="ctr" wrap="square" lIns="45720" rIns="45720" tIns="27432" bIns="27432"/>
          <a:lstStyle/>
          <a:p>
            <a:pPr algn="ctr"/>
            <a:r>
              <a:rPr sz="850" b="1" i="0">
                <a:solidFill>
                  <a:srgbClr val="FFFFFF"/>
                </a:solidFill>
                <a:latin typeface="Arial"/>
              </a:rPr>
              <a:t>declined → SX</a:t>
            </a:r>
          </a:p>
        </p:txBody>
      </p:sp>
      <p:sp>
        <p:nvSpPr>
          <p:cNvPr id="38" name="Rounded Rectangle 37"/>
          <p:cNvSpPr/>
          <p:nvPr/>
        </p:nvSpPr>
        <p:spPr>
          <a:xfrm>
            <a:off x="7680960" y="4617720"/>
            <a:ext cx="1783080" cy="566928"/>
          </a:xfrm>
          <a:prstGeom prst="roundRect">
            <a:avLst>
              <a:gd name="adj" fmla="val 11290"/>
            </a:avLst>
          </a:prstGeom>
          <a:solidFill>
            <a:srgbClr val="818283"/>
          </a:solidFill>
          <a:ln w="12700">
            <a:solidFill>
              <a:srgbClr val="818283"/>
            </a:solidFill>
          </a:ln>
        </p:spPr>
        <p:txBody>
          <a:bodyPr rtlCol="0" anchor="ctr" wrap="square" lIns="45720" rIns="45720" tIns="27432" bIns="27432"/>
          <a:lstStyle/>
          <a:p>
            <a:pPr algn="ctr"/>
            <a:r>
              <a:rPr sz="1000" b="1" i="0">
                <a:solidFill>
                  <a:srgbClr val="FFFFFF"/>
                </a:solidFill>
                <a:latin typeface="Arial"/>
              </a:rPr>
              <a:t>SX Closed-lost</a:t>
            </a:r>
          </a:p>
          <a:p>
            <a:pPr algn="ctr"/>
            <a:r>
              <a:rPr sz="850" b="0" i="0">
                <a:solidFill>
                  <a:srgbClr val="FFFFFF"/>
                </a:solidFill>
                <a:latin typeface="Arial"/>
              </a:rPr>
              <a:t>a human said no at S3 or S6; always with a reason</a:t>
            </a:r>
          </a:p>
        </p:txBody>
      </p:sp>
      <p:sp>
        <p:nvSpPr>
          <p:cNvPr id="39" name="Rounded Rectangle 38"/>
          <p:cNvSpPr/>
          <p:nvPr/>
        </p:nvSpPr>
        <p:spPr>
          <a:xfrm>
            <a:off x="9646920" y="4617720"/>
            <a:ext cx="1993392" cy="566928"/>
          </a:xfrm>
          <a:prstGeom prst="roundRect">
            <a:avLst>
              <a:gd name="adj" fmla="val 11290"/>
            </a:avLst>
          </a:prstGeom>
          <a:solidFill>
            <a:srgbClr val="FFF7E5"/>
          </a:solidFill>
          <a:ln w="12700">
            <a:solidFill>
              <a:srgbClr val="FFC952"/>
            </a:solidFill>
          </a:ln>
        </p:spPr>
        <p:txBody>
          <a:bodyPr rtlCol="0" anchor="ctr" wrap="square" lIns="45720" rIns="45720" tIns="27432" bIns="27432"/>
          <a:lstStyle/>
          <a:p>
            <a:pPr algn="ctr"/>
            <a:r>
              <a:rPr sz="1000" b="1" i="0">
                <a:solidFill>
                  <a:srgbClr val="002368"/>
                </a:solidFill>
                <a:latin typeface="Arial"/>
              </a:rPr>
              <a:t>Deferred</a:t>
            </a:r>
          </a:p>
          <a:p>
            <a:pPr algn="ctr"/>
            <a:r>
              <a:rPr sz="850" b="0" i="0">
                <a:solidFill>
                  <a:srgbClr val="002368"/>
                </a:solidFill>
                <a:latin typeface="Arial"/>
              </a:rPr>
              <a:t>'not now' with a date: keeps its stage</a:t>
            </a:r>
          </a:p>
        </p:txBody>
      </p:sp>
      <p:sp>
        <p:nvSpPr>
          <p:cNvPr id="40" name="TextBox 39"/>
          <p:cNvSpPr txBox="1"/>
          <p:nvPr/>
        </p:nvSpPr>
        <p:spPr>
          <a:xfrm>
            <a:off x="548640"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S6 is optional</a:t>
            </a:r>
          </a:p>
        </p:txBody>
      </p:sp>
      <p:sp>
        <p:nvSpPr>
          <p:cNvPr id="41" name="TextBox 40"/>
          <p:cNvSpPr txBox="1"/>
          <p:nvPr/>
        </p:nvSpPr>
        <p:spPr>
          <a:xfrm>
            <a:off x="548640"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A win needing no signature (a circulation, a council introduction, a community meeting) goes from S5 to S7.</a:t>
            </a:r>
          </a:p>
        </p:txBody>
      </p:sp>
      <p:sp>
        <p:nvSpPr>
          <p:cNvPr id="42" name="TextBox 41"/>
          <p:cNvSpPr txBox="1"/>
          <p:nvPr/>
        </p:nvSpPr>
        <p:spPr>
          <a:xfrm>
            <a:off x="4297679"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Agreement first</a:t>
            </a:r>
          </a:p>
        </p:txBody>
      </p:sp>
      <p:sp>
        <p:nvSpPr>
          <p:cNvPr id="43" name="TextBox 42"/>
          <p:cNvSpPr txBox="1"/>
          <p:nvPr/>
        </p:nvSpPr>
        <p:spPr>
          <a:xfrm>
            <a:off x="4297679"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An employer that wants the agreement before any session goes S4 → S6 → S7; the session becomes S8's launch.</a:t>
            </a:r>
          </a:p>
        </p:txBody>
      </p:sp>
      <p:sp>
        <p:nvSpPr>
          <p:cNvPr id="44" name="TextBox 43"/>
          <p:cNvSpPr txBox="1"/>
          <p:nvPr/>
        </p:nvSpPr>
        <p:spPr>
          <a:xfrm>
            <a:off x="8046719"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Nothing is dead</a:t>
            </a:r>
          </a:p>
        </p:txBody>
      </p:sp>
      <p:sp>
        <p:nvSpPr>
          <p:cNvPr id="45" name="TextBox 44"/>
          <p:cNvSpPr txBox="1"/>
          <p:nvPr/>
        </p:nvSpPr>
        <p:spPr>
          <a:xfrm>
            <a:off x="8046719"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Silence is not a no: dormant, retried once. Only a real refusal, an opt-out or an unservable lead goes to SX.</a:t>
            </a:r>
          </a:p>
        </p:txBody>
      </p:sp>
      <p:sp>
        <p:nvSpPr>
          <p:cNvPr id="46" name="Hexagon 45"/>
          <p:cNvSpPr/>
          <p:nvPr/>
        </p:nvSpPr>
        <p:spPr>
          <a:xfrm>
            <a:off x="548640" y="4828032"/>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47" name="TextBox 46"/>
          <p:cNvSpPr txBox="1"/>
          <p:nvPr/>
        </p:nvSpPr>
        <p:spPr>
          <a:xfrm>
            <a:off x="850392" y="4800600"/>
            <a:ext cx="365760" cy="201168"/>
          </a:xfrm>
          <a:prstGeom prst="rect">
            <a:avLst/>
          </a:prstGeom>
          <a:noFill/>
        </p:spPr>
        <p:txBody>
          <a:bodyPr wrap="square" lIns="0" tIns="0" rIns="0" bIns="0" anchor="ctr">
            <a:spAutoFit/>
          </a:bodyPr>
          <a:lstStyle/>
          <a:p>
            <a:pPr algn="l"/>
            <a:r>
              <a:rPr sz="900" b="0" i="0">
                <a:solidFill>
                  <a:srgbClr val="818283"/>
                </a:solidFill>
                <a:latin typeface="Arial"/>
              </a:rPr>
              <a:t>Gate</a:t>
            </a:r>
          </a:p>
        </p:txBody>
      </p:sp>
      <p:sp>
        <p:nvSpPr>
          <p:cNvPr id="48" name="Rounded Rectangle 47"/>
          <p:cNvSpPr/>
          <p:nvPr/>
        </p:nvSpPr>
        <p:spPr>
          <a:xfrm>
            <a:off x="1325880" y="4828032"/>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49" name="TextBox 48"/>
          <p:cNvSpPr txBox="1"/>
          <p:nvPr/>
        </p:nvSpPr>
        <p:spPr>
          <a:xfrm>
            <a:off x="1627632" y="4800600"/>
            <a:ext cx="1120140" cy="201168"/>
          </a:xfrm>
          <a:prstGeom prst="rect">
            <a:avLst/>
          </a:prstGeom>
          <a:noFill/>
        </p:spPr>
        <p:txBody>
          <a:bodyPr wrap="square" lIns="0" tIns="0" rIns="0" bIns="0" anchor="ctr">
            <a:spAutoFit/>
          </a:bodyPr>
          <a:lstStyle/>
          <a:p>
            <a:pPr algn="l"/>
            <a:r>
              <a:rPr sz="900" b="0" i="0">
                <a:solidFill>
                  <a:srgbClr val="818283"/>
                </a:solidFill>
                <a:latin typeface="Arial"/>
              </a:rPr>
              <a:t>Silverleaf acts</a:t>
            </a:r>
          </a:p>
        </p:txBody>
      </p:sp>
      <p:sp>
        <p:nvSpPr>
          <p:cNvPr id="50" name="Rounded Rectangle 49"/>
          <p:cNvSpPr/>
          <p:nvPr/>
        </p:nvSpPr>
        <p:spPr>
          <a:xfrm>
            <a:off x="2857500" y="4828032"/>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51" name="TextBox 50"/>
          <p:cNvSpPr txBox="1"/>
          <p:nvPr/>
        </p:nvSpPr>
        <p:spPr>
          <a:xfrm>
            <a:off x="3159252" y="4800600"/>
            <a:ext cx="914399" cy="201168"/>
          </a:xfrm>
          <a:prstGeom prst="rect">
            <a:avLst/>
          </a:prstGeom>
          <a:noFill/>
        </p:spPr>
        <p:txBody>
          <a:bodyPr wrap="square" lIns="0" tIns="0" rIns="0" bIns="0" anchor="ctr">
            <a:spAutoFit/>
          </a:bodyPr>
          <a:lstStyle/>
          <a:p>
            <a:pPr algn="l"/>
            <a:r>
              <a:rPr sz="900" b="0" i="0">
                <a:solidFill>
                  <a:srgbClr val="818283"/>
                </a:solidFill>
                <a:latin typeface="Arial"/>
              </a:rPr>
              <a:t>Partner acts</a:t>
            </a:r>
          </a:p>
        </p:txBody>
      </p:sp>
      <p:sp>
        <p:nvSpPr>
          <p:cNvPr id="52" name="Rounded Rectangle 51"/>
          <p:cNvSpPr/>
          <p:nvPr/>
        </p:nvSpPr>
        <p:spPr>
          <a:xfrm>
            <a:off x="4183379" y="4828032"/>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53" name="TextBox 52"/>
          <p:cNvSpPr txBox="1"/>
          <p:nvPr/>
        </p:nvSpPr>
        <p:spPr>
          <a:xfrm>
            <a:off x="4485131" y="4800600"/>
            <a:ext cx="571500" cy="201168"/>
          </a:xfrm>
          <a:prstGeom prst="rect">
            <a:avLst/>
          </a:prstGeom>
          <a:noFill/>
        </p:spPr>
        <p:txBody>
          <a:bodyPr wrap="square" lIns="0" tIns="0" rIns="0" bIns="0" anchor="ctr">
            <a:spAutoFit/>
          </a:bodyPr>
          <a:lstStyle/>
          <a:p>
            <a:pPr algn="l"/>
            <a:r>
              <a:rPr sz="900" b="0" i="0">
                <a:solidFill>
                  <a:srgbClr val="818283"/>
                </a:solidFill>
                <a:latin typeface="Arial"/>
              </a:rPr>
              <a:t>The win</a:t>
            </a:r>
          </a:p>
        </p:txBody>
      </p:sp>
      <p:sp>
        <p:nvSpPr>
          <p:cNvPr id="54" name="Rounded Rectangle 53"/>
          <p:cNvSpPr/>
          <p:nvPr/>
        </p:nvSpPr>
        <p:spPr>
          <a:xfrm>
            <a:off x="5166359" y="4828032"/>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55" name="TextBox 54"/>
          <p:cNvSpPr txBox="1"/>
          <p:nvPr/>
        </p:nvSpPr>
        <p:spPr>
          <a:xfrm>
            <a:off x="5468112" y="4800600"/>
            <a:ext cx="571500" cy="201168"/>
          </a:xfrm>
          <a:prstGeom prst="rect">
            <a:avLst/>
          </a:prstGeom>
          <a:noFill/>
        </p:spPr>
        <p:txBody>
          <a:bodyPr wrap="square" lIns="0" tIns="0" rIns="0" bIns="0" anchor="ctr">
            <a:spAutoFit/>
          </a:bodyPr>
          <a:lstStyle/>
          <a:p>
            <a:pPr algn="l"/>
            <a:r>
              <a:rPr sz="900" b="0" i="0">
                <a:solidFill>
                  <a:srgbClr val="818283"/>
                </a:solidFill>
                <a:latin typeface="Arial"/>
              </a:rPr>
              <a:t>Results</a:t>
            </a:r>
          </a:p>
        </p:txBody>
      </p:sp>
      <p:pic>
        <p:nvPicPr>
          <p:cNvPr id="56" name="Picture 55" descr="image3.png"/>
          <p:cNvPicPr>
            <a:picLocks noChangeAspect="1"/>
          </p:cNvPicPr>
          <p:nvPr/>
        </p:nvPicPr>
        <p:blipFill>
          <a:blip r:embed="rId2"/>
          <a:stretch>
            <a:fillRect/>
          </a:stretch>
        </p:blipFill>
        <p:spPr>
          <a:xfrm>
            <a:off x="548640" y="6272784"/>
            <a:ext cx="1143000" cy="274320"/>
          </a:xfrm>
          <a:prstGeom prst="rect">
            <a:avLst/>
          </a:prstGeom>
        </p:spPr>
      </p:pic>
      <p:sp>
        <p:nvSpPr>
          <p:cNvPr id="5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5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5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AFTER THE OFFER</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happens after the offer, segment by segment</a:t>
            </a:r>
          </a:p>
        </p:txBody>
      </p:sp>
      <p:graphicFrame>
        <p:nvGraphicFramePr>
          <p:cNvPr id="4" name="Table 3"/>
          <p:cNvGraphicFramePr>
            <a:graphicFrameLocks noGrp="1"/>
          </p:cNvGraphicFramePr>
          <p:nvPr/>
        </p:nvGraphicFramePr>
        <p:xfrm>
          <a:off x="548640" y="1298448"/>
          <a:ext cx="11091672" cy="4114800"/>
        </p:xfrm>
        <a:graphic>
          <a:graphicData uri="http://schemas.openxmlformats.org/drawingml/2006/table">
            <a:tbl>
              <a:tblPr firstRow="0" bandRow="0">
                <a:tableStyleId>{2D5ABB26-0587-4C30-8999-92F81FD0307C}</a:tableStyleId>
              </a:tblPr>
              <a:tblGrid>
                <a:gridCol w="1600200"/>
                <a:gridCol w="1737360"/>
                <a:gridCol w="1965960"/>
                <a:gridCol w="1828800"/>
                <a:gridCol w="1993392"/>
                <a:gridCol w="1965960"/>
              </a:tblGrid>
              <a:tr h="457200">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S4 MEETING</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S5 ACTIVATION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S6 PROPOSAL</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S7 WIN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S8 RESULTS</a:t>
                      </a:r>
                    </a:p>
                  </a:txBody>
                  <a:tcPr marL="54864" marR="54864" marT="36576" marB="36576" anchor="ctr">
                    <a:lnL w="0">
                      <a:noFill/>
                    </a:lnL>
                    <a:lnR w="0">
                      <a:noFill/>
                    </a:lnR>
                    <a:lnT w="0">
                      <a:noFill/>
                    </a:lnT>
                    <a:lnB w="12700">
                      <a:solidFill>
                        <a:srgbClr val="80BFEC"/>
                      </a:solidFill>
                    </a:lnB>
                    <a:noFill/>
                  </a:tcPr>
                </a:tc>
              </a:tr>
              <a:tr h="457200">
                <a:tc>
                  <a:txBody>
                    <a:bodyPr wrap="square"/>
                    <a:lstStyle/>
                    <a:p>
                      <a:r>
                        <a:rPr sz="950" b="1" i="0">
                          <a:solidFill>
                            <a:srgbClr val="002368"/>
                          </a:solidFill>
                          <a:latin typeface="Arial"/>
                        </a:rPr>
                        <a:t>Employers (B)</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Call or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session: site visit, webinar or pack</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Benefit proposal, only for a signed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Circulation partner or benefit partner</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sign-ups enter the parent funnel</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Sponsors (A)</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proposal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Sponsored students enrolled</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SACCOS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Committee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Members' meeting or AGM slot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Group rate (optional)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Committee circulates, or slot held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 sign-ups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Introducers, networks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Secretariat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Circulation agreed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Member-benefit MOU (optional)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First circulation done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Referred employers or homes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Welfare homes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conversation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Safeguarding visit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proposal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Children enrolled via admissions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 often video</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Proposal tied to the home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Students enrolled via the home</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Councils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Courtesy visit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Introduction recorded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Ward and village funnels open</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Wards, villages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 the WEO or VEO</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Slot agreed in writing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Community meeting held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Parent opt-ins</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TextBox 4"/>
          <p:cNvSpPr txBox="1"/>
          <p:nvPr/>
        </p:nvSpPr>
        <p:spPr>
          <a:xfrm>
            <a:off x="548640" y="5532120"/>
            <a:ext cx="11064240" cy="457200"/>
          </a:xfrm>
          <a:prstGeom prst="rect">
            <a:avLst/>
          </a:prstGeom>
          <a:noFill/>
        </p:spPr>
        <p:txBody>
          <a:bodyPr wrap="square" lIns="0" tIns="0" rIns="0" bIns="0" anchor="t">
            <a:spAutoFit/>
          </a:bodyPr>
          <a:lstStyle/>
          <a:p>
            <a:pPr algn="l"/>
            <a:r>
              <a:rPr sz="1000" b="0" i="0">
                <a:solidFill>
                  <a:srgbClr val="818283"/>
                </a:solidFill>
                <a:latin typeface="Arial"/>
              </a:rPr>
              <a:t>S9 renewal: re-circulate before each intake window (September for January primary, May for mid-year); agreements reviewed 8 weeks before the January intake; government re-verifies post holders after reshuffles.</a:t>
            </a:r>
          </a:p>
        </p:txBody>
      </p:sp>
      <p:pic>
        <p:nvPicPr>
          <p:cNvPr id="6" name="Picture 5" descr="image3.png"/>
          <p:cNvPicPr>
            <a:picLocks noChangeAspect="1"/>
          </p:cNvPicPr>
          <p:nvPr/>
        </p:nvPicPr>
        <p:blipFill>
          <a:blip r:embed="rId2"/>
          <a:stretch>
            <a:fillRect/>
          </a:stretch>
        </p:blipFill>
        <p:spPr>
          <a:xfrm>
            <a:off x="548640" y="6272784"/>
            <a:ext cx="1143000" cy="274320"/>
          </a:xfrm>
          <a:prstGeom prst="rect">
            <a:avLst/>
          </a:prstGeom>
        </p:spPr>
      </p:pic>
      <p:sp>
        <p:nvSpPr>
          <p:cNvPr id="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TRACKING AND REPORTING</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we watch, and what partners see</a:t>
            </a:r>
          </a:p>
        </p:txBody>
      </p:sp>
      <p:sp>
        <p:nvSpPr>
          <p:cNvPr id="4" name="Rounded Rectangle 3"/>
          <p:cNvSpPr/>
          <p:nvPr/>
        </p:nvSpPr>
        <p:spPr>
          <a:xfrm>
            <a:off x="548640"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5" name="Hexagon 4"/>
          <p:cNvSpPr/>
          <p:nvPr/>
        </p:nvSpPr>
        <p:spPr>
          <a:xfrm>
            <a:off x="731520"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6" name="TextBox 5"/>
          <p:cNvSpPr txBox="1"/>
          <p:nvPr/>
        </p:nvSpPr>
        <p:spPr>
          <a:xfrm>
            <a:off x="1261872"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First touch</a:t>
            </a:r>
          </a:p>
        </p:txBody>
      </p:sp>
      <p:sp>
        <p:nvSpPr>
          <p:cNvPr id="7" name="TextBox 6"/>
          <p:cNvSpPr txBox="1"/>
          <p:nvPr/>
        </p:nvSpPr>
        <p:spPr>
          <a:xfrm>
            <a:off x="731520"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redirect → name obtained; Attn → reply; days to a name; front-desk call success</a:t>
            </a:r>
          </a:p>
        </p:txBody>
      </p:sp>
      <p:sp>
        <p:nvSpPr>
          <p:cNvPr id="8" name="Rounded Rectangle 7"/>
          <p:cNvSpPr/>
          <p:nvPr/>
        </p:nvSpPr>
        <p:spPr>
          <a:xfrm>
            <a:off x="4297679"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9" name="Hexagon 8"/>
          <p:cNvSpPr/>
          <p:nvPr/>
        </p:nvSpPr>
        <p:spPr>
          <a:xfrm>
            <a:off x="4480559"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2</a:t>
            </a:r>
          </a:p>
        </p:txBody>
      </p:sp>
      <p:sp>
        <p:nvSpPr>
          <p:cNvPr id="10" name="TextBox 9"/>
          <p:cNvSpPr txBox="1"/>
          <p:nvPr/>
        </p:nvSpPr>
        <p:spPr>
          <a:xfrm>
            <a:off x="5010912"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Spine</a:t>
            </a:r>
          </a:p>
        </p:txBody>
      </p:sp>
      <p:sp>
        <p:nvSpPr>
          <p:cNvPr id="11" name="TextBox 10"/>
          <p:cNvSpPr txBox="1"/>
          <p:nvPr/>
        </p:nvSpPr>
        <p:spPr>
          <a:xfrm>
            <a:off x="4480559"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reply rate by band, case and subsegment; S3 → S4 → S5 → S7 conversion; meetings per week</a:t>
            </a:r>
          </a:p>
        </p:txBody>
      </p:sp>
      <p:sp>
        <p:nvSpPr>
          <p:cNvPr id="12" name="Rounded Rectangle 11"/>
          <p:cNvSpPr/>
          <p:nvPr/>
        </p:nvSpPr>
        <p:spPr>
          <a:xfrm>
            <a:off x="8046719"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13" name="Hexagon 12"/>
          <p:cNvSpPr/>
          <p:nvPr/>
        </p:nvSpPr>
        <p:spPr>
          <a:xfrm>
            <a:off x="8229599"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3</a:t>
            </a:r>
          </a:p>
        </p:txBody>
      </p:sp>
      <p:sp>
        <p:nvSpPr>
          <p:cNvPr id="14" name="TextBox 13"/>
          <p:cNvSpPr txBox="1"/>
          <p:nvPr/>
        </p:nvSpPr>
        <p:spPr>
          <a:xfrm>
            <a:off x="8759951"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Fallout</a:t>
            </a:r>
          </a:p>
        </p:txBody>
      </p:sp>
      <p:sp>
        <p:nvSpPr>
          <p:cNvPr id="15" name="TextBox 14"/>
          <p:cNvSpPr txBox="1"/>
          <p:nvPr/>
        </p:nvSpPr>
        <p:spPr>
          <a:xfrm>
            <a:off x="8229599"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share of dormant leads reopened at each window; warm-route conversion</a:t>
            </a:r>
          </a:p>
        </p:txBody>
      </p:sp>
      <p:sp>
        <p:nvSpPr>
          <p:cNvPr id="16" name="Rounded Rectangle 15"/>
          <p:cNvSpPr/>
          <p:nvPr/>
        </p:nvSpPr>
        <p:spPr>
          <a:xfrm>
            <a:off x="548640"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17" name="Hexagon 16"/>
          <p:cNvSpPr/>
          <p:nvPr/>
        </p:nvSpPr>
        <p:spPr>
          <a:xfrm>
            <a:off x="731520"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4</a:t>
            </a:r>
          </a:p>
        </p:txBody>
      </p:sp>
      <p:sp>
        <p:nvSpPr>
          <p:cNvPr id="18" name="TextBox 17"/>
          <p:cNvSpPr txBox="1"/>
          <p:nvPr/>
        </p:nvSpPr>
        <p:spPr>
          <a:xfrm>
            <a:off x="1261872"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Partners</a:t>
            </a:r>
          </a:p>
        </p:txBody>
      </p:sp>
      <p:sp>
        <p:nvSpPr>
          <p:cNvPr id="19" name="TextBox 18"/>
          <p:cNvSpPr txBox="1"/>
          <p:nvPr/>
        </p:nvSpPr>
        <p:spPr>
          <a:xfrm>
            <a:off x="731520"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sign-ups per 100 attendees and per circulation; referrals per circulation; places agreed → enrolled</a:t>
            </a:r>
          </a:p>
        </p:txBody>
      </p:sp>
      <p:sp>
        <p:nvSpPr>
          <p:cNvPr id="20" name="Rounded Rectangle 19"/>
          <p:cNvSpPr/>
          <p:nvPr/>
        </p:nvSpPr>
        <p:spPr>
          <a:xfrm>
            <a:off x="4297679"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21" name="Hexagon 20"/>
          <p:cNvSpPr/>
          <p:nvPr/>
        </p:nvSpPr>
        <p:spPr>
          <a:xfrm>
            <a:off x="4480559"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5</a:t>
            </a:r>
          </a:p>
        </p:txBody>
      </p:sp>
      <p:sp>
        <p:nvSpPr>
          <p:cNvPr id="22" name="TextBox 21"/>
          <p:cNvSpPr txBox="1"/>
          <p:nvPr/>
        </p:nvSpPr>
        <p:spPr>
          <a:xfrm>
            <a:off x="5010912"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Parent funnel</a:t>
            </a:r>
          </a:p>
        </p:txBody>
      </p:sp>
      <p:sp>
        <p:nvSpPr>
          <p:cNvPr id="23" name="TextBox 22"/>
          <p:cNvSpPr txBox="1"/>
          <p:nvPr/>
        </p:nvSpPr>
        <p:spPr>
          <a:xfrm>
            <a:off x="4480559"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opt-in → inquiry → tour → application → enrolment, by partner code</a:t>
            </a:r>
          </a:p>
        </p:txBody>
      </p:sp>
      <p:sp>
        <p:nvSpPr>
          <p:cNvPr id="24" name="Rounded Rectangle 23"/>
          <p:cNvSpPr/>
          <p:nvPr/>
        </p:nvSpPr>
        <p:spPr>
          <a:xfrm>
            <a:off x="8046719"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25" name="Hexagon 24"/>
          <p:cNvSpPr/>
          <p:nvPr/>
        </p:nvSpPr>
        <p:spPr>
          <a:xfrm>
            <a:off x="8229599"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26" name="TextBox 25"/>
          <p:cNvSpPr txBox="1"/>
          <p:nvPr/>
        </p:nvSpPr>
        <p:spPr>
          <a:xfrm>
            <a:off x="8759951"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Incentives</a:t>
            </a:r>
          </a:p>
        </p:txBody>
      </p:sp>
      <p:sp>
        <p:nvSpPr>
          <p:cNvPr id="27" name="TextBox 26"/>
          <p:cNvSpPr txBox="1"/>
          <p:nvPr/>
        </p:nvSpPr>
        <p:spPr>
          <a:xfrm>
            <a:off x="8229599"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each one listed with its approval and expiry</a:t>
            </a:r>
          </a:p>
        </p:txBody>
      </p:sp>
      <p:sp>
        <p:nvSpPr>
          <p:cNvPr id="28" name="Rounded Rectangle 27"/>
          <p:cNvSpPr/>
          <p:nvPr/>
        </p:nvSpPr>
        <p:spPr>
          <a:xfrm>
            <a:off x="548640" y="4297680"/>
            <a:ext cx="5440680" cy="1645920"/>
          </a:xfrm>
          <a:prstGeom prst="roundRect">
            <a:avLst>
              <a:gd name="adj" fmla="val 3888"/>
            </a:avLst>
          </a:prstGeom>
          <a:solidFill>
            <a:srgbClr val="D9ECF9"/>
          </a:solidFill>
          <a:ln w="12700">
            <a:solidFill>
              <a:srgbClr val="D9ECF9"/>
            </a:solidFill>
          </a:ln>
        </p:spPr>
        <p:txBody>
          <a:bodyPr rtlCol="0" anchor="ctr"/>
          <a:lstStyle/>
          <a:p>
            <a:pPr algn="ctr"/>
          </a:p>
        </p:txBody>
      </p:sp>
      <p:sp>
        <p:nvSpPr>
          <p:cNvPr id="29" name="TextBox 28"/>
          <p:cNvSpPr txBox="1"/>
          <p:nvPr/>
        </p:nvSpPr>
        <p:spPr>
          <a:xfrm>
            <a:off x="822960" y="4434840"/>
            <a:ext cx="4937760" cy="274320"/>
          </a:xfrm>
          <a:prstGeom prst="rect">
            <a:avLst/>
          </a:prstGeom>
          <a:noFill/>
        </p:spPr>
        <p:txBody>
          <a:bodyPr wrap="square" lIns="0" tIns="0" rIns="0" bIns="0" anchor="t">
            <a:spAutoFit/>
          </a:bodyPr>
          <a:lstStyle/>
          <a:p>
            <a:pPr algn="l"/>
            <a:r>
              <a:rPr sz="1300" b="1" i="0">
                <a:solidFill>
                  <a:srgbClr val="002368"/>
                </a:solidFill>
                <a:latin typeface="Arial"/>
              </a:rPr>
              <a:t>Reporting back</a:t>
            </a:r>
          </a:p>
        </p:txBody>
      </p:sp>
      <p:sp>
        <p:nvSpPr>
          <p:cNvPr id="30" name="TextBox 29"/>
          <p:cNvSpPr txBox="1"/>
          <p:nvPr/>
        </p:nvSpPr>
        <p:spPr>
          <a:xfrm>
            <a:off x="822960" y="4754880"/>
            <a:ext cx="1097280" cy="548640"/>
          </a:xfrm>
          <a:prstGeom prst="rect">
            <a:avLst/>
          </a:prstGeom>
          <a:noFill/>
        </p:spPr>
        <p:txBody>
          <a:bodyPr wrap="square" lIns="0" tIns="0" rIns="0" bIns="0" anchor="t">
            <a:spAutoFit/>
          </a:bodyPr>
          <a:lstStyle/>
          <a:p>
            <a:pPr algn="l"/>
            <a:r>
              <a:rPr sz="2600" b="0" i="0">
                <a:solidFill>
                  <a:srgbClr val="002368"/>
                </a:solidFill>
                <a:latin typeface="Georgia"/>
              </a:rPr>
              <a:t>&lt; 3</a:t>
            </a:r>
          </a:p>
        </p:txBody>
      </p:sp>
      <p:sp>
        <p:nvSpPr>
          <p:cNvPr id="31" name="TextBox 30"/>
          <p:cNvSpPr txBox="1"/>
          <p:nvPr/>
        </p:nvSpPr>
        <p:spPr>
          <a:xfrm>
            <a:off x="1874519" y="4773168"/>
            <a:ext cx="3931920" cy="1097280"/>
          </a:xfrm>
          <a:prstGeom prst="rect">
            <a:avLst/>
          </a:prstGeom>
          <a:noFill/>
        </p:spPr>
        <p:txBody>
          <a:bodyPr wrap="square" lIns="0" tIns="0" rIns="0" bIns="0" anchor="t">
            <a:spAutoFit/>
          </a:bodyPr>
          <a:lstStyle/>
          <a:p>
            <a:pPr algn="l"/>
            <a:r>
              <a:rPr sz="1100" b="0" i="0">
                <a:solidFill>
                  <a:srgbClr val="000000"/>
                </a:solidFill>
                <a:latin typeface="Arial"/>
              </a:rPr>
              <a:t>Partners see totals per partner code each term; any count of 1 or 2 shows as 'fewer than 3'.</a:t>
            </a:r>
          </a:p>
        </p:txBody>
      </p:sp>
      <p:sp>
        <p:nvSpPr>
          <p:cNvPr id="32" name="Rounded Rectangle 31"/>
          <p:cNvSpPr/>
          <p:nvPr/>
        </p:nvSpPr>
        <p:spPr>
          <a:xfrm>
            <a:off x="6199632" y="4297680"/>
            <a:ext cx="5440680" cy="1645920"/>
          </a:xfrm>
          <a:prstGeom prst="roundRect">
            <a:avLst>
              <a:gd name="adj" fmla="val 3888"/>
            </a:avLst>
          </a:prstGeom>
          <a:solidFill>
            <a:srgbClr val="002368"/>
          </a:solidFill>
          <a:ln w="12700">
            <a:solidFill>
              <a:srgbClr val="002368"/>
            </a:solidFill>
          </a:ln>
        </p:spPr>
        <p:txBody>
          <a:bodyPr rtlCol="0" anchor="ctr"/>
          <a:lstStyle/>
          <a:p>
            <a:pPr algn="ctr"/>
          </a:p>
        </p:txBody>
      </p:sp>
      <p:sp>
        <p:nvSpPr>
          <p:cNvPr id="33" name="TextBox 32"/>
          <p:cNvSpPr txBox="1"/>
          <p:nvPr/>
        </p:nvSpPr>
        <p:spPr>
          <a:xfrm>
            <a:off x="6473952" y="4434840"/>
            <a:ext cx="4937760" cy="274320"/>
          </a:xfrm>
          <a:prstGeom prst="rect">
            <a:avLst/>
          </a:prstGeom>
          <a:noFill/>
        </p:spPr>
        <p:txBody>
          <a:bodyPr wrap="square" lIns="0" tIns="0" rIns="0" bIns="0" anchor="t">
            <a:spAutoFit/>
          </a:bodyPr>
          <a:lstStyle/>
          <a:p>
            <a:pPr algn="l"/>
            <a:r>
              <a:rPr sz="1300" b="1" i="0">
                <a:solidFill>
                  <a:srgbClr val="FFFFFF"/>
                </a:solidFill>
                <a:latin typeface="Arial"/>
              </a:rPr>
              <a:t>Opt-in only</a:t>
            </a:r>
          </a:p>
        </p:txBody>
      </p:sp>
      <p:sp>
        <p:nvSpPr>
          <p:cNvPr id="34" name="TextBox 33"/>
          <p:cNvSpPr txBox="1"/>
          <p:nvPr/>
        </p:nvSpPr>
        <p:spPr>
          <a:xfrm>
            <a:off x="6473952" y="4773168"/>
            <a:ext cx="4937760" cy="1097280"/>
          </a:xfrm>
          <a:prstGeom prst="rect">
            <a:avLst/>
          </a:prstGeom>
          <a:noFill/>
        </p:spPr>
        <p:txBody>
          <a:bodyPr wrap="square" lIns="0" tIns="0" rIns="0" bIns="0" anchor="t">
            <a:spAutoFit/>
          </a:bodyPr>
          <a:lstStyle/>
          <a:p>
            <a:pPr algn="l"/>
            <a:r>
              <a:rPr sz="1100" b="0" i="0">
                <a:solidFill>
                  <a:srgbClr val="D9ECF9"/>
                </a:solidFill>
                <a:latin typeface="Arial"/>
              </a:rPr>
              <a:t>Staff, members and parents sign up themselves; no partner ever hands over a list (Personal Data Protection Act 2022). Parent data never enters the lead databases.</a:t>
            </a:r>
          </a:p>
        </p:txBody>
      </p:sp>
      <p:pic>
        <p:nvPicPr>
          <p:cNvPr id="35" name="Picture 34" descr="image3.png"/>
          <p:cNvPicPr>
            <a:picLocks noChangeAspect="1"/>
          </p:cNvPicPr>
          <p:nvPr/>
        </p:nvPicPr>
        <p:blipFill>
          <a:blip r:embed="rId2"/>
          <a:stretch>
            <a:fillRect/>
          </a:stretch>
        </p:blipFill>
        <p:spPr>
          <a:xfrm>
            <a:off x="548640" y="6272784"/>
            <a:ext cx="1143000" cy="274320"/>
          </a:xfrm>
          <a:prstGeom prst="rect">
            <a:avLst/>
          </a:prstGeom>
        </p:spPr>
      </p:pic>
      <p:sp>
        <p:nvSpPr>
          <p:cNvPr id="3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3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3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NEXT STEPS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Five steps from design to delivery</a:t>
            </a:r>
          </a:p>
        </p:txBody>
      </p:sp>
      <p:sp>
        <p:nvSpPr>
          <p:cNvPr id="4" name="Hexagon 3"/>
          <p:cNvSpPr/>
          <p:nvPr/>
        </p:nvSpPr>
        <p:spPr>
          <a:xfrm>
            <a:off x="548640" y="141732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01</a:t>
            </a:r>
          </a:p>
        </p:txBody>
      </p:sp>
      <p:sp>
        <p:nvSpPr>
          <p:cNvPr id="5" name="TextBox 4"/>
          <p:cNvSpPr txBox="1"/>
          <p:nvPr/>
        </p:nvSpPr>
        <p:spPr>
          <a:xfrm>
            <a:off x="1188720" y="1280160"/>
            <a:ext cx="3291840" cy="685800"/>
          </a:xfrm>
          <a:prstGeom prst="rect">
            <a:avLst/>
          </a:prstGeom>
          <a:noFill/>
        </p:spPr>
        <p:txBody>
          <a:bodyPr wrap="square" lIns="0" tIns="0" rIns="0" bIns="0" anchor="ctr">
            <a:spAutoFit/>
          </a:bodyPr>
          <a:lstStyle/>
          <a:p>
            <a:pPr algn="l"/>
            <a:r>
              <a:rPr sz="1400" b="1" i="0">
                <a:solidFill>
                  <a:srgbClr val="002368"/>
                </a:solidFill>
                <a:latin typeface="Arial"/>
              </a:rPr>
              <a:t>Get the opt-in and materials ready</a:t>
            </a:r>
          </a:p>
        </p:txBody>
      </p:sp>
      <p:sp>
        <p:nvSpPr>
          <p:cNvPr id="6" name="TextBox 5"/>
          <p:cNvSpPr txBox="1"/>
          <p:nvPr/>
        </p:nvSpPr>
        <p:spPr>
          <a:xfrm>
            <a:off x="4572000" y="1280160"/>
            <a:ext cx="7068312" cy="685800"/>
          </a:xfrm>
          <a:prstGeom prst="rect">
            <a:avLst/>
          </a:prstGeom>
          <a:noFill/>
        </p:spPr>
        <p:txBody>
          <a:bodyPr wrap="square" lIns="0" tIns="0" rIns="0" bIns="0" anchor="ctr">
            <a:spAutoFit/>
          </a:bodyPr>
          <a:lstStyle/>
          <a:p>
            <a:pPr algn="l"/>
            <a:r>
              <a:rPr sz="1100" b="0" i="0">
                <a:solidFill>
                  <a:srgbClr val="000000"/>
                </a:solidFill>
                <a:latin typeface="Arial"/>
              </a:rPr>
              <a:t>The data protection officer approves the sign-up form and consent wording. Then the pamphlet with its QR sign-up, the one-page offer sheet and a short staff-session deck, with Kiswahili versions for savings groups and community meetings.</a:t>
            </a:r>
          </a:p>
        </p:txBody>
      </p:sp>
      <p:cxnSp>
        <p:nvCxnSpPr>
          <p:cNvPr id="7" name="Connector 6"/>
          <p:cNvCxnSpPr/>
          <p:nvPr/>
        </p:nvCxnSpPr>
        <p:spPr>
          <a:xfrm>
            <a:off x="1188720" y="2167128"/>
            <a:ext cx="10451592" cy="0"/>
          </a:xfrm>
          <a:prstGeom prst="line">
            <a:avLst/>
          </a:prstGeom>
          <a:ln w="9525">
            <a:solidFill>
              <a:srgbClr val="ECECEC"/>
            </a:solidFill>
          </a:ln>
        </p:spPr>
      </p:cxnSp>
      <p:sp>
        <p:nvSpPr>
          <p:cNvPr id="8" name="Hexagon 7"/>
          <p:cNvSpPr/>
          <p:nvPr/>
        </p:nvSpPr>
        <p:spPr>
          <a:xfrm>
            <a:off x="548640" y="2350008"/>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02</a:t>
            </a:r>
          </a:p>
        </p:txBody>
      </p:sp>
      <p:sp>
        <p:nvSpPr>
          <p:cNvPr id="9" name="TextBox 8"/>
          <p:cNvSpPr txBox="1"/>
          <p:nvPr/>
        </p:nvSpPr>
        <p:spPr>
          <a:xfrm>
            <a:off x="1188720" y="2212848"/>
            <a:ext cx="3291840" cy="685800"/>
          </a:xfrm>
          <a:prstGeom prst="rect">
            <a:avLst/>
          </a:prstGeom>
          <a:noFill/>
        </p:spPr>
        <p:txBody>
          <a:bodyPr wrap="square" lIns="0" tIns="0" rIns="0" bIns="0" anchor="ctr">
            <a:spAutoFit/>
          </a:bodyPr>
          <a:lstStyle/>
          <a:p>
            <a:pPr algn="l"/>
            <a:r>
              <a:rPr sz="1400" b="1" i="0">
                <a:solidFill>
                  <a:srgbClr val="002368"/>
                </a:solidFill>
                <a:latin typeface="Arial"/>
              </a:rPr>
              <a:t>Build the tracking</a:t>
            </a:r>
          </a:p>
        </p:txBody>
      </p:sp>
      <p:sp>
        <p:nvSpPr>
          <p:cNvPr id="10" name="TextBox 9"/>
          <p:cNvSpPr txBox="1"/>
          <p:nvPr/>
        </p:nvSpPr>
        <p:spPr>
          <a:xfrm>
            <a:off x="4572000" y="2212848"/>
            <a:ext cx="7068312" cy="685800"/>
          </a:xfrm>
          <a:prstGeom prst="rect">
            <a:avLst/>
          </a:prstGeom>
          <a:noFill/>
        </p:spPr>
        <p:txBody>
          <a:bodyPr wrap="square" lIns="0" tIns="0" rIns="0" bIns="0" anchor="ctr">
            <a:spAutoFit/>
          </a:bodyPr>
          <a:lstStyle/>
          <a:p>
            <a:pPr algn="l"/>
            <a:r>
              <a:rPr sz="1100" b="0" i="0">
                <a:solidFill>
                  <a:srgbClr val="000000"/>
                </a:solidFill>
                <a:latin typeface="Arial"/>
              </a:rPr>
              <a:t>Stages, dates, next actions, outcomes and partner reports for every deal in all three lead lists, with a pipeline sheet in each workbook and map filters by stage.</a:t>
            </a:r>
          </a:p>
        </p:txBody>
      </p:sp>
      <p:cxnSp>
        <p:nvCxnSpPr>
          <p:cNvPr id="11" name="Connector 10"/>
          <p:cNvCxnSpPr/>
          <p:nvPr/>
        </p:nvCxnSpPr>
        <p:spPr>
          <a:xfrm>
            <a:off x="1188720" y="3099816"/>
            <a:ext cx="10451592" cy="0"/>
          </a:xfrm>
          <a:prstGeom prst="line">
            <a:avLst/>
          </a:prstGeom>
          <a:ln w="9525">
            <a:solidFill>
              <a:srgbClr val="ECECEC"/>
            </a:solidFill>
          </a:ln>
        </p:spPr>
      </p:cxnSp>
      <p:sp>
        <p:nvSpPr>
          <p:cNvPr id="12" name="Hexagon 11"/>
          <p:cNvSpPr/>
          <p:nvPr/>
        </p:nvSpPr>
        <p:spPr>
          <a:xfrm>
            <a:off x="548640" y="3282696"/>
            <a:ext cx="457200" cy="402336"/>
          </a:xfrm>
          <a:prstGeom prst="hexagon">
            <a:avLst>
              <a:gd name="adj" fmla="val 25000"/>
              <a:gd name="vf" fmla="val 115470"/>
            </a:avLst>
          </a:prstGeom>
          <a:solidFill>
            <a:srgbClr val="FFC952"/>
          </a:solidFill>
          <a:ln>
            <a:noFill/>
          </a:ln>
        </p:spPr>
        <p:txBody>
          <a:bodyPr rtlCol="0" anchor="ctr" wrap="square" lIns="0" tIns="0" rIns="0" bIns="0"/>
          <a:lstStyle/>
          <a:p>
            <a:pPr algn="ctr"/>
            <a:r>
              <a:rPr sz="1100" b="1" i="0">
                <a:solidFill>
                  <a:srgbClr val="002368"/>
                </a:solidFill>
                <a:latin typeface="Arial"/>
              </a:rPr>
              <a:t>03</a:t>
            </a:r>
          </a:p>
        </p:txBody>
      </p:sp>
      <p:sp>
        <p:nvSpPr>
          <p:cNvPr id="13" name="TextBox 12"/>
          <p:cNvSpPr txBox="1"/>
          <p:nvPr/>
        </p:nvSpPr>
        <p:spPr>
          <a:xfrm>
            <a:off x="1188720" y="3145536"/>
            <a:ext cx="3291840" cy="685800"/>
          </a:xfrm>
          <a:prstGeom prst="rect">
            <a:avLst/>
          </a:prstGeom>
          <a:noFill/>
        </p:spPr>
        <p:txBody>
          <a:bodyPr wrap="square" lIns="0" tIns="0" rIns="0" bIns="0" anchor="ctr">
            <a:spAutoFit/>
          </a:bodyPr>
          <a:lstStyle/>
          <a:p>
            <a:pPr algn="l"/>
            <a:r>
              <a:rPr sz="1400" b="1" i="0">
                <a:solidFill>
                  <a:srgbClr val="002368"/>
                </a:solidFill>
                <a:latin typeface="Arial"/>
              </a:rPr>
              <a:t>Run a preliminary campaign</a:t>
            </a:r>
          </a:p>
        </p:txBody>
      </p:sp>
      <p:sp>
        <p:nvSpPr>
          <p:cNvPr id="14" name="TextBox 13"/>
          <p:cNvSpPr txBox="1"/>
          <p:nvPr/>
        </p:nvSpPr>
        <p:spPr>
          <a:xfrm>
            <a:off x="4572000" y="3145536"/>
            <a:ext cx="7068312" cy="685800"/>
          </a:xfrm>
          <a:prstGeom prst="rect">
            <a:avLst/>
          </a:prstGeom>
          <a:noFill/>
        </p:spPr>
        <p:txBody>
          <a:bodyPr wrap="square" lIns="0" tIns="0" rIns="0" bIns="0" anchor="ctr">
            <a:spAutoFit/>
          </a:bodyPr>
          <a:lstStyle/>
          <a:p>
            <a:pPr algn="l"/>
            <a:r>
              <a:rPr sz="1100" b="0" i="0">
                <a:solidFill>
                  <a:srgbClr val="000000"/>
                </a:solidFill>
                <a:latin typeface="Arial"/>
              </a:rPr>
              <a:t>The high-confidence band, the introducers (one yes from TATO, the hotels association or a chamber reaches dozens of employers) and the four pilot councils, booked before the January intake closes in December.</a:t>
            </a:r>
          </a:p>
        </p:txBody>
      </p:sp>
      <p:cxnSp>
        <p:nvCxnSpPr>
          <p:cNvPr id="15" name="Connector 14"/>
          <p:cNvCxnSpPr/>
          <p:nvPr/>
        </p:nvCxnSpPr>
        <p:spPr>
          <a:xfrm>
            <a:off x="1188720" y="4032504"/>
            <a:ext cx="10451592" cy="0"/>
          </a:xfrm>
          <a:prstGeom prst="line">
            <a:avLst/>
          </a:prstGeom>
          <a:ln w="9525">
            <a:solidFill>
              <a:srgbClr val="ECECEC"/>
            </a:solidFill>
          </a:ln>
        </p:spPr>
      </p:cxnSp>
      <p:sp>
        <p:nvSpPr>
          <p:cNvPr id="16" name="Hexagon 15"/>
          <p:cNvSpPr/>
          <p:nvPr/>
        </p:nvSpPr>
        <p:spPr>
          <a:xfrm>
            <a:off x="548640" y="4215384"/>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04</a:t>
            </a:r>
          </a:p>
        </p:txBody>
      </p:sp>
      <p:sp>
        <p:nvSpPr>
          <p:cNvPr id="17" name="TextBox 16"/>
          <p:cNvSpPr txBox="1"/>
          <p:nvPr/>
        </p:nvSpPr>
        <p:spPr>
          <a:xfrm>
            <a:off x="1188720" y="4078224"/>
            <a:ext cx="3291840" cy="685800"/>
          </a:xfrm>
          <a:prstGeom prst="rect">
            <a:avLst/>
          </a:prstGeom>
          <a:noFill/>
        </p:spPr>
        <p:txBody>
          <a:bodyPr wrap="square" lIns="0" tIns="0" rIns="0" bIns="0" anchor="ctr">
            <a:spAutoFit/>
          </a:bodyPr>
          <a:lstStyle/>
          <a:p>
            <a:pPr algn="l"/>
            <a:r>
              <a:rPr sz="1400" b="1" i="0">
                <a:solidFill>
                  <a:srgbClr val="002368"/>
                </a:solidFill>
                <a:latin typeface="Arial"/>
              </a:rPr>
              <a:t>Fix the Google Maps listings</a:t>
            </a:r>
          </a:p>
        </p:txBody>
      </p:sp>
      <p:sp>
        <p:nvSpPr>
          <p:cNvPr id="18" name="TextBox 17"/>
          <p:cNvSpPr txBox="1"/>
          <p:nvPr/>
        </p:nvSpPr>
        <p:spPr>
          <a:xfrm>
            <a:off x="4572000" y="4078224"/>
            <a:ext cx="7068312" cy="685800"/>
          </a:xfrm>
          <a:prstGeom prst="rect">
            <a:avLst/>
          </a:prstGeom>
          <a:noFill/>
        </p:spPr>
        <p:txBody>
          <a:bodyPr wrap="square" lIns="0" tIns="0" rIns="0" bIns="0" anchor="ctr">
            <a:spAutoFit/>
          </a:bodyPr>
          <a:lstStyle/>
          <a:p>
            <a:pPr algn="l"/>
            <a:r>
              <a:rPr sz="1100" b="0" i="0">
                <a:solidFill>
                  <a:srgbClr val="000000"/>
                </a:solidFill>
                <a:latin typeface="Arial"/>
              </a:rPr>
              <a:t>Move the Kijenge pin, correct or remove the two stray listings, and add Arusha City (Sakina) and Boma Ng'ombe from the website pins.</a:t>
            </a:r>
          </a:p>
        </p:txBody>
      </p:sp>
      <p:sp>
        <p:nvSpPr>
          <p:cNvPr id="16" name="Hexagon 19"/>
          <p:cNvSpPr/>
          <p:nvPr/>
        </p:nvSpPr>
        <p:spPr>
          <a:xfrm>
            <a:off x="548640" y="5148072"/>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05</a:t>
            </a:r>
          </a:p>
        </p:txBody>
      </p:sp>
      <p:sp>
        <p:nvSpPr>
          <p:cNvPr id="17" name="TextBox 20"/>
          <p:cNvSpPr txBox="1"/>
          <p:nvPr/>
        </p:nvSpPr>
        <p:spPr>
          <a:xfrm>
            <a:off x="1188720" y="5010912"/>
            <a:ext cx="3291840" cy="685800"/>
          </a:xfrm>
          <a:prstGeom prst="rect">
            <a:avLst/>
          </a:prstGeom>
          <a:noFill/>
        </p:spPr>
        <p:txBody>
          <a:bodyPr wrap="square" lIns="0" tIns="0" rIns="0" bIns="0" anchor="ctr">
            <a:spAutoFit/>
          </a:bodyPr>
          <a:lstStyle/>
          <a:p>
            <a:pPr algn="l"/>
            <a:r>
              <a:rPr sz="1400" b="1" i="0">
                <a:solidFill>
                  <a:srgbClr val="002368"/>
                </a:solidFill>
                <a:latin typeface="Arial"/>
              </a:rPr>
              <a:t>Pay for Google Maps access</a:t>
            </a:r>
          </a:p>
        </p:txBody>
      </p:sp>
      <p:sp>
        <p:nvSpPr>
          <p:cNvPr id="18" name="TextBox 21"/>
          <p:cNvSpPr txBox="1"/>
          <p:nvPr/>
        </p:nvSpPr>
        <p:spPr>
          <a:xfrm>
            <a:off x="4572000" y="5010912"/>
            <a:ext cx="7068312" cy="685800"/>
          </a:xfrm>
          <a:prstGeom prst="rect">
            <a:avLst/>
          </a:prstGeom>
          <a:noFill/>
        </p:spPr>
        <p:txBody>
          <a:bodyPr wrap="square" lIns="0" tIns="0" rIns="0" bIns="0" anchor="ctr">
            <a:spAutoFit/>
          </a:bodyPr>
          <a:lstStyle/>
          <a:p>
            <a:pPr algn="l"/>
            <a:r>
              <a:rPr sz="1100" b="0" i="0">
                <a:solidFill>
                  <a:srgbClr val="000000"/>
                </a:solidFill>
                <a:latin typeface="Arial"/>
              </a:rPr>
              <a:t>A paid Google Cloud account with the Maps (Places) service gives us addresses, phone numbers, websites and exact locations for every lead at scale, in place of one-by-one lookups.</a:t>
            </a:r>
          </a:p>
        </p:txBody>
      </p:sp>
      <p:cxnSp>
        <p:nvCxnSpPr>
          <p:cNvPr id="15" name="Connector 22"/>
          <p:cNvCxnSpPr/>
          <p:nvPr/>
        </p:nvCxnSpPr>
        <p:spPr>
          <a:xfrm>
            <a:off x="1188720" y="4965192"/>
            <a:ext cx="10451592" cy="0"/>
          </a:xfrm>
          <a:prstGeom prst="line">
            <a:avLst/>
          </a:prstGeom>
          <a:ln w="9525">
            <a:solidFill>
              <a:srgbClr val="ECECEC"/>
            </a:solidFill>
          </a:ln>
        </p:spPr>
      </p:cxnSp>
      <p:pic>
        <p:nvPicPr>
          <p:cNvPr id="19" name="Picture 18" descr="image3.png"/>
          <p:cNvPicPr>
            <a:picLocks noChangeAspect="1"/>
          </p:cNvPicPr>
          <p:nvPr/>
        </p:nvPicPr>
        <p:blipFill>
          <a:blip r:embed="rId2"/>
          <a:stretch>
            <a:fillRect/>
          </a:stretch>
        </p:blipFill>
        <p:spPr>
          <a:xfrm>
            <a:off x="548640" y="6272784"/>
            <a:ext cx="1143000" cy="274320"/>
          </a:xfrm>
          <a:prstGeom prst="rect">
            <a:avLst/>
          </a:prstGeom>
        </p:spPr>
      </p:pic>
      <p:sp>
        <p:nvSpPr>
          <p:cNvPr id="20" name="Footer links"/>
          <p:cNvSpPr txBox="1"/>
          <p:nvPr/>
        </p:nvSpPr>
        <p:spPr>
          <a:xfrm>
            <a:off x="8311896" y="6309360"/>
            <a:ext cx="2432304"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r>
              <a:rPr sz="800" b="0" i="0">
                <a:solidFill>
                  <a:srgbClr val="818283"/>
                </a:solidFill>
                <a:latin typeface="Arial"/>
              </a:rPr>
              <a:t>   ·   </a:t>
            </a:r>
            <a:r>
              <a:rPr sz="800" b="1" i="0" u="sng">
                <a:solidFill>
                  <a:srgbClr val="002368"/>
                </a:solidFill>
                <a:latin typeface="Arial"/>
                <a:hlinkClick r:id="rId4">
                  <a:extLst>
                    <a:ext uri="{A12FA001-AC4F-418D-AE19-62706E023703}">
                      <ahyp:hlinkClr xmlns:ahyp="http://schemas.microsoft.com/office/drawing/2018/hyperlinkcolor" val="tx"/>
                    </a:ext>
                  </a:extLst>
                </a:hlinkClick>
              </a:rPr>
              <a:t>Pipeline page →</a:t>
            </a:r>
          </a:p>
        </p:txBody>
      </p:sp>
      <p:sp>
        <p:nvSpPr>
          <p:cNvPr id="21" name="Footer source"/>
          <p:cNvSpPr txBox="1"/>
          <p:nvPr/>
        </p:nvSpPr>
        <p:spPr>
          <a:xfrm>
            <a:off x="1965960" y="6309360"/>
            <a:ext cx="6025896"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catchment criteria and research review</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640080" y="566928"/>
            <a:ext cx="2286000" cy="548640"/>
          </a:xfrm>
          <a:prstGeom prst="rect">
            <a:avLst/>
          </a:prstGeom>
        </p:spPr>
      </p:pic>
      <p:sp>
        <p:nvSpPr>
          <p:cNvPr id="3" name="TextBox 2"/>
          <p:cNvSpPr txBox="1"/>
          <p:nvPr/>
        </p:nvSpPr>
        <p:spPr>
          <a:xfrm>
            <a:off x="640080" y="1600200"/>
            <a:ext cx="1463040" cy="822960"/>
          </a:xfrm>
          <a:prstGeom prst="rect">
            <a:avLst/>
          </a:prstGeom>
          <a:noFill/>
        </p:spPr>
        <p:txBody>
          <a:bodyPr wrap="square" lIns="0" tIns="0" rIns="0" bIns="0" anchor="t">
            <a:spAutoFit/>
          </a:bodyPr>
          <a:lstStyle/>
          <a:p>
            <a:pPr algn="l"/>
            <a:r>
              <a:rPr sz="5400" b="0" i="0">
                <a:solidFill>
                  <a:srgbClr val="FFC952"/>
                </a:solidFill>
                <a:latin typeface="Georgia"/>
              </a:rPr>
              <a:t>A</a:t>
            </a:r>
          </a:p>
        </p:txBody>
      </p:sp>
      <p:sp>
        <p:nvSpPr>
          <p:cNvPr id="4" name="TextBox 3"/>
          <p:cNvSpPr txBox="1"/>
          <p:nvPr/>
        </p:nvSpPr>
        <p:spPr>
          <a:xfrm>
            <a:off x="640080" y="2514600"/>
            <a:ext cx="5943600" cy="274320"/>
          </a:xfrm>
          <a:prstGeom prst="rect">
            <a:avLst/>
          </a:prstGeom>
          <a:noFill/>
        </p:spPr>
        <p:txBody>
          <a:bodyPr wrap="square" lIns="0" tIns="0" rIns="0" bIns="0" anchor="t">
            <a:spAutoFit/>
          </a:bodyPr>
          <a:lstStyle/>
          <a:p>
            <a:pPr algn="l"/>
            <a:r>
              <a:rPr sz="900" b="1" i="0" spc="200">
                <a:solidFill>
                  <a:srgbClr val="80BFEC"/>
                </a:solidFill>
                <a:latin typeface="Arial"/>
              </a:rPr>
              <a:t>APPENDIX</a:t>
            </a:r>
          </a:p>
        </p:txBody>
      </p:sp>
      <p:sp>
        <p:nvSpPr>
          <p:cNvPr id="5" name="TextBox 4"/>
          <p:cNvSpPr txBox="1"/>
          <p:nvPr/>
        </p:nvSpPr>
        <p:spPr>
          <a:xfrm>
            <a:off x="640080" y="2788920"/>
            <a:ext cx="6309360" cy="1325880"/>
          </a:xfrm>
          <a:prstGeom prst="rect">
            <a:avLst/>
          </a:prstGeom>
          <a:noFill/>
        </p:spPr>
        <p:txBody>
          <a:bodyPr wrap="square" lIns="0" tIns="0" rIns="0" bIns="0" anchor="t">
            <a:spAutoFit/>
          </a:bodyPr>
          <a:lstStyle/>
          <a:p>
            <a:pPr algn="l"/>
            <a:r>
              <a:rPr sz="4000" b="1" i="0">
                <a:solidFill>
                  <a:srgbClr val="FFFFFF"/>
                </a:solidFill>
                <a:latin typeface="Arial"/>
              </a:rPr>
              <a:t>Appendix</a:t>
            </a:r>
          </a:p>
        </p:txBody>
      </p:sp>
      <p:sp>
        <p:nvSpPr>
          <p:cNvPr id="6" name="TextBox 5"/>
          <p:cNvSpPr txBox="1"/>
          <p:nvPr/>
        </p:nvSpPr>
        <p:spPr>
          <a:xfrm>
            <a:off x="640080" y="3547872"/>
            <a:ext cx="5760720" cy="640080"/>
          </a:xfrm>
          <a:prstGeom prst="rect">
            <a:avLst/>
          </a:prstGeom>
          <a:noFill/>
        </p:spPr>
        <p:txBody>
          <a:bodyPr wrap="square" lIns="0" tIns="0" rIns="0" bIns="0" anchor="t">
            <a:spAutoFit/>
          </a:bodyPr>
          <a:lstStyle/>
          <a:p>
            <a:pPr algn="l"/>
            <a:r>
              <a:rPr sz="1600" b="0" i="0">
                <a:solidFill>
                  <a:srgbClr val="80BFEC"/>
                </a:solidFill>
                <a:latin typeface="Georgia"/>
              </a:rPr>
              <a:t>The parent-funnel hand-off, the segment funnels, fallout, records, the pipeline decisions and the known gaps.</a:t>
            </a:r>
          </a:p>
        </p:txBody>
      </p:sp>
      <p:sp>
        <p:nvSpPr>
          <p:cNvPr id="7" name="TextBox 6"/>
          <p:cNvSpPr txBox="1"/>
          <p:nvPr/>
        </p:nvSpPr>
        <p:spPr>
          <a:xfrm>
            <a:off x="640080" y="4325112"/>
            <a:ext cx="5852160" cy="1463040"/>
          </a:xfrm>
          <a:prstGeom prst="rect">
            <a:avLst/>
          </a:prstGeom>
          <a:noFill/>
        </p:spPr>
        <p:txBody>
          <a:bodyPr wrap="square" lIns="0" tIns="0" rIns="0" bIns="0" anchor="t">
            <a:spAutoFit/>
          </a:bodyPr>
          <a:lstStyle/>
          <a:p>
            <a:pPr algn="l" marL="155448" indent="-155448">
              <a:spcAft>
                <a:spcPts val="400"/>
              </a:spcAft>
              <a:buFont typeface="Arial"/>
              <a:buChar char="•"/>
            </a:pPr>
            <a:r>
              <a:rPr sz="1100" b="0" i="0">
                <a:solidFill>
                  <a:srgbClr val="FFFFFF"/>
                </a:solidFill>
                <a:latin typeface="Arial"/>
              </a:rPr>
              <a:t>The parent-funnel hand-off</a:t>
            </a:r>
          </a:p>
          <a:p>
            <a:pPr algn="l" marL="155448" indent="-155448">
              <a:spcAft>
                <a:spcPts val="400"/>
              </a:spcAft>
              <a:buFont typeface="Arial"/>
              <a:buChar char="•"/>
            </a:pPr>
            <a:r>
              <a:rPr sz="1100" b="0" i="0">
                <a:solidFill>
                  <a:srgbClr val="FFFFFF"/>
                </a:solidFill>
                <a:latin typeface="Arial"/>
              </a:rPr>
              <a:t>Thirteen segment funnels: E1–E6, I1, W1–W3, G1–G3</a:t>
            </a:r>
          </a:p>
          <a:p>
            <a:pPr algn="l" marL="155448" indent="-155448">
              <a:spcAft>
                <a:spcPts val="400"/>
              </a:spcAft>
              <a:buFont typeface="Arial"/>
              <a:buChar char="•"/>
            </a:pPr>
            <a:r>
              <a:rPr sz="1100" b="0" i="0">
                <a:solidFill>
                  <a:srgbClr val="FFFFFF"/>
                </a:solidFill>
                <a:latin typeface="Arial"/>
              </a:rPr>
              <a:t>Fallout and re-activation</a:t>
            </a:r>
          </a:p>
          <a:p>
            <a:pPr algn="l" marL="155448" indent="-155448">
              <a:spcAft>
                <a:spcPts val="400"/>
              </a:spcAft>
              <a:buFont typeface="Arial"/>
              <a:buChar char="•"/>
            </a:pPr>
            <a:r>
              <a:rPr sz="1100" b="0" i="0">
                <a:solidFill>
                  <a:srgbClr val="FFFFFF"/>
                </a:solidFill>
                <a:latin typeface="Arial"/>
              </a:rPr>
              <a:t>Records: deal fields and the opt-in form</a:t>
            </a:r>
          </a:p>
          <a:p>
            <a:pPr algn="l" marL="155448" indent="-155448">
              <a:spcAft>
                <a:spcPts val="400"/>
              </a:spcAft>
              <a:buFont typeface="Arial"/>
              <a:buChar char="•"/>
            </a:pPr>
            <a:r>
              <a:rPr sz="1100" b="0" i="0">
                <a:solidFill>
                  <a:srgbClr val="FFFFFF"/>
                </a:solidFill>
                <a:latin typeface="Arial"/>
              </a:rPr>
              <a:t>Pipeline decisions</a:t>
            </a:r>
          </a:p>
          <a:p>
            <a:pPr algn="l" marL="155448" indent="-155448">
              <a:spcAft>
                <a:spcPts val="400"/>
              </a:spcAft>
              <a:buFont typeface="Arial"/>
              <a:buChar char="•"/>
            </a:pPr>
            <a:r>
              <a:rPr sz="1100" b="0" i="0">
                <a:solidFill>
                  <a:srgbClr val="FFFFFF"/>
                </a:solidFill>
                <a:latin typeface="Arial"/>
              </a:rPr>
              <a:t>Known gaps in the catchment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Every partner feeds one parent funnel</a:t>
            </a:r>
          </a:p>
        </p:txBody>
      </p:sp>
      <p:sp>
        <p:nvSpPr>
          <p:cNvPr id="4" name="TextBox 3"/>
          <p:cNvSpPr txBox="1"/>
          <p:nvPr/>
        </p:nvSpPr>
        <p:spPr>
          <a:xfrm>
            <a:off x="548640" y="1280160"/>
            <a:ext cx="11064240" cy="457200"/>
          </a:xfrm>
          <a:prstGeom prst="rect">
            <a:avLst/>
          </a:prstGeom>
          <a:noFill/>
        </p:spPr>
        <p:txBody>
          <a:bodyPr wrap="square" lIns="0" tIns="0" rIns="0" bIns="0" anchor="t">
            <a:spAutoFit/>
          </a:bodyPr>
          <a:lstStyle/>
          <a:p>
            <a:pPr algn="l"/>
            <a:r>
              <a:rPr sz="1500" b="0" i="0">
                <a:solidFill>
                  <a:srgbClr val="002368"/>
                </a:solidFill>
                <a:latin typeface="Georgia"/>
              </a:rPr>
              <a:t>Admissions owns each family from the opt-in; the partner sees totals only.</a:t>
            </a:r>
          </a:p>
        </p:txBody>
      </p:sp>
      <p:sp>
        <p:nvSpPr>
          <p:cNvPr id="5" name="Hexagon 4"/>
          <p:cNvSpPr/>
          <p:nvPr/>
        </p:nvSpPr>
        <p:spPr>
          <a:xfrm>
            <a:off x="5486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01</a:t>
            </a:r>
          </a:p>
        </p:txBody>
      </p:sp>
      <p:cxnSp>
        <p:nvCxnSpPr>
          <p:cNvPr id="6" name="Connector 5"/>
          <p:cNvCxnSpPr/>
          <p:nvPr/>
        </p:nvCxnSpPr>
        <p:spPr>
          <a:xfrm>
            <a:off x="1097280" y="2395728"/>
            <a:ext cx="1051560" cy="0"/>
          </a:xfrm>
          <a:prstGeom prst="line">
            <a:avLst/>
          </a:prstGeom>
          <a:ln w="15875">
            <a:solidFill>
              <a:srgbClr val="80BFEC"/>
            </a:solidFill>
          </a:ln>
        </p:spPr>
      </p:cxnSp>
      <p:sp>
        <p:nvSpPr>
          <p:cNvPr id="7" name="TextBox 6"/>
          <p:cNvSpPr txBox="1"/>
          <p:nvPr/>
        </p:nvSpPr>
        <p:spPr>
          <a:xfrm>
            <a:off x="5486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Partner circulates</a:t>
            </a:r>
          </a:p>
        </p:txBody>
      </p:sp>
      <p:sp>
        <p:nvSpPr>
          <p:cNvPr id="8" name="TextBox 7"/>
          <p:cNvSpPr txBox="1"/>
          <p:nvPr/>
        </p:nvSpPr>
        <p:spPr>
          <a:xfrm>
            <a:off x="5486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QR code, pamphlet or form</a:t>
            </a:r>
          </a:p>
        </p:txBody>
      </p:sp>
      <p:sp>
        <p:nvSpPr>
          <p:cNvPr id="9" name="Hexagon 8"/>
          <p:cNvSpPr/>
          <p:nvPr/>
        </p:nvSpPr>
        <p:spPr>
          <a:xfrm>
            <a:off x="21488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02</a:t>
            </a:r>
          </a:p>
        </p:txBody>
      </p:sp>
      <p:cxnSp>
        <p:nvCxnSpPr>
          <p:cNvPr id="10" name="Connector 9"/>
          <p:cNvCxnSpPr/>
          <p:nvPr/>
        </p:nvCxnSpPr>
        <p:spPr>
          <a:xfrm>
            <a:off x="2697480" y="2395728"/>
            <a:ext cx="1051559" cy="0"/>
          </a:xfrm>
          <a:prstGeom prst="line">
            <a:avLst/>
          </a:prstGeom>
          <a:ln w="15875">
            <a:solidFill>
              <a:srgbClr val="80BFEC"/>
            </a:solidFill>
          </a:ln>
        </p:spPr>
      </p:cxnSp>
      <p:sp>
        <p:nvSpPr>
          <p:cNvPr id="11" name="TextBox 10"/>
          <p:cNvSpPr txBox="1"/>
          <p:nvPr/>
        </p:nvSpPr>
        <p:spPr>
          <a:xfrm>
            <a:off x="21488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Opt-in</a:t>
            </a:r>
          </a:p>
        </p:txBody>
      </p:sp>
      <p:sp>
        <p:nvSpPr>
          <p:cNvPr id="12" name="TextBox 11"/>
          <p:cNvSpPr txBox="1"/>
          <p:nvPr/>
        </p:nvSpPr>
        <p:spPr>
          <a:xfrm>
            <a:off x="21488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self-made, with a partner code: EMP, SAC, INT, WEL, EVT</a:t>
            </a:r>
          </a:p>
        </p:txBody>
      </p:sp>
      <p:sp>
        <p:nvSpPr>
          <p:cNvPr id="13" name="Hexagon 12"/>
          <p:cNvSpPr/>
          <p:nvPr/>
        </p:nvSpPr>
        <p:spPr>
          <a:xfrm>
            <a:off x="3749039"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03</a:t>
            </a:r>
          </a:p>
        </p:txBody>
      </p:sp>
      <p:cxnSp>
        <p:nvCxnSpPr>
          <p:cNvPr id="14" name="Connector 13"/>
          <p:cNvCxnSpPr/>
          <p:nvPr/>
        </p:nvCxnSpPr>
        <p:spPr>
          <a:xfrm>
            <a:off x="4297679" y="2395728"/>
            <a:ext cx="1051561" cy="0"/>
          </a:xfrm>
          <a:prstGeom prst="line">
            <a:avLst/>
          </a:prstGeom>
          <a:ln w="15875">
            <a:solidFill>
              <a:srgbClr val="80BFEC"/>
            </a:solidFill>
          </a:ln>
        </p:spPr>
      </p:cxnSp>
      <p:sp>
        <p:nvSpPr>
          <p:cNvPr id="15" name="TextBox 14"/>
          <p:cNvSpPr txBox="1"/>
          <p:nvPr/>
        </p:nvSpPr>
        <p:spPr>
          <a:xfrm>
            <a:off x="3749039"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Inquiry</a:t>
            </a:r>
          </a:p>
        </p:txBody>
      </p:sp>
      <p:sp>
        <p:nvSpPr>
          <p:cNvPr id="16" name="TextBox 15"/>
          <p:cNvSpPr txBox="1"/>
          <p:nvPr/>
        </p:nvSpPr>
        <p:spPr>
          <a:xfrm>
            <a:off x="3749039"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answered the same working period; a reminder at 2 days</a:t>
            </a:r>
          </a:p>
        </p:txBody>
      </p:sp>
      <p:sp>
        <p:nvSpPr>
          <p:cNvPr id="17" name="Hexagon 16"/>
          <p:cNvSpPr/>
          <p:nvPr/>
        </p:nvSpPr>
        <p:spPr>
          <a:xfrm>
            <a:off x="53492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04</a:t>
            </a:r>
          </a:p>
        </p:txBody>
      </p:sp>
      <p:cxnSp>
        <p:nvCxnSpPr>
          <p:cNvPr id="18" name="Connector 17"/>
          <p:cNvCxnSpPr/>
          <p:nvPr/>
        </p:nvCxnSpPr>
        <p:spPr>
          <a:xfrm>
            <a:off x="5897879" y="2395728"/>
            <a:ext cx="1051561" cy="0"/>
          </a:xfrm>
          <a:prstGeom prst="line">
            <a:avLst/>
          </a:prstGeom>
          <a:ln w="15875">
            <a:solidFill>
              <a:srgbClr val="80BFEC"/>
            </a:solidFill>
          </a:ln>
        </p:spPr>
      </p:cxnSp>
      <p:sp>
        <p:nvSpPr>
          <p:cNvPr id="19" name="TextBox 18"/>
          <p:cNvSpPr txBox="1"/>
          <p:nvPr/>
        </p:nvSpPr>
        <p:spPr>
          <a:xfrm>
            <a:off x="53492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Qualified</a:t>
            </a:r>
          </a:p>
        </p:txBody>
      </p:sp>
      <p:sp>
        <p:nvSpPr>
          <p:cNvPr id="20" name="TextBox 19"/>
          <p:cNvSpPr txBox="1"/>
          <p:nvPr/>
        </p:nvSpPr>
        <p:spPr>
          <a:xfrm>
            <a:off x="53492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campus fit confirmed</a:t>
            </a:r>
          </a:p>
        </p:txBody>
      </p:sp>
      <p:sp>
        <p:nvSpPr>
          <p:cNvPr id="21" name="Hexagon 20"/>
          <p:cNvSpPr/>
          <p:nvPr/>
        </p:nvSpPr>
        <p:spPr>
          <a:xfrm>
            <a:off x="69494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05</a:t>
            </a:r>
          </a:p>
        </p:txBody>
      </p:sp>
      <p:cxnSp>
        <p:nvCxnSpPr>
          <p:cNvPr id="22" name="Connector 21"/>
          <p:cNvCxnSpPr/>
          <p:nvPr/>
        </p:nvCxnSpPr>
        <p:spPr>
          <a:xfrm>
            <a:off x="7498079" y="2395728"/>
            <a:ext cx="1051561" cy="0"/>
          </a:xfrm>
          <a:prstGeom prst="line">
            <a:avLst/>
          </a:prstGeom>
          <a:ln w="15875">
            <a:solidFill>
              <a:srgbClr val="80BFEC"/>
            </a:solidFill>
          </a:ln>
        </p:spPr>
      </p:cxnSp>
      <p:sp>
        <p:nvSpPr>
          <p:cNvPr id="23" name="TextBox 22"/>
          <p:cNvSpPr txBox="1"/>
          <p:nvPr/>
        </p:nvSpPr>
        <p:spPr>
          <a:xfrm>
            <a:off x="69494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Tour, application</a:t>
            </a:r>
          </a:p>
        </p:txBody>
      </p:sp>
      <p:sp>
        <p:nvSpPr>
          <p:cNvPr id="24" name="TextBox 23"/>
          <p:cNvSpPr txBox="1"/>
          <p:nvPr/>
        </p:nvSpPr>
        <p:spPr>
          <a:xfrm>
            <a:off x="69494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recorded as they happen</a:t>
            </a:r>
          </a:p>
        </p:txBody>
      </p:sp>
      <p:sp>
        <p:nvSpPr>
          <p:cNvPr id="25" name="Hexagon 24"/>
          <p:cNvSpPr/>
          <p:nvPr/>
        </p:nvSpPr>
        <p:spPr>
          <a:xfrm>
            <a:off x="8549640" y="2148840"/>
            <a:ext cx="548640" cy="484632"/>
          </a:xfrm>
          <a:prstGeom prst="hexagon">
            <a:avLst>
              <a:gd name="adj" fmla="val 25000"/>
              <a:gd name="vf" fmla="val 115470"/>
            </a:avLst>
          </a:prstGeom>
          <a:solidFill>
            <a:srgbClr val="FFC952"/>
          </a:solidFill>
          <a:ln>
            <a:noFill/>
          </a:ln>
        </p:spPr>
        <p:txBody>
          <a:bodyPr rtlCol="0" anchor="ctr" wrap="square" lIns="0" tIns="0" rIns="0" bIns="0"/>
          <a:lstStyle/>
          <a:p>
            <a:pPr algn="ctr"/>
            <a:r>
              <a:rPr sz="1200" b="1" i="0">
                <a:solidFill>
                  <a:srgbClr val="002368"/>
                </a:solidFill>
                <a:latin typeface="Arial"/>
              </a:rPr>
              <a:t>06</a:t>
            </a:r>
          </a:p>
        </p:txBody>
      </p:sp>
      <p:cxnSp>
        <p:nvCxnSpPr>
          <p:cNvPr id="26" name="Connector 25"/>
          <p:cNvCxnSpPr/>
          <p:nvPr/>
        </p:nvCxnSpPr>
        <p:spPr>
          <a:xfrm>
            <a:off x="9098280" y="2395728"/>
            <a:ext cx="1051560" cy="0"/>
          </a:xfrm>
          <a:prstGeom prst="line">
            <a:avLst/>
          </a:prstGeom>
          <a:ln w="15875">
            <a:solidFill>
              <a:srgbClr val="80BFEC"/>
            </a:solidFill>
          </a:ln>
        </p:spPr>
      </p:cxnSp>
      <p:sp>
        <p:nvSpPr>
          <p:cNvPr id="27" name="TextBox 26"/>
          <p:cNvSpPr txBox="1"/>
          <p:nvPr/>
        </p:nvSpPr>
        <p:spPr>
          <a:xfrm>
            <a:off x="85496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Enrolment</a:t>
            </a:r>
          </a:p>
        </p:txBody>
      </p:sp>
      <p:sp>
        <p:nvSpPr>
          <p:cNvPr id="28" name="TextBox 27"/>
          <p:cNvSpPr txBox="1"/>
          <p:nvPr/>
        </p:nvSpPr>
        <p:spPr>
          <a:xfrm>
            <a:off x="85496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
            </a:r>
          </a:p>
        </p:txBody>
      </p:sp>
      <p:sp>
        <p:nvSpPr>
          <p:cNvPr id="29" name="Hexagon 28"/>
          <p:cNvSpPr/>
          <p:nvPr/>
        </p:nvSpPr>
        <p:spPr>
          <a:xfrm>
            <a:off x="101498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07</a:t>
            </a:r>
          </a:p>
        </p:txBody>
      </p:sp>
      <p:sp>
        <p:nvSpPr>
          <p:cNvPr id="30" name="TextBox 29"/>
          <p:cNvSpPr txBox="1"/>
          <p:nvPr/>
        </p:nvSpPr>
        <p:spPr>
          <a:xfrm>
            <a:off x="101498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Totals to partner</a:t>
            </a:r>
          </a:p>
        </p:txBody>
      </p:sp>
      <p:sp>
        <p:nvSpPr>
          <p:cNvPr id="31" name="TextBox 30"/>
          <p:cNvSpPr txBox="1"/>
          <p:nvPr/>
        </p:nvSpPr>
        <p:spPr>
          <a:xfrm>
            <a:off x="101498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each term; small counts hidden</a:t>
            </a:r>
          </a:p>
        </p:txBody>
      </p:sp>
      <p:sp>
        <p:nvSpPr>
          <p:cNvPr id="32" name="Rounded Rectangle 31"/>
          <p:cNvSpPr/>
          <p:nvPr/>
        </p:nvSpPr>
        <p:spPr>
          <a:xfrm>
            <a:off x="548640" y="4160520"/>
            <a:ext cx="5440680" cy="914400"/>
          </a:xfrm>
          <a:prstGeom prst="roundRect">
            <a:avLst>
              <a:gd name="adj" fmla="val 7000"/>
            </a:avLst>
          </a:prstGeom>
          <a:solidFill>
            <a:srgbClr val="D9ECF9"/>
          </a:solidFill>
          <a:ln w="12700">
            <a:solidFill>
              <a:srgbClr val="D9ECF9"/>
            </a:solidFill>
          </a:ln>
        </p:spPr>
        <p:txBody>
          <a:bodyPr rtlCol="0" anchor="ctr"/>
          <a:lstStyle/>
          <a:p>
            <a:pPr algn="ctr"/>
          </a:p>
        </p:txBody>
      </p:sp>
      <p:sp>
        <p:nvSpPr>
          <p:cNvPr id="33" name="TextBox 32"/>
          <p:cNvSpPr txBox="1"/>
          <p:nvPr/>
        </p:nvSpPr>
        <p:spPr>
          <a:xfrm>
            <a:off x="822960" y="4279392"/>
            <a:ext cx="4937760" cy="731520"/>
          </a:xfrm>
          <a:prstGeom prst="rect">
            <a:avLst/>
          </a:prstGeom>
          <a:noFill/>
        </p:spPr>
        <p:txBody>
          <a:bodyPr wrap="square" lIns="0" tIns="0" rIns="0" bIns="0" anchor="t">
            <a:spAutoFit/>
          </a:bodyPr>
          <a:lstStyle/>
          <a:p>
            <a:pPr algn="l"/>
            <a:r>
              <a:rPr sz="1100" b="1" i="0">
                <a:solidFill>
                  <a:srgbClr val="002368"/>
                </a:solidFill>
                <a:latin typeface="Arial"/>
              </a:rPr>
              <a:t>Placements and sponsored students </a:t>
            </a:r>
            <a:r>
              <a:rPr sz="1100" b="0" i="0">
                <a:solidFill>
                  <a:srgbClr val="000000"/>
                </a:solidFill>
                <a:latin typeface="Arial"/>
              </a:rPr>
              <a:t>go straight to enrolment through admissions, with the guardian's or the home's consent; no parent opt-in.</a:t>
            </a:r>
          </a:p>
        </p:txBody>
      </p:sp>
      <p:sp>
        <p:nvSpPr>
          <p:cNvPr id="34" name="Rounded Rectangle 33"/>
          <p:cNvSpPr/>
          <p:nvPr/>
        </p:nvSpPr>
        <p:spPr>
          <a:xfrm>
            <a:off x="6199632" y="4160520"/>
            <a:ext cx="5440680" cy="914400"/>
          </a:xfrm>
          <a:prstGeom prst="roundRect">
            <a:avLst>
              <a:gd name="adj" fmla="val 7000"/>
            </a:avLst>
          </a:prstGeom>
          <a:solidFill>
            <a:srgbClr val="D9ECF9"/>
          </a:solidFill>
          <a:ln w="12700">
            <a:solidFill>
              <a:srgbClr val="D9ECF9"/>
            </a:solidFill>
          </a:ln>
        </p:spPr>
        <p:txBody>
          <a:bodyPr rtlCol="0" anchor="ctr"/>
          <a:lstStyle/>
          <a:p>
            <a:pPr algn="ctr"/>
          </a:p>
        </p:txBody>
      </p:sp>
      <p:sp>
        <p:nvSpPr>
          <p:cNvPr id="35" name="TextBox 34"/>
          <p:cNvSpPr txBox="1"/>
          <p:nvPr/>
        </p:nvSpPr>
        <p:spPr>
          <a:xfrm>
            <a:off x="6473952" y="4279392"/>
            <a:ext cx="4937760" cy="731520"/>
          </a:xfrm>
          <a:prstGeom prst="rect">
            <a:avLst/>
          </a:prstGeom>
          <a:noFill/>
        </p:spPr>
        <p:txBody>
          <a:bodyPr wrap="square" lIns="0" tIns="0" rIns="0" bIns="0" anchor="t">
            <a:spAutoFit/>
          </a:bodyPr>
          <a:lstStyle/>
          <a:p>
            <a:pPr algn="l"/>
            <a:r>
              <a:rPr sz="1100" b="1" i="0">
                <a:solidFill>
                  <a:srgbClr val="002368"/>
                </a:solidFill>
                <a:latin typeface="Arial"/>
              </a:rPr>
              <a:t>Referred employers and homes </a:t>
            </a:r>
            <a:r>
              <a:rPr sz="1100" b="0" i="0">
                <a:solidFill>
                  <a:srgbClr val="000000"/>
                </a:solidFill>
                <a:latin typeface="Arial"/>
              </a:rPr>
              <a:t>re-enter the spine at S3 as warm leads, carrying the introducer's code.</a:t>
            </a:r>
          </a:p>
        </p:txBody>
      </p:sp>
      <p:sp>
        <p:nvSpPr>
          <p:cNvPr id="36" name="TextBox 35"/>
          <p:cNvSpPr txBox="1"/>
          <p:nvPr/>
        </p:nvSpPr>
        <p:spPr>
          <a:xfrm>
            <a:off x="548640" y="5760720"/>
            <a:ext cx="11064240" cy="365760"/>
          </a:xfrm>
          <a:prstGeom prst="rect">
            <a:avLst/>
          </a:prstGeom>
          <a:noFill/>
        </p:spPr>
        <p:txBody>
          <a:bodyPr wrap="square" lIns="0" tIns="0" rIns="0" bIns="0" anchor="t">
            <a:spAutoFit/>
          </a:bodyPr>
          <a:lstStyle/>
          <a:p>
            <a:pPr algn="l"/>
            <a:r>
              <a:rPr sz="850" b="0" i="0">
                <a:solidFill>
                  <a:srgbClr val="818283"/>
                </a:solidFill>
                <a:latin typeface="Arial"/>
              </a:rPr>
              <a:t>Coord: Marketing and Partnership Coordinator  ·  Adm: admissions  ·  DSL: designated safeguarding lead  ·  WEO, VEO: ward and village executive officers  ·  B2G owner: government partnerships owner</a:t>
            </a:r>
          </a:p>
        </p:txBody>
      </p:sp>
      <p:pic>
        <p:nvPicPr>
          <p:cNvPr id="37" name="Picture 36" descr="image3.png"/>
          <p:cNvPicPr>
            <a:picLocks noChangeAspect="1"/>
          </p:cNvPicPr>
          <p:nvPr/>
        </p:nvPicPr>
        <p:blipFill>
          <a:blip r:embed="rId2"/>
          <a:stretch>
            <a:fillRect/>
          </a:stretch>
        </p:blipFill>
        <p:spPr>
          <a:xfrm>
            <a:off x="548640" y="6272784"/>
            <a:ext cx="1143000" cy="274320"/>
          </a:xfrm>
          <a:prstGeom prst="rect">
            <a:avLst/>
          </a:prstGeom>
        </p:spPr>
      </p:pic>
      <p:sp>
        <p:nvSpPr>
          <p:cNvPr id="38"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39"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E1 and E2</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Small and field-based employers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Safari operators and travel agencies · 480 (432 ready)</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redirect or direct</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Call or meeting</a:t>
            </a:r>
          </a:p>
          <a:p>
            <a:pPr algn="ctr"/>
            <a:r>
              <a:rPr sz="850" b="0" i="0">
                <a:solidFill>
                  <a:srgbClr val="002368"/>
                </a:solidFill>
                <a:latin typeface="Arial"/>
              </a:rPr>
              <a:t>meeting checklist</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Staff at the office?</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10 or more: </a:t>
            </a:r>
            <a:r>
              <a:rPr sz="900" b="0" i="0">
                <a:solidFill>
                  <a:srgbClr val="002368"/>
                </a:solidFill>
                <a:latin typeface="Arial"/>
              </a:rPr>
              <a:t>S5 office visit: talk, pamphlet, QR</a:t>
            </a:r>
          </a:p>
        </p:txBody>
      </p:sp>
      <p:sp>
        <p:nvSpPr>
          <p:cNvPr id="30" name="Rounded Rectangle 29"/>
          <p:cNvSpPr/>
          <p:nvPr/>
        </p:nvSpPr>
        <p:spPr>
          <a:xfrm>
            <a:off x="6814178" y="2005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Under 10: </a:t>
            </a:r>
            <a:r>
              <a:rPr sz="900" b="0" i="0">
                <a:solidFill>
                  <a:srgbClr val="002368"/>
                </a:solidFill>
                <a:latin typeface="Arial"/>
              </a:rPr>
              <a:t>S5 pack + cluster session (TATO)</a:t>
            </a:r>
          </a:p>
        </p:txBody>
      </p:sp>
      <p:sp>
        <p:nvSpPr>
          <p:cNvPr id="31" name="Rounded Rectangle 30"/>
          <p:cNvSpPr/>
          <p:nvPr/>
        </p:nvSpPr>
        <p:spPr>
          <a:xfrm>
            <a:off x="6814178" y="2438400"/>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Mostly in the field: </a:t>
            </a:r>
            <a:r>
              <a:rPr sz="900" b="0" i="0">
                <a:solidFill>
                  <a:srgbClr val="002368"/>
                </a:solidFill>
                <a:latin typeface="Arial"/>
              </a:rPr>
              <a:t>S5 webinar + crew pack</a:t>
            </a:r>
          </a:p>
        </p:txBody>
      </p:sp>
      <p:sp>
        <p:nvSpPr>
          <p:cNvPr id="32" name="Chevron 31"/>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confirmed or benefit signed</a:t>
            </a:r>
          </a:p>
        </p:txBody>
      </p:sp>
      <p:sp>
        <p:nvSpPr>
          <p:cNvPr id="34" name="Chevron 33"/>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code EMP</a:t>
            </a:r>
          </a:p>
        </p:txBody>
      </p:sp>
      <p:sp>
        <p:nvSpPr>
          <p:cNvPr id="36" name="Chevron 35"/>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7" name="Rounded Rectangle 36"/>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38" name="Rounded Rectangle 37"/>
          <p:cNvSpPr/>
          <p:nvPr/>
        </p:nvSpPr>
        <p:spPr>
          <a:xfrm>
            <a:off x="2075688" y="2916936"/>
            <a:ext cx="3697833"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after fallout → Dormant · next window or TATO</a:t>
            </a:r>
          </a:p>
        </p:txBody>
      </p:sp>
      <p:sp>
        <p:nvSpPr>
          <p:cNvPr id="39" name="Rounded Rectangle 38"/>
          <p:cNvSpPr/>
          <p:nvPr/>
        </p:nvSpPr>
        <p:spPr>
          <a:xfrm>
            <a:off x="5910681"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40" name="TextBox 39"/>
          <p:cNvSpPr txBox="1"/>
          <p:nvPr/>
        </p:nvSpPr>
        <p:spPr>
          <a:xfrm>
            <a:off x="7223760" y="2916936"/>
            <a:ext cx="4416552" cy="292608"/>
          </a:xfrm>
          <a:prstGeom prst="rect">
            <a:avLst/>
          </a:prstGeom>
          <a:noFill/>
        </p:spPr>
        <p:txBody>
          <a:bodyPr wrap="square" lIns="0" tIns="0" rIns="0" bIns="0" anchor="ctr">
            <a:spAutoFit/>
          </a:bodyPr>
          <a:lstStyle/>
          <a:p>
            <a:pPr algn="l"/>
            <a:r>
              <a:rPr sz="900" b="0" i="0">
                <a:solidFill>
                  <a:srgbClr val="818283"/>
                </a:solidFill>
                <a:latin typeface="Arial"/>
              </a:rPr>
              <a:t>P1 36 · P2 8 · P3 421 · X 15 · 14 variant A rows follow E5</a:t>
            </a:r>
          </a:p>
        </p:txBody>
      </p:sp>
      <p:sp>
        <p:nvSpPr>
          <p:cNvPr id="41" name="TextBox 40"/>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TATO lists 388 of these operators as members: a cluster session reaches many small offices at once, and TATO is the warm route when a lead goes dormant.</a:t>
            </a:r>
          </a:p>
        </p:txBody>
      </p:sp>
      <p:cxnSp>
        <p:nvCxnSpPr>
          <p:cNvPr id="42" name="Connector 41"/>
          <p:cNvCxnSpPr/>
          <p:nvPr/>
        </p:nvCxnSpPr>
        <p:spPr>
          <a:xfrm>
            <a:off x="548640" y="3730752"/>
            <a:ext cx="11091672" cy="0"/>
          </a:xfrm>
          <a:prstGeom prst="line">
            <a:avLst/>
          </a:prstGeom>
          <a:ln w="9525">
            <a:solidFill>
              <a:srgbClr val="ECECEC"/>
            </a:solidFill>
          </a:ln>
        </p:spPr>
      </p:cxnSp>
      <p:sp>
        <p:nvSpPr>
          <p:cNvPr id="43" name="TextBox 42"/>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E2</a:t>
            </a:r>
          </a:p>
        </p:txBody>
      </p:sp>
      <p:sp>
        <p:nvSpPr>
          <p:cNvPr id="44" name="TextBox 43"/>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Shift-based employers</a:t>
            </a:r>
          </a:p>
        </p:txBody>
      </p:sp>
      <p:sp>
        <p:nvSpPr>
          <p:cNvPr id="45" name="TextBox 44"/>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Hotels 194, hospitals 188, factories 19, retail 17, farms 14, aviation 5 · 437 (182)</a:t>
            </a:r>
          </a:p>
        </p:txBody>
      </p:sp>
      <p:sp>
        <p:nvSpPr>
          <p:cNvPr id="46" name="Rounded Rectangle 45"/>
          <p:cNvSpPr/>
          <p:nvPr/>
        </p:nvSpPr>
        <p:spPr>
          <a:xfrm>
            <a:off x="207568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message or call</a:t>
            </a:r>
          </a:p>
        </p:txBody>
      </p:sp>
      <p:sp>
        <p:nvSpPr>
          <p:cNvPr id="47" name="Chevron 46"/>
          <p:cNvSpPr/>
          <p:nvPr/>
        </p:nvSpPr>
        <p:spPr>
          <a:xfrm>
            <a:off x="3012548"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3172568" y="4041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49" name="Chevron 48"/>
          <p:cNvSpPr/>
          <p:nvPr/>
        </p:nvSpPr>
        <p:spPr>
          <a:xfrm>
            <a:off x="4109428"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426944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GM, HR or matron: shifts, language</a:t>
            </a:r>
          </a:p>
        </p:txBody>
      </p:sp>
      <p:sp>
        <p:nvSpPr>
          <p:cNvPr id="51" name="Chevron 50"/>
          <p:cNvSpPr/>
          <p:nvPr/>
        </p:nvSpPr>
        <p:spPr>
          <a:xfrm>
            <a:off x="5206308" y="4375403"/>
            <a:ext cx="100584" cy="201168"/>
          </a:xfrm>
          <a:prstGeom prst="chevron">
            <a:avLst>
              <a:gd name="adj" fmla="val 55000"/>
            </a:avLst>
          </a:prstGeom>
          <a:solidFill>
            <a:srgbClr val="80BFEC"/>
          </a:solidFill>
          <a:ln>
            <a:noFill/>
          </a:ln>
        </p:spPr>
        <p:txBody>
          <a:bodyPr rtlCol="0" anchor="ctr"/>
          <a:lstStyle/>
          <a:p>
            <a:pPr algn="ctr"/>
          </a:p>
        </p:txBody>
      </p:sp>
      <p:sp>
        <p:nvSpPr>
          <p:cNvPr id="52" name="Hexagon 51"/>
          <p:cNvSpPr/>
          <p:nvPr/>
        </p:nvSpPr>
        <p:spPr>
          <a:xfrm>
            <a:off x="5366328" y="4041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Staff at one site?</a:t>
            </a:r>
          </a:p>
        </p:txBody>
      </p:sp>
      <p:sp>
        <p:nvSpPr>
          <p:cNvPr id="53" name="Chevron 52"/>
          <p:cNvSpPr/>
          <p:nvPr/>
        </p:nvSpPr>
        <p:spPr>
          <a:xfrm>
            <a:off x="6654158"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6814178" y="3858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20 or more: </a:t>
            </a:r>
            <a:r>
              <a:rPr sz="900" b="0" i="0">
                <a:solidFill>
                  <a:srgbClr val="002368"/>
                </a:solidFill>
                <a:latin typeface="Arial"/>
              </a:rPr>
              <a:t>S5 handover sessions: two 15-min slots or canteen</a:t>
            </a:r>
          </a:p>
        </p:txBody>
      </p:sp>
      <p:sp>
        <p:nvSpPr>
          <p:cNvPr id="55" name="Rounded Rectangle 54"/>
          <p:cNvSpPr/>
          <p:nvPr/>
        </p:nvSpPr>
        <p:spPr>
          <a:xfrm>
            <a:off x="6814178" y="4291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Split shifts, secure site: </a:t>
            </a:r>
            <a:r>
              <a:rPr sz="900" b="0" i="0">
                <a:solidFill>
                  <a:srgbClr val="002368"/>
                </a:solidFill>
                <a:latin typeface="Arial"/>
              </a:rPr>
              <a:t>S5 recorded webinar</a:t>
            </a:r>
          </a:p>
        </p:txBody>
      </p:sp>
      <p:sp>
        <p:nvSpPr>
          <p:cNvPr id="56" name="Rounded Rectangle 55"/>
          <p:cNvSpPr/>
          <p:nvPr/>
        </p:nvSpPr>
        <p:spPr>
          <a:xfrm>
            <a:off x="6814178" y="4724399"/>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Under 10: </a:t>
            </a:r>
            <a:r>
              <a:rPr sz="900" b="0" i="0">
                <a:solidFill>
                  <a:srgbClr val="002368"/>
                </a:solidFill>
                <a:latin typeface="Arial"/>
              </a:rPr>
              <a:t>pamphlet and QR pack</a:t>
            </a:r>
          </a:p>
        </p:txBody>
      </p:sp>
      <p:sp>
        <p:nvSpPr>
          <p:cNvPr id="57" name="Chevron 56"/>
          <p:cNvSpPr/>
          <p:nvPr/>
        </p:nvSpPr>
        <p:spPr>
          <a:xfrm>
            <a:off x="8409107"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8569127" y="4041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confirmed or benefit signed</a:t>
            </a:r>
          </a:p>
        </p:txBody>
      </p:sp>
      <p:sp>
        <p:nvSpPr>
          <p:cNvPr id="59" name="Chevron 58"/>
          <p:cNvSpPr/>
          <p:nvPr/>
        </p:nvSpPr>
        <p:spPr>
          <a:xfrm>
            <a:off x="9505987"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966600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code EMP</a:t>
            </a:r>
          </a:p>
        </p:txBody>
      </p:sp>
      <p:sp>
        <p:nvSpPr>
          <p:cNvPr id="61" name="Chevron 60"/>
          <p:cNvSpPr/>
          <p:nvPr/>
        </p:nvSpPr>
        <p:spPr>
          <a:xfrm>
            <a:off x="10602867" y="4375403"/>
            <a:ext cx="100584" cy="201168"/>
          </a:xfrm>
          <a:prstGeom prst="chevron">
            <a:avLst>
              <a:gd name="adj" fmla="val 55000"/>
            </a:avLst>
          </a:prstGeom>
          <a:solidFill>
            <a:srgbClr val="80BFEC"/>
          </a:solidFill>
          <a:ln>
            <a:noFill/>
          </a:ln>
        </p:spPr>
        <p:txBody>
          <a:bodyPr rtlCol="0" anchor="ctr"/>
          <a:lstStyle/>
          <a:p>
            <a:pPr algn="ctr"/>
          </a:p>
        </p:txBody>
      </p:sp>
      <p:sp>
        <p:nvSpPr>
          <p:cNvPr id="62" name="Rounded Rectangle 61"/>
          <p:cNvSpPr/>
          <p:nvPr/>
        </p:nvSpPr>
        <p:spPr>
          <a:xfrm>
            <a:off x="1076288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63" name="Rounded Rectangle 62"/>
          <p:cNvSpPr/>
          <p:nvPr/>
        </p:nvSpPr>
        <p:spPr>
          <a:xfrm>
            <a:off x="2075688" y="5202936"/>
            <a:ext cx="396118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 next window or HAT, APHFTA, CTI, TAHA</a:t>
            </a:r>
          </a:p>
        </p:txBody>
      </p:sp>
      <p:sp>
        <p:nvSpPr>
          <p:cNvPr id="64" name="Rounded Rectangle 63"/>
          <p:cNvSpPr/>
          <p:nvPr/>
        </p:nvSpPr>
        <p:spPr>
          <a:xfrm>
            <a:off x="6174028" y="5202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65" name="TextBox 64"/>
          <p:cNvSpPr txBox="1"/>
          <p:nvPr/>
        </p:nvSpPr>
        <p:spPr>
          <a:xfrm>
            <a:off x="7487107" y="5202936"/>
            <a:ext cx="4153204" cy="292608"/>
          </a:xfrm>
          <a:prstGeom prst="rect">
            <a:avLst/>
          </a:prstGeom>
          <a:noFill/>
        </p:spPr>
        <p:txBody>
          <a:bodyPr wrap="square" lIns="0" tIns="0" rIns="0" bIns="0" anchor="ctr">
            <a:spAutoFit/>
          </a:bodyPr>
          <a:lstStyle/>
          <a:p>
            <a:pPr algn="l"/>
            <a:r>
              <a:rPr sz="900" b="0" i="0">
                <a:solidFill>
                  <a:srgbClr val="818283"/>
                </a:solidFill>
                <a:latin typeface="Arial"/>
              </a:rPr>
              <a:t>340 have no email: the front-desk call comes first</a:t>
            </a:r>
          </a:p>
        </p:txBody>
      </p:sp>
      <p:sp>
        <p:nvSpPr>
          <p:cNvPr id="66" name="TextBox 65"/>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Kiswahili first for factory, farm and retail staff. Clinics get the pack. Never promise transport. Secure sites need the employer's clearance.</a:t>
            </a:r>
          </a:p>
        </p:txBody>
      </p:sp>
      <p:pic>
        <p:nvPicPr>
          <p:cNvPr id="67" name="Picture 66" descr="image3.png"/>
          <p:cNvPicPr>
            <a:picLocks noChangeAspect="1"/>
          </p:cNvPicPr>
          <p:nvPr/>
        </p:nvPicPr>
        <p:blipFill>
          <a:blip r:embed="rId2"/>
          <a:stretch>
            <a:fillRect/>
          </a:stretch>
        </p:blipFill>
        <p:spPr>
          <a:xfrm>
            <a:off x="548640" y="6272784"/>
            <a:ext cx="1143000" cy="274320"/>
          </a:xfrm>
          <a:prstGeom prst="rect">
            <a:avLst/>
          </a:prstGeom>
        </p:spPr>
      </p:pic>
      <p:sp>
        <p:nvSpPr>
          <p:cNvPr id="68"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9"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7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E3 and E4</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E3</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Office-based employers with HR</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Banks 87, NGOs 62, colleges 23, international organisations 10 · 182 (126)</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to HR or redirect</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HR or MD: meeting checklist</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Session or agreement first?</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Session first (default): </a:t>
            </a:r>
            <a:r>
              <a:rPr sz="900" b="0" i="0">
                <a:solidFill>
                  <a:srgbClr val="002368"/>
                </a:solidFill>
                <a:latin typeface="Arial"/>
              </a:rPr>
              <a:t>S5 lunchtime session or webinar; S6 if they want terms</a:t>
            </a:r>
          </a:p>
        </p:txBody>
      </p:sp>
      <p:sp>
        <p:nvSpPr>
          <p:cNvPr id="30" name="Rounded Rectangle 29"/>
          <p:cNvSpPr/>
          <p:nvPr/>
        </p:nvSpPr>
        <p:spPr>
          <a:xfrm>
            <a:off x="6814178" y="2221991"/>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Agreement first: </a:t>
            </a:r>
            <a:r>
              <a:rPr sz="900" b="0" i="0">
                <a:solidFill>
                  <a:srgbClr val="002368"/>
                </a:solidFill>
                <a:latin typeface="Arial"/>
              </a:rPr>
              <a:t>S6 benefit proposal, Coord + Finance</a:t>
            </a:r>
          </a:p>
        </p:txBody>
      </p:sp>
      <p:sp>
        <p:nvSpPr>
          <p:cNvPr id="31" name="Chevron 30"/>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2" name="Rounded Rectangle 31"/>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or agreement signed by the CEO</a:t>
            </a:r>
          </a:p>
        </p:txBody>
      </p:sp>
      <p:sp>
        <p:nvSpPr>
          <p:cNvPr id="33" name="Chevron 32"/>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4" name="Rounded Rectangle 33"/>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launch session if agreement first</a:t>
            </a:r>
          </a:p>
        </p:txBody>
      </p:sp>
      <p:sp>
        <p:nvSpPr>
          <p:cNvPr id="35" name="Chevron 34"/>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6" name="Rounded Rectangle 35"/>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37" name="Rounded Rectangle 36"/>
          <p:cNvSpPr/>
          <p:nvPr/>
        </p:nvSpPr>
        <p:spPr>
          <a:xfrm>
            <a:off x="2075688" y="2916936"/>
            <a:ext cx="3368649"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at S2, S5, S6 → Dormant · TBA or chamber</a:t>
            </a:r>
          </a:p>
        </p:txBody>
      </p:sp>
      <p:sp>
        <p:nvSpPr>
          <p:cNvPr id="38" name="Rounded Rectangle 37"/>
          <p:cNvSpPr/>
          <p:nvPr/>
        </p:nvSpPr>
        <p:spPr>
          <a:xfrm>
            <a:off x="5581497" y="2916936"/>
            <a:ext cx="192023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at S3 or S6 → SX</a:t>
            </a:r>
          </a:p>
        </p:txBody>
      </p:sp>
      <p:sp>
        <p:nvSpPr>
          <p:cNvPr id="39" name="TextBox 38"/>
          <p:cNvSpPr txBox="1"/>
          <p:nvPr/>
        </p:nvSpPr>
        <p:spPr>
          <a:xfrm>
            <a:off x="7684617" y="2916936"/>
            <a:ext cx="3955694" cy="292608"/>
          </a:xfrm>
          <a:prstGeom prst="rect">
            <a:avLst/>
          </a:prstGeom>
          <a:noFill/>
        </p:spPr>
        <p:txBody>
          <a:bodyPr wrap="square" lIns="0" tIns="0" rIns="0" bIns="0" anchor="ctr">
            <a:spAutoFit/>
          </a:bodyPr>
          <a:lstStyle/>
          <a:p>
            <a:pPr algn="l"/>
            <a:r>
              <a:rPr sz="900" b="0" i="0">
                <a:solidFill>
                  <a:srgbClr val="818283"/>
                </a:solidFill>
                <a:latin typeface="Arial"/>
              </a:rPr>
              <a:t>Head-office approval for branch networks; incentive only at S6</a:t>
            </a:r>
          </a:p>
        </p:txBody>
      </p:sp>
      <p:sp>
        <p:nvSpPr>
          <p:cNvPr id="40" name="TextBox 39"/>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Banks circulate through the intranet or payslips. NGOs: local staff only, one deal per organisation. Colleges: staff welfare, never student admissions. International bodies: the staff association.</a:t>
            </a:r>
          </a:p>
        </p:txBody>
      </p:sp>
      <p:cxnSp>
        <p:nvCxnSpPr>
          <p:cNvPr id="41" name="Connector 40"/>
          <p:cNvCxnSpPr/>
          <p:nvPr/>
        </p:nvCxnSpPr>
        <p:spPr>
          <a:xfrm>
            <a:off x="548640" y="3730752"/>
            <a:ext cx="11091672" cy="0"/>
          </a:xfrm>
          <a:prstGeom prst="line">
            <a:avLst/>
          </a:prstGeom>
          <a:ln w="9525">
            <a:solidFill>
              <a:srgbClr val="ECECEC"/>
            </a:solidFill>
          </a:ln>
        </p:spPr>
      </p:cxnSp>
      <p:sp>
        <p:nvSpPr>
          <p:cNvPr id="42" name="TextBox 41"/>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E4</a:t>
            </a:r>
          </a:p>
        </p:txBody>
      </p:sp>
      <p:sp>
        <p:nvSpPr>
          <p:cNvPr id="43" name="TextBox 42"/>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Public bodies</a:t>
            </a:r>
          </a:p>
        </p:txBody>
      </p:sp>
      <p:sp>
        <p:nvSpPr>
          <p:cNvPr id="44" name="TextBox 43"/>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Agencies, authorities and parastatals, as employers only · 19 (12), all P3</a:t>
            </a:r>
          </a:p>
        </p:txBody>
      </p:sp>
      <p:sp>
        <p:nvSpPr>
          <p:cNvPr id="45" name="Hexagon 44"/>
          <p:cNvSpPr/>
          <p:nvPr/>
        </p:nvSpPr>
        <p:spPr>
          <a:xfrm>
            <a:off x="2075688" y="4041648"/>
            <a:ext cx="117694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Compliance check</a:t>
            </a:r>
          </a:p>
          <a:p>
            <a:pPr algn="ctr"/>
            <a:r>
              <a:rPr sz="850" b="0" i="0">
                <a:solidFill>
                  <a:srgbClr val="002368"/>
                </a:solidFill>
                <a:latin typeface="Arial"/>
              </a:rPr>
              <a:t>CEO or a named lead</a:t>
            </a:r>
          </a:p>
        </p:txBody>
      </p:sp>
      <p:sp>
        <p:nvSpPr>
          <p:cNvPr id="46" name="Chevron 45"/>
          <p:cNvSpPr/>
          <p:nvPr/>
        </p:nvSpPr>
        <p:spPr>
          <a:xfrm>
            <a:off x="3312066" y="4375403"/>
            <a:ext cx="100584" cy="201168"/>
          </a:xfrm>
          <a:prstGeom prst="chevron">
            <a:avLst>
              <a:gd name="adj" fmla="val 55000"/>
            </a:avLst>
          </a:prstGeom>
          <a:solidFill>
            <a:srgbClr val="80BFEC"/>
          </a:solidFill>
          <a:ln>
            <a:noFill/>
          </a:ln>
        </p:spPr>
        <p:txBody>
          <a:bodyPr rtlCol="0" anchor="ctr"/>
          <a:lstStyle/>
          <a:p>
            <a:pPr algn="ctr"/>
          </a:p>
        </p:txBody>
      </p:sp>
      <p:sp>
        <p:nvSpPr>
          <p:cNvPr id="47" name="Rounded Rectangle 46"/>
          <p:cNvSpPr/>
          <p:nvPr/>
        </p:nvSpPr>
        <p:spPr>
          <a:xfrm>
            <a:off x="3472086" y="4041648"/>
            <a:ext cx="840673" cy="868680"/>
          </a:xfrm>
          <a:prstGeom prst="roundRect">
            <a:avLst>
              <a:gd name="adj" fmla="val 7613"/>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to the HR head</a:t>
            </a:r>
          </a:p>
        </p:txBody>
      </p:sp>
      <p:sp>
        <p:nvSpPr>
          <p:cNvPr id="48" name="Chevron 47"/>
          <p:cNvSpPr/>
          <p:nvPr/>
        </p:nvSpPr>
        <p:spPr>
          <a:xfrm>
            <a:off x="4372196" y="4375403"/>
            <a:ext cx="100584" cy="201168"/>
          </a:xfrm>
          <a:prstGeom prst="chevron">
            <a:avLst>
              <a:gd name="adj" fmla="val 55000"/>
            </a:avLst>
          </a:prstGeom>
          <a:solidFill>
            <a:srgbClr val="80BFEC"/>
          </a:solidFill>
          <a:ln>
            <a:noFill/>
          </a:ln>
        </p:spPr>
        <p:txBody>
          <a:bodyPr rtlCol="0" anchor="ctr"/>
          <a:lstStyle/>
          <a:p>
            <a:pPr algn="ctr"/>
          </a:p>
        </p:txBody>
      </p:sp>
      <p:sp>
        <p:nvSpPr>
          <p:cNvPr id="49" name="Rounded Rectangle 48"/>
          <p:cNvSpPr/>
          <p:nvPr/>
        </p:nvSpPr>
        <p:spPr>
          <a:xfrm>
            <a:off x="4532216" y="4041648"/>
            <a:ext cx="840673" cy="868680"/>
          </a:xfrm>
          <a:prstGeom prst="roundRect">
            <a:avLst>
              <a:gd name="adj" fmla="val 7613"/>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50" name="Chevron 49"/>
          <p:cNvSpPr/>
          <p:nvPr/>
        </p:nvSpPr>
        <p:spPr>
          <a:xfrm>
            <a:off x="5432325" y="4375403"/>
            <a:ext cx="100584" cy="201168"/>
          </a:xfrm>
          <a:prstGeom prst="chevron">
            <a:avLst>
              <a:gd name="adj" fmla="val 55000"/>
            </a:avLst>
          </a:prstGeom>
          <a:solidFill>
            <a:srgbClr val="80BFEC"/>
          </a:solidFill>
          <a:ln>
            <a:noFill/>
          </a:ln>
        </p:spPr>
        <p:txBody>
          <a:bodyPr rtlCol="0" anchor="ctr"/>
          <a:lstStyle/>
          <a:p>
            <a:pPr algn="ctr"/>
          </a:p>
        </p:txBody>
      </p:sp>
      <p:sp>
        <p:nvSpPr>
          <p:cNvPr id="51" name="Rounded Rectangle 50"/>
          <p:cNvSpPr/>
          <p:nvPr/>
        </p:nvSpPr>
        <p:spPr>
          <a:xfrm>
            <a:off x="5592345" y="4041648"/>
            <a:ext cx="840673" cy="868680"/>
          </a:xfrm>
          <a:prstGeom prst="roundRect">
            <a:avLst>
              <a:gd name="adj" fmla="val 7613"/>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 with HR</a:t>
            </a:r>
          </a:p>
          <a:p>
            <a:pPr algn="ctr"/>
            <a:r>
              <a:rPr sz="850" b="0" i="0">
                <a:solidFill>
                  <a:srgbClr val="002368"/>
                </a:solidFill>
                <a:latin typeface="Arial"/>
              </a:rPr>
              <a:t>meeting checklist</a:t>
            </a:r>
          </a:p>
        </p:txBody>
      </p:sp>
      <p:sp>
        <p:nvSpPr>
          <p:cNvPr id="52" name="Chevron 51"/>
          <p:cNvSpPr/>
          <p:nvPr/>
        </p:nvSpPr>
        <p:spPr>
          <a:xfrm>
            <a:off x="6492455" y="4375403"/>
            <a:ext cx="100584" cy="201168"/>
          </a:xfrm>
          <a:prstGeom prst="chevron">
            <a:avLst>
              <a:gd name="adj" fmla="val 55000"/>
            </a:avLst>
          </a:prstGeom>
          <a:solidFill>
            <a:srgbClr val="80BFEC"/>
          </a:solidFill>
          <a:ln>
            <a:noFill/>
          </a:ln>
        </p:spPr>
        <p:txBody>
          <a:bodyPr rtlCol="0" anchor="ctr"/>
          <a:lstStyle/>
          <a:p>
            <a:pPr algn="ctr"/>
          </a:p>
        </p:txBody>
      </p:sp>
      <p:sp>
        <p:nvSpPr>
          <p:cNvPr id="53" name="Hexagon 52"/>
          <p:cNvSpPr/>
          <p:nvPr/>
        </p:nvSpPr>
        <p:spPr>
          <a:xfrm>
            <a:off x="6652475" y="4041648"/>
            <a:ext cx="117694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HR approval</a:t>
            </a:r>
          </a:p>
          <a:p>
            <a:pPr algn="ctr"/>
            <a:r>
              <a:rPr sz="850" b="0" i="0">
                <a:solidFill>
                  <a:srgbClr val="002368"/>
                </a:solidFill>
                <a:latin typeface="Arial"/>
              </a:rPr>
              <a:t>head of the body</a:t>
            </a:r>
          </a:p>
        </p:txBody>
      </p:sp>
      <p:sp>
        <p:nvSpPr>
          <p:cNvPr id="54" name="Chevron 53"/>
          <p:cNvSpPr/>
          <p:nvPr/>
        </p:nvSpPr>
        <p:spPr>
          <a:xfrm>
            <a:off x="7888854" y="4375403"/>
            <a:ext cx="100584" cy="201168"/>
          </a:xfrm>
          <a:prstGeom prst="chevron">
            <a:avLst>
              <a:gd name="adj" fmla="val 55000"/>
            </a:avLst>
          </a:prstGeom>
          <a:solidFill>
            <a:srgbClr val="80BFEC"/>
          </a:solidFill>
          <a:ln>
            <a:noFill/>
          </a:ln>
        </p:spPr>
        <p:txBody>
          <a:bodyPr rtlCol="0" anchor="ctr"/>
          <a:lstStyle/>
          <a:p>
            <a:pPr algn="ctr"/>
          </a:p>
        </p:txBody>
      </p:sp>
      <p:sp>
        <p:nvSpPr>
          <p:cNvPr id="55" name="Rounded Rectangle 54"/>
          <p:cNvSpPr/>
          <p:nvPr/>
        </p:nvSpPr>
        <p:spPr>
          <a:xfrm>
            <a:off x="8048874" y="3858768"/>
            <a:ext cx="1471178"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Circular first: </a:t>
            </a:r>
            <a:r>
              <a:rPr sz="900" b="0" i="0">
                <a:solidFill>
                  <a:srgbClr val="002368"/>
                </a:solidFill>
                <a:latin typeface="Arial"/>
              </a:rPr>
              <a:t>S5 staff session or webinar</a:t>
            </a:r>
          </a:p>
        </p:txBody>
      </p:sp>
      <p:sp>
        <p:nvSpPr>
          <p:cNvPr id="56" name="Rounded Rectangle 55"/>
          <p:cNvSpPr/>
          <p:nvPr/>
        </p:nvSpPr>
        <p:spPr>
          <a:xfrm>
            <a:off x="8048874" y="4507992"/>
            <a:ext cx="1471178"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MOU first: </a:t>
            </a:r>
            <a:r>
              <a:rPr sz="900" b="0" i="0">
                <a:solidFill>
                  <a:srgbClr val="002368"/>
                </a:solidFill>
                <a:latin typeface="Arial"/>
              </a:rPr>
              <a:t>S6 MOU draft, Coord + Finance</a:t>
            </a:r>
          </a:p>
        </p:txBody>
      </p:sp>
      <p:sp>
        <p:nvSpPr>
          <p:cNvPr id="57" name="Chevron 56"/>
          <p:cNvSpPr/>
          <p:nvPr/>
        </p:nvSpPr>
        <p:spPr>
          <a:xfrm>
            <a:off x="9579488"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9739508" y="4041648"/>
            <a:ext cx="840673" cy="868680"/>
          </a:xfrm>
          <a:prstGeom prst="roundRect">
            <a:avLst>
              <a:gd name="adj" fmla="val 7613"/>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HR circular or signed MOU</a:t>
            </a:r>
          </a:p>
        </p:txBody>
      </p:sp>
      <p:sp>
        <p:nvSpPr>
          <p:cNvPr id="59" name="Chevron 58"/>
          <p:cNvSpPr/>
          <p:nvPr/>
        </p:nvSpPr>
        <p:spPr>
          <a:xfrm>
            <a:off x="10639618"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10799638" y="4041648"/>
            <a:ext cx="840673" cy="868680"/>
          </a:xfrm>
          <a:prstGeom prst="roundRect">
            <a:avLst>
              <a:gd name="adj" fmla="val 7613"/>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Sign-ups</a:t>
            </a:r>
          </a:p>
          <a:p>
            <a:pPr algn="ctr"/>
            <a:r>
              <a:rPr sz="850" b="0" i="0">
                <a:solidFill>
                  <a:srgbClr val="002368"/>
                </a:solidFill>
                <a:latin typeface="Arial"/>
              </a:rPr>
              <a:t>parent funnel, code EMP</a:t>
            </a:r>
          </a:p>
        </p:txBody>
      </p:sp>
      <p:sp>
        <p:nvSpPr>
          <p:cNvPr id="61" name="Rounded Rectangle 60"/>
          <p:cNvSpPr/>
          <p:nvPr/>
        </p:nvSpPr>
        <p:spPr>
          <a:xfrm>
            <a:off x="2075688" y="5202936"/>
            <a:ext cx="350032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Check fails or HR refuses → SX compliance_blocked</a:t>
            </a:r>
          </a:p>
        </p:txBody>
      </p:sp>
      <p:sp>
        <p:nvSpPr>
          <p:cNvPr id="62" name="Rounded Rectangle 61"/>
          <p:cNvSpPr/>
          <p:nvPr/>
        </p:nvSpPr>
        <p:spPr>
          <a:xfrm>
            <a:off x="5713171" y="5202936"/>
            <a:ext cx="1327708"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a:t>
            </a:r>
          </a:p>
        </p:txBody>
      </p:sp>
      <p:sp>
        <p:nvSpPr>
          <p:cNvPr id="63" name="TextBox 62"/>
          <p:cNvSpPr txBox="1"/>
          <p:nvPr/>
        </p:nvSpPr>
        <p:spPr>
          <a:xfrm>
            <a:off x="7223759" y="5202936"/>
            <a:ext cx="4416552" cy="292608"/>
          </a:xfrm>
          <a:prstGeom prst="rect">
            <a:avLst/>
          </a:prstGeom>
          <a:noFill/>
        </p:spPr>
        <p:txBody>
          <a:bodyPr wrap="square" lIns="0" tIns="0" rIns="0" bIns="0" anchor="ctr">
            <a:spAutoFit/>
          </a:bodyPr>
          <a:lstStyle/>
          <a:p>
            <a:pPr algn="l"/>
            <a:r>
              <a:rPr sz="900" b="0" i="0">
                <a:solidFill>
                  <a:srgbClr val="818283"/>
                </a:solidFill>
                <a:latin typeface="Arial"/>
              </a:rPr>
              <a:t>High-indirect 5 · low 6 (await the check) · call sheet 8 · 60–90 days</a:t>
            </a:r>
          </a:p>
        </p:txBody>
      </p:sp>
      <p:sp>
        <p:nvSpPr>
          <p:cNvPr id="64" name="TextBox 63"/>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Fails the check: a body that taxes, regulates, inspects or licenses Silverleaf, or has official business pending. Never an incentive; never with a request for official action (OF04).</a:t>
            </a:r>
          </a:p>
        </p:txBody>
      </p:sp>
      <p:pic>
        <p:nvPicPr>
          <p:cNvPr id="65" name="Picture 64" descr="image3.png"/>
          <p:cNvPicPr>
            <a:picLocks noChangeAspect="1"/>
          </p:cNvPicPr>
          <p:nvPr/>
        </p:nvPicPr>
        <p:blipFill>
          <a:blip r:embed="rId2"/>
          <a:stretch>
            <a:fillRect/>
          </a:stretch>
        </p:blipFill>
        <p:spPr>
          <a:xfrm>
            <a:off x="548640" y="6272784"/>
            <a:ext cx="1143000" cy="274320"/>
          </a:xfrm>
          <a:prstGeom prst="rect">
            <a:avLst/>
          </a:prstGeom>
        </p:spPr>
      </p:pic>
      <p:sp>
        <p:nvSpPr>
          <p:cNvPr id="6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E5 and E6</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E5</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Sponsorship (variant A)</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Employers that publish education or community giving · 14, all safari operators</a:t>
            </a:r>
          </a:p>
        </p:txBody>
      </p:sp>
      <p:sp>
        <p:nvSpPr>
          <p:cNvPr id="21" name="Rounded Rectangle 20"/>
          <p:cNvSpPr/>
          <p:nvPr/>
        </p:nvSpPr>
        <p:spPr>
          <a:xfrm>
            <a:off x="207568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sponsorship request</a:t>
            </a:r>
          </a:p>
        </p:txBody>
      </p:sp>
      <p:sp>
        <p:nvSpPr>
          <p:cNvPr id="22" name="Chevron 21"/>
          <p:cNvSpPr/>
          <p:nvPr/>
        </p:nvSpPr>
        <p:spPr>
          <a:xfrm>
            <a:off x="313867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298698" y="1755648"/>
            <a:ext cx="100355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no offer until a reply</a:t>
            </a:r>
          </a:p>
        </p:txBody>
      </p:sp>
      <p:sp>
        <p:nvSpPr>
          <p:cNvPr id="24" name="Chevron 23"/>
          <p:cNvSpPr/>
          <p:nvPr/>
        </p:nvSpPr>
        <p:spPr>
          <a:xfrm>
            <a:off x="436168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52170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school and students</a:t>
            </a:r>
          </a:p>
        </p:txBody>
      </p:sp>
      <p:sp>
        <p:nvSpPr>
          <p:cNvPr id="26" name="Chevron 25"/>
          <p:cNvSpPr/>
          <p:nvPr/>
        </p:nvSpPr>
        <p:spPr>
          <a:xfrm>
            <a:off x="5584698" y="208940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74471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Sponsorship proposal</a:t>
            </a:r>
          </a:p>
          <a:p>
            <a:pPr algn="ctr"/>
            <a:r>
              <a:rPr sz="850" b="0" i="0">
                <a:solidFill>
                  <a:srgbClr val="002368"/>
                </a:solidFill>
                <a:latin typeface="Arial"/>
              </a:rPr>
              <a:t>Coord + Finance: amount, students, term</a:t>
            </a:r>
          </a:p>
        </p:txBody>
      </p:sp>
      <p:sp>
        <p:nvSpPr>
          <p:cNvPr id="28" name="Chevron 27"/>
          <p:cNvSpPr/>
          <p:nvPr/>
        </p:nvSpPr>
        <p:spPr>
          <a:xfrm>
            <a:off x="680770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967728" y="1755648"/>
            <a:ext cx="100355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sponsorship agreement, CEO signs</a:t>
            </a:r>
          </a:p>
        </p:txBody>
      </p:sp>
      <p:sp>
        <p:nvSpPr>
          <p:cNvPr id="30" name="Chevron 29"/>
          <p:cNvSpPr/>
          <p:nvPr/>
        </p:nvSpPr>
        <p:spPr>
          <a:xfrm>
            <a:off x="8030718" y="208940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190738" y="1755648"/>
            <a:ext cx="100355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Students chosen</a:t>
            </a:r>
          </a:p>
          <a:p>
            <a:pPr algn="ctr"/>
            <a:r>
              <a:rPr sz="850" b="0" i="0">
                <a:solidFill>
                  <a:srgbClr val="002368"/>
                </a:solidFill>
                <a:latin typeface="Arial"/>
              </a:rPr>
              <a:t>by admissions, not the sponsor</a:t>
            </a:r>
          </a:p>
        </p:txBody>
      </p:sp>
      <p:sp>
        <p:nvSpPr>
          <p:cNvPr id="32" name="Chevron 31"/>
          <p:cNvSpPr/>
          <p:nvPr/>
        </p:nvSpPr>
        <p:spPr>
          <a:xfrm>
            <a:off x="9253728"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413748" y="1755648"/>
            <a:ext cx="100355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Enrolment</a:t>
            </a:r>
          </a:p>
          <a:p>
            <a:pPr algn="ctr"/>
            <a:r>
              <a:rPr sz="850" b="0" i="0">
                <a:solidFill>
                  <a:srgbClr val="002368"/>
                </a:solidFill>
                <a:latin typeface="Arial"/>
              </a:rPr>
              <a:t>sponsored students</a:t>
            </a:r>
          </a:p>
        </p:txBody>
      </p:sp>
      <p:sp>
        <p:nvSpPr>
          <p:cNvPr id="34" name="Chevron 33"/>
          <p:cNvSpPr/>
          <p:nvPr/>
        </p:nvSpPr>
        <p:spPr>
          <a:xfrm>
            <a:off x="10476738"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3675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Reporting, renewal</a:t>
            </a:r>
          </a:p>
          <a:p>
            <a:pPr algn="ctr"/>
            <a:r>
              <a:rPr sz="850" b="0" i="0">
                <a:solidFill>
                  <a:srgbClr val="002368"/>
                </a:solidFill>
                <a:latin typeface="Arial"/>
              </a:rPr>
              <a:t>totals unless the family consents</a:t>
            </a:r>
          </a:p>
        </p:txBody>
      </p:sp>
      <p:sp>
        <p:nvSpPr>
          <p:cNvPr id="36" name="Rounded Rectangle 35"/>
          <p:cNvSpPr/>
          <p:nvPr/>
        </p:nvSpPr>
        <p:spPr>
          <a:xfrm>
            <a:off x="2075688" y="2916936"/>
            <a:ext cx="211775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at S2 or S6 → Dormant</a:t>
            </a:r>
          </a:p>
        </p:txBody>
      </p:sp>
      <p:sp>
        <p:nvSpPr>
          <p:cNvPr id="37" name="Rounded Rectangle 36"/>
          <p:cNvSpPr/>
          <p:nvPr/>
        </p:nvSpPr>
        <p:spPr>
          <a:xfrm>
            <a:off x="4330598"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38" name="Rounded Rectangle 37"/>
          <p:cNvSpPr/>
          <p:nvPr/>
        </p:nvSpPr>
        <p:spPr>
          <a:xfrm>
            <a:off x="5597956" y="2916936"/>
            <a:ext cx="3368649" cy="274320"/>
          </a:xfrm>
          <a:prstGeom prst="roundRect">
            <a:avLst>
              <a:gd name="adj" fmla="val 23333"/>
            </a:avLst>
          </a:prstGeom>
          <a:solidFill>
            <a:srgbClr val="D9ECF9"/>
          </a:solidFill>
          <a:ln w="12700">
            <a:solidFill>
              <a:srgbClr val="D9ECF9"/>
            </a:solidFill>
          </a:ln>
        </p:spPr>
        <p:txBody>
          <a:bodyPr rtlCol="0" anchor="ctr" wrap="square" lIns="45720" rIns="45720" tIns="27432" bIns="27432"/>
          <a:lstStyle/>
          <a:p>
            <a:pPr algn="ctr"/>
            <a:r>
              <a:rPr sz="900" b="1" i="0">
                <a:solidFill>
                  <a:srgbClr val="002368"/>
                </a:solidFill>
                <a:latin typeface="Arial"/>
              </a:rPr>
              <a:t>One month later, optional: staff benefit via E1</a:t>
            </a:r>
          </a:p>
        </p:txBody>
      </p:sp>
      <p:sp>
        <p:nvSpPr>
          <p:cNvPr id="39" name="TextBox 38"/>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No staff session and no opt-in step. Follow-ups wait for approved sponsorship copy. The staff benefit is never bundled into the ask.</a:t>
            </a:r>
          </a:p>
        </p:txBody>
      </p:sp>
      <p:cxnSp>
        <p:nvCxnSpPr>
          <p:cNvPr id="40" name="Connector 39"/>
          <p:cNvCxnSpPr/>
          <p:nvPr/>
        </p:nvCxnSpPr>
        <p:spPr>
          <a:xfrm>
            <a:off x="548640" y="3730752"/>
            <a:ext cx="11091672" cy="0"/>
          </a:xfrm>
          <a:prstGeom prst="line">
            <a:avLst/>
          </a:prstGeom>
          <a:ln w="9525">
            <a:solidFill>
              <a:srgbClr val="ECECEC"/>
            </a:solidFill>
          </a:ln>
        </p:spPr>
      </p:cxnSp>
      <p:sp>
        <p:nvSpPr>
          <p:cNvPr id="41" name="TextBox 40"/>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E6</a:t>
            </a:r>
          </a:p>
        </p:txBody>
      </p:sp>
      <p:sp>
        <p:nvSpPr>
          <p:cNvPr id="42" name="TextBox 41"/>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Savings groups (SACCOS)</a:t>
            </a:r>
          </a:p>
        </p:txBody>
      </p:sp>
      <p:sp>
        <p:nvSpPr>
          <p:cNvPr id="43" name="TextBox 42"/>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Employer-based 48, community 67, unclassified 2 · 117 (1 ready)</a:t>
            </a:r>
          </a:p>
        </p:txBody>
      </p:sp>
      <p:sp>
        <p:nvSpPr>
          <p:cNvPr id="44" name="Hexagon 43"/>
          <p:cNvSpPr/>
          <p:nvPr/>
        </p:nvSpPr>
        <p:spPr>
          <a:xfrm>
            <a:off x="2075688" y="4041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Employer in a funnel?</a:t>
            </a:r>
          </a:p>
          <a:p>
            <a:pPr algn="ctr"/>
            <a:r>
              <a:rPr sz="850" b="0" i="0">
                <a:solidFill>
                  <a:srgbClr val="002368"/>
                </a:solidFill>
                <a:latin typeface="Arial"/>
              </a:rPr>
              <a:t>yes: join that deal</a:t>
            </a:r>
          </a:p>
        </p:txBody>
      </p:sp>
      <p:sp>
        <p:nvSpPr>
          <p:cNvPr id="45" name="Chevron 44"/>
          <p:cNvSpPr/>
          <p:nvPr/>
        </p:nvSpPr>
        <p:spPr>
          <a:xfrm>
            <a:off x="3363517" y="4375403"/>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3523537"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Kiswahili letter or call</a:t>
            </a:r>
          </a:p>
        </p:txBody>
      </p:sp>
      <p:sp>
        <p:nvSpPr>
          <p:cNvPr id="47" name="Chevron 46"/>
          <p:cNvSpPr/>
          <p:nvPr/>
        </p:nvSpPr>
        <p:spPr>
          <a:xfrm>
            <a:off x="4460398"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4620418" y="4041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member offer sheet</a:t>
            </a:r>
          </a:p>
        </p:txBody>
      </p:sp>
      <p:sp>
        <p:nvSpPr>
          <p:cNvPr id="49" name="Chevron 48"/>
          <p:cNvSpPr/>
          <p:nvPr/>
        </p:nvSpPr>
        <p:spPr>
          <a:xfrm>
            <a:off x="5557278"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571729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Committee meeting</a:t>
            </a:r>
          </a:p>
          <a:p>
            <a:pPr algn="ctr"/>
            <a:r>
              <a:rPr sz="850" b="0" i="0">
                <a:solidFill>
                  <a:srgbClr val="002368"/>
                </a:solidFill>
                <a:latin typeface="Arial"/>
              </a:rPr>
              <a:t>Coord + Adm: short talk</a:t>
            </a:r>
          </a:p>
        </p:txBody>
      </p:sp>
      <p:sp>
        <p:nvSpPr>
          <p:cNvPr id="51" name="Chevron 50"/>
          <p:cNvSpPr/>
          <p:nvPr/>
        </p:nvSpPr>
        <p:spPr>
          <a:xfrm>
            <a:off x="6654158"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6814178" y="3858768"/>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S5 Members' meeting or AGM slot: </a:t>
            </a:r>
            <a:r>
              <a:rPr sz="900" b="0" i="0">
                <a:solidFill>
                  <a:srgbClr val="002368"/>
                </a:solidFill>
                <a:latin typeface="Arial"/>
              </a:rPr>
              <a:t>Kiswahili pamphlet, form</a:t>
            </a:r>
          </a:p>
        </p:txBody>
      </p:sp>
      <p:sp>
        <p:nvSpPr>
          <p:cNvPr id="53" name="Rounded Rectangle 52"/>
          <p:cNvSpPr/>
          <p:nvPr/>
        </p:nvSpPr>
        <p:spPr>
          <a:xfrm>
            <a:off x="6814178" y="4507992"/>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Asks for a rate: </a:t>
            </a:r>
            <a:r>
              <a:rPr sz="900" b="0" i="0">
                <a:solidFill>
                  <a:srgbClr val="002368"/>
                </a:solidFill>
                <a:latin typeface="Arial"/>
              </a:rPr>
              <a:t>S6 group-rate proposal</a:t>
            </a:r>
          </a:p>
        </p:txBody>
      </p:sp>
      <p:sp>
        <p:nvSpPr>
          <p:cNvPr id="54" name="Chevron 53"/>
          <p:cNvSpPr/>
          <p:nvPr/>
        </p:nvSpPr>
        <p:spPr>
          <a:xfrm>
            <a:off x="8409107" y="4375403"/>
            <a:ext cx="100584" cy="201168"/>
          </a:xfrm>
          <a:prstGeom prst="chevron">
            <a:avLst>
              <a:gd name="adj" fmla="val 55000"/>
            </a:avLst>
          </a:prstGeom>
          <a:solidFill>
            <a:srgbClr val="80BFEC"/>
          </a:solidFill>
          <a:ln>
            <a:noFill/>
          </a:ln>
        </p:spPr>
        <p:txBody>
          <a:bodyPr rtlCol="0" anchor="ctr"/>
          <a:lstStyle/>
          <a:p>
            <a:pPr algn="ctr"/>
          </a:p>
        </p:txBody>
      </p:sp>
      <p:sp>
        <p:nvSpPr>
          <p:cNvPr id="55" name="Rounded Rectangle 54"/>
          <p:cNvSpPr/>
          <p:nvPr/>
        </p:nvSpPr>
        <p:spPr>
          <a:xfrm>
            <a:off x="8569127" y="4041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committee circulates, or slot held</a:t>
            </a:r>
          </a:p>
        </p:txBody>
      </p:sp>
      <p:sp>
        <p:nvSpPr>
          <p:cNvPr id="56" name="Chevron 55"/>
          <p:cNvSpPr/>
          <p:nvPr/>
        </p:nvSpPr>
        <p:spPr>
          <a:xfrm>
            <a:off x="9505987" y="4375403"/>
            <a:ext cx="100584" cy="201168"/>
          </a:xfrm>
          <a:prstGeom prst="chevron">
            <a:avLst>
              <a:gd name="adj" fmla="val 55000"/>
            </a:avLst>
          </a:prstGeom>
          <a:solidFill>
            <a:srgbClr val="80BFEC"/>
          </a:solidFill>
          <a:ln>
            <a:noFill/>
          </a:ln>
        </p:spPr>
        <p:txBody>
          <a:bodyPr rtlCol="0" anchor="ctr"/>
          <a:lstStyle/>
          <a:p>
            <a:pPr algn="ctr"/>
          </a:p>
        </p:txBody>
      </p:sp>
      <p:sp>
        <p:nvSpPr>
          <p:cNvPr id="57" name="Rounded Rectangle 56"/>
          <p:cNvSpPr/>
          <p:nvPr/>
        </p:nvSpPr>
        <p:spPr>
          <a:xfrm>
            <a:off x="966600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Member sign-ups</a:t>
            </a:r>
          </a:p>
          <a:p>
            <a:pPr algn="ctr"/>
            <a:r>
              <a:rPr sz="850" b="0" i="0">
                <a:solidFill>
                  <a:srgbClr val="002368"/>
                </a:solidFill>
                <a:latin typeface="Arial"/>
              </a:rPr>
              <a:t>code SAC</a:t>
            </a:r>
          </a:p>
        </p:txBody>
      </p:sp>
      <p:sp>
        <p:nvSpPr>
          <p:cNvPr id="58" name="Chevron 57"/>
          <p:cNvSpPr/>
          <p:nvPr/>
        </p:nvSpPr>
        <p:spPr>
          <a:xfrm>
            <a:off x="10602867" y="4375403"/>
            <a:ext cx="100584" cy="201168"/>
          </a:xfrm>
          <a:prstGeom prst="chevron">
            <a:avLst>
              <a:gd name="adj" fmla="val 55000"/>
            </a:avLst>
          </a:prstGeom>
          <a:solidFill>
            <a:srgbClr val="80BFEC"/>
          </a:solidFill>
          <a:ln>
            <a:noFill/>
          </a:ln>
        </p:spPr>
        <p:txBody>
          <a:bodyPr rtlCol="0" anchor="ctr"/>
          <a:lstStyle/>
          <a:p>
            <a:pPr algn="ctr"/>
          </a:p>
        </p:txBody>
      </p:sp>
      <p:sp>
        <p:nvSpPr>
          <p:cNvPr id="59" name="Rounded Rectangle 58"/>
          <p:cNvSpPr/>
          <p:nvPr/>
        </p:nvSpPr>
        <p:spPr>
          <a:xfrm>
            <a:off x="1076288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60" name="Rounded Rectangle 59"/>
          <p:cNvSpPr/>
          <p:nvPr/>
        </p:nvSpPr>
        <p:spPr>
          <a:xfrm>
            <a:off x="2075688" y="5202936"/>
            <a:ext cx="3434486"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until the next members' meeting</a:t>
            </a:r>
          </a:p>
        </p:txBody>
      </p:sp>
      <p:sp>
        <p:nvSpPr>
          <p:cNvPr id="61" name="Rounded Rectangle 60"/>
          <p:cNvSpPr/>
          <p:nvPr/>
        </p:nvSpPr>
        <p:spPr>
          <a:xfrm>
            <a:off x="5647334" y="5202936"/>
            <a:ext cx="172272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Rate not approved → SX</a:t>
            </a:r>
          </a:p>
        </p:txBody>
      </p:sp>
      <p:sp>
        <p:nvSpPr>
          <p:cNvPr id="62" name="TextBox 61"/>
          <p:cNvSpPr txBox="1"/>
          <p:nvPr/>
        </p:nvSpPr>
        <p:spPr>
          <a:xfrm>
            <a:off x="7552944" y="5202936"/>
            <a:ext cx="4087368" cy="292608"/>
          </a:xfrm>
          <a:prstGeom prst="rect">
            <a:avLst/>
          </a:prstGeom>
          <a:noFill/>
        </p:spPr>
        <p:txBody>
          <a:bodyPr wrap="square" lIns="0" tIns="0" rIns="0" bIns="0" anchor="ctr">
            <a:spAutoFit/>
          </a:bodyPr>
          <a:lstStyle/>
          <a:p>
            <a:pPr algn="l"/>
            <a:r>
              <a:rPr sz="900" b="0" i="0">
                <a:solidFill>
                  <a:srgbClr val="818283"/>
                </a:solidFill>
                <a:latin typeface="Arial"/>
              </a:rPr>
              <a:t>116 no email: call the chair or secretary first</a:t>
            </a:r>
          </a:p>
        </p:txBody>
      </p:sp>
      <p:sp>
        <p:nvSpPr>
          <p:cNvPr id="63" name="TextBox 62"/>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Sign-ups count toward the 50 / 100 / 150 group-rate thresholds as totals. No loan, payroll or subsidy claim.</a:t>
            </a:r>
          </a:p>
        </p:txBody>
      </p:sp>
      <p:pic>
        <p:nvPicPr>
          <p:cNvPr id="64" name="Picture 63" descr="image3.png"/>
          <p:cNvPicPr>
            <a:picLocks noChangeAspect="1"/>
          </p:cNvPicPr>
          <p:nvPr/>
        </p:nvPicPr>
        <p:blipFill>
          <a:blip r:embed="rId2"/>
          <a:stretch>
            <a:fillRect/>
          </a:stretch>
        </p:blipFill>
        <p:spPr>
          <a:xfrm>
            <a:off x="548640" y="6272784"/>
            <a:ext cx="1143000" cy="274320"/>
          </a:xfrm>
          <a:prstGeom prst="rect">
            <a:avLst/>
          </a:prstGeom>
        </p:spPr>
      </p:pic>
      <p:sp>
        <p:nvSpPr>
          <p:cNvPr id="65"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6"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Funnels I1 and W1</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I1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Introducers and welfare networks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16 introducers (16 ready) · 7 welfare networks (5 ready)</a:t>
            </a:r>
          </a:p>
        </p:txBody>
      </p:sp>
      <p:sp>
        <p:nvSpPr>
          <p:cNvPr id="21" name="Rounded Rectangle 20"/>
          <p:cNvSpPr/>
          <p:nvPr/>
        </p:nvSpPr>
        <p:spPr>
          <a:xfrm>
            <a:off x="2075688" y="1755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executive secretary</a:t>
            </a:r>
          </a:p>
        </p:txBody>
      </p:sp>
      <p:sp>
        <p:nvSpPr>
          <p:cNvPr id="22" name="Chevron 21"/>
          <p:cNvSpPr/>
          <p:nvPr/>
        </p:nvSpPr>
        <p:spPr>
          <a:xfrm>
            <a:off x="3090889"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250909" y="1755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member note</a:t>
            </a:r>
          </a:p>
        </p:txBody>
      </p:sp>
      <p:sp>
        <p:nvSpPr>
          <p:cNvPr id="24" name="Chevron 23"/>
          <p:cNvSpPr/>
          <p:nvPr/>
        </p:nvSpPr>
        <p:spPr>
          <a:xfrm>
            <a:off x="4266111"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426131" y="1755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secretariat: channel, timing</a:t>
            </a:r>
          </a:p>
        </p:txBody>
      </p:sp>
      <p:sp>
        <p:nvSpPr>
          <p:cNvPr id="26" name="Chevron 25"/>
          <p:cNvSpPr/>
          <p:nvPr/>
        </p:nvSpPr>
        <p:spPr>
          <a:xfrm>
            <a:off x="5441333" y="208940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601353" y="1755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S5 Circulation agreed</a:t>
            </a:r>
          </a:p>
          <a:p>
            <a:pPr algn="ctr"/>
            <a:r>
              <a:rPr sz="850" b="0" i="0">
                <a:solidFill>
                  <a:srgbClr val="002368"/>
                </a:solidFill>
                <a:latin typeface="Arial"/>
              </a:rPr>
              <a:t>newsletter, members' slot, HR forum</a:t>
            </a:r>
          </a:p>
        </p:txBody>
      </p:sp>
      <p:sp>
        <p:nvSpPr>
          <p:cNvPr id="28" name="Chevron 27"/>
          <p:cNvSpPr/>
          <p:nvPr/>
        </p:nvSpPr>
        <p:spPr>
          <a:xfrm>
            <a:off x="6616554" y="2089404"/>
            <a:ext cx="100584" cy="201168"/>
          </a:xfrm>
          <a:prstGeom prst="chevron">
            <a:avLst>
              <a:gd name="adj" fmla="val 55000"/>
            </a:avLst>
          </a:prstGeom>
          <a:solidFill>
            <a:srgbClr val="80BFEC"/>
          </a:solidFill>
          <a:ln>
            <a:noFill/>
          </a:ln>
        </p:spPr>
        <p:txBody>
          <a:bodyPr rtlCol="0" anchor="ctr"/>
          <a:lstStyle/>
          <a:p>
            <a:pPr algn="ctr"/>
          </a:p>
        </p:txBody>
      </p:sp>
      <p:sp>
        <p:nvSpPr>
          <p:cNvPr id="29" name="Hexagon 28"/>
          <p:cNvSpPr/>
          <p:nvPr/>
        </p:nvSpPr>
        <p:spPr>
          <a:xfrm>
            <a:off x="6776574" y="1755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Many small members?</a:t>
            </a:r>
          </a:p>
          <a:p>
            <a:pPr algn="ctr"/>
            <a:r>
              <a:rPr sz="850" b="0" i="0">
                <a:solidFill>
                  <a:srgbClr val="002368"/>
                </a:solidFill>
                <a:latin typeface="Arial"/>
              </a:rPr>
              <a:t>yes: cluster session</a:t>
            </a:r>
          </a:p>
        </p:txBody>
      </p:sp>
      <p:sp>
        <p:nvSpPr>
          <p:cNvPr id="30" name="Chevron 29"/>
          <p:cNvSpPr/>
          <p:nvPr/>
        </p:nvSpPr>
        <p:spPr>
          <a:xfrm>
            <a:off x="8174082" y="208940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334102" y="1755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first circulation done</a:t>
            </a:r>
          </a:p>
        </p:txBody>
      </p:sp>
      <p:sp>
        <p:nvSpPr>
          <p:cNvPr id="32" name="Chevron 31"/>
          <p:cNvSpPr/>
          <p:nvPr/>
        </p:nvSpPr>
        <p:spPr>
          <a:xfrm>
            <a:off x="9349304"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509324" y="1755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Referrals</a:t>
            </a:r>
          </a:p>
          <a:p>
            <a:pPr algn="ctr"/>
            <a:r>
              <a:rPr sz="850" b="0" i="0">
                <a:solidFill>
                  <a:srgbClr val="002368"/>
                </a:solidFill>
                <a:latin typeface="Arial"/>
              </a:rPr>
              <a:t>code INT</a:t>
            </a:r>
          </a:p>
        </p:txBody>
      </p:sp>
      <p:sp>
        <p:nvSpPr>
          <p:cNvPr id="34" name="Chevron 33"/>
          <p:cNvSpPr/>
          <p:nvPr/>
        </p:nvSpPr>
        <p:spPr>
          <a:xfrm>
            <a:off x="10524526"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84546" y="1755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Employer enters E1–E4 at S3</a:t>
            </a:r>
          </a:p>
          <a:p>
            <a:pPr algn="ctr"/>
            <a:r>
              <a:rPr sz="850" b="0" i="0">
                <a:solidFill>
                  <a:srgbClr val="002368"/>
                </a:solidFill>
                <a:latin typeface="Arial"/>
              </a:rPr>
              <a:t>or a home enters W1–W2</a:t>
            </a:r>
          </a:p>
        </p:txBody>
      </p:sp>
      <p:sp>
        <p:nvSpPr>
          <p:cNvPr id="36" name="Rounded Rectangle 35"/>
          <p:cNvSpPr/>
          <p:nvPr/>
        </p:nvSpPr>
        <p:spPr>
          <a:xfrm>
            <a:off x="2075688" y="2916936"/>
            <a:ext cx="396118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or no referrals after two circulations → Dormant</a:t>
            </a:r>
          </a:p>
        </p:txBody>
      </p:sp>
      <p:sp>
        <p:nvSpPr>
          <p:cNvPr id="37" name="Rounded Rectangle 36"/>
          <p:cNvSpPr/>
          <p:nvPr/>
        </p:nvSpPr>
        <p:spPr>
          <a:xfrm>
            <a:off x="6174028"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38" name="TextBox 37"/>
          <p:cNvSpPr txBox="1"/>
          <p:nvPr/>
        </p:nvSpPr>
        <p:spPr>
          <a:xfrm>
            <a:off x="7487107" y="2916936"/>
            <a:ext cx="4153204" cy="292608"/>
          </a:xfrm>
          <a:prstGeom prst="rect">
            <a:avLst/>
          </a:prstGeom>
          <a:noFill/>
        </p:spPr>
        <p:txBody>
          <a:bodyPr wrap="square" lIns="0" tIns="0" rIns="0" bIns="0" anchor="ctr">
            <a:spAutoFit/>
          </a:bodyPr>
          <a:lstStyle/>
          <a:p>
            <a:pPr algn="l"/>
            <a:r>
              <a:rPr sz="900" b="0" i="0">
                <a:solidFill>
                  <a:srgbClr val="818283"/>
                </a:solidFill>
                <a:latin typeface="Arial"/>
              </a:rPr>
              <a:t>hd 4 · hi 8 · med 3 · 1 shared inbox</a:t>
            </a:r>
          </a:p>
        </p:txBody>
      </p:sp>
      <p:sp>
        <p:nvSpPr>
          <p:cNvPr id="39" name="TextBox 38"/>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Results are employer or home leads, not parents. Check referrals 2 and 6 weeks after each circulation. No referral rewards (OF05 expired): a thank-you letter and termly totals.</a:t>
            </a:r>
          </a:p>
        </p:txBody>
      </p:sp>
      <p:cxnSp>
        <p:nvCxnSpPr>
          <p:cNvPr id="40" name="Connector 39"/>
          <p:cNvCxnSpPr/>
          <p:nvPr/>
        </p:nvCxnSpPr>
        <p:spPr>
          <a:xfrm>
            <a:off x="548640" y="3730752"/>
            <a:ext cx="11091672" cy="0"/>
          </a:xfrm>
          <a:prstGeom prst="line">
            <a:avLst/>
          </a:prstGeom>
          <a:ln w="9525">
            <a:solidFill>
              <a:srgbClr val="ECECEC"/>
            </a:solidFill>
          </a:ln>
        </p:spPr>
      </p:cxnSp>
      <p:sp>
        <p:nvSpPr>
          <p:cNvPr id="41" name="TextBox 40"/>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W1</a:t>
            </a:r>
          </a:p>
        </p:txBody>
      </p:sp>
      <p:sp>
        <p:nvSpPr>
          <p:cNvPr id="42" name="TextBox 41"/>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Children's homes and specialised centres</a:t>
            </a:r>
          </a:p>
        </p:txBody>
      </p:sp>
      <p:sp>
        <p:nvSpPr>
          <p:cNvPr id="43" name="TextBox 42"/>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Residential care 100 (17) · specialised centres 70 (5)</a:t>
            </a:r>
          </a:p>
        </p:txBody>
      </p:sp>
      <p:sp>
        <p:nvSpPr>
          <p:cNvPr id="44" name="Rounded Rectangle 43"/>
          <p:cNvSpPr/>
          <p:nvPr/>
        </p:nvSpPr>
        <p:spPr>
          <a:xfrm>
            <a:off x="2075688"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head of the home</a:t>
            </a:r>
          </a:p>
        </p:txBody>
      </p:sp>
      <p:sp>
        <p:nvSpPr>
          <p:cNvPr id="45" name="Chevron 44"/>
          <p:cNvSpPr/>
          <p:nvPr/>
        </p:nvSpPr>
        <p:spPr>
          <a:xfrm>
            <a:off x="3090889" y="4375403"/>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3250909" y="4041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47" name="Chevron 46"/>
          <p:cNvSpPr/>
          <p:nvPr/>
        </p:nvSpPr>
        <p:spPr>
          <a:xfrm>
            <a:off x="4266111"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442613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Placement talk</a:t>
            </a:r>
          </a:p>
          <a:p>
            <a:pPr algn="ctr"/>
            <a:r>
              <a:rPr sz="850" b="0" i="0">
                <a:solidFill>
                  <a:srgbClr val="002368"/>
                </a:solidFill>
                <a:latin typeface="Arial"/>
              </a:rPr>
              <a:t>age bands, totals</a:t>
            </a:r>
          </a:p>
        </p:txBody>
      </p:sp>
      <p:sp>
        <p:nvSpPr>
          <p:cNvPr id="49" name="Chevron 48"/>
          <p:cNvSpPr/>
          <p:nvPr/>
        </p:nvSpPr>
        <p:spPr>
          <a:xfrm>
            <a:off x="5441333" y="4375403"/>
            <a:ext cx="100584" cy="201168"/>
          </a:xfrm>
          <a:prstGeom prst="chevron">
            <a:avLst>
              <a:gd name="adj" fmla="val 55000"/>
            </a:avLst>
          </a:prstGeom>
          <a:solidFill>
            <a:srgbClr val="80BFEC"/>
          </a:solidFill>
          <a:ln>
            <a:noFill/>
          </a:ln>
        </p:spPr>
        <p:txBody>
          <a:bodyPr rtlCol="0" anchor="ctr"/>
          <a:lstStyle/>
          <a:p>
            <a:pPr algn="ctr"/>
          </a:p>
        </p:txBody>
      </p:sp>
      <p:sp>
        <p:nvSpPr>
          <p:cNvPr id="50" name="Hexagon 49"/>
          <p:cNvSpPr/>
          <p:nvPr/>
        </p:nvSpPr>
        <p:spPr>
          <a:xfrm>
            <a:off x="5601353" y="4041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Needs-fit check</a:t>
            </a:r>
          </a:p>
          <a:p>
            <a:pPr algn="ctr"/>
            <a:r>
              <a:rPr sz="850" b="0" i="0">
                <a:solidFill>
                  <a:srgbClr val="002368"/>
                </a:solidFill>
                <a:latin typeface="Arial"/>
              </a:rPr>
              <a:t>specialised centres only</a:t>
            </a:r>
          </a:p>
        </p:txBody>
      </p:sp>
      <p:sp>
        <p:nvSpPr>
          <p:cNvPr id="51" name="Chevron 50"/>
          <p:cNvSpPr/>
          <p:nvPr/>
        </p:nvSpPr>
        <p:spPr>
          <a:xfrm>
            <a:off x="6998861"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715888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S5 Safeguarding visit</a:t>
            </a:r>
          </a:p>
          <a:p>
            <a:pPr algn="ctr"/>
            <a:r>
              <a:rPr sz="850" b="0" i="0">
                <a:solidFill>
                  <a:srgbClr val="002368"/>
                </a:solidFill>
                <a:latin typeface="Arial"/>
              </a:rPr>
              <a:t>two staff, DSL informed</a:t>
            </a:r>
          </a:p>
        </p:txBody>
      </p:sp>
      <p:sp>
        <p:nvSpPr>
          <p:cNvPr id="53" name="Chevron 52"/>
          <p:cNvSpPr/>
          <p:nvPr/>
        </p:nvSpPr>
        <p:spPr>
          <a:xfrm>
            <a:off x="8174082"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8334102"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Proposal</a:t>
            </a:r>
          </a:p>
          <a:p>
            <a:pPr algn="ctr"/>
            <a:r>
              <a:rPr sz="850" b="0" i="0">
                <a:solidFill>
                  <a:srgbClr val="002368"/>
                </a:solidFill>
                <a:latin typeface="Arial"/>
              </a:rPr>
              <a:t>approved terms, Finance</a:t>
            </a:r>
          </a:p>
        </p:txBody>
      </p:sp>
      <p:sp>
        <p:nvSpPr>
          <p:cNvPr id="55" name="Chevron 54"/>
          <p:cNvSpPr/>
          <p:nvPr/>
        </p:nvSpPr>
        <p:spPr>
          <a:xfrm>
            <a:off x="9349304" y="4375403"/>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9509324" y="4041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placement agreement, CEO signs</a:t>
            </a:r>
          </a:p>
        </p:txBody>
      </p:sp>
      <p:sp>
        <p:nvSpPr>
          <p:cNvPr id="57" name="Chevron 56"/>
          <p:cNvSpPr/>
          <p:nvPr/>
        </p:nvSpPr>
        <p:spPr>
          <a:xfrm>
            <a:off x="10524526"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10684546" y="4041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Admissions per child</a:t>
            </a:r>
          </a:p>
          <a:p>
            <a:pPr algn="ctr"/>
            <a:r>
              <a:rPr sz="850" b="0" i="0">
                <a:solidFill>
                  <a:srgbClr val="002368"/>
                </a:solidFill>
                <a:latin typeface="Arial"/>
              </a:rPr>
              <a:t>guardian consent; S9 renewal</a:t>
            </a:r>
          </a:p>
        </p:txBody>
      </p:sp>
      <p:sp>
        <p:nvSpPr>
          <p:cNvPr id="59" name="Rounded Rectangle 58"/>
          <p:cNvSpPr/>
          <p:nvPr/>
        </p:nvSpPr>
        <p:spPr>
          <a:xfrm>
            <a:off x="2075688" y="5202936"/>
            <a:ext cx="356615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Need not supported, or a safeguarding concern → SX</a:t>
            </a:r>
          </a:p>
        </p:txBody>
      </p:sp>
      <p:sp>
        <p:nvSpPr>
          <p:cNvPr id="60" name="Rounded Rectangle 59"/>
          <p:cNvSpPr/>
          <p:nvPr/>
        </p:nvSpPr>
        <p:spPr>
          <a:xfrm>
            <a:off x="5779008" y="5202936"/>
            <a:ext cx="3236975"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 next window or budget date</a:t>
            </a:r>
          </a:p>
        </p:txBody>
      </p:sp>
      <p:sp>
        <p:nvSpPr>
          <p:cNvPr id="61" name="TextBox 60"/>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No child's name, age, photo or story in any lead database: totals only. Rescue and safe-house locations stay confidential. Renewal 8 weeks before intake.</a:t>
            </a:r>
          </a:p>
        </p:txBody>
      </p:sp>
      <p:pic>
        <p:nvPicPr>
          <p:cNvPr id="62" name="Picture 61" descr="image3.png"/>
          <p:cNvPicPr>
            <a:picLocks noChangeAspect="1"/>
          </p:cNvPicPr>
          <p:nvPr/>
        </p:nvPicPr>
        <p:blipFill>
          <a:blip r:embed="rId2"/>
          <a:stretch>
            <a:fillRect/>
          </a:stretch>
        </p:blipFill>
        <p:spPr>
          <a:xfrm>
            <a:off x="548640" y="6272784"/>
            <a:ext cx="1143000" cy="274320"/>
          </a:xfrm>
          <a:prstGeom prst="rect">
            <a:avLst/>
          </a:prstGeom>
        </p:spPr>
      </p:pic>
      <p:sp>
        <p:nvSpPr>
          <p:cNvPr id="63"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4"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Welfare funnels W2 and W3</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W2</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Family-based programmes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164 (25 ready) · priority high 12, medium 14, low 138</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programme head</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Talk</a:t>
            </a:r>
          </a:p>
          <a:p>
            <a:pPr algn="ctr"/>
            <a:r>
              <a:rPr sz="850" b="0" i="0">
                <a:solidFill>
                  <a:srgbClr val="002368"/>
                </a:solidFill>
                <a:latin typeface="Arial"/>
              </a:rPr>
              <a:t>a conversation, Coord + Adm</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Who chooses the school?</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Programme pays: </a:t>
            </a:r>
            <a:r>
              <a:rPr sz="900" b="0" i="0">
                <a:solidFill>
                  <a:srgbClr val="002368"/>
                </a:solidFill>
                <a:latin typeface="Arial"/>
              </a:rPr>
              <a:t>S5 visit → S6 → S7a placement</a:t>
            </a:r>
          </a:p>
        </p:txBody>
      </p:sp>
      <p:sp>
        <p:nvSpPr>
          <p:cNvPr id="30" name="Rounded Rectangle 29"/>
          <p:cNvSpPr/>
          <p:nvPr/>
        </p:nvSpPr>
        <p:spPr>
          <a:xfrm>
            <a:off x="6814178" y="2005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Sponsor decides: </a:t>
            </a:r>
            <a:r>
              <a:rPr sz="900" b="0" i="0">
                <a:solidFill>
                  <a:srgbClr val="002368"/>
                </a:solidFill>
                <a:latin typeface="Arial"/>
              </a:rPr>
              <a:t>funder funnel W3, with consent</a:t>
            </a:r>
          </a:p>
        </p:txBody>
      </p:sp>
      <p:sp>
        <p:nvSpPr>
          <p:cNvPr id="31" name="Rounded Rectangle 30"/>
          <p:cNvSpPr/>
          <p:nvPr/>
        </p:nvSpPr>
        <p:spPr>
          <a:xfrm>
            <a:off x="6814178" y="2438400"/>
            <a:ext cx="1535492" cy="368808"/>
          </a:xfrm>
          <a:prstGeom prst="roundRect">
            <a:avLst>
              <a:gd name="adj" fmla="val 17355"/>
            </a:avLst>
          </a:prstGeom>
          <a:solidFill>
            <a:srgbClr val="FFF7E5"/>
          </a:solidFill>
          <a:ln w="12700">
            <a:solidFill>
              <a:srgbClr val="FFC952"/>
            </a:solidFill>
          </a:ln>
        </p:spPr>
        <p:txBody>
          <a:bodyPr rtlCol="0" anchor="ctr" wrap="square" lIns="45720" rIns="45720" tIns="27432" bIns="27432"/>
          <a:lstStyle/>
          <a:p>
            <a:pPr algn="l"/>
            <a:r>
              <a:rPr sz="900" b="1" i="0">
                <a:solidFill>
                  <a:srgbClr val="002368"/>
                </a:solidFill>
                <a:latin typeface="Arial"/>
              </a:rPr>
              <a:t>Families choose: </a:t>
            </a:r>
            <a:r>
              <a:rPr sz="900" b="0" i="0">
                <a:solidFill>
                  <a:srgbClr val="002368"/>
                </a:solidFill>
                <a:latin typeface="Arial"/>
              </a:rPr>
              <a:t>S5 → S7b programme circulates</a:t>
            </a:r>
          </a:p>
        </p:txBody>
      </p:sp>
      <p:sp>
        <p:nvSpPr>
          <p:cNvPr id="32" name="Chevron 31"/>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 (a or b)</a:t>
            </a:r>
          </a:p>
          <a:p>
            <a:pPr algn="ctr"/>
            <a:r>
              <a:rPr sz="850" b="0" i="0">
                <a:solidFill>
                  <a:srgbClr val="FFFFFF"/>
                </a:solidFill>
                <a:latin typeface="Arial"/>
              </a:rPr>
              <a:t>placement agreement, or circulation</a:t>
            </a:r>
          </a:p>
        </p:txBody>
      </p:sp>
      <p:sp>
        <p:nvSpPr>
          <p:cNvPr id="34" name="Chevron 33"/>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Admissions enrols</a:t>
            </a:r>
          </a:p>
          <a:p>
            <a:pPr algn="ctr"/>
            <a:r>
              <a:rPr sz="850" b="0" i="0">
                <a:solidFill>
                  <a:srgbClr val="002368"/>
                </a:solidFill>
                <a:latin typeface="Arial"/>
              </a:rPr>
              <a:t>placed children</a:t>
            </a:r>
          </a:p>
        </p:txBody>
      </p:sp>
      <p:sp>
        <p:nvSpPr>
          <p:cNvPr id="36" name="Chevron 35"/>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7" name="Rounded Rectangle 36"/>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Caregivers opt in</a:t>
            </a:r>
          </a:p>
          <a:p>
            <a:pPr algn="ctr"/>
            <a:r>
              <a:rPr sz="850" b="0" i="0">
                <a:solidFill>
                  <a:srgbClr val="002368"/>
                </a:solidFill>
                <a:latin typeface="Arial"/>
              </a:rPr>
              <a:t>parent funnel, code WEL</a:t>
            </a:r>
          </a:p>
        </p:txBody>
      </p:sp>
      <p:sp>
        <p:nvSpPr>
          <p:cNvPr id="38" name="Rounded Rectangle 37"/>
          <p:cNvSpPr/>
          <p:nvPr/>
        </p:nvSpPr>
        <p:spPr>
          <a:xfrm>
            <a:off x="2075688" y="2916936"/>
            <a:ext cx="1327708"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a:t>
            </a:r>
          </a:p>
        </p:txBody>
      </p:sp>
      <p:sp>
        <p:nvSpPr>
          <p:cNvPr id="39" name="Rounded Rectangle 38"/>
          <p:cNvSpPr/>
          <p:nvPr/>
        </p:nvSpPr>
        <p:spPr>
          <a:xfrm>
            <a:off x="3540556" y="2916936"/>
            <a:ext cx="3302812"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not relevant, safeguarding stop → SX</a:t>
            </a:r>
          </a:p>
        </p:txBody>
      </p:sp>
      <p:sp>
        <p:nvSpPr>
          <p:cNvPr id="40" name="TextBox 39"/>
          <p:cNvSpPr txBox="1"/>
          <p:nvPr/>
        </p:nvSpPr>
        <p:spPr>
          <a:xfrm>
            <a:off x="7026249" y="2916936"/>
            <a:ext cx="4614062" cy="292608"/>
          </a:xfrm>
          <a:prstGeom prst="rect">
            <a:avLst/>
          </a:prstGeom>
          <a:noFill/>
        </p:spPr>
        <p:txBody>
          <a:bodyPr wrap="square" lIns="0" tIns="0" rIns="0" bIns="0" anchor="ctr">
            <a:spAutoFit/>
          </a:bodyPr>
          <a:lstStyle/>
          <a:p>
            <a:pPr algn="l"/>
            <a:r>
              <a:rPr sz="900" b="0" i="0">
                <a:solidFill>
                  <a:srgbClr val="818283"/>
                </a:solidFill>
                <a:latin typeface="Arial"/>
              </a:rPr>
              <a:t>hd 2 · hi 16 · med 6 · low 28 · call sheet 112</a:t>
            </a:r>
          </a:p>
        </p:txBody>
      </p:sp>
      <p:sp>
        <p:nvSpPr>
          <p:cNvPr id="41" name="TextBox 40"/>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OF03 needs all primary-age children placed, which rarely fits a programme, so path (a) usually means standard fees with the family offer.</a:t>
            </a:r>
          </a:p>
        </p:txBody>
      </p:sp>
      <p:cxnSp>
        <p:nvCxnSpPr>
          <p:cNvPr id="42" name="Connector 41"/>
          <p:cNvCxnSpPr/>
          <p:nvPr/>
        </p:nvCxnSpPr>
        <p:spPr>
          <a:xfrm>
            <a:off x="548640" y="3730752"/>
            <a:ext cx="11091672" cy="0"/>
          </a:xfrm>
          <a:prstGeom prst="line">
            <a:avLst/>
          </a:prstGeom>
          <a:ln w="9525">
            <a:solidFill>
              <a:srgbClr val="ECECEC"/>
            </a:solidFill>
          </a:ln>
        </p:spPr>
      </p:cxnSp>
      <p:sp>
        <p:nvSpPr>
          <p:cNvPr id="43" name="TextBox 42"/>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W3</a:t>
            </a:r>
          </a:p>
        </p:txBody>
      </p:sp>
      <p:sp>
        <p:nvSpPr>
          <p:cNvPr id="44" name="TextBox 43"/>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Funders</a:t>
            </a:r>
          </a:p>
        </p:txBody>
      </p:sp>
      <p:sp>
        <p:nvSpPr>
          <p:cNvPr id="45" name="TextBox 44"/>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Foreign charities, foundations, corporate giving · 104 (34 ready)</a:t>
            </a:r>
          </a:p>
        </p:txBody>
      </p:sp>
      <p:sp>
        <p:nvSpPr>
          <p:cNvPr id="46" name="Hexagon 45"/>
          <p:cNvSpPr/>
          <p:nvPr/>
        </p:nvSpPr>
        <p:spPr>
          <a:xfrm>
            <a:off x="2075688" y="4041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Verified link to a home?</a:t>
            </a:r>
          </a:p>
          <a:p>
            <a:pPr algn="ctr"/>
            <a:r>
              <a:rPr sz="850" b="0" i="0">
                <a:solidFill>
                  <a:srgbClr val="002368"/>
                </a:solidFill>
                <a:latin typeface="Arial"/>
              </a:rPr>
              <a:t>no: S0 held</a:t>
            </a:r>
          </a:p>
        </p:txBody>
      </p:sp>
      <p:sp>
        <p:nvSpPr>
          <p:cNvPr id="47" name="Chevron 46"/>
          <p:cNvSpPr/>
          <p:nvPr/>
        </p:nvSpPr>
        <p:spPr>
          <a:xfrm>
            <a:off x="3473196"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3633216"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programme officer</a:t>
            </a:r>
          </a:p>
        </p:txBody>
      </p:sp>
      <p:sp>
        <p:nvSpPr>
          <p:cNvPr id="49" name="Chevron 48"/>
          <p:cNvSpPr/>
          <p:nvPr/>
        </p:nvSpPr>
        <p:spPr>
          <a:xfrm>
            <a:off x="4648417"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4808437" y="4041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51" name="Chevron 50"/>
          <p:cNvSpPr/>
          <p:nvPr/>
        </p:nvSpPr>
        <p:spPr>
          <a:xfrm>
            <a:off x="5823639"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5983659"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often by video</a:t>
            </a:r>
          </a:p>
        </p:txBody>
      </p:sp>
      <p:sp>
        <p:nvSpPr>
          <p:cNvPr id="53" name="Chevron 52"/>
          <p:cNvSpPr/>
          <p:nvPr/>
        </p:nvSpPr>
        <p:spPr>
          <a:xfrm>
            <a:off x="6998861"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715888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Sponsorship proposal</a:t>
            </a:r>
          </a:p>
          <a:p>
            <a:pPr algn="ctr"/>
            <a:r>
              <a:rPr sz="850" b="0" i="0">
                <a:solidFill>
                  <a:srgbClr val="002368"/>
                </a:solidFill>
                <a:latin typeface="Arial"/>
              </a:rPr>
              <a:t>tied to the home</a:t>
            </a:r>
          </a:p>
        </p:txBody>
      </p:sp>
      <p:sp>
        <p:nvSpPr>
          <p:cNvPr id="55" name="Chevron 54"/>
          <p:cNvSpPr/>
          <p:nvPr/>
        </p:nvSpPr>
        <p:spPr>
          <a:xfrm>
            <a:off x="8174082" y="4375403"/>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8334102" y="4041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three-way: funder, home, Silverleaf</a:t>
            </a:r>
          </a:p>
        </p:txBody>
      </p:sp>
      <p:sp>
        <p:nvSpPr>
          <p:cNvPr id="57" name="Chevron 56"/>
          <p:cNvSpPr/>
          <p:nvPr/>
        </p:nvSpPr>
        <p:spPr>
          <a:xfrm>
            <a:off x="9349304"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9509324" y="4041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Enrolment via the home</a:t>
            </a:r>
          </a:p>
          <a:p>
            <a:pPr algn="ctr"/>
            <a:r>
              <a:rPr sz="850" b="0" i="0">
                <a:solidFill>
                  <a:srgbClr val="002368"/>
                </a:solidFill>
                <a:latin typeface="Arial"/>
              </a:rPr>
              <a:t>Adm, guardian consent</a:t>
            </a:r>
          </a:p>
        </p:txBody>
      </p:sp>
      <p:sp>
        <p:nvSpPr>
          <p:cNvPr id="59" name="Chevron 58"/>
          <p:cNvSpPr/>
          <p:nvPr/>
        </p:nvSpPr>
        <p:spPr>
          <a:xfrm>
            <a:off x="10524526"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10684546"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Reporting, renewal</a:t>
            </a:r>
          </a:p>
          <a:p>
            <a:pPr algn="ctr"/>
            <a:r>
              <a:rPr sz="850" b="0" i="0">
                <a:solidFill>
                  <a:srgbClr val="002368"/>
                </a:solidFill>
                <a:latin typeface="Arial"/>
              </a:rPr>
              <a:t>the home consents</a:t>
            </a:r>
          </a:p>
        </p:txBody>
      </p:sp>
      <p:sp>
        <p:nvSpPr>
          <p:cNvPr id="61" name="Rounded Rectangle 60"/>
          <p:cNvSpPr/>
          <p:nvPr/>
        </p:nvSpPr>
        <p:spPr>
          <a:xfrm>
            <a:off x="2075688" y="5202936"/>
            <a:ext cx="3171139"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until the next budget cycle</a:t>
            </a:r>
          </a:p>
        </p:txBody>
      </p:sp>
      <p:sp>
        <p:nvSpPr>
          <p:cNvPr id="62" name="Rounded Rectangle 61"/>
          <p:cNvSpPr/>
          <p:nvPr/>
        </p:nvSpPr>
        <p:spPr>
          <a:xfrm>
            <a:off x="5383987" y="5202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63" name="TextBox 62"/>
          <p:cNvSpPr txBox="1"/>
          <p:nvPr/>
        </p:nvSpPr>
        <p:spPr>
          <a:xfrm>
            <a:off x="6697065" y="5202936"/>
            <a:ext cx="4943246" cy="292608"/>
          </a:xfrm>
          <a:prstGeom prst="rect">
            <a:avLst/>
          </a:prstGeom>
          <a:noFill/>
        </p:spPr>
        <p:txBody>
          <a:bodyPr wrap="square" lIns="0" tIns="0" rIns="0" bIns="0" anchor="ctr">
            <a:spAutoFit/>
          </a:bodyPr>
          <a:lstStyle/>
          <a:p>
            <a:pPr algn="l"/>
            <a:r>
              <a:rPr sz="900" b="0" i="0">
                <a:solidFill>
                  <a:srgbClr val="818283"/>
                </a:solidFill>
                <a:latin typeface="Arial"/>
              </a:rPr>
              <a:t>hd 9 · hi 21 · med 1 · low 37 · call sheet 27 · shared 9</a:t>
            </a:r>
          </a:p>
        </p:txBody>
      </p:sp>
      <p:sp>
        <p:nvSpPr>
          <p:cNvPr id="64" name="TextBox 63"/>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Many are abroad: video meetings, email-only fallout, budget cycles drive timing. The follow-up offers the partner rate 'as a way to stretch sponsorship'.</a:t>
            </a:r>
          </a:p>
        </p:txBody>
      </p:sp>
      <p:pic>
        <p:nvPicPr>
          <p:cNvPr id="65" name="Picture 64" descr="image3.png"/>
          <p:cNvPicPr>
            <a:picLocks noChangeAspect="1"/>
          </p:cNvPicPr>
          <p:nvPr/>
        </p:nvPicPr>
        <p:blipFill>
          <a:blip r:embed="rId2"/>
          <a:stretch>
            <a:fillRect/>
          </a:stretch>
        </p:blipFill>
        <p:spPr>
          <a:xfrm>
            <a:off x="548640" y="6272784"/>
            <a:ext cx="1143000" cy="274320"/>
          </a:xfrm>
          <a:prstGeom prst="rect">
            <a:avLst/>
          </a:prstGeom>
        </p:spPr>
      </p:pic>
      <p:sp>
        <p:nvSpPr>
          <p:cNvPr id="6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Government funnels G1, G2 and G3</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G1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Councils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Pilot 4 (ready) · other 5 (held)</a:t>
            </a:r>
          </a:p>
        </p:txBody>
      </p:sp>
      <p:sp>
        <p:nvSpPr>
          <p:cNvPr id="21" name="Hexagon 20"/>
          <p:cNvSpPr/>
          <p:nvPr/>
        </p:nvSpPr>
        <p:spPr>
          <a:xfrm>
            <a:off x="2075688" y="1572768"/>
            <a:ext cx="1338072"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Pilot council?</a:t>
            </a:r>
          </a:p>
          <a:p>
            <a:pPr algn="ctr"/>
            <a:r>
              <a:rPr sz="850" b="0" i="0">
                <a:solidFill>
                  <a:srgbClr val="002368"/>
                </a:solidFill>
                <a:latin typeface="Arial"/>
              </a:rPr>
              <a:t>no: held</a:t>
            </a:r>
          </a:p>
        </p:txBody>
      </p:sp>
      <p:sp>
        <p:nvSpPr>
          <p:cNvPr id="22" name="Chevron 21"/>
          <p:cNvSpPr/>
          <p:nvPr/>
        </p:nvSpPr>
        <p:spPr>
          <a:xfrm>
            <a:off x="3473196" y="188366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633216"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 Letter ready</a:t>
            </a:r>
          </a:p>
          <a:p>
            <a:pPr algn="ctr"/>
            <a:r>
              <a:rPr sz="850" b="0" i="0">
                <a:solidFill>
                  <a:srgbClr val="002368"/>
                </a:solidFill>
                <a:latin typeface="Arial"/>
              </a:rPr>
              <a:t>Kiswahili, letterhead</a:t>
            </a:r>
          </a:p>
        </p:txBody>
      </p:sp>
      <p:sp>
        <p:nvSpPr>
          <p:cNvPr id="24" name="Chevron 23"/>
          <p:cNvSpPr/>
          <p:nvPr/>
        </p:nvSpPr>
        <p:spPr>
          <a:xfrm>
            <a:off x="4648417" y="188366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808437"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By hand</a:t>
            </a:r>
          </a:p>
          <a:p>
            <a:pPr algn="ctr"/>
            <a:r>
              <a:rPr sz="850" b="0" i="0">
                <a:solidFill>
                  <a:srgbClr val="002368"/>
                </a:solidFill>
                <a:latin typeface="Arial"/>
              </a:rPr>
              <a:t>advance copy if an inbox</a:t>
            </a:r>
          </a:p>
        </p:txBody>
      </p:sp>
      <p:sp>
        <p:nvSpPr>
          <p:cNvPr id="26" name="Chevron 25"/>
          <p:cNvSpPr/>
          <p:nvPr/>
        </p:nvSpPr>
        <p:spPr>
          <a:xfrm>
            <a:off x="5823639" y="188366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983659"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S3 Call</a:t>
            </a:r>
          </a:p>
          <a:p>
            <a:pPr algn="ctr"/>
            <a:r>
              <a:rPr sz="850" b="0" i="0">
                <a:solidFill>
                  <a:srgbClr val="002368"/>
                </a:solidFill>
                <a:latin typeface="Arial"/>
              </a:rPr>
              <a:t>after 5 working days</a:t>
            </a:r>
          </a:p>
        </p:txBody>
      </p:sp>
      <p:sp>
        <p:nvSpPr>
          <p:cNvPr id="28" name="Chevron 27"/>
          <p:cNvSpPr/>
          <p:nvPr/>
        </p:nvSpPr>
        <p:spPr>
          <a:xfrm>
            <a:off x="6998861" y="188366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7158881"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Courtesy visit</a:t>
            </a:r>
          </a:p>
          <a:p>
            <a:pPr algn="ctr"/>
            <a:r>
              <a:rPr sz="850" b="0" i="0">
                <a:solidFill>
                  <a:srgbClr val="002368"/>
                </a:solidFill>
                <a:latin typeface="Arial"/>
              </a:rPr>
              <a:t>Coord + campus head</a:t>
            </a:r>
          </a:p>
        </p:txBody>
      </p:sp>
      <p:sp>
        <p:nvSpPr>
          <p:cNvPr id="30" name="Chevron 29"/>
          <p:cNvSpPr/>
          <p:nvPr/>
        </p:nvSpPr>
        <p:spPr>
          <a:xfrm>
            <a:off x="8174082" y="188366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334102" y="1572768"/>
            <a:ext cx="955765"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introduction to WEOs, VEOs</a:t>
            </a:r>
          </a:p>
        </p:txBody>
      </p:sp>
      <p:sp>
        <p:nvSpPr>
          <p:cNvPr id="32" name="Chevron 31"/>
          <p:cNvSpPr/>
          <p:nvPr/>
        </p:nvSpPr>
        <p:spPr>
          <a:xfrm>
            <a:off x="9349304" y="188366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509324" y="1572768"/>
            <a:ext cx="955765" cy="822960"/>
          </a:xfrm>
          <a:prstGeom prst="roundRect">
            <a:avLst>
              <a:gd name="adj" fmla="val 7777"/>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G2 funnels open</a:t>
            </a:r>
          </a:p>
          <a:p>
            <a:pPr algn="ctr"/>
            <a:r>
              <a:rPr sz="850" b="0" i="0">
                <a:solidFill>
                  <a:srgbClr val="002368"/>
                </a:solidFill>
                <a:latin typeface="Arial"/>
              </a:rPr>
              <a:t>wards and villages</a:t>
            </a:r>
          </a:p>
        </p:txBody>
      </p:sp>
      <p:sp>
        <p:nvSpPr>
          <p:cNvPr id="34" name="Chevron 33"/>
          <p:cNvSpPr/>
          <p:nvPr/>
        </p:nvSpPr>
        <p:spPr>
          <a:xfrm>
            <a:off x="10524526" y="188366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84546"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Re-verify</a:t>
            </a:r>
          </a:p>
          <a:p>
            <a:pPr algn="ctr"/>
            <a:r>
              <a:rPr sz="850" b="0" i="0">
                <a:solidFill>
                  <a:srgbClr val="002368"/>
                </a:solidFill>
                <a:latin typeface="Arial"/>
              </a:rPr>
              <a:t>holders every 90 days</a:t>
            </a:r>
          </a:p>
        </p:txBody>
      </p:sp>
      <p:sp>
        <p:nvSpPr>
          <p:cNvPr id="36" name="Rounded Rectangle 35"/>
          <p:cNvSpPr/>
          <p:nvPr/>
        </p:nvSpPr>
        <p:spPr>
          <a:xfrm>
            <a:off x="2075688" y="2505456"/>
            <a:ext cx="2710281"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re-deliver once next quarter</a:t>
            </a:r>
          </a:p>
        </p:txBody>
      </p:sp>
      <p:sp>
        <p:nvSpPr>
          <p:cNvPr id="37" name="Rounded Rectangle 36"/>
          <p:cNvSpPr/>
          <p:nvPr/>
        </p:nvSpPr>
        <p:spPr>
          <a:xfrm>
            <a:off x="4923129" y="2505456"/>
            <a:ext cx="224942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or payment asked → SX</a:t>
            </a:r>
          </a:p>
        </p:txBody>
      </p:sp>
      <p:cxnSp>
        <p:nvCxnSpPr>
          <p:cNvPr id="38" name="Connector 37"/>
          <p:cNvCxnSpPr/>
          <p:nvPr/>
        </p:nvCxnSpPr>
        <p:spPr>
          <a:xfrm>
            <a:off x="548640" y="3017520"/>
            <a:ext cx="11091672" cy="0"/>
          </a:xfrm>
          <a:prstGeom prst="line">
            <a:avLst/>
          </a:prstGeom>
          <a:ln w="9525">
            <a:solidFill>
              <a:srgbClr val="ECECEC"/>
            </a:solidFill>
          </a:ln>
        </p:spPr>
      </p:cxnSp>
      <p:sp>
        <p:nvSpPr>
          <p:cNvPr id="39" name="TextBox 38"/>
          <p:cNvSpPr txBox="1"/>
          <p:nvPr/>
        </p:nvSpPr>
        <p:spPr>
          <a:xfrm>
            <a:off x="548640" y="3118104"/>
            <a:ext cx="1481328" cy="457200"/>
          </a:xfrm>
          <a:prstGeom prst="rect">
            <a:avLst/>
          </a:prstGeom>
          <a:noFill/>
        </p:spPr>
        <p:txBody>
          <a:bodyPr wrap="square" lIns="0" tIns="0" rIns="0" bIns="0" anchor="t">
            <a:spAutoFit/>
          </a:bodyPr>
          <a:lstStyle/>
          <a:p>
            <a:pPr algn="l"/>
            <a:r>
              <a:rPr sz="2600" b="0" i="0">
                <a:solidFill>
                  <a:srgbClr val="002368"/>
                </a:solidFill>
                <a:latin typeface="Georgia"/>
              </a:rPr>
              <a:t>G2</a:t>
            </a:r>
          </a:p>
        </p:txBody>
      </p:sp>
      <p:sp>
        <p:nvSpPr>
          <p:cNvPr id="40" name="TextBox 39"/>
          <p:cNvSpPr txBox="1"/>
          <p:nvPr/>
        </p:nvSpPr>
        <p:spPr>
          <a:xfrm>
            <a:off x="548640" y="3575304"/>
            <a:ext cx="1389888" cy="566928"/>
          </a:xfrm>
          <a:prstGeom prst="rect">
            <a:avLst/>
          </a:prstGeom>
          <a:noFill/>
        </p:spPr>
        <p:txBody>
          <a:bodyPr wrap="square" lIns="0" tIns="0" rIns="0" bIns="0" anchor="t">
            <a:spAutoFit/>
          </a:bodyPr>
          <a:lstStyle/>
          <a:p>
            <a:pPr algn="l"/>
            <a:r>
              <a:rPr sz="1100" b="1" i="0">
                <a:solidFill>
                  <a:srgbClr val="002368"/>
                </a:solidFill>
                <a:latin typeface="Arial"/>
              </a:rPr>
              <a:t>Ward and village offices</a:t>
            </a:r>
          </a:p>
        </p:txBody>
      </p:sp>
      <p:sp>
        <p:nvSpPr>
          <p:cNvPr id="41" name="TextBox 40"/>
          <p:cNvSpPr txBox="1"/>
          <p:nvPr/>
        </p:nvSpPr>
        <p:spPr>
          <a:xfrm>
            <a:off x="548640" y="4160520"/>
            <a:ext cx="1389888" cy="457200"/>
          </a:xfrm>
          <a:prstGeom prst="rect">
            <a:avLst/>
          </a:prstGeom>
          <a:noFill/>
        </p:spPr>
        <p:txBody>
          <a:bodyPr wrap="square" lIns="0" tIns="0" rIns="0" bIns="0" anchor="t">
            <a:spAutoFit/>
          </a:bodyPr>
          <a:lstStyle/>
          <a:p>
            <a:pPr algn="l"/>
            <a:r>
              <a:rPr sz="900" b="0" i="0">
                <a:solidFill>
                  <a:srgbClr val="818283"/>
                </a:solidFill>
                <a:latin typeface="Arial"/>
              </a:rPr>
              <a:t>Wards 129 · villages 80 · mtaa none yet</a:t>
            </a:r>
          </a:p>
        </p:txBody>
      </p:sp>
      <p:sp>
        <p:nvSpPr>
          <p:cNvPr id="42" name="Hexagon 41"/>
          <p:cNvSpPr/>
          <p:nvPr/>
        </p:nvSpPr>
        <p:spPr>
          <a:xfrm>
            <a:off x="2075688" y="3154680"/>
            <a:ext cx="1338072"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Introduced, officer verified?</a:t>
            </a:r>
          </a:p>
          <a:p>
            <a:pPr algn="ctr"/>
            <a:r>
              <a:rPr sz="850" b="0" i="0">
                <a:solidFill>
                  <a:srgbClr val="002368"/>
                </a:solidFill>
                <a:latin typeface="Arial"/>
              </a:rPr>
              <a:t>no: S0 held</a:t>
            </a:r>
          </a:p>
        </p:txBody>
      </p:sp>
      <p:sp>
        <p:nvSpPr>
          <p:cNvPr id="43" name="Chevron 42"/>
          <p:cNvSpPr/>
          <p:nvPr/>
        </p:nvSpPr>
        <p:spPr>
          <a:xfrm>
            <a:off x="3473196" y="3465576"/>
            <a:ext cx="100584" cy="201168"/>
          </a:xfrm>
          <a:prstGeom prst="chevron">
            <a:avLst>
              <a:gd name="adj" fmla="val 55000"/>
            </a:avLst>
          </a:prstGeom>
          <a:solidFill>
            <a:srgbClr val="80BFEC"/>
          </a:solidFill>
          <a:ln>
            <a:noFill/>
          </a:ln>
        </p:spPr>
        <p:txBody>
          <a:bodyPr rtlCol="0" anchor="ctr"/>
          <a:lstStyle/>
          <a:p>
            <a:pPr algn="ctr"/>
          </a:p>
        </p:txBody>
      </p:sp>
      <p:sp>
        <p:nvSpPr>
          <p:cNvPr id="44" name="Rounded Rectangle 43"/>
          <p:cNvSpPr/>
          <p:nvPr/>
        </p:nvSpPr>
        <p:spPr>
          <a:xfrm>
            <a:off x="3633216"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 Request ready</a:t>
            </a:r>
          </a:p>
          <a:p>
            <a:pPr algn="ctr"/>
            <a:r>
              <a:rPr sz="850" b="0" i="0">
                <a:solidFill>
                  <a:srgbClr val="002368"/>
                </a:solidFill>
                <a:latin typeface="Arial"/>
              </a:rPr>
              <a:t>Kiswahili letter</a:t>
            </a:r>
          </a:p>
        </p:txBody>
      </p:sp>
      <p:sp>
        <p:nvSpPr>
          <p:cNvPr id="45" name="Chevron 44"/>
          <p:cNvSpPr/>
          <p:nvPr/>
        </p:nvSpPr>
        <p:spPr>
          <a:xfrm>
            <a:off x="4648417" y="3465576"/>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4808437"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By hand</a:t>
            </a:r>
          </a:p>
          <a:p>
            <a:pPr algn="ctr"/>
            <a:r>
              <a:rPr sz="850" b="0" i="0">
                <a:solidFill>
                  <a:srgbClr val="002368"/>
                </a:solidFill>
                <a:latin typeface="Arial"/>
              </a:rPr>
              <a:t>Coord</a:t>
            </a:r>
          </a:p>
        </p:txBody>
      </p:sp>
      <p:sp>
        <p:nvSpPr>
          <p:cNvPr id="47" name="Chevron 46"/>
          <p:cNvSpPr/>
          <p:nvPr/>
        </p:nvSpPr>
        <p:spPr>
          <a:xfrm>
            <a:off x="5823639" y="3465576"/>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5983659"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 WEO or VEO</a:t>
            </a:r>
          </a:p>
          <a:p>
            <a:pPr algn="ctr"/>
            <a:r>
              <a:rPr sz="850" b="0" i="0">
                <a:solidFill>
                  <a:srgbClr val="002368"/>
                </a:solidFill>
                <a:latin typeface="Arial"/>
              </a:rPr>
              <a:t>the meeting calendar</a:t>
            </a:r>
          </a:p>
        </p:txBody>
      </p:sp>
      <p:sp>
        <p:nvSpPr>
          <p:cNvPr id="49" name="Chevron 48"/>
          <p:cNvSpPr/>
          <p:nvPr/>
        </p:nvSpPr>
        <p:spPr>
          <a:xfrm>
            <a:off x="6998861" y="3465576"/>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7158881" y="3154680"/>
            <a:ext cx="955765" cy="822960"/>
          </a:xfrm>
          <a:prstGeom prst="roundRect">
            <a:avLst>
              <a:gd name="adj" fmla="val 7777"/>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S5 Slot in writing</a:t>
            </a:r>
          </a:p>
          <a:p>
            <a:pPr algn="ctr"/>
            <a:r>
              <a:rPr sz="850" b="0" i="0">
                <a:solidFill>
                  <a:srgbClr val="002368"/>
                </a:solidFill>
                <a:latin typeface="Arial"/>
              </a:rPr>
              <a:t>date, venue, minutes</a:t>
            </a:r>
          </a:p>
        </p:txBody>
      </p:sp>
      <p:sp>
        <p:nvSpPr>
          <p:cNvPr id="51" name="Chevron 50"/>
          <p:cNvSpPr/>
          <p:nvPr/>
        </p:nvSpPr>
        <p:spPr>
          <a:xfrm>
            <a:off x="8174082" y="3465576"/>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8334102" y="3154680"/>
            <a:ext cx="955765"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meeting held: talk + booklet</a:t>
            </a:r>
          </a:p>
        </p:txBody>
      </p:sp>
      <p:sp>
        <p:nvSpPr>
          <p:cNvPr id="53" name="Chevron 52"/>
          <p:cNvSpPr/>
          <p:nvPr/>
        </p:nvSpPr>
        <p:spPr>
          <a:xfrm>
            <a:off x="9349304" y="3465576"/>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9509324" y="3154680"/>
            <a:ext cx="955765" cy="822960"/>
          </a:xfrm>
          <a:prstGeom prst="roundRect">
            <a:avLst>
              <a:gd name="adj" fmla="val 7777"/>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Parents opt in</a:t>
            </a:r>
          </a:p>
          <a:p>
            <a:pPr algn="ctr"/>
            <a:r>
              <a:rPr sz="850" b="0" i="0">
                <a:solidFill>
                  <a:srgbClr val="002368"/>
                </a:solidFill>
                <a:latin typeface="Arial"/>
              </a:rPr>
              <a:t>form or QR, code EVT</a:t>
            </a:r>
          </a:p>
        </p:txBody>
      </p:sp>
      <p:sp>
        <p:nvSpPr>
          <p:cNvPr id="55" name="Chevron 54"/>
          <p:cNvSpPr/>
          <p:nvPr/>
        </p:nvSpPr>
        <p:spPr>
          <a:xfrm>
            <a:off x="10524526" y="3465576"/>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10684546"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Thank-you</a:t>
            </a:r>
          </a:p>
          <a:p>
            <a:pPr algn="ctr"/>
            <a:r>
              <a:rPr sz="850" b="0" i="0">
                <a:solidFill>
                  <a:srgbClr val="002368"/>
                </a:solidFill>
                <a:latin typeface="Arial"/>
              </a:rPr>
              <a:t>totals; repeat convener</a:t>
            </a:r>
          </a:p>
        </p:txBody>
      </p:sp>
      <p:sp>
        <p:nvSpPr>
          <p:cNvPr id="57" name="Rounded Rectangle 56"/>
          <p:cNvSpPr/>
          <p:nvPr/>
        </p:nvSpPr>
        <p:spPr>
          <a:xfrm>
            <a:off x="2075688" y="4087368"/>
            <a:ext cx="2841955"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re-deliver before next meeting</a:t>
            </a:r>
          </a:p>
        </p:txBody>
      </p:sp>
      <p:sp>
        <p:nvSpPr>
          <p:cNvPr id="58" name="Rounded Rectangle 57"/>
          <p:cNvSpPr/>
          <p:nvPr/>
        </p:nvSpPr>
        <p:spPr>
          <a:xfrm>
            <a:off x="5054803" y="4087368"/>
            <a:ext cx="205191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Payment or lists → stop, SX</a:t>
            </a:r>
          </a:p>
        </p:txBody>
      </p:sp>
      <p:cxnSp>
        <p:nvCxnSpPr>
          <p:cNvPr id="59" name="Connector 58"/>
          <p:cNvCxnSpPr/>
          <p:nvPr/>
        </p:nvCxnSpPr>
        <p:spPr>
          <a:xfrm>
            <a:off x="548640" y="4599432"/>
            <a:ext cx="11091672" cy="0"/>
          </a:xfrm>
          <a:prstGeom prst="line">
            <a:avLst/>
          </a:prstGeom>
          <a:ln w="9525">
            <a:solidFill>
              <a:srgbClr val="ECECEC"/>
            </a:solidFill>
          </a:ln>
        </p:spPr>
      </p:cxnSp>
      <p:sp>
        <p:nvSpPr>
          <p:cNvPr id="60" name="TextBox 59"/>
          <p:cNvSpPr txBox="1"/>
          <p:nvPr/>
        </p:nvSpPr>
        <p:spPr>
          <a:xfrm>
            <a:off x="548640" y="4700016"/>
            <a:ext cx="1481328" cy="457200"/>
          </a:xfrm>
          <a:prstGeom prst="rect">
            <a:avLst/>
          </a:prstGeom>
          <a:noFill/>
        </p:spPr>
        <p:txBody>
          <a:bodyPr wrap="square" lIns="0" tIns="0" rIns="0" bIns="0" anchor="t">
            <a:spAutoFit/>
          </a:bodyPr>
          <a:lstStyle/>
          <a:p>
            <a:pPr algn="l"/>
            <a:r>
              <a:rPr sz="2600" b="0" i="0">
                <a:solidFill>
                  <a:srgbClr val="002368"/>
                </a:solidFill>
                <a:latin typeface="Georgia"/>
              </a:rPr>
              <a:t>G3</a:t>
            </a:r>
          </a:p>
        </p:txBody>
      </p:sp>
      <p:sp>
        <p:nvSpPr>
          <p:cNvPr id="61" name="TextBox 60"/>
          <p:cNvSpPr txBox="1"/>
          <p:nvPr/>
        </p:nvSpPr>
        <p:spPr>
          <a:xfrm>
            <a:off x="548640" y="5157216"/>
            <a:ext cx="1389888" cy="566928"/>
          </a:xfrm>
          <a:prstGeom prst="rect">
            <a:avLst/>
          </a:prstGeom>
          <a:noFill/>
        </p:spPr>
        <p:txBody>
          <a:bodyPr wrap="square" lIns="0" tIns="0" rIns="0" bIns="0" anchor="t">
            <a:spAutoFit/>
          </a:bodyPr>
          <a:lstStyle/>
          <a:p>
            <a:pPr algn="l"/>
            <a:r>
              <a:rPr sz="1100" b="1" i="0">
                <a:solidFill>
                  <a:srgbClr val="002368"/>
                </a:solidFill>
                <a:latin typeface="Arial"/>
              </a:rPr>
              <a:t>District and regional offices</a:t>
            </a:r>
          </a:p>
        </p:txBody>
      </p:sp>
      <p:sp>
        <p:nvSpPr>
          <p:cNvPr id="62" name="TextBox 61"/>
          <p:cNvSpPr txBox="1"/>
          <p:nvPr/>
        </p:nvSpPr>
        <p:spPr>
          <a:xfrm>
            <a:off x="548640" y="5742431"/>
            <a:ext cx="1389888" cy="457200"/>
          </a:xfrm>
          <a:prstGeom prst="rect">
            <a:avLst/>
          </a:prstGeom>
          <a:noFill/>
        </p:spPr>
        <p:txBody>
          <a:bodyPr wrap="square" lIns="0" tIns="0" rIns="0" bIns="0" anchor="t">
            <a:spAutoFit/>
          </a:bodyPr>
          <a:lstStyle/>
          <a:p>
            <a:pPr algn="l"/>
            <a:r>
              <a:rPr sz="900" b="0" i="0">
                <a:solidFill>
                  <a:srgbClr val="818283"/>
                </a:solidFill>
                <a:latin typeface="Arial"/>
              </a:rPr>
              <a:t>7 districts · 3 regions, all held</a:t>
            </a:r>
          </a:p>
        </p:txBody>
      </p:sp>
      <p:sp>
        <p:nvSpPr>
          <p:cNvPr id="63" name="Hexagon 62"/>
          <p:cNvSpPr/>
          <p:nvPr/>
        </p:nvSpPr>
        <p:spPr>
          <a:xfrm>
            <a:off x="2075688" y="4736592"/>
            <a:ext cx="1341258"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Pilot done, B2G approves?</a:t>
            </a:r>
          </a:p>
          <a:p>
            <a:pPr algn="ctr"/>
            <a:r>
              <a:rPr sz="850" b="0" i="0">
                <a:solidFill>
                  <a:srgbClr val="002368"/>
                </a:solidFill>
                <a:latin typeface="Arial"/>
              </a:rPr>
              <a:t>no: S0 held</a:t>
            </a:r>
          </a:p>
        </p:txBody>
      </p:sp>
      <p:sp>
        <p:nvSpPr>
          <p:cNvPr id="64" name="Chevron 63"/>
          <p:cNvSpPr/>
          <p:nvPr/>
        </p:nvSpPr>
        <p:spPr>
          <a:xfrm>
            <a:off x="3476382" y="5047488"/>
            <a:ext cx="100584" cy="201168"/>
          </a:xfrm>
          <a:prstGeom prst="chevron">
            <a:avLst>
              <a:gd name="adj" fmla="val 55000"/>
            </a:avLst>
          </a:prstGeom>
          <a:solidFill>
            <a:srgbClr val="80BFEC"/>
          </a:solidFill>
          <a:ln>
            <a:noFill/>
          </a:ln>
        </p:spPr>
        <p:txBody>
          <a:bodyPr rtlCol="0" anchor="ctr"/>
          <a:lstStyle/>
          <a:p>
            <a:pPr algn="ctr"/>
          </a:p>
        </p:txBody>
      </p:sp>
      <p:sp>
        <p:nvSpPr>
          <p:cNvPr id="65" name="Rounded Rectangle 64"/>
          <p:cNvSpPr/>
          <p:nvPr/>
        </p:nvSpPr>
        <p:spPr>
          <a:xfrm>
            <a:off x="3636402" y="4736592"/>
            <a:ext cx="958041"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Courtesy notice</a:t>
            </a:r>
          </a:p>
          <a:p>
            <a:pPr algn="ctr"/>
            <a:r>
              <a:rPr sz="850" b="0" i="0">
                <a:solidFill>
                  <a:srgbClr val="002368"/>
                </a:solidFill>
                <a:latin typeface="Arial"/>
              </a:rPr>
              <a:t>Kiswahili letter</a:t>
            </a:r>
          </a:p>
        </p:txBody>
      </p:sp>
      <p:sp>
        <p:nvSpPr>
          <p:cNvPr id="66" name="Chevron 65"/>
          <p:cNvSpPr/>
          <p:nvPr/>
        </p:nvSpPr>
        <p:spPr>
          <a:xfrm>
            <a:off x="4653880" y="5047488"/>
            <a:ext cx="100584" cy="201168"/>
          </a:xfrm>
          <a:prstGeom prst="chevron">
            <a:avLst>
              <a:gd name="adj" fmla="val 55000"/>
            </a:avLst>
          </a:prstGeom>
          <a:solidFill>
            <a:srgbClr val="80BFEC"/>
          </a:solidFill>
          <a:ln>
            <a:noFill/>
          </a:ln>
        </p:spPr>
        <p:txBody>
          <a:bodyPr rtlCol="0" anchor="ctr"/>
          <a:lstStyle/>
          <a:p>
            <a:pPr algn="ctr"/>
          </a:p>
        </p:txBody>
      </p:sp>
      <p:sp>
        <p:nvSpPr>
          <p:cNvPr id="67" name="Rounded Rectangle 66"/>
          <p:cNvSpPr/>
          <p:nvPr/>
        </p:nvSpPr>
        <p:spPr>
          <a:xfrm>
            <a:off x="4813900" y="4736592"/>
            <a:ext cx="958041" cy="822960"/>
          </a:xfrm>
          <a:prstGeom prst="roundRect">
            <a:avLst>
              <a:gd name="adj" fmla="val 7777"/>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Reply</a:t>
            </a:r>
          </a:p>
          <a:p>
            <a:pPr algn="ctr"/>
            <a:r>
              <a:rPr sz="850" b="0" i="0">
                <a:solidFill>
                  <a:srgbClr val="002368"/>
                </a:solidFill>
                <a:latin typeface="Arial"/>
              </a:rPr>
              <a:t>acknowledged</a:t>
            </a:r>
          </a:p>
        </p:txBody>
      </p:sp>
      <p:sp>
        <p:nvSpPr>
          <p:cNvPr id="68" name="Chevron 67"/>
          <p:cNvSpPr/>
          <p:nvPr/>
        </p:nvSpPr>
        <p:spPr>
          <a:xfrm>
            <a:off x="5831378" y="5047488"/>
            <a:ext cx="100584" cy="201168"/>
          </a:xfrm>
          <a:prstGeom prst="chevron">
            <a:avLst>
              <a:gd name="adj" fmla="val 55000"/>
            </a:avLst>
          </a:prstGeom>
          <a:solidFill>
            <a:srgbClr val="80BFEC"/>
          </a:solidFill>
          <a:ln>
            <a:noFill/>
          </a:ln>
        </p:spPr>
        <p:txBody>
          <a:bodyPr rtlCol="0" anchor="ctr"/>
          <a:lstStyle/>
          <a:p>
            <a:pPr algn="ctr"/>
          </a:p>
        </p:txBody>
      </p:sp>
      <p:sp>
        <p:nvSpPr>
          <p:cNvPr id="69" name="Rounded Rectangle 68"/>
          <p:cNvSpPr/>
          <p:nvPr/>
        </p:nvSpPr>
        <p:spPr>
          <a:xfrm>
            <a:off x="5991398" y="4736592"/>
            <a:ext cx="958041"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Informed</a:t>
            </a:r>
          </a:p>
          <a:p>
            <a:pPr algn="ctr"/>
            <a:r>
              <a:rPr sz="850" b="0" i="0">
                <a:solidFill>
                  <a:srgbClr val="FFFFFF"/>
                </a:solidFill>
                <a:latin typeface="Arial"/>
              </a:rPr>
              <a:t>no request is made</a:t>
            </a:r>
          </a:p>
        </p:txBody>
      </p:sp>
      <p:sp>
        <p:nvSpPr>
          <p:cNvPr id="70" name="TextBox 69"/>
          <p:cNvSpPr txBox="1"/>
          <p:nvPr/>
        </p:nvSpPr>
        <p:spPr>
          <a:xfrm>
            <a:off x="2121408" y="5669280"/>
            <a:ext cx="4828032" cy="292608"/>
          </a:xfrm>
          <a:prstGeom prst="rect">
            <a:avLst/>
          </a:prstGeom>
          <a:noFill/>
        </p:spPr>
        <p:txBody>
          <a:bodyPr wrap="square" lIns="0" tIns="0" rIns="0" bIns="0" anchor="ctr">
            <a:spAutoFit/>
          </a:bodyPr>
          <a:lstStyle/>
          <a:p>
            <a:pPr algn="l"/>
            <a:r>
              <a:rPr sz="900" b="0" i="0">
                <a:solidFill>
                  <a:srgbClr val="818283"/>
                </a:solidFill>
                <a:latin typeface="Arial"/>
              </a:rPr>
              <a:t>An objection is recorded and escalated to the B2G owner. District meetings are not a first-phase target.</a:t>
            </a:r>
          </a:p>
        </p:txBody>
      </p:sp>
      <p:sp>
        <p:nvSpPr>
          <p:cNvPr id="71" name="TextBox 70"/>
          <p:cNvSpPr txBox="1"/>
          <p:nvPr/>
        </p:nvSpPr>
        <p:spPr>
          <a:xfrm>
            <a:off x="7223760" y="4736592"/>
            <a:ext cx="4416552" cy="1280160"/>
          </a:xfrm>
          <a:prstGeom prst="rect">
            <a:avLst/>
          </a:prstGeom>
          <a:noFill/>
        </p:spPr>
        <p:txBody>
          <a:bodyPr wrap="square" lIns="0" tIns="0" rIns="0" bIns="0" anchor="t">
            <a:spAutoFit/>
          </a:bodyPr>
          <a:lstStyle/>
          <a:p>
            <a:pPr algn="l" marL="155448" indent="-155448">
              <a:spcAft>
                <a:spcPts val="200"/>
              </a:spcAft>
              <a:buFont typeface="Arial"/>
              <a:buChar char="•"/>
            </a:pPr>
            <a:r>
              <a:rPr sz="950" b="0" i="0">
                <a:solidFill>
                  <a:srgbClr val="000000"/>
                </a:solidFill>
                <a:latin typeface="Arial"/>
              </a:rPr>
              <a:t>Silverleaf asks nothing for itself, offers nothing to officials and never takes lists of residents.</a:t>
            </a:r>
          </a:p>
          <a:p>
            <a:pPr algn="l" marL="155448" indent="-155448">
              <a:spcAft>
                <a:spcPts val="200"/>
              </a:spcAft>
              <a:buFont typeface="Arial"/>
              <a:buChar char="•"/>
            </a:pPr>
            <a:r>
              <a:rPr sz="950" b="0" i="0">
                <a:solidFill>
                  <a:srgbClr val="000000"/>
                </a:solidFill>
                <a:latin typeface="Arial"/>
              </a:rPr>
              <a:t>At the meeting: two staff (one from admissions), no photographs, gifts or payments; the office never sees the forms.</a:t>
            </a:r>
          </a:p>
          <a:p>
            <a:pPr algn="l" marL="155448" indent="-155448">
              <a:spcAft>
                <a:spcPts val="200"/>
              </a:spcAft>
              <a:buFont typeface="Arial"/>
              <a:buChar char="•"/>
            </a:pPr>
            <a:r>
              <a:rPr sz="950" b="0" i="0">
                <a:solidFill>
                  <a:srgbClr val="000000"/>
                </a:solidFill>
                <a:latin typeface="Arial"/>
              </a:rPr>
              <a:t>Pause during an election campaign period, and never press.</a:t>
            </a:r>
          </a:p>
        </p:txBody>
      </p:sp>
      <p:pic>
        <p:nvPicPr>
          <p:cNvPr id="72" name="Picture 71" descr="image3.png"/>
          <p:cNvPicPr>
            <a:picLocks noChangeAspect="1"/>
          </p:cNvPicPr>
          <p:nvPr/>
        </p:nvPicPr>
        <p:blipFill>
          <a:blip r:embed="rId2"/>
          <a:stretch>
            <a:fillRect/>
          </a:stretch>
        </p:blipFill>
        <p:spPr>
          <a:xfrm>
            <a:off x="548640" y="6272784"/>
            <a:ext cx="1143000" cy="274320"/>
          </a:xfrm>
          <a:prstGeom prst="rect">
            <a:avLst/>
          </a:prstGeom>
        </p:spPr>
      </p:pic>
      <p:sp>
        <p:nvSpPr>
          <p:cNvPr id="73"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4"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government lead database, October 2026</a:t>
            </a:r>
          </a:p>
        </p:txBody>
      </p:sp>
      <p:sp>
        <p:nvSpPr>
          <p:cNvPr id="7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FALLOUT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Every stall has one planned next touch, then a defined exit</a:t>
            </a:r>
          </a:p>
        </p:txBody>
      </p:sp>
      <p:graphicFrame>
        <p:nvGraphicFramePr>
          <p:cNvPr id="4" name="Table 3"/>
          <p:cNvGraphicFramePr>
            <a:graphicFrameLocks noGrp="1"/>
          </p:cNvGraphicFramePr>
          <p:nvPr/>
        </p:nvGraphicFramePr>
        <p:xfrm>
          <a:off x="548640" y="1298448"/>
          <a:ext cx="7406640" cy="4279392"/>
        </p:xfrm>
        <a:graphic>
          <a:graphicData uri="http://schemas.openxmlformats.org/drawingml/2006/table">
            <a:tbl>
              <a:tblPr firstRow="0" bandRow="0">
                <a:tableStyleId>{2D5ABB26-0587-4C30-8999-92F81FD0307C}</a:tableStyleId>
              </a:tblPr>
              <a:tblGrid>
                <a:gridCol w="640080"/>
                <a:gridCol w="1965960"/>
                <a:gridCol w="3063240"/>
                <a:gridCol w="1737360"/>
              </a:tblGrid>
              <a:tr h="475488">
                <a:tc>
                  <a:txBody>
                    <a:bodyPr wrap="square"/>
                    <a:lstStyle/>
                    <a:p>
                      <a:r>
                        <a:rPr sz="900" b="1" i="0" spc="100">
                          <a:solidFill>
                            <a:srgbClr val="818283"/>
                          </a:solidFill>
                          <a:latin typeface="Arial"/>
                        </a:rPr>
                        <a:t>STAGE</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STALL</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NEXT TOUCH</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THEN</a:t>
                      </a:r>
                    </a:p>
                  </a:txBody>
                  <a:tcPr marL="54864" marR="54864" marT="36576" marB="36576" anchor="ctr">
                    <a:lnL w="0">
                      <a:noFill/>
                    </a:lnL>
                    <a:lnR w="0">
                      <a:noFill/>
                    </a:lnR>
                    <a:lnT w="0">
                      <a:noFill/>
                    </a:lnT>
                    <a:lnB w="12700">
                      <a:solidFill>
                        <a:srgbClr val="80BFEC"/>
                      </a:solidFill>
                    </a:lnB>
                    <a:noFill/>
                  </a:tcPr>
                </a:tc>
              </a:tr>
              <a:tr h="47548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reply, general inbox</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Redirect → front-desk call after 2 working days → letter for the nearest P1/P2</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dormant_no_route</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reply, named person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Offer follow-up → redirect-style close → one escalation message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dormant_no_response</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"Send details"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One-page outline plus two meeting slots; one check-in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dormant_details_no_reply</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"Not now"</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Record their date; one message on that date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dormant_deferred_expired</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Referred to a colleague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Restart at S2 with the new person, naming who referred us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S4</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 no session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Written summary plus the easiest option: a 20-minute webinar or a pack</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dormant_after_meeting</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S5</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Session, no circulation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Share the sign-up count; ask for one circulation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dormant_after_session</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S8</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Few sign-ups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Re-circulate before the next intake; offer a campus visit day</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dormant_quiet_partner</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Rounded Rectangle 4"/>
          <p:cNvSpPr/>
          <p:nvPr/>
        </p:nvSpPr>
        <p:spPr>
          <a:xfrm>
            <a:off x="8183879" y="1298448"/>
            <a:ext cx="3456432" cy="2240280"/>
          </a:xfrm>
          <a:prstGeom prst="roundRect">
            <a:avLst>
              <a:gd name="adj" fmla="val 2857"/>
            </a:avLst>
          </a:prstGeom>
          <a:solidFill>
            <a:srgbClr val="D9ECF9"/>
          </a:solidFill>
          <a:ln w="12700">
            <a:solidFill>
              <a:srgbClr val="D9ECF9"/>
            </a:solidFill>
          </a:ln>
        </p:spPr>
        <p:txBody>
          <a:bodyPr rtlCol="0" anchor="ctr"/>
          <a:lstStyle/>
          <a:p>
            <a:pPr algn="ctr"/>
          </a:p>
        </p:txBody>
      </p:sp>
      <p:sp>
        <p:nvSpPr>
          <p:cNvPr id="6" name="TextBox 5"/>
          <p:cNvSpPr txBox="1"/>
          <p:nvPr/>
        </p:nvSpPr>
        <p:spPr>
          <a:xfrm>
            <a:off x="8412480" y="1435608"/>
            <a:ext cx="3017520" cy="274320"/>
          </a:xfrm>
          <a:prstGeom prst="rect">
            <a:avLst/>
          </a:prstGeom>
          <a:noFill/>
        </p:spPr>
        <p:txBody>
          <a:bodyPr wrap="square" lIns="0" tIns="0" rIns="0" bIns="0" anchor="t">
            <a:spAutoFit/>
          </a:bodyPr>
          <a:lstStyle/>
          <a:p>
            <a:pPr algn="l"/>
            <a:r>
              <a:rPr sz="1300" b="1" i="0">
                <a:solidFill>
                  <a:srgbClr val="002368"/>
                </a:solidFill>
                <a:latin typeface="Arial"/>
              </a:rPr>
              <a:t>Re-activation</a:t>
            </a:r>
          </a:p>
        </p:txBody>
      </p:sp>
      <p:sp>
        <p:nvSpPr>
          <p:cNvPr id="7" name="TextBox 6"/>
          <p:cNvSpPr txBox="1"/>
          <p:nvPr/>
        </p:nvSpPr>
        <p:spPr>
          <a:xfrm>
            <a:off x="8412480" y="1755648"/>
            <a:ext cx="3063240" cy="1737360"/>
          </a:xfrm>
          <a:prstGeom prst="rect">
            <a:avLst/>
          </a:prstGeom>
          <a:noFill/>
        </p:spPr>
        <p:txBody>
          <a:bodyPr wrap="square" lIns="0" tIns="0" rIns="0" bIns="0" anchor="t">
            <a:spAutoFit/>
          </a:bodyPr>
          <a:lstStyle/>
          <a:p>
            <a:pPr algn="l" marL="155448" indent="-155448">
              <a:spcAft>
                <a:spcPts val="300"/>
              </a:spcAft>
              <a:buFont typeface="Arial"/>
              <a:buChar char="•"/>
            </a:pPr>
            <a:r>
              <a:rPr sz="1000" b="0" i="0">
                <a:solidFill>
                  <a:srgbClr val="000000"/>
                </a:solidFill>
                <a:latin typeface="Arial"/>
              </a:rPr>
              <a:t>Dormant leads are re-tried once at the next intake window, or sooner through a warm route.</a:t>
            </a:r>
          </a:p>
          <a:p>
            <a:pPr algn="l" marL="155448" indent="-155448">
              <a:spcAft>
                <a:spcPts val="300"/>
              </a:spcAft>
              <a:buFont typeface="Arial"/>
              <a:buChar char="•"/>
            </a:pPr>
            <a:r>
              <a:rPr sz="1000" b="0" i="0">
                <a:solidFill>
                  <a:srgbClr val="000000"/>
                </a:solidFill>
                <a:latin typeface="Arial"/>
              </a:rPr>
              <a:t>Warm routes: TATO for safari operators, HAT hotels, TBA banks, TAHA farms, APHFTA health, CTI manufacturers, the chambers for everyone.</a:t>
            </a:r>
          </a:p>
        </p:txBody>
      </p:sp>
      <p:sp>
        <p:nvSpPr>
          <p:cNvPr id="8" name="Rounded Rectangle 7"/>
          <p:cNvSpPr/>
          <p:nvPr/>
        </p:nvSpPr>
        <p:spPr>
          <a:xfrm>
            <a:off x="8183879" y="3657600"/>
            <a:ext cx="3456432" cy="2286000"/>
          </a:xfrm>
          <a:prstGeom prst="roundRect">
            <a:avLst>
              <a:gd name="adj" fmla="val 2800"/>
            </a:avLst>
          </a:prstGeom>
          <a:solidFill>
            <a:srgbClr val="FFFFFF"/>
          </a:solidFill>
          <a:ln w="12700">
            <a:solidFill>
              <a:srgbClr val="ECECEC"/>
            </a:solidFill>
          </a:ln>
        </p:spPr>
        <p:txBody>
          <a:bodyPr rtlCol="0" anchor="ctr"/>
          <a:lstStyle/>
          <a:p>
            <a:pPr algn="ctr"/>
          </a:p>
        </p:txBody>
      </p:sp>
      <p:sp>
        <p:nvSpPr>
          <p:cNvPr id="9" name="TextBox 8"/>
          <p:cNvSpPr txBox="1"/>
          <p:nvPr/>
        </p:nvSpPr>
        <p:spPr>
          <a:xfrm>
            <a:off x="8412480" y="3767328"/>
            <a:ext cx="3017520" cy="274320"/>
          </a:xfrm>
          <a:prstGeom prst="rect">
            <a:avLst/>
          </a:prstGeom>
          <a:noFill/>
        </p:spPr>
        <p:txBody>
          <a:bodyPr wrap="square" lIns="0" tIns="0" rIns="0" bIns="0" anchor="t">
            <a:spAutoFit/>
          </a:bodyPr>
          <a:lstStyle/>
          <a:p>
            <a:pPr algn="l"/>
            <a:r>
              <a:rPr sz="1300" b="1" i="0">
                <a:solidFill>
                  <a:srgbClr val="002368"/>
                </a:solidFill>
                <a:latin typeface="Arial"/>
              </a:rPr>
              <a:t>Final lost reasons (SX)</a:t>
            </a:r>
          </a:p>
        </p:txBody>
      </p:sp>
      <p:sp>
        <p:nvSpPr>
          <p:cNvPr id="10" name="TextBox 9"/>
          <p:cNvSpPr txBox="1"/>
          <p:nvPr/>
        </p:nvSpPr>
        <p:spPr>
          <a:xfrm>
            <a:off x="8412480" y="4087368"/>
            <a:ext cx="3063240" cy="1828800"/>
          </a:xfrm>
          <a:prstGeom prst="rect">
            <a:avLst/>
          </a:prstGeom>
          <a:noFill/>
        </p:spPr>
        <p:txBody>
          <a:bodyPr wrap="square" lIns="0" tIns="0" rIns="0" bIns="0" anchor="t">
            <a:spAutoFit/>
          </a:bodyPr>
          <a:lstStyle/>
          <a:p>
            <a:pPr algn="l"/>
            <a:r>
              <a:rPr sz="950" b="0" i="0">
                <a:solidFill>
                  <a:srgbClr val="000000"/>
                </a:solidFill>
                <a:latin typeface="Arial"/>
              </a:rPr>
              <a:t>declined · suppressed · not_relevant · closed_or_moved · duplicate · capacity · compliance_blocked · terms_not_agreed · rate_not_approved (SACCOS) · safeguarding_stop, needs_not_supported (welfare) · payment_requested, lists_offered (government)</a:t>
            </a:r>
          </a:p>
        </p:txBody>
      </p:sp>
      <p:pic>
        <p:nvPicPr>
          <p:cNvPr id="11" name="Picture 10" descr="image3.png"/>
          <p:cNvPicPr>
            <a:picLocks noChangeAspect="1"/>
          </p:cNvPicPr>
          <p:nvPr/>
        </p:nvPicPr>
        <p:blipFill>
          <a:blip r:embed="rId2"/>
          <a:stretch>
            <a:fillRect/>
          </a:stretch>
        </p:blipFill>
        <p:spPr>
          <a:xfrm>
            <a:off x="548640" y="6272784"/>
            <a:ext cx="1143000" cy="274320"/>
          </a:xfrm>
          <a:prstGeom prst="rect">
            <a:avLst/>
          </a:prstGeom>
        </p:spPr>
      </p:pic>
      <p:sp>
        <p:nvSpPr>
          <p:cNvPr id="12"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13"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14"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RECORDS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is recorded for each deal, and the opt-in form</a:t>
            </a:r>
          </a:p>
        </p:txBody>
      </p:sp>
      <p:graphicFrame>
        <p:nvGraphicFramePr>
          <p:cNvPr id="4" name="Table 3"/>
          <p:cNvGraphicFramePr>
            <a:graphicFrameLocks noGrp="1"/>
          </p:cNvGraphicFramePr>
          <p:nvPr/>
        </p:nvGraphicFramePr>
        <p:xfrm>
          <a:off x="548640" y="1298448"/>
          <a:ext cx="6400800" cy="3968496"/>
        </p:xfrm>
        <a:graphic>
          <a:graphicData uri="http://schemas.openxmlformats.org/drawingml/2006/table">
            <a:tbl>
              <a:tblPr firstRow="0" bandRow="0">
                <a:tableStyleId>{2D5ABB26-0587-4C30-8999-92F81FD0307C}</a:tableStyleId>
              </a:tblPr>
              <a:tblGrid>
                <a:gridCol w="1005840"/>
                <a:gridCol w="5394960"/>
              </a:tblGrid>
              <a:tr h="566928">
                <a:tc>
                  <a:txBody>
                    <a:bodyPr wrap="square"/>
                    <a:lstStyle/>
                    <a:p>
                      <a:r>
                        <a:rPr sz="900" b="1" i="0" spc="100">
                          <a:solidFill>
                            <a:srgbClr val="818283"/>
                          </a:solidFill>
                          <a:latin typeface="Arial"/>
                        </a:rPr>
                        <a:t>STAGE</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FIELDS (ORGANISATION FACTS AND TOTALS ONLY, NEVER A PERSON IN THE PARENT FUNNEL)</a:t>
                      </a:r>
                    </a:p>
                  </a:txBody>
                  <a:tcPr marL="54864" marR="54864" marT="36576" marB="36576" anchor="ctr">
                    <a:lnL w="0">
                      <a:noFill/>
                    </a:lnL>
                    <a:lnR w="0">
                      <a:noFill/>
                    </a:lnR>
                    <a:lnT w="0">
                      <a:noFill/>
                    </a:lnT>
                    <a:lnB w="12700">
                      <a:solidFill>
                        <a:srgbClr val="80BFEC"/>
                      </a:solidFill>
                    </a:lnB>
                    <a:noFill/>
                  </a:tcPr>
                </a:tc>
              </a:tr>
              <a:tr h="566928">
                <a:tc>
                  <a:txBody>
                    <a:bodyPr wrap="square"/>
                    <a:lstStyle/>
                    <a:p>
                      <a:r>
                        <a:rPr sz="950" b="1" i="0">
                          <a:solidFill>
                            <a:srgbClr val="002368"/>
                          </a:solidFill>
                          <a:latin typeface="Arial"/>
                        </a:rPr>
                        <a:t>Every stage</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stage and date, owner role, next action and next-action date (required while open), outcome code, band and track at first touch, first-touch case A/B/C, partner code, touch count, escalation used</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first-touch date and channel, sequence, front-desk call date and result, a name obtained with source and date</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S3–S5</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reply type, deferred-until date; meeting format, staff count as a range, shifts, language; session type, attendance, sign-ups</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S6–S7</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proposal date, offer IDs, Finance check; incentive register ID, approval and expiry; win type, approver, renewal date</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S8–S9</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monthly totals per partner code; review date and next window</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Dormant, SX</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 reason, since, retry due, retry used, warm route; final lost reason, date, note</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TextBox 4"/>
          <p:cNvSpPr txBox="1"/>
          <p:nvPr/>
        </p:nvSpPr>
        <p:spPr>
          <a:xfrm>
            <a:off x="7269480" y="1325880"/>
            <a:ext cx="4572000" cy="201168"/>
          </a:xfrm>
          <a:prstGeom prst="rect">
            <a:avLst/>
          </a:prstGeom>
          <a:noFill/>
        </p:spPr>
        <p:txBody>
          <a:bodyPr wrap="square" lIns="0" tIns="0" rIns="0" bIns="0" anchor="t">
            <a:spAutoFit/>
          </a:bodyPr>
          <a:lstStyle/>
          <a:p>
            <a:pPr algn="l"/>
            <a:r>
              <a:rPr sz="900" b="1" i="0" spc="200">
                <a:solidFill>
                  <a:srgbClr val="818283"/>
                </a:solidFill>
                <a:latin typeface="Arial"/>
              </a:rPr>
              <a:t>THE OPT-IN FORM</a:t>
            </a:r>
          </a:p>
        </p:txBody>
      </p:sp>
      <p:sp>
        <p:nvSpPr>
          <p:cNvPr id="6" name="Rounded Rectangle 5"/>
          <p:cNvSpPr/>
          <p:nvPr/>
        </p:nvSpPr>
        <p:spPr>
          <a:xfrm>
            <a:off x="7269480" y="162763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Name</a:t>
            </a:r>
          </a:p>
        </p:txBody>
      </p:sp>
      <p:sp>
        <p:nvSpPr>
          <p:cNvPr id="7" name="Rounded Rectangle 6"/>
          <p:cNvSpPr/>
          <p:nvPr/>
        </p:nvSpPr>
        <p:spPr>
          <a:xfrm>
            <a:off x="7269480" y="199339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Phone; WhatsApp preferred?</a:t>
            </a:r>
          </a:p>
        </p:txBody>
      </p:sp>
      <p:sp>
        <p:nvSpPr>
          <p:cNvPr id="8" name="Rounded Rectangle 7"/>
          <p:cNvSpPr/>
          <p:nvPr/>
        </p:nvSpPr>
        <p:spPr>
          <a:xfrm>
            <a:off x="7269480" y="235915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Email (optional)</a:t>
            </a:r>
          </a:p>
        </p:txBody>
      </p:sp>
      <p:sp>
        <p:nvSpPr>
          <p:cNvPr id="9" name="Rounded Rectangle 8"/>
          <p:cNvSpPr/>
          <p:nvPr/>
        </p:nvSpPr>
        <p:spPr>
          <a:xfrm>
            <a:off x="7269480" y="272491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Area of residence</a:t>
            </a:r>
          </a:p>
        </p:txBody>
      </p:sp>
      <p:sp>
        <p:nvSpPr>
          <p:cNvPr id="10" name="Rounded Rectangle 9"/>
          <p:cNvSpPr/>
          <p:nvPr/>
        </p:nvSpPr>
        <p:spPr>
          <a:xfrm>
            <a:off x="7269480" y="309067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Level: daycare, pre-primary or primary</a:t>
            </a:r>
          </a:p>
        </p:txBody>
      </p:sp>
      <p:sp>
        <p:nvSpPr>
          <p:cNvPr id="11" name="Rounded Rectangle 10"/>
          <p:cNvSpPr/>
          <p:nvPr/>
        </p:nvSpPr>
        <p:spPr>
          <a:xfrm>
            <a:off x="7269480" y="345643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Preferred campus, or not sure</a:t>
            </a:r>
          </a:p>
        </p:txBody>
      </p:sp>
      <p:sp>
        <p:nvSpPr>
          <p:cNvPr id="12" name="Rounded Rectangle 11"/>
          <p:cNvSpPr/>
          <p:nvPr/>
        </p:nvSpPr>
        <p:spPr>
          <a:xfrm>
            <a:off x="7269480" y="382219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Preferred language</a:t>
            </a:r>
          </a:p>
        </p:txBody>
      </p:sp>
      <p:sp>
        <p:nvSpPr>
          <p:cNvPr id="13" name="Rounded Rectangle 12"/>
          <p:cNvSpPr/>
          <p:nvPr/>
        </p:nvSpPr>
        <p:spPr>
          <a:xfrm>
            <a:off x="7269480" y="418795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Consent statement and date</a:t>
            </a:r>
          </a:p>
        </p:txBody>
      </p:sp>
      <p:sp>
        <p:nvSpPr>
          <p:cNvPr id="14" name="Rounded Rectangle 13"/>
          <p:cNvSpPr/>
          <p:nvPr/>
        </p:nvSpPr>
        <p:spPr>
          <a:xfrm>
            <a:off x="7269480" y="455371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Partner code, from the QR link or paper form</a:t>
            </a:r>
          </a:p>
        </p:txBody>
      </p:sp>
      <p:sp>
        <p:nvSpPr>
          <p:cNvPr id="15" name="TextBox 14"/>
          <p:cNvSpPr txBox="1"/>
          <p:nvPr/>
        </p:nvSpPr>
        <p:spPr>
          <a:xfrm>
            <a:off x="7269480" y="4983480"/>
            <a:ext cx="4370832" cy="1005840"/>
          </a:xfrm>
          <a:prstGeom prst="rect">
            <a:avLst/>
          </a:prstGeom>
          <a:noFill/>
        </p:spPr>
        <p:txBody>
          <a:bodyPr wrap="square" lIns="0" tIns="0" rIns="0" bIns="0" anchor="t">
            <a:spAutoFit/>
          </a:bodyPr>
          <a:lstStyle/>
          <a:p>
            <a:pPr algn="l"/>
            <a:r>
              <a:rPr sz="950" b="0" i="0">
                <a:solidFill>
                  <a:srgbClr val="818283"/>
                </a:solidFill>
                <a:latin typeface="Arial"/>
              </a:rPr>
              <a:t>Consent draft: 'I agree that Silverleaf Academy may contact me by phone, WhatsApp or email about school admissions. [My employer] will not see my details; Silverleaf will share only total numbers. I can withdraw at any time.'</a:t>
            </a:r>
          </a:p>
        </p:txBody>
      </p:sp>
      <p:pic>
        <p:nvPicPr>
          <p:cNvPr id="16" name="Picture 15" descr="image3.png"/>
          <p:cNvPicPr>
            <a:picLocks noChangeAspect="1"/>
          </p:cNvPicPr>
          <p:nvPr/>
        </p:nvPicPr>
        <p:blipFill>
          <a:blip r:embed="rId2"/>
          <a:stretch>
            <a:fillRect/>
          </a:stretch>
        </p:blipFill>
        <p:spPr>
          <a:xfrm>
            <a:off x="548640" y="6272784"/>
            <a:ext cx="1143000" cy="274320"/>
          </a:xfrm>
          <a:prstGeom prst="rect">
            <a:avLst/>
          </a:prstGeom>
        </p:spPr>
      </p:pic>
      <p:sp>
        <p:nvSpPr>
          <p:cNvPr id="1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1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Personal Data Protection Act 2022</a:t>
            </a:r>
          </a:p>
        </p:txBody>
      </p:sp>
      <p:sp>
        <p:nvSpPr>
          <p:cNvPr id="1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DECISIONS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Pipeline decisions (1 of 2)</a:t>
            </a:r>
          </a:p>
        </p:txBody>
      </p:sp>
      <p:graphicFrame>
        <p:nvGraphicFramePr>
          <p:cNvPr id="4" name="Table 3"/>
          <p:cNvGraphicFramePr>
            <a:graphicFrameLocks noGrp="1"/>
          </p:cNvGraphicFramePr>
          <p:nvPr/>
        </p:nvGraphicFramePr>
        <p:xfrm>
          <a:off x="548640" y="1298448"/>
          <a:ext cx="11091672" cy="4718304"/>
        </p:xfrm>
        <a:graphic>
          <a:graphicData uri="http://schemas.openxmlformats.org/drawingml/2006/table">
            <a:tbl>
              <a:tblPr firstRow="0" bandRow="0">
                <a:tableStyleId>{2D5ABB26-0587-4C30-8999-92F81FD0307C}</a:tableStyleId>
              </a:tblPr>
              <a:tblGrid>
                <a:gridCol w="411480"/>
                <a:gridCol w="3017520"/>
                <a:gridCol w="7662672"/>
              </a:tblGrid>
              <a:tr h="393192">
                <a:tc>
                  <a:txBody>
                    <a:bodyPr wrap="square"/>
                    <a:lstStyle/>
                    <a:p>
                      <a:r>
                        <a:rPr sz="900" b="1" i="0" spc="100">
                          <a:solidFill>
                            <a:srgbClr val="818283"/>
                          </a:solidFill>
                          <a:latin typeface="Arial"/>
                        </a:rPr>
                        <a: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QUESTION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DECISION</a:t>
                      </a:r>
                    </a:p>
                  </a:txBody>
                  <a:tcPr marL="54864" marR="54864" marT="36576" marB="36576" anchor="ctr">
                    <a:lnL w="0">
                      <a:noFill/>
                    </a:lnL>
                    <a:lnR w="0">
                      <a:noFill/>
                    </a:lnR>
                    <a:lnT w="0">
                      <a:noFill/>
                    </a:lnT>
                    <a:lnB w="12700">
                      <a:solidFill>
                        <a:srgbClr val="80BFEC"/>
                      </a:solidFill>
                    </a:lnB>
                    <a:noFill/>
                  </a:tcPr>
                </a:tc>
              </a:tr>
              <a:tr h="393192">
                <a:tc>
                  <a:txBody>
                    <a:bodyPr wrap="square"/>
                    <a:lstStyle/>
                    <a:p>
                      <a:r>
                        <a:rPr sz="1000" b="1" i="0">
                          <a:solidFill>
                            <a:srgbClr val="002368"/>
                          </a:solidFill>
                          <a:latin typeface="Arial"/>
                        </a:rPr>
                        <a:t>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Who owns each stage?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Coord S1–S7 and government letters; Adm from opt-in; campus head hosts; Finance checks terms before the first send; CEO signs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Site visit or webinar?</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Visit for 20+ staff at one site within 25 km (10+ within 10 km); webinar for shifts or field; under 10 a pack</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3</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Sessions for variant A sponsors?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Yes, separately: an optional second conversation one month after the sponsorship</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4</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Community meeting format?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15–20 min inside an existing meeting, Kiswahili, two staff, booklet, voluntary form; inbound-only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5</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Welfare-sponsored enrolment?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Admissions assesses each child with the institution's consent; totals only; three-way funder agreement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6</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Introducer acknowledgement?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 thank-you letter and termly totals; no reward until a new referral scheme</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7</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Where do sign-ups live?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 restricted store outside the lead databases, owned by admissions; inbound-only until the DPO approves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8</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When is a partnership closed?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At the circulation or the signature; sign-ups are S8 results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9</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 or agreement first?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 first by default; agreement first when asked (banks, public bodies, international bodies)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10</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Notice for staff sessions?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7 days with pre-approved assets; T-21 only for bespoke events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OF04 without a staff list?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The parent declares employer and role; HR confirms that one person, with consent</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(decisions abridged)</a:t>
            </a:r>
          </a:p>
        </p:txBody>
      </p:sp>
      <p:sp>
        <p:nvSpPr>
          <p:cNvPr id="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DECISIONS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Pipeline decisions (2 of 2)</a:t>
            </a:r>
          </a:p>
        </p:txBody>
      </p:sp>
      <p:graphicFrame>
        <p:nvGraphicFramePr>
          <p:cNvPr id="4" name="Table 3"/>
          <p:cNvGraphicFramePr>
            <a:graphicFrameLocks noGrp="1"/>
          </p:cNvGraphicFramePr>
          <p:nvPr/>
        </p:nvGraphicFramePr>
        <p:xfrm>
          <a:off x="548640" y="1298448"/>
          <a:ext cx="11091672" cy="4718304"/>
        </p:xfrm>
        <a:graphic>
          <a:graphicData uri="http://schemas.openxmlformats.org/drawingml/2006/table">
            <a:tbl>
              <a:tblPr firstRow="0" bandRow="0">
                <a:tableStyleId>{2D5ABB26-0587-4C30-8999-92F81FD0307C}</a:tableStyleId>
              </a:tblPr>
              <a:tblGrid>
                <a:gridCol w="411480"/>
                <a:gridCol w="3017520"/>
                <a:gridCol w="7662672"/>
              </a:tblGrid>
              <a:tr h="393192">
                <a:tc>
                  <a:txBody>
                    <a:bodyPr wrap="square"/>
                    <a:lstStyle/>
                    <a:p>
                      <a:r>
                        <a:rPr sz="900" b="1" i="0" spc="100">
                          <a:solidFill>
                            <a:srgbClr val="818283"/>
                          </a:solidFill>
                          <a:latin typeface="Arial"/>
                        </a:rPr>
                        <a: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QUESTION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DECISION</a:t>
                      </a:r>
                    </a:p>
                  </a:txBody>
                  <a:tcPr marL="54864" marR="54864" marT="36576" marB="36576" anchor="ctr">
                    <a:lnL w="0">
                      <a:noFill/>
                    </a:lnL>
                    <a:lnR w="0">
                      <a:noFill/>
                    </a:lnR>
                    <a:lnT w="0">
                      <a:noFill/>
                    </a:lnT>
                    <a:lnB w="12700">
                      <a:solidFill>
                        <a:srgbClr val="80BFEC"/>
                      </a:solidFill>
                    </a:lnB>
                    <a:noFill/>
                  </a:tcPr>
                </a:tc>
              </a:tr>
              <a:tr h="393192">
                <a:tc>
                  <a:txBody>
                    <a:bodyPr wrap="square"/>
                    <a:lstStyle/>
                    <a:p>
                      <a:r>
                        <a:rPr sz="1000" b="1" i="0">
                          <a:solidFill>
                            <a:srgbClr val="002368"/>
                          </a:solidFill>
                          <a:latin typeface="Arial"/>
                        </a:rPr>
                        <a:t>12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Public-body compliance check?</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CEO or a named lead; exclude bodies that tax, regulate, inspect or license us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13</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Smallest number in a report?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Show 'fewer than 3' for counts of 1 or 2</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14</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Escalate after silence?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Yes: one message after the close, then dormant; record P1 escalation contacts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15</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Working the no-email rows?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Front-desk call, two attempts, then a letter for P1/P2; start with hotels and hospitals that publish a phone</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16</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SACCOS with its employer?</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One deal; the committee joins at the session</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17</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Sessions per week?</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At most three until the Fundraising and Partnerships Associate is hired; P1 and introducers before December</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18</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Renewal cadence?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Re-circulate before each window; review agreements 8 weeks before January; dormant after two quiet windows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19</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What may the government booklet say?</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Letters state no offer; the booklet gives levels, campuses, windows and the family offer, no fees until 2027 approval</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20</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When may an incentive be used?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Only at S6, one engaged employer, Finance's written approval, time-limited, in the register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'Large enough' for 'or your HR lead'?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P1/P2, 50+ staff, or a bank, hospital, college, international body, manufacturer, aviation or public body</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Who records a front-desk name?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The Coord, with source and date; used only in that organisation's Attn message until confirmed</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(decisions abridged)</a:t>
            </a:r>
          </a:p>
        </p:txBody>
      </p:sp>
      <p:sp>
        <p:nvSpPr>
          <p:cNvPr id="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CATCHMENT DATA</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Known gaps and their fixes</a:t>
            </a:r>
          </a:p>
        </p:txBody>
      </p:sp>
      <p:sp>
        <p:nvSpPr>
          <p:cNvPr id="4" name="Rounded Rectangle 3"/>
          <p:cNvSpPr/>
          <p:nvPr/>
        </p:nvSpPr>
        <p:spPr>
          <a:xfrm>
            <a:off x="548640" y="132588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5" name="TextBox 4"/>
          <p:cNvSpPr txBox="1"/>
          <p:nvPr/>
        </p:nvSpPr>
        <p:spPr>
          <a:xfrm>
            <a:off x="777240" y="1490472"/>
            <a:ext cx="731520" cy="457200"/>
          </a:xfrm>
          <a:prstGeom prst="rect">
            <a:avLst/>
          </a:prstGeom>
          <a:noFill/>
        </p:spPr>
        <p:txBody>
          <a:bodyPr wrap="square" lIns="0" tIns="0" rIns="0" bIns="0" anchor="t">
            <a:spAutoFit/>
          </a:bodyPr>
          <a:lstStyle/>
          <a:p>
            <a:pPr algn="l"/>
            <a:r>
              <a:rPr sz="2000" b="0" i="0">
                <a:solidFill>
                  <a:srgbClr val="80BFEC"/>
                </a:solidFill>
                <a:latin typeface="Georgia"/>
              </a:rPr>
              <a:t>01</a:t>
            </a:r>
          </a:p>
        </p:txBody>
      </p:sp>
      <p:sp>
        <p:nvSpPr>
          <p:cNvPr id="6" name="TextBox 5"/>
          <p:cNvSpPr txBox="1"/>
          <p:nvPr/>
        </p:nvSpPr>
        <p:spPr>
          <a:xfrm>
            <a:off x="1417319" y="1527048"/>
            <a:ext cx="4389120" cy="292608"/>
          </a:xfrm>
          <a:prstGeom prst="rect">
            <a:avLst/>
          </a:prstGeom>
          <a:noFill/>
        </p:spPr>
        <p:txBody>
          <a:bodyPr wrap="square" lIns="0" tIns="0" rIns="0" bIns="0" anchor="t">
            <a:spAutoFit/>
          </a:bodyPr>
          <a:lstStyle/>
          <a:p>
            <a:pPr algn="l"/>
            <a:r>
              <a:rPr sz="1300" b="1" i="0">
                <a:solidFill>
                  <a:srgbClr val="002368"/>
                </a:solidFill>
                <a:latin typeface="Arial"/>
              </a:rPr>
              <a:t>Distances are straight lines</a:t>
            </a:r>
          </a:p>
        </p:txBody>
      </p:sp>
      <p:sp>
        <p:nvSpPr>
          <p:cNvPr id="7" name="TextBox 6"/>
          <p:cNvSpPr txBox="1"/>
          <p:nvPr/>
        </p:nvSpPr>
        <p:spPr>
          <a:xfrm>
            <a:off x="777240" y="2011680"/>
            <a:ext cx="5029200" cy="822960"/>
          </a:xfrm>
          <a:prstGeom prst="rect">
            <a:avLst/>
          </a:prstGeom>
          <a:noFill/>
        </p:spPr>
        <p:txBody>
          <a:bodyPr wrap="square" lIns="0" tIns="0" rIns="0" bIns="0" anchor="t">
            <a:spAutoFit/>
          </a:bodyPr>
          <a:lstStyle/>
          <a:p>
            <a:pPr algn="l"/>
            <a:r>
              <a:rPr sz="1050" b="0" i="0">
                <a:solidFill>
                  <a:srgbClr val="000000"/>
                </a:solidFill>
                <a:latin typeface="Arial"/>
              </a:rPr>
              <a:t>A lead 12 km away across Mount Meru's slopes can be a longer drive than one 15 km along the main road.</a:t>
            </a:r>
          </a:p>
        </p:txBody>
      </p:sp>
      <p:sp>
        <p:nvSpPr>
          <p:cNvPr id="8" name="Rounded Rectangle 7"/>
          <p:cNvSpPr/>
          <p:nvPr/>
        </p:nvSpPr>
        <p:spPr>
          <a:xfrm>
            <a:off x="777240" y="288036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9" name="TextBox 8"/>
          <p:cNvSpPr txBox="1"/>
          <p:nvPr/>
        </p:nvSpPr>
        <p:spPr>
          <a:xfrm>
            <a:off x="914400" y="288036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Add road distance or drive time for leads at 11–25 km.</a:t>
            </a:r>
          </a:p>
        </p:txBody>
      </p:sp>
      <p:sp>
        <p:nvSpPr>
          <p:cNvPr id="10" name="Rounded Rectangle 9"/>
          <p:cNvSpPr/>
          <p:nvPr/>
        </p:nvSpPr>
        <p:spPr>
          <a:xfrm>
            <a:off x="6190488" y="132588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11" name="TextBox 10"/>
          <p:cNvSpPr txBox="1"/>
          <p:nvPr/>
        </p:nvSpPr>
        <p:spPr>
          <a:xfrm>
            <a:off x="6419088" y="1490472"/>
            <a:ext cx="731520" cy="457200"/>
          </a:xfrm>
          <a:prstGeom prst="rect">
            <a:avLst/>
          </a:prstGeom>
          <a:noFill/>
        </p:spPr>
        <p:txBody>
          <a:bodyPr wrap="square" lIns="0" tIns="0" rIns="0" bIns="0" anchor="t">
            <a:spAutoFit/>
          </a:bodyPr>
          <a:lstStyle/>
          <a:p>
            <a:pPr algn="l"/>
            <a:r>
              <a:rPr sz="2000" b="0" i="0">
                <a:solidFill>
                  <a:srgbClr val="80BFEC"/>
                </a:solidFill>
                <a:latin typeface="Georgia"/>
              </a:rPr>
              <a:t>02</a:t>
            </a:r>
          </a:p>
        </p:txBody>
      </p:sp>
      <p:sp>
        <p:nvSpPr>
          <p:cNvPr id="12" name="TextBox 11"/>
          <p:cNvSpPr txBox="1"/>
          <p:nvPr/>
        </p:nvSpPr>
        <p:spPr>
          <a:xfrm>
            <a:off x="7059168" y="1527048"/>
            <a:ext cx="4389120" cy="292608"/>
          </a:xfrm>
          <a:prstGeom prst="rect">
            <a:avLst/>
          </a:prstGeom>
          <a:noFill/>
        </p:spPr>
        <p:txBody>
          <a:bodyPr wrap="square" lIns="0" tIns="0" rIns="0" bIns="0" anchor="t">
            <a:spAutoFit/>
          </a:bodyPr>
          <a:lstStyle/>
          <a:p>
            <a:pPr algn="l"/>
            <a:r>
              <a:rPr sz="1300" b="1" i="0">
                <a:solidFill>
                  <a:srgbClr val="002368"/>
                </a:solidFill>
                <a:latin typeface="Arial"/>
              </a:rPr>
              <a:t>Some distances are approximate</a:t>
            </a:r>
          </a:p>
        </p:txBody>
      </p:sp>
      <p:sp>
        <p:nvSpPr>
          <p:cNvPr id="13" name="TextBox 12"/>
          <p:cNvSpPr txBox="1"/>
          <p:nvPr/>
        </p:nvSpPr>
        <p:spPr>
          <a:xfrm>
            <a:off x="6419088" y="2011680"/>
            <a:ext cx="5029200" cy="822960"/>
          </a:xfrm>
          <a:prstGeom prst="rect">
            <a:avLst/>
          </a:prstGeom>
          <a:noFill/>
        </p:spPr>
        <p:txBody>
          <a:bodyPr wrap="square" lIns="0" tIns="0" rIns="0" bIns="0" anchor="t">
            <a:spAutoFit/>
          </a:bodyPr>
          <a:lstStyle/>
          <a:p>
            <a:pPr algn="l"/>
            <a:r>
              <a:rPr sz="1050" b="0" i="0">
                <a:solidFill>
                  <a:srgbClr val="000000"/>
                </a:solidFill>
                <a:latin typeface="Arial"/>
              </a:rPr>
              <a:t>About 225 companies are placed only to a town or city centre, and some distances still use the earlier campus points, so a band can be a few kilometres off.</a:t>
            </a:r>
          </a:p>
        </p:txBody>
      </p:sp>
      <p:sp>
        <p:nvSpPr>
          <p:cNvPr id="14" name="Rounded Rectangle 13"/>
          <p:cNvSpPr/>
          <p:nvPr/>
        </p:nvSpPr>
        <p:spPr>
          <a:xfrm>
            <a:off x="6419088" y="288036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15" name="TextBox 14"/>
          <p:cNvSpPr txBox="1"/>
          <p:nvPr/>
        </p:nvSpPr>
        <p:spPr>
          <a:xfrm>
            <a:off x="6556248" y="288036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Place each company from its own address.</a:t>
            </a:r>
          </a:p>
        </p:txBody>
      </p:sp>
      <p:sp>
        <p:nvSpPr>
          <p:cNvPr id="16" name="Rounded Rectangle 15"/>
          <p:cNvSpPr/>
          <p:nvPr/>
        </p:nvSpPr>
        <p:spPr>
          <a:xfrm>
            <a:off x="548640" y="365760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17" name="TextBox 16"/>
          <p:cNvSpPr txBox="1"/>
          <p:nvPr/>
        </p:nvSpPr>
        <p:spPr>
          <a:xfrm>
            <a:off x="777240" y="3822191"/>
            <a:ext cx="731520" cy="457200"/>
          </a:xfrm>
          <a:prstGeom prst="rect">
            <a:avLst/>
          </a:prstGeom>
          <a:noFill/>
        </p:spPr>
        <p:txBody>
          <a:bodyPr wrap="square" lIns="0" tIns="0" rIns="0" bIns="0" anchor="t">
            <a:spAutoFit/>
          </a:bodyPr>
          <a:lstStyle/>
          <a:p>
            <a:pPr algn="l"/>
            <a:r>
              <a:rPr sz="2000" b="0" i="0">
                <a:solidFill>
                  <a:srgbClr val="80BFEC"/>
                </a:solidFill>
                <a:latin typeface="Georgia"/>
              </a:rPr>
              <a:t>03</a:t>
            </a:r>
          </a:p>
        </p:txBody>
      </p:sp>
      <p:sp>
        <p:nvSpPr>
          <p:cNvPr id="18" name="TextBox 17"/>
          <p:cNvSpPr txBox="1"/>
          <p:nvPr/>
        </p:nvSpPr>
        <p:spPr>
          <a:xfrm>
            <a:off x="1417319" y="3858768"/>
            <a:ext cx="4389120" cy="292608"/>
          </a:xfrm>
          <a:prstGeom prst="rect">
            <a:avLst/>
          </a:prstGeom>
          <a:noFill/>
        </p:spPr>
        <p:txBody>
          <a:bodyPr wrap="square" lIns="0" tIns="0" rIns="0" bIns="0" anchor="t">
            <a:spAutoFit/>
          </a:bodyPr>
          <a:lstStyle/>
          <a:p>
            <a:pPr algn="l"/>
            <a:r>
              <a:rPr sz="1300" b="1" i="0">
                <a:solidFill>
                  <a:srgbClr val="002368"/>
                </a:solidFill>
                <a:latin typeface="Arial"/>
              </a:rPr>
              <a:t>30 leads have no nearest campus yet</a:t>
            </a:r>
          </a:p>
        </p:txBody>
      </p:sp>
      <p:sp>
        <p:nvSpPr>
          <p:cNvPr id="19" name="TextBox 18"/>
          <p:cNvSpPr txBox="1"/>
          <p:nvPr/>
        </p:nvSpPr>
        <p:spPr>
          <a:xfrm>
            <a:off x="777240" y="4343400"/>
            <a:ext cx="5029200" cy="822960"/>
          </a:xfrm>
          <a:prstGeom prst="rect">
            <a:avLst/>
          </a:prstGeom>
          <a:noFill/>
        </p:spPr>
        <p:txBody>
          <a:bodyPr wrap="square" lIns="0" tIns="0" rIns="0" bIns="0" anchor="t">
            <a:spAutoFit/>
          </a:bodyPr>
          <a:lstStyle/>
          <a:p>
            <a:pPr algn="l"/>
            <a:r>
              <a:rPr sz="1050" b="0" i="0">
                <a:solidFill>
                  <a:srgbClr val="000000"/>
                </a:solidFill>
                <a:latin typeface="Arial"/>
              </a:rPr>
              <a:t>30 companies and savings groups have a town or address on file but no campus recorded, 11 of them no map point, so they sit in no band.</a:t>
            </a:r>
          </a:p>
        </p:txBody>
      </p:sp>
      <p:sp>
        <p:nvSpPr>
          <p:cNvPr id="20" name="Rounded Rectangle 19"/>
          <p:cNvSpPr/>
          <p:nvPr/>
        </p:nvSpPr>
        <p:spPr>
          <a:xfrm>
            <a:off x="777240" y="521208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21" name="TextBox 20"/>
          <p:cNvSpPr txBox="1"/>
          <p:nvPr/>
        </p:nvSpPr>
        <p:spPr>
          <a:xfrm>
            <a:off x="914400" y="521208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Place them by town.</a:t>
            </a:r>
          </a:p>
        </p:txBody>
      </p:sp>
      <p:sp>
        <p:nvSpPr>
          <p:cNvPr id="22" name="Rounded Rectangle 21"/>
          <p:cNvSpPr/>
          <p:nvPr/>
        </p:nvSpPr>
        <p:spPr>
          <a:xfrm>
            <a:off x="6190488" y="365760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23" name="TextBox 22"/>
          <p:cNvSpPr txBox="1"/>
          <p:nvPr/>
        </p:nvSpPr>
        <p:spPr>
          <a:xfrm>
            <a:off x="6419088" y="3822191"/>
            <a:ext cx="731520" cy="457200"/>
          </a:xfrm>
          <a:prstGeom prst="rect">
            <a:avLst/>
          </a:prstGeom>
          <a:noFill/>
        </p:spPr>
        <p:txBody>
          <a:bodyPr wrap="square" lIns="0" tIns="0" rIns="0" bIns="0" anchor="t">
            <a:spAutoFit/>
          </a:bodyPr>
          <a:lstStyle/>
          <a:p>
            <a:pPr algn="l"/>
            <a:r>
              <a:rPr sz="2000" b="0" i="0">
                <a:solidFill>
                  <a:srgbClr val="80BFEC"/>
                </a:solidFill>
                <a:latin typeface="Georgia"/>
              </a:rPr>
              <a:t>04</a:t>
            </a:r>
          </a:p>
        </p:txBody>
      </p:sp>
      <p:sp>
        <p:nvSpPr>
          <p:cNvPr id="24" name="TextBox 23"/>
          <p:cNvSpPr txBox="1"/>
          <p:nvPr/>
        </p:nvSpPr>
        <p:spPr>
          <a:xfrm>
            <a:off x="7059168" y="3858768"/>
            <a:ext cx="4389120" cy="292608"/>
          </a:xfrm>
          <a:prstGeom prst="rect">
            <a:avLst/>
          </a:prstGeom>
          <a:noFill/>
        </p:spPr>
        <p:txBody>
          <a:bodyPr wrap="square" lIns="0" tIns="0" rIns="0" bIns="0" anchor="t">
            <a:spAutoFit/>
          </a:bodyPr>
          <a:lstStyle/>
          <a:p>
            <a:pPr algn="l"/>
            <a:r>
              <a:rPr sz="1300" b="1" i="0">
                <a:solidFill>
                  <a:srgbClr val="002368"/>
                </a:solidFill>
                <a:latin typeface="Arial"/>
              </a:rPr>
              <a:t>Ward locations are estimates</a:t>
            </a:r>
          </a:p>
        </p:txBody>
      </p:sp>
      <p:sp>
        <p:nvSpPr>
          <p:cNvPr id="25" name="TextBox 24"/>
          <p:cNvSpPr txBox="1"/>
          <p:nvPr/>
        </p:nvSpPr>
        <p:spPr>
          <a:xfrm>
            <a:off x="6419088" y="4343400"/>
            <a:ext cx="5029200" cy="822960"/>
          </a:xfrm>
          <a:prstGeom prst="rect">
            <a:avLst/>
          </a:prstGeom>
          <a:noFill/>
        </p:spPr>
        <p:txBody>
          <a:bodyPr wrap="square" lIns="0" tIns="0" rIns="0" bIns="0" anchor="t">
            <a:spAutoFit/>
          </a:bodyPr>
          <a:lstStyle/>
          <a:p>
            <a:pPr algn="l"/>
            <a:r>
              <a:rPr sz="1050" b="0" i="0">
                <a:solidFill>
                  <a:srgbClr val="000000"/>
                </a:solidFill>
                <a:latin typeface="Arial"/>
              </a:rPr>
              <a:t>Each ward is one reference point, because no ward boundaries are mapped here, so its distance can be 1–5 km off.</a:t>
            </a:r>
          </a:p>
        </p:txBody>
      </p:sp>
      <p:sp>
        <p:nvSpPr>
          <p:cNvPr id="26" name="Rounded Rectangle 25"/>
          <p:cNvSpPr/>
          <p:nvPr/>
        </p:nvSpPr>
        <p:spPr>
          <a:xfrm>
            <a:off x="6419088" y="521208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27" name="TextBox 26"/>
          <p:cNvSpPr txBox="1"/>
          <p:nvPr/>
        </p:nvSpPr>
        <p:spPr>
          <a:xfrm>
            <a:off x="6556248" y="521208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Use the official ward boundaries.</a:t>
            </a:r>
          </a:p>
        </p:txBody>
      </p:sp>
      <p:pic>
        <p:nvPicPr>
          <p:cNvPr id="28" name="Picture 27" descr="image3.png"/>
          <p:cNvPicPr>
            <a:picLocks noChangeAspect="1"/>
          </p:cNvPicPr>
          <p:nvPr/>
        </p:nvPicPr>
        <p:blipFill>
          <a:blip r:embed="rId2"/>
          <a:stretch>
            <a:fillRect/>
          </a:stretch>
        </p:blipFill>
        <p:spPr>
          <a:xfrm>
            <a:off x="548640" y="6272784"/>
            <a:ext cx="1143000" cy="274320"/>
          </a:xfrm>
          <a:prstGeom prst="rect">
            <a:avLst/>
          </a:prstGeom>
        </p:spPr>
      </p:pic>
      <p:sp>
        <p:nvSpPr>
          <p:cNvPr id="29"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30"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catchment criteria and lead databases, October 2026</a:t>
            </a:r>
          </a:p>
        </p:txBody>
      </p:sp>
      <p:sp>
        <p:nvSpPr>
          <p:cNvPr id="3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5760720" y="2240280"/>
            <a:ext cx="3108960" cy="740664"/>
          </a:xfrm>
          <a:prstGeom prst="rect">
            <a:avLst/>
          </a:prstGeom>
        </p:spPr>
      </p:pic>
      <p:sp>
        <p:nvSpPr>
          <p:cNvPr id="3" name="TextBox 2"/>
          <p:cNvSpPr txBox="1"/>
          <p:nvPr/>
        </p:nvSpPr>
        <p:spPr>
          <a:xfrm>
            <a:off x="5760720" y="3200400"/>
            <a:ext cx="5943600" cy="640080"/>
          </a:xfrm>
          <a:prstGeom prst="rect">
            <a:avLst/>
          </a:prstGeom>
          <a:noFill/>
        </p:spPr>
        <p:txBody>
          <a:bodyPr wrap="square" lIns="0" tIns="0" rIns="0" bIns="0" anchor="t">
            <a:spAutoFit/>
          </a:bodyPr>
          <a:lstStyle/>
          <a:p>
            <a:pPr algn="l"/>
            <a:r>
              <a:rPr sz="3000" b="1" i="0">
                <a:solidFill>
                  <a:srgbClr val="80BFEC"/>
                </a:solidFill>
                <a:latin typeface="Arial"/>
              </a:rPr>
              <a:t>The Future Starts Here.</a:t>
            </a:r>
          </a:p>
        </p:txBody>
      </p:sp>
      <p:sp>
        <p:nvSpPr>
          <p:cNvPr id="4" name="TextBox 3"/>
          <p:cNvSpPr txBox="1"/>
          <p:nvPr/>
        </p:nvSpPr>
        <p:spPr>
          <a:xfrm>
            <a:off x="5760720" y="3977639"/>
            <a:ext cx="5760720" cy="822960"/>
          </a:xfrm>
          <a:prstGeom prst="rect">
            <a:avLst/>
          </a:prstGeom>
          <a:noFill/>
        </p:spPr>
        <p:txBody>
          <a:bodyPr wrap="square" lIns="0" tIns="0" rIns="0" bIns="0" anchor="t">
            <a:spAutoFit/>
          </a:bodyPr>
          <a:lstStyle/>
          <a:p>
            <a:pPr algn="l"/>
            <a:r>
              <a:rPr sz="1200" b="0" i="0">
                <a:solidFill>
                  <a:srgbClr val="FFFFFF"/>
                </a:solidFill>
                <a:latin typeface="Georgia"/>
              </a:rPr>
              <a:t>The lead lists, segments, first messages and partnership pipeline are in place. Nothing is sent automatically; a person sends every message.</a:t>
            </a:r>
          </a:p>
        </p:txBody>
      </p:sp>
      <p:sp>
        <p:nvSpPr>
          <p:cNvPr id="5" name="TextBox 4"/>
          <p:cNvSpPr txBox="1"/>
          <p:nvPr/>
        </p:nvSpPr>
        <p:spPr>
          <a:xfrm>
            <a:off x="5760720" y="4937760"/>
            <a:ext cx="5760720" cy="274320"/>
          </a:xfrm>
          <a:prstGeom prst="rect">
            <a:avLst/>
          </a:prstGeom>
          <a:noFill/>
        </p:spPr>
        <p:txBody>
          <a:bodyPr wrap="square" lIns="0" tIns="0" rIns="0" bIns="0" anchor="t">
            <a:spAutoFit/>
          </a:bodyPr>
          <a:lstStyle/>
          <a:p>
            <a:pPr algn="l"/>
            <a:r>
              <a:rPr sz="1100" b="1" i="0" u="sng">
                <a:solidFill>
                  <a:srgbClr val="FFC952"/>
                </a:solidFill>
                <a:latin typeface="Arial"/>
                <a:hlinkClick r:id="rId4">
                  <a:extLst>
                    <a:ext uri="{A12FA001-AC4F-418D-AE19-62706E023703}">
                      <ahyp:hlinkClr xmlns:ahyp="http://schemas.microsoft.com/office/drawing/2018/hyperlinkcolor" val="tx"/>
                    </a:ext>
                  </a:extLst>
                </a:hlinkClick>
              </a:rPr>
              <a:t>Open the lead map →</a:t>
            </a:r>
            <a:r>
              <a:rPr sz="1100" b="0" i="0">
                <a:solidFill>
                  <a:srgbClr val="FFFFFF"/>
                </a:solidFill>
                <a:latin typeface="Arial"/>
              </a:rPr>
              <a:t>     </a:t>
            </a:r>
            <a:r>
              <a:rPr sz="1100" b="1" i="0" u="sng">
                <a:solidFill>
                  <a:srgbClr val="FFC952"/>
                </a:solidFill>
                <a:latin typeface="Arial"/>
                <a:hlinkClick r:id="rId5">
                  <a:extLst>
                    <a:ext uri="{A12FA001-AC4F-418D-AE19-62706E023703}">
                      <ahyp:hlinkClr xmlns:ahyp="http://schemas.microsoft.com/office/drawing/2018/hyperlinkcolor" val="tx"/>
                    </a:ext>
                  </a:extLst>
                </a:hlinkClick>
              </a:rPr>
              <a:t>Open the pipeline page →</a:t>
            </a:r>
          </a:p>
        </p:txBody>
      </p:sp>
      <p:sp>
        <p:nvSpPr>
          <p:cNvPr id="6" name="TextBox 5"/>
          <p:cNvSpPr txBox="1"/>
          <p:nvPr/>
        </p:nvSpPr>
        <p:spPr>
          <a:xfrm>
            <a:off x="5760720" y="6035040"/>
            <a:ext cx="5943600" cy="274320"/>
          </a:xfrm>
          <a:prstGeom prst="rect">
            <a:avLst/>
          </a:prstGeom>
          <a:noFill/>
        </p:spPr>
        <p:txBody>
          <a:bodyPr wrap="square" lIns="0" tIns="0" rIns="0" bIns="0" anchor="t">
            <a:spAutoFit/>
          </a:bodyPr>
          <a:lstStyle/>
          <a:p>
            <a:pPr algn="l"/>
            <a:r>
              <a:rPr sz="1000" b="0" i="0">
                <a:solidFill>
                  <a:srgbClr val="8091B3"/>
                </a:solidFill>
                <a:latin typeface="Arial"/>
              </a:rPr>
              <a:t>Silverleaf Academy  ·  Marketing &amp; Partnerships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2026-09-10T00:30:39.2670000Z</dcterms:created>
  <dcterms:modified xsi:type="dcterms:W3CDTF">2026-09-10T00:30:39.2670000Z</dcterms:modified>
</coreProperties>
</file>