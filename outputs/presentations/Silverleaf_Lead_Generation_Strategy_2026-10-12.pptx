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8433a703b2cf495a" Type="http://schemas.openxmlformats.org/officeDocument/2006/relationships/extended-properties" Target="docProps/app.xml"/><Relationship Id="Rd40ef8c8e9af4631" Type="http://schemas.openxmlformats.org/officeDocument/2006/relationships/officeDocument" Target="ppt/presentation.xml"/><Relationship Id="Rdd8e5c467ef5499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5f2eafc1c3c436f"/>
  </p:sldMasterIdLst>
  <p:notesMasterIdLst>
    <p:notesMasterId xmlns:r="http://schemas.openxmlformats.org/officeDocument/2006/relationships" r:id="Re2246cf756d44e01"/>
  </p:notesMasterIdLst>
  <p:sldIdLst>
    <p:sldId xmlns:ns0="http://schemas.openxmlformats.org/officeDocument/2006/relationships" id="256" ns0:id="rId7"/>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 xmlns:ns0="http://schemas.openxmlformats.org/officeDocument/2006/relationships" id="267" ns0:id="rId18"/>
    <p:sldId xmlns:ns0="http://schemas.openxmlformats.org/officeDocument/2006/relationships" id="268" ns0:id="rId19"/>
    <p:sldId xmlns:ns0="http://schemas.openxmlformats.org/officeDocument/2006/relationships" id="269" ns0:id="rId20"/>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ns0="http://schemas.openxmlformats.org/officeDocument/2006/relationships" id="273" ns0:id="rId24"/>
    <p:sldId xmlns:ns0="http://schemas.openxmlformats.org/officeDocument/2006/relationships" id="274" ns0:id="rId25"/>
    <p:sldId xmlns:ns0="http://schemas.openxmlformats.org/officeDocument/2006/relationships" id="275" ns0:id="rId26"/>
    <p:sldId xmlns:ns0="http://schemas.openxmlformats.org/officeDocument/2006/relationships" id="276" ns0:id="rId27"/>
    <p:sldId xmlns:ns0="http://schemas.openxmlformats.org/officeDocument/2006/relationships" id="277" ns0:id="rId28"/>
    <p:sldId xmlns:ns0="http://schemas.openxmlformats.org/officeDocument/2006/relationships" id="278" ns0:id="rId29"/>
    <p:sldId xmlns:ns0="http://schemas.openxmlformats.org/officeDocument/2006/relationships" id="279" ns0:id="rId30"/>
    <p:sldId xmlns:ns0="http://schemas.openxmlformats.org/officeDocument/2006/relationships" id="280" ns0:id="rId31"/>
    <p:sldId xmlns:ns0="http://schemas.openxmlformats.org/officeDocument/2006/relationships" id="281" ns0:id="rId32"/>
    <p:sldId xmlns:ns0="http://schemas.openxmlformats.org/officeDocument/2006/relationships" id="282" ns0:id="rId33"/>
    <p:sldId xmlns:ns0="http://schemas.openxmlformats.org/officeDocument/2006/relationships" id="283" ns0:id="rId34"/>
    <p:sldId xmlns:ns0="http://schemas.openxmlformats.org/officeDocument/2006/relationships" id="284" ns0:id="rId35"/>
    <p:sldId xmlns:ns0="http://schemas.openxmlformats.org/officeDocument/2006/relationships" id="285" ns0:id="rId36"/>
    <p:sldId xmlns:ns0="http://schemas.openxmlformats.org/officeDocument/2006/relationships" id="286" ns0:id="rId37"/>
    <p:sldId xmlns:ns0="http://schemas.openxmlformats.org/officeDocument/2006/relationships" id="287" ns0:id="rId38"/>
    <p:sldId xmlns:ns0="http://schemas.openxmlformats.org/officeDocument/2006/relationships" id="288" ns0:id="rId39"/>
    <p:sldId xmlns:ns0="http://schemas.openxmlformats.org/officeDocument/2006/relationships" id="289" ns0:id="rId40"/>
    <p:sldId xmlns:ns0="http://schemas.openxmlformats.org/officeDocument/2006/relationships" id="290" ns0:id="rId41"/>
    <p:sldId xmlns:ns0="http://schemas.openxmlformats.org/officeDocument/2006/relationships" id="291" ns0:id="rId42"/>
    <p:sldId xmlns:ns0="http://schemas.openxmlformats.org/officeDocument/2006/relationships" id="292" ns0:id="rId43"/>
    <p:sldId xmlns:ns0="http://schemas.openxmlformats.org/officeDocument/2006/relationships" id="293" ns0:id="rId44"/>
    <p:sldId xmlns:ns0="http://schemas.openxmlformats.org/officeDocument/2006/relationships" id="294" ns0:id="rId45"/>
    <p:sldId xmlns:ns0="http://schemas.openxmlformats.org/officeDocument/2006/relationships" id="295" ns0:id="rId46"/>
    <p:sldId xmlns:ns0="http://schemas.openxmlformats.org/officeDocument/2006/relationships" id="296" ns0:id="rId47"/>
    <p:sldId xmlns:ns0="http://schemas.openxmlformats.org/officeDocument/2006/relationships" id="297" ns0:id="rId48"/>
    <p:sldId xmlns:ns0="http://schemas.openxmlformats.org/officeDocument/2006/relationships" id="298" ns0:id="rId49"/>
    <p:sldId xmlns:ns0="http://schemas.openxmlformats.org/officeDocument/2006/relationships" id="299" ns0:id="rId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f2eafc1c3c436f" Type="http://schemas.openxmlformats.org/officeDocument/2006/relationships/slideMaster" Target="slideMasters/slideMaster1.xml"/><Relationship Id="R383f8cbfc79a4d86" Type="http://schemas.openxmlformats.org/officeDocument/2006/relationships/theme" Target="theme/theme1.xml"/><Relationship Id="R8dd52c38e44e4341" Type="http://schemas.openxmlformats.org/officeDocument/2006/relationships/viewProps" Target="viewProps.xml"/><Relationship Id="Ra9d8f7c8a9324bff" Type="http://schemas.openxmlformats.org/officeDocument/2006/relationships/tableStyles" Target="tableStyles.xml"/><Relationship Id="Re2246cf756d44e01" Type="http://schemas.openxmlformats.org/officeDocument/2006/relationships/notesMaster" Target="notesMasters/notesMaster1.xml"/><Relationship Id="Rfab06bc7f14646de" Type="http://schemas.openxmlformats.org/officeDocument/2006/relationships/presProps" Target="presProp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Employers</c:v>
                </c:pt>
              </c:strCache>
            </c:strRef>
          </c:tx>
          <c:spPr>
            <a:solidFill>
              <a:srgbClr val="002368"/>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ser>
        <c:ser>
          <c:idx val="1"/>
          <c:order val="1"/>
          <c:tx>
            <c:strRef>
              <c:f>Sheet1!$C$1</c:f>
              <c:strCache>
                <c:ptCount val="1"/>
                <c:pt idx="0">
                  <c:v>Introducers</c:v>
                </c:pt>
              </c:strCache>
            </c:strRef>
          </c:tx>
          <c:spPr>
            <a:solidFill>
              <a:srgbClr val="FFC952"/>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ser>
        <c:ser>
          <c:idx val="2"/>
          <c:order val="2"/>
          <c:tx>
            <c:strRef>
              <c:f>Sheet1!$D$1</c:f>
              <c:strCache>
                <c:ptCount val="1"/>
                <c:pt idx="0">
                  <c:v>Welfare</c:v>
                </c:pt>
              </c:strCache>
            </c:strRef>
          </c:tx>
          <c:spPr>
            <a:solidFill>
              <a:srgbClr val="80BFEC"/>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ser>
        <c:ser>
          <c:idx val="3"/>
          <c:order val="3"/>
          <c:tx>
            <c:strRef>
              <c:f>Sheet1!$E$1</c:f>
              <c:strCache>
                <c:ptCount val="1"/>
                <c:pt idx="0">
                  <c:v>Government</c:v>
                </c:pt>
              </c:strCache>
            </c:strRef>
          </c:tx>
          <c:spPr>
            <a:solidFill>
              <a:srgbClr val="8091B3"/>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ser>
        <c:dLbls>
          <c:numFmt formatCode="#,##0" sourceLinked="0"/>
          <c:txPr>
            <a:bodyPr/>
            <a:lstStyle/>
            <a:p>
              <a:pPr>
                <a:defRPr sz="900" b="1">
                  <a:solidFill>
                    <a:srgbClr val="FFFFFF"/>
                  </a:solidFill>
                  <a:latin typeface="Aria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Leads</c:v>
                </c:pt>
              </c:strCache>
            </c:strRef>
          </c:tx>
          <c:spPr>
            <a:solidFill>
              <a:srgbClr val="002368"/>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ser>
        <c:ser>
          <c:idx val="1"/>
          <c:order val="1"/>
          <c:tx>
            <c:strRef>
              <c:f>Sheet1!$C$1</c:f>
              <c:strCache>
                <c:ptCount val="1"/>
                <c:pt idx="0">
                  <c:v>Ready for review</c:v>
                </c:pt>
              </c:strCache>
            </c:strRef>
          </c:tx>
          <c:spPr>
            <a:solidFill>
              <a:srgbClr val="80BFEC"/>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ser>
        <c:dLbls>
          <c:numFmt formatCode="#,##0" sourceLinked="0"/>
          <c:txPr>
            <a:bodyPr/>
            <a:lstStyle/>
            <a:p>
              <a:pPr>
                <a:defRPr sz="900" b="1">
                  <a:solidFill>
                    <a:srgbClr val="002368"/>
                  </a:solidFill>
                  <a:latin typeface="Arial"/>
                </a:defRPr>
              </a:pPr>
            </a:p>
          </c:txPr>
          <c:showLegendKey val="0"/>
          <c:showVal val="1"/>
          <c:showCatName val="0"/>
          <c:showSerName val="0"/>
          <c:showPercent val="0"/>
          <c:showBubbleSize val="0"/>
          <c:showLeaderLines val="1"/>
        </c:dLbls>
        <c:gapWidth val="40"/>
        <c:overlap val="-1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000">
          <a:solidFill>
            <a:srgbClr val="002368"/>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High direct</c:v>
                </c:pt>
              </c:strCache>
            </c:strRef>
          </c:tx>
          <c:spPr>
            <a:solidFill>
              <a:srgbClr val="002368"/>
            </a:solidFill>
            <a:ln>
              <a:noFill/>
            </a:ln>
          </c:spPr>
          <c:invertIfNegative val="0"/>
          <c:dLbls>
            <c:numFmt formatCode="[&lt;10]&quot;&quot;;#,##0" sourceLinked="0"/>
            <c:txPr>
              <a:bodyPr/>
              <a:lstStyle/>
              <a:p>
                <a:pPr>
                  <a:defRPr sz="1100" b="1">
                    <a:solidFill>
                      <a:srgbClr val="FFFFFF"/>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Sheet1!$B$2:$B$4</c:f>
              <c:numCache>
                <c:formatCode>General</c:formatCode>
                <c:ptCount val="3"/>
                <c:pt idx="0">
                  <c:v>36</c:v>
                </c:pt>
                <c:pt idx="1">
                  <c:v>4</c:v>
                </c:pt>
                <c:pt idx="2">
                  <c:v>14</c:v>
                </c:pt>
              </c:numCache>
            </c:numRef>
          </c:val>
        </c:ser>
        <c:ser>
          <c:idx val="1"/>
          <c:order val="1"/>
          <c:tx>
            <c:strRef>
              <c:f>Sheet1!$C$1</c:f>
              <c:strCache>
                <c:ptCount val="1"/>
                <c:pt idx="0">
                  <c:v>High indirect</c:v>
                </c:pt>
              </c:strCache>
            </c:strRef>
          </c:tx>
          <c:spPr>
            <a:solidFill>
              <a:srgbClr val="80BFEC"/>
            </a:solidFill>
            <a:ln>
              <a:noFill/>
            </a:ln>
          </c:spPr>
          <c:invertIfNegative val="0"/>
          <c:dLbls>
            <c:numFmt formatCode="[&lt;10]&quot;&quot;;#,##0" sourceLinked="0"/>
            <c:txPr>
              <a:bodyPr/>
              <a:lstStyle/>
              <a:p>
                <a:pPr>
                  <a:defRPr sz="1100" b="1">
                    <a:solidFill>
                      <a:srgbClr val="002368"/>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Sheet1!$C$2:$C$4</c:f>
              <c:numCache>
                <c:formatCode>General</c:formatCode>
                <c:ptCount val="3"/>
                <c:pt idx="0">
                  <c:v>228</c:v>
                </c:pt>
                <c:pt idx="1">
                  <c:v>8</c:v>
                </c:pt>
                <c:pt idx="2">
                  <c:v>55</c:v>
                </c:pt>
              </c:numCache>
            </c:numRef>
          </c:val>
        </c:ser>
        <c:dLbls>
          <c:numFmt formatCode="#,##0" sourceLinked="0"/>
          <c:txPr>
            <a:bodyPr/>
            <a:lstStyle/>
            <a:p>
              <a:pPr>
                <a:defRPr sz="1100" b="1">
                  <a:solidFill>
                    <a:srgbClr val="FFFFFF"/>
                  </a:solidFill>
                  <a:latin typeface="Arial"/>
                </a:defRPr>
              </a:pPr>
            </a:p>
          </c:txPr>
          <c:dLblPos val="ctr"/>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38e489a839d452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Distances are straight-line (great-circle), rounded to 0.1 km, not road distance. Location precision is recorded for every point (point/address under 0.5 km; locality 1–3 km; town up to 8 km; estimated ward points 1–5 km). Plausibility box for welfare and government research: latitude -3.62 to -3.10, longitude 36.42 to 37.40; the NGO register is read to 30 km so places just over the line are seen.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status: Finance confirms that each term applies to the 2027 school year before any message that states it is sent (2027 enrolment plan tasks A1 and A2). OF05 referral package has expired; no referral rewards until a 2027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d1688d4ee064f44"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0918ad14f994acd" Type="http://schemas.openxmlformats.org/officeDocument/2006/relationships/slideLayout" Target="../slideLayouts/slideLayout1.xml"/><Relationship Id="R74cd2e922e854c38"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918ad14f994ac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 Id="rId5"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 Id="rId4"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20-%20Draft.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 Id="rId4"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maps/Silverleaf%20Lead%20Map.html" TargetMode="External"/><Relationship Id="rId3" Type="http://schemas.openxmlformats.org/officeDocument/2006/relationships/hyperlink" Target="../strategy/Silverleaf%20Partnership%20Pipelines%20-%20Draft.html" TargetMode="External"/><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 Id="rId6" Type="http://schemas.openxmlformats.org/officeDocument/2006/relationships/hyperlink" Target="file:///C:/Work/silverleaf-agentic-marketing/outputs/strategy/Silverleaf%20Partnership%20Pipelines%20-%20Draft.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20-%20Draft.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a:solidFill>
                  <a:srgbClr val="FFFFFF"/>
                </a:solidFill>
                <a:latin typeface="Arial"/>
              </a:rPr>
              <a:t>Partnership Lead</a:t>
            </a:r>
          </a:p>
          <a:p>
            <a:pPr algn="l"/>
            <a:r>
              <a:rPr sz="5200" b="1" i="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October 2026  ·  drafts for review; a person sends every message</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the gaps, and how 1,924 leads were collected</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05</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11</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offers, hooks, calls and the fallout thread</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what follows the offer, and how results are tracked and reported</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27</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and an appendix: the segment funnels, fallout, data protection, open questions and sources.</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lead-generation review, October 2026</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4173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1</a:t>
            </a:r>
          </a:p>
        </p:txBody>
      </p:sp>
      <p:sp>
        <p:nvSpPr>
          <p:cNvPr id="22" name="TextBox 21"/>
          <p:cNvSpPr txBox="1"/>
          <p:nvPr/>
        </p:nvSpPr>
        <p:spPr>
          <a:xfrm>
            <a:off x="6949440" y="1371600"/>
            <a:ext cx="4663440" cy="292608"/>
          </a:xfrm>
          <a:prstGeom prst="rect">
            <a:avLst/>
          </a:prstGeom>
          <a:noFill/>
        </p:spPr>
        <p:txBody>
          <a:bodyPr wrap="square" lIns="0" tIns="0" rIns="0" bIns="0" anchor="t">
            <a:spAutoFit/>
          </a:bodyPr>
          <a:lstStyle/>
          <a:p>
            <a:pPr algn="l"/>
            <a:r>
              <a:rPr sz="1300" b="1" i="0">
                <a:solidFill>
                  <a:srgbClr val="002368"/>
                </a:solidFill>
                <a:latin typeface="Arial"/>
              </a:rPr>
              <a:t>On the map</a:t>
            </a:r>
          </a:p>
        </p:txBody>
      </p:sp>
      <p:sp>
        <p:nvSpPr>
          <p:cNvPr id="23" name="TextBox 22"/>
          <p:cNvSpPr txBox="1"/>
          <p:nvPr/>
        </p:nvSpPr>
        <p:spPr>
          <a:xfrm>
            <a:off x="6949440" y="1682496"/>
            <a:ext cx="4663440" cy="822960"/>
          </a:xfrm>
          <a:prstGeom prst="rect">
            <a:avLst/>
          </a:prstGeom>
          <a:noFill/>
        </p:spPr>
        <p:txBody>
          <a:bodyPr wrap="square" lIns="0" tIns="0" rIns="0" bIns="0" anchor="t">
            <a:spAutoFit/>
          </a:bodyPr>
          <a:lstStyle/>
          <a:p>
            <a:pPr algn="l"/>
            <a:r>
              <a:rPr sz="11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257860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2</a:t>
            </a:r>
          </a:p>
        </p:txBody>
      </p:sp>
      <p:sp>
        <p:nvSpPr>
          <p:cNvPr id="25" name="TextBox 24"/>
          <p:cNvSpPr txBox="1"/>
          <p:nvPr/>
        </p:nvSpPr>
        <p:spPr>
          <a:xfrm>
            <a:off x="6949440" y="2532888"/>
            <a:ext cx="4663440" cy="292608"/>
          </a:xfrm>
          <a:prstGeom prst="rect">
            <a:avLst/>
          </a:prstGeom>
          <a:noFill/>
        </p:spPr>
        <p:txBody>
          <a:bodyPr wrap="square" lIns="0" tIns="0" rIns="0" bIns="0" anchor="t">
            <a:spAutoFit/>
          </a:bodyPr>
          <a:lstStyle/>
          <a:p>
            <a:pPr algn="l"/>
            <a:r>
              <a:rPr sz="1300" b="1" i="0">
                <a:solidFill>
                  <a:srgbClr val="002368"/>
                </a:solidFill>
                <a:latin typeface="Arial"/>
              </a:rPr>
              <a:t>Reach</a:t>
            </a:r>
          </a:p>
        </p:txBody>
      </p:sp>
      <p:sp>
        <p:nvSpPr>
          <p:cNvPr id="26" name="TextBox 25"/>
          <p:cNvSpPr txBox="1"/>
          <p:nvPr/>
        </p:nvSpPr>
        <p:spPr>
          <a:xfrm>
            <a:off x="6949440" y="2843784"/>
            <a:ext cx="4663440" cy="822960"/>
          </a:xfrm>
          <a:prstGeom prst="rect">
            <a:avLst/>
          </a:prstGeom>
          <a:noFill/>
        </p:spPr>
        <p:txBody>
          <a:bodyPr wrap="square" lIns="0" tIns="0" rIns="0" bIns="0" anchor="t">
            <a:spAutoFit/>
          </a:bodyPr>
          <a:lstStyle/>
          <a:p>
            <a:pPr algn="l"/>
            <a:r>
              <a:rPr sz="1100" b="0" i="0">
                <a:solidFill>
                  <a:srgbClr val="000000"/>
                </a:solidFill>
                <a:latin typeface="Arial"/>
              </a:rPr>
              <a:t>345 email routes are high confidence: 54 reach the decision-maker directly, at their own or their role's inbox, and 291 reach them through a general inbox addressed to them.</a:t>
            </a:r>
          </a:p>
        </p:txBody>
      </p:sp>
      <p:sp>
        <p:nvSpPr>
          <p:cNvPr id="27" name="Hexagon 26"/>
          <p:cNvSpPr/>
          <p:nvPr/>
        </p:nvSpPr>
        <p:spPr>
          <a:xfrm>
            <a:off x="6355080" y="3739896"/>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3</a:t>
            </a:r>
          </a:p>
        </p:txBody>
      </p:sp>
      <p:sp>
        <p:nvSpPr>
          <p:cNvPr id="28" name="TextBox 27"/>
          <p:cNvSpPr txBox="1"/>
          <p:nvPr/>
        </p:nvSpPr>
        <p:spPr>
          <a:xfrm>
            <a:off x="6949440" y="3694176"/>
            <a:ext cx="4663440" cy="292608"/>
          </a:xfrm>
          <a:prstGeom prst="rect">
            <a:avLst/>
          </a:prstGeom>
          <a:noFill/>
        </p:spPr>
        <p:txBody>
          <a:bodyPr wrap="square" lIns="0" tIns="0" rIns="0" bIns="0" anchor="t">
            <a:spAutoFit/>
          </a:bodyPr>
          <a:lstStyle/>
          <a:p>
            <a:pPr algn="l"/>
            <a:r>
              <a:rPr sz="1300" b="1" i="0">
                <a:solidFill>
                  <a:srgbClr val="002368"/>
                </a:solidFill>
                <a:latin typeface="Arial"/>
              </a:rPr>
              <a:t>Drafts</a:t>
            </a:r>
          </a:p>
        </p:txBody>
      </p:sp>
      <p:sp>
        <p:nvSpPr>
          <p:cNvPr id="29" name="TextBox 28"/>
          <p:cNvSpPr txBox="1"/>
          <p:nvPr/>
        </p:nvSpPr>
        <p:spPr>
          <a:xfrm>
            <a:off x="6949440" y="4005072"/>
            <a:ext cx="4663440" cy="822960"/>
          </a:xfrm>
          <a:prstGeom prst="rect">
            <a:avLst/>
          </a:prstGeom>
          <a:noFill/>
        </p:spPr>
        <p:txBody>
          <a:bodyPr wrap="square" lIns="0" tIns="0" rIns="0" bIns="0" anchor="t">
            <a:spAutoFit/>
          </a:bodyPr>
          <a:lstStyle/>
          <a:p>
            <a:pPr algn="l"/>
            <a:r>
              <a:rPr sz="1100" b="0" i="0">
                <a:solidFill>
                  <a:srgbClr val="000000"/>
                </a:solidFill>
                <a:latin typeface="Arial"/>
              </a:rPr>
              <a:t>Email first touches: 63 direct (case A), 408 Attn (case B), 423 redirect requests (case C). 802 leads have no email and go on the call sheets; 228 government letters go by hand.</a:t>
            </a:r>
          </a:p>
        </p:txBody>
      </p:sp>
      <p:sp>
        <p:nvSpPr>
          <p:cNvPr id="30" name="Hexagon 29"/>
          <p:cNvSpPr/>
          <p:nvPr/>
        </p:nvSpPr>
        <p:spPr>
          <a:xfrm>
            <a:off x="6355080" y="490118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4</a:t>
            </a:r>
          </a:p>
        </p:txBody>
      </p:sp>
      <p:sp>
        <p:nvSpPr>
          <p:cNvPr id="31" name="TextBox 30"/>
          <p:cNvSpPr txBox="1"/>
          <p:nvPr/>
        </p:nvSpPr>
        <p:spPr>
          <a:xfrm>
            <a:off x="6949440" y="4855464"/>
            <a:ext cx="4663440" cy="292608"/>
          </a:xfrm>
          <a:prstGeom prst="rect">
            <a:avLst/>
          </a:prstGeom>
          <a:noFill/>
        </p:spPr>
        <p:txBody>
          <a:bodyPr wrap="square" lIns="0" tIns="0" rIns="0" bIns="0" anchor="t">
            <a:spAutoFit/>
          </a:bodyPr>
          <a:lstStyle/>
          <a:p>
            <a:pPr algn="l"/>
            <a:r>
              <a:rPr sz="1300" b="1" i="0">
                <a:solidFill>
                  <a:srgbClr val="002368"/>
                </a:solidFill>
                <a:latin typeface="Arial"/>
              </a:rPr>
              <a:t>Decisions</a:t>
            </a:r>
          </a:p>
        </p:txBody>
      </p:sp>
      <p:sp>
        <p:nvSpPr>
          <p:cNvPr id="32" name="TextBox 31"/>
          <p:cNvSpPr txBox="1"/>
          <p:nvPr/>
        </p:nvSpPr>
        <p:spPr>
          <a:xfrm>
            <a:off x="6949440" y="5166360"/>
            <a:ext cx="4663440" cy="822960"/>
          </a:xfrm>
          <a:prstGeom prst="rect">
            <a:avLst/>
          </a:prstGeom>
          <a:noFill/>
        </p:spPr>
        <p:txBody>
          <a:bodyPr wrap="square" lIns="0" tIns="0" rIns="0" bIns="0" anchor="t">
            <a:spAutoFit/>
          </a:bodyPr>
          <a:lstStyle/>
          <a:p>
            <a:pPr algn="l"/>
            <a:r>
              <a:rPr sz="1100" b="0" i="0">
                <a:solidFill>
                  <a:srgbClr val="000000"/>
                </a:solidFill>
                <a:latin typeface="Arial"/>
              </a:rPr>
              <a:t>The partnership pipeline is a draft awaiting your approval, with 22 open questions and a recommendation for each. Nothing is sent automatically; a person sends every message.</a:t>
            </a:r>
          </a:p>
        </p:txBody>
      </p:sp>
      <p:pic>
        <p:nvPicPr>
          <p:cNvPr id="33" name="Picture 32" descr="image3.png"/>
          <p:cNvPicPr>
            <a:picLocks noChangeAspect="1"/>
          </p:cNvPicPr>
          <p:nvPr/>
        </p:nvPicPr>
        <p:blipFill>
          <a:blip r:embed="rId2"/>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01</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ONE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Catchment and lead capture</a:t>
            </a:r>
          </a:p>
        </p:txBody>
      </p:sp>
      <p:sp>
        <p:nvSpPr>
          <p:cNvPr id="6" name="TextBox 5"/>
          <p:cNvSpPr txBox="1"/>
          <p:nvPr/>
        </p:nvSpPr>
        <p:spPr>
          <a:xfrm>
            <a:off x="640080" y="4114800"/>
            <a:ext cx="5760720" cy="640080"/>
          </a:xfrm>
          <a:prstGeom prst="rect">
            <a:avLst/>
          </a:prstGeom>
          <a:noFill/>
        </p:spPr>
        <p:txBody>
          <a:bodyPr wrap="square" lIns="0" tIns="0" rIns="0" bIns="0" anchor="t">
            <a:spAutoFit/>
          </a:bodyPr>
          <a:lstStyle/>
          <a:p>
            <a:pPr algn="l"/>
            <a:r>
              <a:rPr sz="1600" b="0" i="0">
                <a:solidFill>
                  <a:srgbClr val="80BFEC"/>
                </a:solidFill>
                <a:latin typeface="Georgia"/>
              </a:rPr>
              <a:t>How close is close enough, and where the leads came from.</a:t>
            </a:r>
          </a:p>
        </p:txBody>
      </p:sp>
      <p:sp>
        <p:nvSpPr>
          <p:cNvPr id="7" name="TextBox 6"/>
          <p:cNvSpPr txBox="1"/>
          <p:nvPr/>
        </p:nvSpPr>
        <p:spPr>
          <a:xfrm>
            <a:off x="640080" y="4892040"/>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Five campuses and the 25 km line</a:t>
            </a:r>
          </a:p>
          <a:p>
            <a:pPr algn="l" marL="155448" indent="-155448">
              <a:spcAft>
                <a:spcPts val="400"/>
              </a:spcAft>
              <a:buFont typeface="Arial"/>
              <a:buChar char="•"/>
            </a:pPr>
            <a:r>
              <a:rPr sz="1100" b="0" i="0">
                <a:solidFill>
                  <a:srgbClr val="FFFFFF"/>
                </a:solidFill>
                <a:latin typeface="Arial"/>
              </a:rPr>
              <a:t>Distance bands, segment by segment</a:t>
            </a:r>
          </a:p>
          <a:p>
            <a:pPr algn="l" marL="155448" indent="-155448">
              <a:spcAft>
                <a:spcPts val="400"/>
              </a:spcAft>
              <a:buFont typeface="Arial"/>
              <a:buChar char="•"/>
            </a:pPr>
            <a:r>
              <a:rPr sz="1100" b="0" i="0">
                <a:solidFill>
                  <a:srgbClr val="FFFFFF"/>
                </a:solidFill>
                <a:latin typeface="Arial"/>
              </a:rPr>
              <a:t>Corrections never remove a lead</a:t>
            </a:r>
          </a:p>
          <a:p>
            <a:pPr algn="l" marL="155448" indent="-155448">
              <a:spcAft>
                <a:spcPts val="400"/>
              </a:spcAft>
              <a:buFont typeface="Arial"/>
              <a:buChar char="•"/>
            </a:pPr>
            <a:r>
              <a:rPr sz="1100" b="0" i="0">
                <a:solidFill>
                  <a:srgbClr val="FFFFFF"/>
                </a:solidFill>
                <a:latin typeface="Arial"/>
              </a:rPr>
              <a:t>Gaps and take-aways for the Silverleaf team</a:t>
            </a:r>
          </a:p>
          <a:p>
            <a:pPr algn="l" marL="155448" indent="-155448">
              <a:spcAft>
                <a:spcPts val="400"/>
              </a:spcAft>
              <a:buFont typeface="Arial"/>
              <a:buChar char="•"/>
            </a:pPr>
            <a:r>
              <a:rPr sz="1100" b="0" i="0">
                <a:solidFill>
                  <a:srgbClr val="FFFFFF"/>
                </a:solidFill>
                <a:latin typeface="Arial"/>
              </a:rPr>
              <a:t>How the leads were captured</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2"/>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distance is measured from the map pin on each campus's own page of silverleaf.co.tz.</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3"/>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campus pages and lead databases, October 2026; map data © OpenStreetMap contributors</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Straight-line distance to the nearest campus sorts every lead into one of six bands. Each segment applies the line differently.</a:t>
            </a:r>
          </a:p>
        </p:txBody>
      </p:sp>
      <p:sp>
        <p:nvSpPr>
          <p:cNvPr id="5" name="Rounded Rectangle 4"/>
          <p:cNvSpPr/>
          <p:nvPr/>
        </p:nvSpPr>
        <p:spPr>
          <a:xfrm>
            <a:off x="548640" y="1828800"/>
            <a:ext cx="1737360" cy="960120"/>
          </a:xfrm>
          <a:prstGeom prst="roundRect">
            <a:avLst>
              <a:gd name="adj" fmla="val 6666"/>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685800"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0–5 km</a:t>
            </a:r>
          </a:p>
        </p:txBody>
      </p:sp>
      <p:sp>
        <p:nvSpPr>
          <p:cNvPr id="7" name="TextBox 6"/>
          <p:cNvSpPr txBox="1"/>
          <p:nvPr/>
        </p:nvSpPr>
        <p:spPr>
          <a:xfrm>
            <a:off x="685800"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First wave everywhere: a daily commute</a:t>
            </a:r>
          </a:p>
        </p:txBody>
      </p:sp>
      <p:sp>
        <p:nvSpPr>
          <p:cNvPr id="8" name="Rounded Rectangle 7"/>
          <p:cNvSpPr/>
          <p:nvPr/>
        </p:nvSpPr>
        <p:spPr>
          <a:xfrm>
            <a:off x="2414016" y="1828800"/>
            <a:ext cx="1737360" cy="960120"/>
          </a:xfrm>
          <a:prstGeom prst="roundRect">
            <a:avLst>
              <a:gd name="adj" fmla="val 6666"/>
            </a:avLst>
          </a:prstGeom>
          <a:solidFill>
            <a:srgbClr val="1C4A8A"/>
          </a:solidFill>
          <a:ln w="12700">
            <a:solidFill>
              <a:srgbClr val="1C4A8A"/>
            </a:solidFill>
          </a:ln>
        </p:spPr>
        <p:txBody>
          <a:bodyPr rtlCol="0" anchor="ctr"/>
          <a:lstStyle/>
          <a:p>
            <a:pPr algn="ctr"/>
          </a:p>
        </p:txBody>
      </p:sp>
      <p:sp>
        <p:nvSpPr>
          <p:cNvPr id="9" name="TextBox 8"/>
          <p:cNvSpPr txBox="1"/>
          <p:nvPr/>
        </p:nvSpPr>
        <p:spPr>
          <a:xfrm>
            <a:off x="2551176"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6–10 km</a:t>
            </a:r>
          </a:p>
        </p:txBody>
      </p:sp>
      <p:sp>
        <p:nvSpPr>
          <p:cNvPr id="10" name="TextBox 9"/>
          <p:cNvSpPr txBox="1"/>
          <p:nvPr/>
        </p:nvSpPr>
        <p:spPr>
          <a:xfrm>
            <a:off x="2551176"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Still close: first wave for employers and wards</a:t>
            </a:r>
          </a:p>
        </p:txBody>
      </p:sp>
      <p:sp>
        <p:nvSpPr>
          <p:cNvPr id="11" name="Rounded Rectangle 10"/>
          <p:cNvSpPr/>
          <p:nvPr/>
        </p:nvSpPr>
        <p:spPr>
          <a:xfrm>
            <a:off x="4279392" y="1828800"/>
            <a:ext cx="1737360" cy="960120"/>
          </a:xfrm>
          <a:prstGeom prst="roundRect">
            <a:avLst>
              <a:gd name="adj" fmla="val 6666"/>
            </a:avLst>
          </a:prstGeom>
          <a:solidFill>
            <a:srgbClr val="3E7BBE"/>
          </a:solidFill>
          <a:ln w="12700">
            <a:solidFill>
              <a:srgbClr val="3E7BBE"/>
            </a:solidFill>
          </a:ln>
        </p:spPr>
        <p:txBody>
          <a:bodyPr rtlCol="0" anchor="ctr"/>
          <a:lstStyle/>
          <a:p>
            <a:pPr algn="ctr"/>
          </a:p>
        </p:txBody>
      </p:sp>
      <p:sp>
        <p:nvSpPr>
          <p:cNvPr id="12" name="TextBox 11"/>
          <p:cNvSpPr txBox="1"/>
          <p:nvPr/>
        </p:nvSpPr>
        <p:spPr>
          <a:xfrm>
            <a:off x="4416552"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11–15 km</a:t>
            </a:r>
          </a:p>
        </p:txBody>
      </p:sp>
      <p:sp>
        <p:nvSpPr>
          <p:cNvPr id="13" name="TextBox 12"/>
          <p:cNvSpPr txBox="1"/>
          <p:nvPr/>
        </p:nvSpPr>
        <p:spPr>
          <a:xfrm>
            <a:off x="4416552"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Reachable with school transport</a:t>
            </a:r>
          </a:p>
        </p:txBody>
      </p:sp>
      <p:sp>
        <p:nvSpPr>
          <p:cNvPr id="14" name="Rounded Rectangle 13"/>
          <p:cNvSpPr/>
          <p:nvPr/>
        </p:nvSpPr>
        <p:spPr>
          <a:xfrm>
            <a:off x="6144768" y="1828800"/>
            <a:ext cx="1737360" cy="960120"/>
          </a:xfrm>
          <a:prstGeom prst="roundRect">
            <a:avLst>
              <a:gd name="adj" fmla="val 6666"/>
            </a:avLst>
          </a:prstGeom>
          <a:solidFill>
            <a:srgbClr val="80BFEC"/>
          </a:solidFill>
          <a:ln w="12700">
            <a:solidFill>
              <a:srgbClr val="80BFEC"/>
            </a:solidFill>
          </a:ln>
        </p:spPr>
        <p:txBody>
          <a:bodyPr rtlCol="0" anchor="ctr"/>
          <a:lstStyle/>
          <a:p>
            <a:pPr algn="ctr"/>
          </a:p>
        </p:txBody>
      </p:sp>
      <p:sp>
        <p:nvSpPr>
          <p:cNvPr id="15" name="TextBox 14"/>
          <p:cNvSpPr txBox="1"/>
          <p:nvPr/>
        </p:nvSpPr>
        <p:spPr>
          <a:xfrm>
            <a:off x="6281928"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16–20 km</a:t>
            </a:r>
          </a:p>
        </p:txBody>
      </p:sp>
      <p:sp>
        <p:nvSpPr>
          <p:cNvPr id="16" name="TextBox 15"/>
          <p:cNvSpPr txBox="1"/>
          <p:nvPr/>
        </p:nvSpPr>
        <p:spPr>
          <a:xfrm>
            <a:off x="6281928"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Transport; a later wave for wards</a:t>
            </a:r>
          </a:p>
        </p:txBody>
      </p:sp>
      <p:sp>
        <p:nvSpPr>
          <p:cNvPr id="17" name="Rounded Rectangle 16"/>
          <p:cNvSpPr/>
          <p:nvPr/>
        </p:nvSpPr>
        <p:spPr>
          <a:xfrm>
            <a:off x="8010144" y="1828800"/>
            <a:ext cx="1737360" cy="960120"/>
          </a:xfrm>
          <a:prstGeom prst="roundRect">
            <a:avLst>
              <a:gd name="adj" fmla="val 6666"/>
            </a:avLst>
          </a:prstGeom>
          <a:solidFill>
            <a:srgbClr val="D9ECF9"/>
          </a:solidFill>
          <a:ln w="12700">
            <a:solidFill>
              <a:srgbClr val="D9ECF9"/>
            </a:solidFill>
          </a:ln>
        </p:spPr>
        <p:txBody>
          <a:bodyPr rtlCol="0" anchor="ctr"/>
          <a:lstStyle/>
          <a:p>
            <a:pPr algn="ctr"/>
          </a:p>
        </p:txBody>
      </p:sp>
      <p:sp>
        <p:nvSpPr>
          <p:cNvPr id="18" name="TextBox 17"/>
          <p:cNvSpPr txBox="1"/>
          <p:nvPr/>
        </p:nvSpPr>
        <p:spPr>
          <a:xfrm>
            <a:off x="8147304"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21–25 km</a:t>
            </a:r>
          </a:p>
        </p:txBody>
      </p:sp>
      <p:sp>
        <p:nvSpPr>
          <p:cNvPr id="19" name="TextBox 18"/>
          <p:cNvSpPr txBox="1"/>
          <p:nvPr/>
        </p:nvSpPr>
        <p:spPr>
          <a:xfrm>
            <a:off x="8147304"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Edge of the transport area; lowest priority</a:t>
            </a:r>
          </a:p>
        </p:txBody>
      </p:sp>
      <p:sp>
        <p:nvSpPr>
          <p:cNvPr id="20" name="Rounded Rectangle 19"/>
          <p:cNvSpPr/>
          <p:nvPr/>
        </p:nvSpPr>
        <p:spPr>
          <a:xfrm>
            <a:off x="9875519" y="1828800"/>
            <a:ext cx="1737360" cy="960120"/>
          </a:xfrm>
          <a:prstGeom prst="roundRect">
            <a:avLst>
              <a:gd name="adj" fmla="val 6666"/>
            </a:avLst>
          </a:prstGeom>
          <a:solidFill>
            <a:srgbClr val="ECECEC"/>
          </a:solidFill>
          <a:ln w="12700">
            <a:solidFill>
              <a:srgbClr val="ECECEC"/>
            </a:solidFill>
          </a:ln>
        </p:spPr>
        <p:txBody>
          <a:bodyPr rtlCol="0" anchor="ctr"/>
          <a:lstStyle/>
          <a:p>
            <a:pPr algn="ctr"/>
          </a:p>
        </p:txBody>
      </p:sp>
      <p:sp>
        <p:nvSpPr>
          <p:cNvPr id="21" name="TextBox 20"/>
          <p:cNvSpPr txBox="1"/>
          <p:nvPr/>
        </p:nvSpPr>
        <p:spPr>
          <a:xfrm>
            <a:off x="10012680"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Beyond 25 km</a:t>
            </a:r>
          </a:p>
        </p:txBody>
      </p:sp>
      <p:sp>
        <p:nvSpPr>
          <p:cNvPr id="22" name="TextBox 21"/>
          <p:cNvSpPr txBox="1"/>
          <p:nvPr/>
        </p:nvSpPr>
        <p:spPr>
          <a:xfrm>
            <a:off x="10012680"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Outside the catchment</a:t>
            </a:r>
          </a:p>
        </p:txBody>
      </p:sp>
      <p:sp>
        <p:nvSpPr>
          <p:cNvPr id="23" name="Rounded Rectangle 22"/>
          <p:cNvSpPr/>
          <p:nvPr/>
        </p:nvSpPr>
        <p:spPr>
          <a:xfrm>
            <a:off x="548640" y="306324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24" name="TextBox 23"/>
          <p:cNvSpPr txBox="1"/>
          <p:nvPr/>
        </p:nvSpPr>
        <p:spPr>
          <a:xfrm>
            <a:off x="777240" y="3200400"/>
            <a:ext cx="5029200" cy="274320"/>
          </a:xfrm>
          <a:prstGeom prst="rect">
            <a:avLst/>
          </a:prstGeom>
          <a:noFill/>
        </p:spPr>
        <p:txBody>
          <a:bodyPr wrap="square" lIns="0" tIns="0" rIns="0" bIns="0" anchor="t">
            <a:spAutoFit/>
          </a:bodyPr>
          <a:lstStyle/>
          <a:p>
            <a:pPr algn="l"/>
            <a:r>
              <a:rPr sz="1300" b="1" i="0">
                <a:solidFill>
                  <a:srgbClr val="002368"/>
                </a:solidFill>
                <a:latin typeface="Arial"/>
              </a:rPr>
              <a:t>Employers</a:t>
            </a:r>
          </a:p>
        </p:txBody>
      </p:sp>
      <p:sp>
        <p:nvSpPr>
          <p:cNvPr id="25" name="TextBox 24"/>
          <p:cNvSpPr txBox="1"/>
          <p:nvPr/>
        </p:nvSpPr>
        <p:spPr>
          <a:xfrm>
            <a:off x="777240" y="3502152"/>
            <a:ext cx="5029200" cy="868680"/>
          </a:xfrm>
          <a:prstGeom prst="rect">
            <a:avLst/>
          </a:prstGeom>
          <a:noFill/>
        </p:spPr>
        <p:txBody>
          <a:bodyPr wrap="square" lIns="0" tIns="0" rIns="0" bIns="0" anchor="t">
            <a:spAutoFit/>
          </a:bodyPr>
          <a:lstStyle/>
          <a:p>
            <a:pPr algn="l"/>
            <a:r>
              <a:rPr sz="1050" b="0" i="0">
                <a:solidFill>
                  <a:srgbClr val="000000"/>
                </a:solidFill>
                <a:latin typeface="Arial"/>
              </a:rPr>
              <a:t>Distance ranks, it never rules out: staff live in many places. Reach score +2 at 0–5 km, +1 at 6–10 km, −3 beyond 40 km. A business operating outside Arusha–Kilimanjaro is held (39 businesses), each case reviewed and sourced.</a:t>
            </a:r>
          </a:p>
        </p:txBody>
      </p:sp>
      <p:sp>
        <p:nvSpPr>
          <p:cNvPr id="26" name="Rounded Rectangle 25"/>
          <p:cNvSpPr/>
          <p:nvPr/>
        </p:nvSpPr>
        <p:spPr>
          <a:xfrm>
            <a:off x="6190488" y="306324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27" name="TextBox 26"/>
          <p:cNvSpPr txBox="1"/>
          <p:nvPr/>
        </p:nvSpPr>
        <p:spPr>
          <a:xfrm>
            <a:off x="6419088" y="3200400"/>
            <a:ext cx="5029200" cy="274320"/>
          </a:xfrm>
          <a:prstGeom prst="rect">
            <a:avLst/>
          </a:prstGeom>
          <a:noFill/>
        </p:spPr>
        <p:txBody>
          <a:bodyPr wrap="square" lIns="0" tIns="0" rIns="0" bIns="0" anchor="t">
            <a:spAutoFit/>
          </a:bodyPr>
          <a:lstStyle/>
          <a:p>
            <a:pPr algn="l"/>
            <a:r>
              <a:rPr sz="1300" b="1" i="0">
                <a:solidFill>
                  <a:srgbClr val="002368"/>
                </a:solidFill>
                <a:latin typeface="Arial"/>
              </a:rPr>
              <a:t>Introducers</a:t>
            </a:r>
          </a:p>
        </p:txBody>
      </p:sp>
      <p:sp>
        <p:nvSpPr>
          <p:cNvPr id="28" name="TextBox 27"/>
          <p:cNvSpPr txBox="1"/>
          <p:nvPr/>
        </p:nvSpPr>
        <p:spPr>
          <a:xfrm>
            <a:off x="6419088" y="3502152"/>
            <a:ext cx="5029200" cy="868680"/>
          </a:xfrm>
          <a:prstGeom prst="rect">
            <a:avLst/>
          </a:prstGeom>
          <a:noFill/>
        </p:spPr>
        <p:txBody>
          <a:bodyPr wrap="square" lIns="0" tIns="0" rIns="0" bIns="0" anchor="t">
            <a:spAutoFit/>
          </a:bodyPr>
          <a:lstStyle/>
          <a:p>
            <a:pPr algn="l"/>
            <a:r>
              <a:rPr sz="1050" b="0" i="0">
                <a:solidFill>
                  <a:srgbClr val="000000"/>
                </a:solidFill>
                <a:latin typeface="Arial"/>
              </a:rPr>
              <a:t>No distance rule. A chamber or association is judged by how many members employ staff near the campuses, so national bodies are in scope.</a:t>
            </a:r>
          </a:p>
        </p:txBody>
      </p:sp>
      <p:sp>
        <p:nvSpPr>
          <p:cNvPr id="29" name="Rounded Rectangle 28"/>
          <p:cNvSpPr/>
          <p:nvPr/>
        </p:nvSpPr>
        <p:spPr>
          <a:xfrm>
            <a:off x="548640" y="452628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30" name="TextBox 29"/>
          <p:cNvSpPr txBox="1"/>
          <p:nvPr/>
        </p:nvSpPr>
        <p:spPr>
          <a:xfrm>
            <a:off x="777240" y="4663440"/>
            <a:ext cx="5029200" cy="274320"/>
          </a:xfrm>
          <a:prstGeom prst="rect">
            <a:avLst/>
          </a:prstGeom>
          <a:noFill/>
        </p:spPr>
        <p:txBody>
          <a:bodyPr wrap="square" lIns="0" tIns="0" rIns="0" bIns="0" anchor="t">
            <a:spAutoFit/>
          </a:bodyPr>
          <a:lstStyle/>
          <a:p>
            <a:pPr algn="l"/>
            <a:r>
              <a:rPr sz="1300" b="1" i="0">
                <a:solidFill>
                  <a:srgbClr val="002368"/>
                </a:solidFill>
                <a:latin typeface="Arial"/>
              </a:rPr>
              <a:t>Welfare</a:t>
            </a:r>
          </a:p>
        </p:txBody>
      </p:sp>
      <p:sp>
        <p:nvSpPr>
          <p:cNvPr id="31" name="TextBox 30"/>
          <p:cNvSpPr txBox="1"/>
          <p:nvPr/>
        </p:nvSpPr>
        <p:spPr>
          <a:xfrm>
            <a:off x="777240" y="4965192"/>
            <a:ext cx="5029200" cy="868680"/>
          </a:xfrm>
          <a:prstGeom prst="rect">
            <a:avLst/>
          </a:prstGeom>
          <a:noFill/>
        </p:spPr>
        <p:txBody>
          <a:bodyPr wrap="square" lIns="0" tIns="0" rIns="0" bIns="0" anchor="t">
            <a:spAutoFit/>
          </a:bodyPr>
          <a:lstStyle/>
          <a:p>
            <a:pPr algn="l"/>
            <a:r>
              <a:rPr sz="1050" b="0" i="0">
                <a:solidFill>
                  <a:srgbClr val="000000"/>
                </a:solidFill>
                <a:latin typeface="Arial"/>
              </a:rPr>
              <a:t>Homes, programmes and centres are held beyond 25 km or while the location is unresolved. A funder needs a verified link to a home within 25 km. Networks are exempt. Distance points 15 / 12 / 9 / 6 / 3 by band.</a:t>
            </a:r>
          </a:p>
        </p:txBody>
      </p:sp>
      <p:sp>
        <p:nvSpPr>
          <p:cNvPr id="32" name="Rounded Rectangle 31"/>
          <p:cNvSpPr/>
          <p:nvPr/>
        </p:nvSpPr>
        <p:spPr>
          <a:xfrm>
            <a:off x="6190488" y="452628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33" name="TextBox 32"/>
          <p:cNvSpPr txBox="1"/>
          <p:nvPr/>
        </p:nvSpPr>
        <p:spPr>
          <a:xfrm>
            <a:off x="6419088" y="4663440"/>
            <a:ext cx="5029200" cy="274320"/>
          </a:xfrm>
          <a:prstGeom prst="rect">
            <a:avLst/>
          </a:prstGeom>
          <a:noFill/>
        </p:spPr>
        <p:txBody>
          <a:bodyPr wrap="square" lIns="0" tIns="0" rIns="0" bIns="0" anchor="t">
            <a:spAutoFit/>
          </a:bodyPr>
          <a:lstStyle/>
          <a:p>
            <a:pPr algn="l"/>
            <a:r>
              <a:rPr sz="1300" b="1" i="0">
                <a:solidFill>
                  <a:srgbClr val="002368"/>
                </a:solidFill>
                <a:latin typeface="Arial"/>
              </a:rPr>
              <a:t>Government</a:t>
            </a:r>
          </a:p>
        </p:txBody>
      </p:sp>
      <p:sp>
        <p:nvSpPr>
          <p:cNvPr id="34" name="TextBox 33"/>
          <p:cNvSpPr txBox="1"/>
          <p:nvPr/>
        </p:nvSpPr>
        <p:spPr>
          <a:xfrm>
            <a:off x="6419088" y="4965192"/>
            <a:ext cx="5029200" cy="868680"/>
          </a:xfrm>
          <a:prstGeom prst="rect">
            <a:avLst/>
          </a:prstGeom>
          <a:noFill/>
        </p:spPr>
        <p:txBody>
          <a:bodyPr wrap="square" lIns="0" tIns="0" rIns="0" bIns="0" anchor="t">
            <a:spAutoFit/>
          </a:bodyPr>
          <a:lstStyle/>
          <a:p>
            <a:pPr algn="l"/>
            <a:r>
              <a:rPr sz="1050" b="0" i="0">
                <a:solidFill>
                  <a:srgbClr val="000000"/>
                </a:solidFill>
                <a:latin typeface="Arial"/>
              </a:rPr>
              <a:t>A ward is in scope when its reference point is within 25 km; transport score 25 × the average band weight to the nearest campus and the nearest primary campus. Wards within 10 km come first.</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and offer register</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WHERE THE LEADS SIT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Most leads sit within 5 km of a campus</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DISTANCE BAND AND SEGMENT</a:t>
            </a:r>
          </a:p>
        </p:txBody>
      </p:sp>
      <p:graphicFrame>
        <p:nvGraphicFramePr>
          <p:cNvPr id="5" name="Chart 4"/>
          <p:cNvGraphicFramePr>
            <a:graphicFrameLocks noGrp="1"/>
          </p:cNvGraphicFramePr>
          <p:nvPr/>
        </p:nvGraphicFramePr>
        <p:xfrm>
          <a:off x="411480" y="1508760"/>
          <a:ext cx="6766560" cy="3749039"/>
        </p:xfrm>
        <a:graphic>
          <a:graphicData uri="http://schemas.openxmlformats.org/drawingml/2006/chart">
            <c:chart xmlns:c="http://schemas.openxmlformats.org/drawingml/2006/chart" r:id="rId2"/>
          </a:graphicData>
        </a:graphic>
      </p:graphicFrame>
      <p:sp>
        <p:nvSpPr>
          <p:cNvPr id="6" name="TextBox 5"/>
          <p:cNvSpPr txBox="1"/>
          <p:nvPr/>
        </p:nvSpPr>
        <p:spPr>
          <a:xfrm>
            <a:off x="548640" y="5349240"/>
            <a:ext cx="6583680" cy="548640"/>
          </a:xfrm>
          <a:prstGeom prst="rect">
            <a:avLst/>
          </a:prstGeom>
          <a:noFill/>
        </p:spPr>
        <p:txBody>
          <a:bodyPr wrap="square" lIns="0" tIns="0" rIns="0" bIns="0" anchor="t">
            <a:spAutoFit/>
          </a:bodyPr>
          <a:lstStyle/>
          <a:p>
            <a:pPr algn="l"/>
            <a:r>
              <a:rPr sz="1000" b="0" i="0">
                <a:solidFill>
                  <a:srgbClr val="818283"/>
                </a:solidFill>
                <a:latin typeface="Arial"/>
              </a:rPr>
              <a:t>Labels shown for 25 or more. 1,864 leads drawn; 1,805 within 25 km. The 21–25 km bulge is mostly Moshi, inside Boma Ng'ombe's circle. 60 leads have no usable point (30 of them funders abroad).</a:t>
            </a:r>
          </a:p>
        </p:txBody>
      </p:sp>
      <p:sp>
        <p:nvSpPr>
          <p:cNvPr id="7" name="Rounded Rectangle 6"/>
          <p:cNvSpPr/>
          <p:nvPr/>
        </p:nvSpPr>
        <p:spPr>
          <a:xfrm>
            <a:off x="7406640" y="1325880"/>
            <a:ext cx="4233672" cy="4617720"/>
          </a:xfrm>
          <a:prstGeom prst="roundRect">
            <a:avLst>
              <a:gd name="adj" fmla="val 1511"/>
            </a:avLst>
          </a:prstGeom>
          <a:solidFill>
            <a:srgbClr val="D9ECF9"/>
          </a:solidFill>
          <a:ln w="12700">
            <a:solidFill>
              <a:srgbClr val="D9ECF9"/>
            </a:solidFill>
          </a:ln>
        </p:spPr>
        <p:txBody>
          <a:bodyPr rtlCol="0" anchor="ctr"/>
          <a:lstStyle/>
          <a:p>
            <a:pPr algn="ctr"/>
          </a:p>
        </p:txBody>
      </p:sp>
      <p:pic>
        <p:nvPicPr>
          <p:cNvPr id="8" name="Picture 7" descr="image4.png"/>
          <p:cNvPicPr>
            <a:picLocks noChangeAspect="1"/>
          </p:cNvPicPr>
          <p:nvPr/>
        </p:nvPicPr>
        <p:blipFill>
          <a:blip r:embed="rId3"/>
          <a:stretch>
            <a:fillRect/>
          </a:stretch>
        </p:blipFill>
        <p:spPr>
          <a:xfrm>
            <a:off x="10744200" y="1508760"/>
            <a:ext cx="594360" cy="774469"/>
          </a:xfrm>
          <a:prstGeom prst="rect">
            <a:avLst/>
          </a:prstGeom>
        </p:spPr>
      </p:pic>
      <p:sp>
        <p:nvSpPr>
          <p:cNvPr id="9" name="TextBox 8"/>
          <p:cNvSpPr txBox="1"/>
          <p:nvPr/>
        </p:nvSpPr>
        <p:spPr>
          <a:xfrm>
            <a:off x="7680960" y="1554480"/>
            <a:ext cx="2926080" cy="822960"/>
          </a:xfrm>
          <a:prstGeom prst="rect">
            <a:avLst/>
          </a:prstGeom>
          <a:noFill/>
        </p:spPr>
        <p:txBody>
          <a:bodyPr wrap="square" lIns="0" tIns="0" rIns="0" bIns="0" anchor="t">
            <a:spAutoFit/>
          </a:bodyPr>
          <a:lstStyle/>
          <a:p>
            <a:pPr algn="l"/>
            <a:r>
              <a:rPr sz="2000" b="0" i="0">
                <a:solidFill>
                  <a:srgbClr val="002368"/>
                </a:solidFill>
                <a:latin typeface="Georgia"/>
              </a:rPr>
              <a:t>Corrections never remove a lead.</a:t>
            </a:r>
          </a:p>
        </p:txBody>
      </p:sp>
      <p:sp>
        <p:nvSpPr>
          <p:cNvPr id="10" name="TextBox 9"/>
          <p:cNvSpPr txBox="1"/>
          <p:nvPr/>
        </p:nvSpPr>
        <p:spPr>
          <a:xfrm>
            <a:off x="7680960" y="2450592"/>
            <a:ext cx="3749039" cy="685800"/>
          </a:xfrm>
          <a:prstGeom prst="rect">
            <a:avLst/>
          </a:prstGeom>
          <a:noFill/>
        </p:spPr>
        <p:txBody>
          <a:bodyPr wrap="square" lIns="0" tIns="0" rIns="0" bIns="0" anchor="t">
            <a:spAutoFit/>
          </a:bodyPr>
          <a:lstStyle/>
          <a:p>
            <a:pPr algn="l"/>
            <a:r>
              <a:rPr sz="1050" b="0" i="0">
                <a:solidFill>
                  <a:srgbClr val="000000"/>
                </a:solidFill>
                <a:latin typeface="Arial"/>
              </a:rPr>
              <a:t>When a campus pin is corrected, a lead may move nearer another campus, but a lead inside the catchment or its bands is never dropped.</a:t>
            </a:r>
          </a:p>
        </p:txBody>
      </p:sp>
      <p:sp>
        <p:nvSpPr>
          <p:cNvPr id="11" name="TextBox 10"/>
          <p:cNvSpPr txBox="1"/>
          <p:nvPr/>
        </p:nvSpPr>
        <p:spPr>
          <a:xfrm>
            <a:off x="7680960" y="3310128"/>
            <a:ext cx="3749039" cy="237744"/>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2" name="TextBox 11"/>
          <p:cNvSpPr txBox="1"/>
          <p:nvPr/>
        </p:nvSpPr>
        <p:spPr>
          <a:xfrm>
            <a:off x="7680960" y="3557016"/>
            <a:ext cx="3749039" cy="594360"/>
          </a:xfrm>
          <a:prstGeom prst="rect">
            <a:avLst/>
          </a:prstGeom>
          <a:noFill/>
        </p:spPr>
        <p:txBody>
          <a:bodyPr wrap="square" lIns="0" tIns="0" rIns="0" bIns="0" anchor="t">
            <a:spAutoFit/>
          </a:bodyPr>
          <a:lstStyle/>
          <a:p>
            <a:pPr algn="l"/>
            <a:r>
              <a:rPr sz="1000" b="0" i="0">
                <a:solidFill>
                  <a:srgbClr val="000000"/>
                </a:solidFill>
                <a:latin typeface="Arial"/>
              </a:rPr>
              <a:t>None crossed 25 km outward; two moved inside (24.9 km); 19 now nearer a different campus.</a:t>
            </a:r>
          </a:p>
        </p:txBody>
      </p:sp>
      <p:sp>
        <p:nvSpPr>
          <p:cNvPr id="13" name="TextBox 12"/>
          <p:cNvSpPr txBox="1"/>
          <p:nvPr/>
        </p:nvSpPr>
        <p:spPr>
          <a:xfrm>
            <a:off x="7680960" y="4178808"/>
            <a:ext cx="3749039" cy="237744"/>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14" name="TextBox 13"/>
          <p:cNvSpPr txBox="1"/>
          <p:nvPr/>
        </p:nvSpPr>
        <p:spPr>
          <a:xfrm>
            <a:off x="7680960" y="4425696"/>
            <a:ext cx="3749039" cy="594360"/>
          </a:xfrm>
          <a:prstGeom prst="rect">
            <a:avLst/>
          </a:prstGeom>
          <a:noFill/>
        </p:spPr>
        <p:txBody>
          <a:bodyPr wrap="square" lIns="0" tIns="0" rIns="0" bIns="0" anchor="t">
            <a:spAutoFit/>
          </a:bodyPr>
          <a:lstStyle/>
          <a:p>
            <a:pPr algn="l"/>
            <a:r>
              <a:rPr sz="1000" b="0" i="0">
                <a:solidFill>
                  <a:srgbClr val="000000"/>
                </a:solidFill>
                <a:latin typeface="Arial"/>
              </a:rPr>
              <a:t>Gararagua ward moved from 24.2 to 25.4 km and stays in scope; Msaranga ward came into scope.</a:t>
            </a:r>
          </a:p>
        </p:txBody>
      </p:sp>
      <p:sp>
        <p:nvSpPr>
          <p:cNvPr id="15" name="TextBox 14"/>
          <p:cNvSpPr txBox="1"/>
          <p:nvPr/>
        </p:nvSpPr>
        <p:spPr>
          <a:xfrm>
            <a:off x="7680960" y="5047488"/>
            <a:ext cx="3749039" cy="237744"/>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6" name="TextBox 15"/>
          <p:cNvSpPr txBox="1"/>
          <p:nvPr/>
        </p:nvSpPr>
        <p:spPr>
          <a:xfrm>
            <a:off x="7680960" y="5294375"/>
            <a:ext cx="3749039" cy="594360"/>
          </a:xfrm>
          <a:prstGeom prst="rect">
            <a:avLst/>
          </a:prstGeom>
          <a:noFill/>
        </p:spPr>
        <p:txBody>
          <a:bodyPr wrap="square" lIns="0" tIns="0" rIns="0" bIns="0" anchor="t">
            <a:spAutoFit/>
          </a:bodyPr>
          <a:lstStyle/>
          <a:p>
            <a:pPr algn="l"/>
            <a:r>
              <a:rPr sz="1000" b="0" i="0">
                <a:solidFill>
                  <a:srgbClr val="000000"/>
                </a:solidFill>
                <a:latin typeface="Arial"/>
              </a:rPr>
              <a:t>Distance never removes a company. 51 now nearer another campus; 32 changed reach tier.</a:t>
            </a:r>
          </a:p>
        </p:txBody>
      </p:sp>
      <p:pic>
        <p:nvPicPr>
          <p:cNvPr id="17" name="Picture 16" descr="image3.png"/>
          <p:cNvPicPr>
            <a:picLocks noChangeAspect="1"/>
          </p:cNvPicPr>
          <p:nvPr/>
        </p:nvPicPr>
        <p:blipFill>
          <a:blip r:embed="rId4"/>
          <a:stretch>
            <a:fillRect/>
          </a:stretch>
        </p:blipFill>
        <p:spPr>
          <a:xfrm>
            <a:off x="548640" y="6272784"/>
            <a:ext cx="1143000" cy="274320"/>
          </a:xfrm>
          <a:prstGeom prst="rect">
            <a:avLst/>
          </a:prstGeom>
        </p:spPr>
      </p:pic>
      <p:sp>
        <p:nvSpPr>
          <p:cNvPr id="1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p>
        </p:txBody>
      </p:sp>
      <p:sp>
        <p:nvSpPr>
          <p:cNvPr id="1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map and catchment criteria, October 2026</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GAPS AND TAKE-AWAYS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Fix the Google Maps listings parents find</a:t>
            </a:r>
          </a:p>
        </p:txBody>
      </p:sp>
      <p:sp>
        <p:nvSpPr>
          <p:cNvPr id="4" name="Rounded Rectangle 3"/>
          <p:cNvSpPr/>
          <p:nvPr/>
        </p:nvSpPr>
        <p:spPr>
          <a:xfrm>
            <a:off x="548640" y="1325880"/>
            <a:ext cx="603504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 y="1554480"/>
            <a:ext cx="5486400" cy="274320"/>
          </a:xfrm>
          <a:prstGeom prst="rect">
            <a:avLst/>
          </a:prstGeom>
          <a:noFill/>
        </p:spPr>
        <p:txBody>
          <a:bodyPr wrap="square" lIns="0" tIns="0" rIns="0" bIns="0" anchor="t">
            <a:spAutoFit/>
          </a:bodyPr>
          <a:lstStyle/>
          <a:p>
            <a:pPr algn="l"/>
            <a:r>
              <a:rPr sz="900" b="1" i="0" spc="200">
                <a:solidFill>
                  <a:srgbClr val="80BFEC"/>
                </a:solidFill>
                <a:latin typeface="Arial"/>
              </a:rPr>
              <a:t>TAKE-AWAYS FOR THE SILVERLEAF TEAM</a:t>
            </a:r>
          </a:p>
        </p:txBody>
      </p:sp>
      <p:sp>
        <p:nvSpPr>
          <p:cNvPr id="6" name="TextBox 5"/>
          <p:cNvSpPr txBox="1"/>
          <p:nvPr/>
        </p:nvSpPr>
        <p:spPr>
          <a:xfrm>
            <a:off x="868680" y="1874519"/>
            <a:ext cx="5486400" cy="457200"/>
          </a:xfrm>
          <a:prstGeom prst="rect">
            <a:avLst/>
          </a:prstGeom>
          <a:noFill/>
        </p:spPr>
        <p:txBody>
          <a:bodyPr wrap="square" lIns="0" tIns="0" rIns="0" bIns="0" anchor="t">
            <a:spAutoFit/>
          </a:bodyPr>
          <a:lstStyle/>
          <a:p>
            <a:pPr algn="l"/>
            <a:r>
              <a:rPr sz="1500" b="0" i="0">
                <a:solidFill>
                  <a:srgbClr val="FFFFFF"/>
                </a:solidFill>
                <a:latin typeface="Georgia"/>
              </a:rPr>
              <a:t>For whoever manages Silverleaf's Google profile</a:t>
            </a:r>
          </a:p>
        </p:txBody>
      </p:sp>
      <p:sp>
        <p:nvSpPr>
          <p:cNvPr id="7" name="Hexagon 6"/>
          <p:cNvSpPr/>
          <p:nvPr/>
        </p:nvSpPr>
        <p:spPr>
          <a:xfrm>
            <a:off x="868680" y="2487168"/>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1</a:t>
            </a:r>
          </a:p>
        </p:txBody>
      </p:sp>
      <p:sp>
        <p:nvSpPr>
          <p:cNvPr id="8" name="TextBox 7"/>
          <p:cNvSpPr txBox="1"/>
          <p:nvPr/>
        </p:nvSpPr>
        <p:spPr>
          <a:xfrm>
            <a:off x="1371600" y="2468880"/>
            <a:ext cx="4983480" cy="256032"/>
          </a:xfrm>
          <a:prstGeom prst="rect">
            <a:avLst/>
          </a:prstGeom>
          <a:noFill/>
        </p:spPr>
        <p:txBody>
          <a:bodyPr wrap="square" lIns="0" tIns="0" rIns="0" bIns="0" anchor="t">
            <a:spAutoFit/>
          </a:bodyPr>
          <a:lstStyle/>
          <a:p>
            <a:pPr algn="l"/>
            <a:r>
              <a:rPr sz="1200" b="1" i="0">
                <a:solidFill>
                  <a:srgbClr val="FFFFFF"/>
                </a:solidFill>
                <a:latin typeface="Arial"/>
              </a:rPr>
              <a:t>Kijenge Campus is pinned about 70 km away</a:t>
            </a:r>
          </a:p>
        </p:txBody>
      </p:sp>
      <p:sp>
        <p:nvSpPr>
          <p:cNvPr id="9" name="TextBox 8"/>
          <p:cNvSpPr txBox="1"/>
          <p:nvPr/>
        </p:nvSpPr>
        <p:spPr>
          <a:xfrm>
            <a:off x="1371600" y="2743200"/>
            <a:ext cx="4983480" cy="548640"/>
          </a:xfrm>
          <a:prstGeom prst="rect">
            <a:avLst/>
          </a:prstGeom>
          <a:noFill/>
        </p:spPr>
        <p:txBody>
          <a:bodyPr wrap="square" lIns="0" tIns="0" rIns="0" bIns="0" anchor="t">
            <a:spAutoFit/>
          </a:bodyPr>
          <a:lstStyle/>
          <a:p>
            <a:pPr algn="l"/>
            <a:r>
              <a:rPr sz="1050" b="0" i="0">
                <a:solidFill>
                  <a:srgbClr val="D9ECF9"/>
                </a:solidFill>
                <a:latin typeface="Arial"/>
              </a:rPr>
              <a:t>Parents who search for it get wrong directions. Move the pin to the website's point.</a:t>
            </a:r>
          </a:p>
        </p:txBody>
      </p:sp>
      <p:sp>
        <p:nvSpPr>
          <p:cNvPr id="10" name="Hexagon 9"/>
          <p:cNvSpPr/>
          <p:nvPr/>
        </p:nvSpPr>
        <p:spPr>
          <a:xfrm>
            <a:off x="868680" y="3337560"/>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2</a:t>
            </a:r>
          </a:p>
        </p:txBody>
      </p:sp>
      <p:sp>
        <p:nvSpPr>
          <p:cNvPr id="11" name="TextBox 10"/>
          <p:cNvSpPr txBox="1"/>
          <p:nvPr/>
        </p:nvSpPr>
        <p:spPr>
          <a:xfrm>
            <a:off x="1371600" y="3319272"/>
            <a:ext cx="4983480" cy="256032"/>
          </a:xfrm>
          <a:prstGeom prst="rect">
            <a:avLst/>
          </a:prstGeom>
          <a:noFill/>
        </p:spPr>
        <p:txBody>
          <a:bodyPr wrap="square" lIns="0" tIns="0" rIns="0" bIns="0" anchor="t">
            <a:spAutoFit/>
          </a:bodyPr>
          <a:lstStyle/>
          <a:p>
            <a:pPr algn="l"/>
            <a:r>
              <a:rPr sz="1200" b="1" i="0">
                <a:solidFill>
                  <a:srgbClr val="FFFFFF"/>
                </a:solidFill>
                <a:latin typeface="Arial"/>
              </a:rPr>
              <a:t>Two listings match no campus</a:t>
            </a:r>
          </a:p>
        </p:txBody>
      </p:sp>
      <p:sp>
        <p:nvSpPr>
          <p:cNvPr id="12" name="TextBox 11"/>
          <p:cNvSpPr txBox="1"/>
          <p:nvPr/>
        </p:nvSpPr>
        <p:spPr>
          <a:xfrm>
            <a:off x="1371600" y="3593592"/>
            <a:ext cx="4983480" cy="548640"/>
          </a:xfrm>
          <a:prstGeom prst="rect">
            <a:avLst/>
          </a:prstGeom>
          <a:noFill/>
        </p:spPr>
        <p:txBody>
          <a:bodyPr wrap="square" lIns="0" tIns="0" rIns="0" bIns="0" anchor="t">
            <a:spAutoFit/>
          </a:bodyPr>
          <a:lstStyle/>
          <a:p>
            <a:pPr algn="l"/>
            <a:r>
              <a:rPr sz="1050" b="0" i="0">
                <a:solidFill>
                  <a:srgbClr val="D9ECF9"/>
                </a:solidFill>
                <a:latin typeface="Arial"/>
              </a:rPr>
              <a:t>"Silverleaf Primary School" near Usa River and "Silverleaf Academy Office" in Moshi: correct or remove them.</a:t>
            </a:r>
          </a:p>
        </p:txBody>
      </p:sp>
      <p:sp>
        <p:nvSpPr>
          <p:cNvPr id="13" name="Hexagon 12"/>
          <p:cNvSpPr/>
          <p:nvPr/>
        </p:nvSpPr>
        <p:spPr>
          <a:xfrm>
            <a:off x="868680" y="4187952"/>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3</a:t>
            </a:r>
          </a:p>
        </p:txBody>
      </p:sp>
      <p:sp>
        <p:nvSpPr>
          <p:cNvPr id="14" name="TextBox 13"/>
          <p:cNvSpPr txBox="1"/>
          <p:nvPr/>
        </p:nvSpPr>
        <p:spPr>
          <a:xfrm>
            <a:off x="1371600" y="4169664"/>
            <a:ext cx="4983480" cy="256032"/>
          </a:xfrm>
          <a:prstGeom prst="rect">
            <a:avLst/>
          </a:prstGeom>
          <a:noFill/>
        </p:spPr>
        <p:txBody>
          <a:bodyPr wrap="square" lIns="0" tIns="0" rIns="0" bIns="0" anchor="t">
            <a:spAutoFit/>
          </a:bodyPr>
          <a:lstStyle/>
          <a:p>
            <a:pPr algn="l"/>
            <a:r>
              <a:rPr sz="1200" b="1" i="0">
                <a:solidFill>
                  <a:srgbClr val="FFFFFF"/>
                </a:solidFill>
                <a:latin typeface="Arial"/>
              </a:rPr>
              <a:t>Two campuses have no listing</a:t>
            </a:r>
          </a:p>
        </p:txBody>
      </p:sp>
      <p:sp>
        <p:nvSpPr>
          <p:cNvPr id="15" name="TextBox 14"/>
          <p:cNvSpPr txBox="1"/>
          <p:nvPr/>
        </p:nvSpPr>
        <p:spPr>
          <a:xfrm>
            <a:off x="1371600" y="4443984"/>
            <a:ext cx="4983480" cy="548640"/>
          </a:xfrm>
          <a:prstGeom prst="rect">
            <a:avLst/>
          </a:prstGeom>
          <a:noFill/>
        </p:spPr>
        <p:txBody>
          <a:bodyPr wrap="square" lIns="0" tIns="0" rIns="0" bIns="0" anchor="t">
            <a:spAutoFit/>
          </a:bodyPr>
          <a:lstStyle/>
          <a:p>
            <a:pPr algn="l"/>
            <a:r>
              <a:rPr sz="1050" b="0" i="0">
                <a:solidFill>
                  <a:srgbClr val="D9ECF9"/>
                </a:solidFill>
                <a:latin typeface="Arial"/>
              </a:rPr>
              <a:t>Add Arusha City (Sakina) and Boma Ng'ombe, using the pins on the website's campus pages.</a:t>
            </a:r>
          </a:p>
        </p:txBody>
      </p:sp>
      <p:sp>
        <p:nvSpPr>
          <p:cNvPr id="16" name="Hexagon 15"/>
          <p:cNvSpPr/>
          <p:nvPr/>
        </p:nvSpPr>
        <p:spPr>
          <a:xfrm>
            <a:off x="868680" y="5038344"/>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4</a:t>
            </a:r>
          </a:p>
        </p:txBody>
      </p:sp>
      <p:sp>
        <p:nvSpPr>
          <p:cNvPr id="17" name="TextBox 16"/>
          <p:cNvSpPr txBox="1"/>
          <p:nvPr/>
        </p:nvSpPr>
        <p:spPr>
          <a:xfrm>
            <a:off x="1371600" y="5020056"/>
            <a:ext cx="4983480" cy="256032"/>
          </a:xfrm>
          <a:prstGeom prst="rect">
            <a:avLst/>
          </a:prstGeom>
          <a:noFill/>
        </p:spPr>
        <p:txBody>
          <a:bodyPr wrap="square" lIns="0" tIns="0" rIns="0" bIns="0" anchor="t">
            <a:spAutoFit/>
          </a:bodyPr>
          <a:lstStyle/>
          <a:p>
            <a:pPr algn="l"/>
            <a:r>
              <a:rPr sz="1200" b="1" i="0">
                <a:solidFill>
                  <a:srgbClr val="FFFFFF"/>
                </a:solidFill>
                <a:latin typeface="Arial"/>
              </a:rPr>
              <a:t>Keep the website pins accurate</a:t>
            </a:r>
          </a:p>
        </p:txBody>
      </p:sp>
      <p:sp>
        <p:nvSpPr>
          <p:cNvPr id="18" name="TextBox 17"/>
          <p:cNvSpPr txBox="1"/>
          <p:nvPr/>
        </p:nvSpPr>
        <p:spPr>
          <a:xfrm>
            <a:off x="1371600" y="5294376"/>
            <a:ext cx="4983480" cy="548640"/>
          </a:xfrm>
          <a:prstGeom prst="rect">
            <a:avLst/>
          </a:prstGeom>
          <a:noFill/>
        </p:spPr>
        <p:txBody>
          <a:bodyPr wrap="square" lIns="0" tIns="0" rIns="0" bIns="0" anchor="t">
            <a:spAutoFit/>
          </a:bodyPr>
          <a:lstStyle/>
          <a:p>
            <a:pPr algn="l"/>
            <a:r>
              <a:rPr sz="1050" b="0" i="0">
                <a:solidFill>
                  <a:srgbClr val="D9ECF9"/>
                </a:solidFill>
                <a:latin typeface="Arial"/>
              </a:rPr>
              <a:t>They are the reference for every distance. If a campus moves, correct the page and tell the lead team so distances are recomputed.</a:t>
            </a:r>
          </a:p>
        </p:txBody>
      </p:sp>
      <p:sp>
        <p:nvSpPr>
          <p:cNvPr id="19" name="TextBox 18"/>
          <p:cNvSpPr txBox="1"/>
          <p:nvPr/>
        </p:nvSpPr>
        <p:spPr>
          <a:xfrm>
            <a:off x="6903720" y="137160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KNOWN GAPS AND PROPOSED FIXES</a:t>
            </a:r>
          </a:p>
        </p:txBody>
      </p:sp>
      <p:sp>
        <p:nvSpPr>
          <p:cNvPr id="20" name="TextBox 19"/>
          <p:cNvSpPr txBox="1"/>
          <p:nvPr/>
        </p:nvSpPr>
        <p:spPr>
          <a:xfrm>
            <a:off x="6903720" y="1664208"/>
            <a:ext cx="914400" cy="457200"/>
          </a:xfrm>
          <a:prstGeom prst="rect">
            <a:avLst/>
          </a:prstGeom>
          <a:noFill/>
        </p:spPr>
        <p:txBody>
          <a:bodyPr wrap="square" lIns="0" tIns="0" rIns="0" bIns="0" anchor="t">
            <a:spAutoFit/>
          </a:bodyPr>
          <a:lstStyle/>
          <a:p>
            <a:pPr algn="l"/>
            <a:r>
              <a:rPr sz="1600" b="0" i="0">
                <a:solidFill>
                  <a:srgbClr val="80BFEC"/>
                </a:solidFill>
                <a:latin typeface="Georgia"/>
              </a:rPr>
              <a:t>01</a:t>
            </a:r>
          </a:p>
        </p:txBody>
      </p:sp>
      <p:sp>
        <p:nvSpPr>
          <p:cNvPr id="21" name="TextBox 20"/>
          <p:cNvSpPr txBox="1"/>
          <p:nvPr/>
        </p:nvSpPr>
        <p:spPr>
          <a:xfrm>
            <a:off x="7452360" y="1682496"/>
            <a:ext cx="4160520" cy="256032"/>
          </a:xfrm>
          <a:prstGeom prst="rect">
            <a:avLst/>
          </a:prstGeom>
          <a:noFill/>
        </p:spPr>
        <p:txBody>
          <a:bodyPr wrap="square" lIns="0" tIns="0" rIns="0" bIns="0" anchor="t">
            <a:spAutoFit/>
          </a:bodyPr>
          <a:lstStyle/>
          <a:p>
            <a:pPr algn="l"/>
            <a:r>
              <a:rPr sz="1200" b="1" i="0">
                <a:solidFill>
                  <a:srgbClr val="002368"/>
                </a:solidFill>
                <a:latin typeface="Arial"/>
              </a:rPr>
              <a:t>Straight line only</a:t>
            </a:r>
          </a:p>
        </p:txBody>
      </p:sp>
      <p:sp>
        <p:nvSpPr>
          <p:cNvPr id="22" name="TextBox 21"/>
          <p:cNvSpPr txBox="1"/>
          <p:nvPr/>
        </p:nvSpPr>
        <p:spPr>
          <a:xfrm>
            <a:off x="7452360" y="1956816"/>
            <a:ext cx="4160520" cy="685800"/>
          </a:xfrm>
          <a:prstGeom prst="rect">
            <a:avLst/>
          </a:prstGeom>
          <a:noFill/>
        </p:spPr>
        <p:txBody>
          <a:bodyPr wrap="square" lIns="0" tIns="0" rIns="0" bIns="0" anchor="t">
            <a:spAutoFit/>
          </a:bodyPr>
          <a:lstStyle/>
          <a:p>
            <a:pPr algn="l"/>
            <a:r>
              <a:rPr sz="1050" b="0" i="0">
                <a:solidFill>
                  <a:srgbClr val="000000"/>
                </a:solidFill>
                <a:latin typeface="Arial"/>
              </a:rPr>
              <a:t>For leads at 11–25 km a road distance or drive time would be fairer. Not yet built.</a:t>
            </a:r>
          </a:p>
        </p:txBody>
      </p:sp>
      <p:cxnSp>
        <p:nvCxnSpPr>
          <p:cNvPr id="23" name="Connector 22"/>
          <p:cNvCxnSpPr/>
          <p:nvPr/>
        </p:nvCxnSpPr>
        <p:spPr>
          <a:xfrm>
            <a:off x="6903720" y="2642616"/>
            <a:ext cx="4736592" cy="0"/>
          </a:xfrm>
          <a:prstGeom prst="line">
            <a:avLst/>
          </a:prstGeom>
          <a:ln w="9525">
            <a:solidFill>
              <a:srgbClr val="ECECEC"/>
            </a:solidFill>
          </a:ln>
        </p:spPr>
      </p:cxnSp>
      <p:sp>
        <p:nvSpPr>
          <p:cNvPr id="24" name="TextBox 23"/>
          <p:cNvSpPr txBox="1"/>
          <p:nvPr/>
        </p:nvSpPr>
        <p:spPr>
          <a:xfrm>
            <a:off x="6903720" y="2734056"/>
            <a:ext cx="914400" cy="457200"/>
          </a:xfrm>
          <a:prstGeom prst="rect">
            <a:avLst/>
          </a:prstGeom>
          <a:noFill/>
        </p:spPr>
        <p:txBody>
          <a:bodyPr wrap="square" lIns="0" tIns="0" rIns="0" bIns="0" anchor="t">
            <a:spAutoFit/>
          </a:bodyPr>
          <a:lstStyle/>
          <a:p>
            <a:pPr algn="l"/>
            <a:r>
              <a:rPr sz="1600" b="0" i="0">
                <a:solidFill>
                  <a:srgbClr val="80BFEC"/>
                </a:solidFill>
                <a:latin typeface="Georgia"/>
              </a:rPr>
              <a:t>02</a:t>
            </a:r>
          </a:p>
        </p:txBody>
      </p:sp>
      <p:sp>
        <p:nvSpPr>
          <p:cNvPr id="25" name="TextBox 24"/>
          <p:cNvSpPr txBox="1"/>
          <p:nvPr/>
        </p:nvSpPr>
        <p:spPr>
          <a:xfrm>
            <a:off x="7452360" y="2752344"/>
            <a:ext cx="4160520" cy="256032"/>
          </a:xfrm>
          <a:prstGeom prst="rect">
            <a:avLst/>
          </a:prstGeom>
          <a:noFill/>
        </p:spPr>
        <p:txBody>
          <a:bodyPr wrap="square" lIns="0" tIns="0" rIns="0" bIns="0" anchor="t">
            <a:spAutoFit/>
          </a:bodyPr>
          <a:lstStyle/>
          <a:p>
            <a:pPr algn="l"/>
            <a:r>
              <a:rPr sz="1200" b="1" i="0">
                <a:solidFill>
                  <a:srgbClr val="002368"/>
                </a:solidFill>
                <a:latin typeface="Arial"/>
              </a:rPr>
              <a:t>440 companies on an earlier distance</a:t>
            </a:r>
          </a:p>
        </p:txBody>
      </p:sp>
      <p:sp>
        <p:nvSpPr>
          <p:cNvPr id="26" name="TextBox 25"/>
          <p:cNvSpPr txBox="1"/>
          <p:nvPr/>
        </p:nvSpPr>
        <p:spPr>
          <a:xfrm>
            <a:off x="7452360" y="3026664"/>
            <a:ext cx="4160520" cy="685800"/>
          </a:xfrm>
          <a:prstGeom prst="rect">
            <a:avLst/>
          </a:prstGeom>
          <a:noFill/>
        </p:spPr>
        <p:txBody>
          <a:bodyPr wrap="square" lIns="0" tIns="0" rIns="0" bIns="0" anchor="t">
            <a:spAutoFit/>
          </a:bodyPr>
          <a:lstStyle/>
          <a:p>
            <a:pPr algn="l"/>
            <a:r>
              <a:rPr sz="1050" b="0" i="0">
                <a:solidFill>
                  <a:srgbClr val="000000"/>
                </a:solidFill>
                <a:latin typeface="Arial"/>
              </a:rPr>
              <a:t>Placing them from their own address would give each company coordinates of its own.</a:t>
            </a:r>
          </a:p>
        </p:txBody>
      </p:sp>
      <p:cxnSp>
        <p:nvCxnSpPr>
          <p:cNvPr id="27" name="Connector 26"/>
          <p:cNvCxnSpPr/>
          <p:nvPr/>
        </p:nvCxnSpPr>
        <p:spPr>
          <a:xfrm>
            <a:off x="6903720" y="3712464"/>
            <a:ext cx="4736592" cy="0"/>
          </a:xfrm>
          <a:prstGeom prst="line">
            <a:avLst/>
          </a:prstGeom>
          <a:ln w="9525">
            <a:solidFill>
              <a:srgbClr val="ECECEC"/>
            </a:solidFill>
          </a:ln>
        </p:spPr>
      </p:cxnSp>
      <p:sp>
        <p:nvSpPr>
          <p:cNvPr id="28" name="TextBox 27"/>
          <p:cNvSpPr txBox="1"/>
          <p:nvPr/>
        </p:nvSpPr>
        <p:spPr>
          <a:xfrm>
            <a:off x="6903720" y="3803904"/>
            <a:ext cx="914400" cy="457200"/>
          </a:xfrm>
          <a:prstGeom prst="rect">
            <a:avLst/>
          </a:prstGeom>
          <a:noFill/>
        </p:spPr>
        <p:txBody>
          <a:bodyPr wrap="square" lIns="0" tIns="0" rIns="0" bIns="0" anchor="t">
            <a:spAutoFit/>
          </a:bodyPr>
          <a:lstStyle/>
          <a:p>
            <a:pPr algn="l"/>
            <a:r>
              <a:rPr sz="1600" b="0" i="0">
                <a:solidFill>
                  <a:srgbClr val="80BFEC"/>
                </a:solidFill>
                <a:latin typeface="Georgia"/>
              </a:rPr>
              <a:t>03</a:t>
            </a:r>
          </a:p>
        </p:txBody>
      </p:sp>
      <p:sp>
        <p:nvSpPr>
          <p:cNvPr id="29" name="TextBox 28"/>
          <p:cNvSpPr txBox="1"/>
          <p:nvPr/>
        </p:nvSpPr>
        <p:spPr>
          <a:xfrm>
            <a:off x="7452360" y="3822191"/>
            <a:ext cx="4160520" cy="256032"/>
          </a:xfrm>
          <a:prstGeom prst="rect">
            <a:avLst/>
          </a:prstGeom>
          <a:noFill/>
        </p:spPr>
        <p:txBody>
          <a:bodyPr wrap="square" lIns="0" tIns="0" rIns="0" bIns="0" anchor="t">
            <a:spAutoFit/>
          </a:bodyPr>
          <a:lstStyle/>
          <a:p>
            <a:pPr algn="l"/>
            <a:r>
              <a:rPr sz="1200" b="1" i="0">
                <a:solidFill>
                  <a:srgbClr val="002368"/>
                </a:solidFill>
                <a:latin typeface="Arial"/>
              </a:rPr>
              <a:t>Companies without a campus</a:t>
            </a:r>
          </a:p>
        </p:txBody>
      </p:sp>
      <p:sp>
        <p:nvSpPr>
          <p:cNvPr id="30" name="TextBox 29"/>
          <p:cNvSpPr txBox="1"/>
          <p:nvPr/>
        </p:nvSpPr>
        <p:spPr>
          <a:xfrm>
            <a:off x="7452360" y="4096512"/>
            <a:ext cx="4160520" cy="685800"/>
          </a:xfrm>
          <a:prstGeom prst="rect">
            <a:avLst/>
          </a:prstGeom>
          <a:noFill/>
        </p:spPr>
        <p:txBody>
          <a:bodyPr wrap="square" lIns="0" tIns="0" rIns="0" bIns="0" anchor="t">
            <a:spAutoFit/>
          </a:bodyPr>
          <a:lstStyle/>
          <a:p>
            <a:pPr algn="l"/>
            <a:r>
              <a:rPr sz="1050" b="0" i="0">
                <a:solidFill>
                  <a:srgbClr val="000000"/>
                </a:solidFill>
                <a:latin typeface="Arial"/>
              </a:rPr>
              <a:t>About 50 have no nearest campus recorded; most have an address or town that can be placed at locality level.</a:t>
            </a:r>
          </a:p>
        </p:txBody>
      </p:sp>
      <p:cxnSp>
        <p:nvCxnSpPr>
          <p:cNvPr id="31" name="Connector 30"/>
          <p:cNvCxnSpPr/>
          <p:nvPr/>
        </p:nvCxnSpPr>
        <p:spPr>
          <a:xfrm>
            <a:off x="6903720" y="4782312"/>
            <a:ext cx="4736592" cy="0"/>
          </a:xfrm>
          <a:prstGeom prst="line">
            <a:avLst/>
          </a:prstGeom>
          <a:ln w="9525">
            <a:solidFill>
              <a:srgbClr val="ECECEC"/>
            </a:solidFill>
          </a:ln>
        </p:spPr>
      </p:cxnSp>
      <p:sp>
        <p:nvSpPr>
          <p:cNvPr id="32" name="TextBox 31"/>
          <p:cNvSpPr txBox="1"/>
          <p:nvPr/>
        </p:nvSpPr>
        <p:spPr>
          <a:xfrm>
            <a:off x="6903720" y="4873752"/>
            <a:ext cx="914400" cy="457200"/>
          </a:xfrm>
          <a:prstGeom prst="rect">
            <a:avLst/>
          </a:prstGeom>
          <a:noFill/>
        </p:spPr>
        <p:txBody>
          <a:bodyPr wrap="square" lIns="0" tIns="0" rIns="0" bIns="0" anchor="t">
            <a:spAutoFit/>
          </a:bodyPr>
          <a:lstStyle/>
          <a:p>
            <a:pPr algn="l"/>
            <a:r>
              <a:rPr sz="1600" b="0" i="0">
                <a:solidFill>
                  <a:srgbClr val="80BFEC"/>
                </a:solidFill>
                <a:latin typeface="Georgia"/>
              </a:rPr>
              <a:t>04</a:t>
            </a:r>
          </a:p>
        </p:txBody>
      </p:sp>
      <p:sp>
        <p:nvSpPr>
          <p:cNvPr id="33" name="TextBox 32"/>
          <p:cNvSpPr txBox="1"/>
          <p:nvPr/>
        </p:nvSpPr>
        <p:spPr>
          <a:xfrm>
            <a:off x="7452360" y="4892040"/>
            <a:ext cx="4160520" cy="256032"/>
          </a:xfrm>
          <a:prstGeom prst="rect">
            <a:avLst/>
          </a:prstGeom>
          <a:noFill/>
        </p:spPr>
        <p:txBody>
          <a:bodyPr wrap="square" lIns="0" tIns="0" rIns="0" bIns="0" anchor="t">
            <a:spAutoFit/>
          </a:bodyPr>
          <a:lstStyle/>
          <a:p>
            <a:pPr algn="l"/>
            <a:r>
              <a:rPr sz="1200" b="1" i="0">
                <a:solidFill>
                  <a:srgbClr val="002368"/>
                </a:solidFill>
                <a:latin typeface="Arial"/>
              </a:rPr>
              <a:t>Ward locations are estimates</a:t>
            </a:r>
          </a:p>
        </p:txBody>
      </p:sp>
      <p:sp>
        <p:nvSpPr>
          <p:cNvPr id="34" name="TextBox 33"/>
          <p:cNvSpPr txBox="1"/>
          <p:nvPr/>
        </p:nvSpPr>
        <p:spPr>
          <a:xfrm>
            <a:off x="7452360" y="5166360"/>
            <a:ext cx="4160520" cy="685800"/>
          </a:xfrm>
          <a:prstGeom prst="rect">
            <a:avLst/>
          </a:prstGeom>
          <a:noFill/>
        </p:spPr>
        <p:txBody>
          <a:bodyPr wrap="square" lIns="0" tIns="0" rIns="0" bIns="0" anchor="t">
            <a:spAutoFit/>
          </a:bodyPr>
          <a:lstStyle/>
          <a:p>
            <a:pPr algn="l"/>
            <a:r>
              <a:rPr sz="1050" b="0" i="0">
                <a:solidFill>
                  <a:srgbClr val="000000"/>
                </a:solidFill>
                <a:latin typeface="Arial"/>
              </a:rPr>
              <a:t>OpenStreetMap has no ward boundaries here; official boundaries would replace the single reference points.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Google Maps listings, October 2026</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Seven sources built the three lists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Systematic sources first, then targeted lookups; every record keeps its source and the date it was checked.</a:t>
            </a:r>
          </a:p>
        </p:txBody>
      </p:sp>
      <p:sp>
        <p:nvSpPr>
          <p:cNvPr id="5" name="Hexagon 4"/>
          <p:cNvSpPr/>
          <p:nvPr/>
        </p:nvSpPr>
        <p:spPr>
          <a:xfrm>
            <a:off x="54864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6" name="TextBox 5"/>
          <p:cNvSpPr txBox="1"/>
          <p:nvPr/>
        </p:nvSpPr>
        <p:spPr>
          <a:xfrm>
            <a:off x="111556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Master list</a:t>
            </a:r>
          </a:p>
        </p:txBody>
      </p:sp>
      <p:sp>
        <p:nvSpPr>
          <p:cNvPr id="7" name="TextBox 6"/>
          <p:cNvSpPr txBox="1"/>
          <p:nvPr/>
        </p:nvSpPr>
        <p:spPr>
          <a:xfrm>
            <a:off x="54864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TATO 476 · TCDC 115 · OSM 241 records to start; 1,376 master records in all</a:t>
            </a:r>
          </a:p>
        </p:txBody>
      </p:sp>
      <p:sp>
        <p:nvSpPr>
          <p:cNvPr id="8" name="Rounded Rectangle 7"/>
          <p:cNvSpPr/>
          <p:nvPr/>
        </p:nvSpPr>
        <p:spPr>
          <a:xfrm>
            <a:off x="54864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Companies, SACCOS</a:t>
            </a:r>
          </a:p>
        </p:txBody>
      </p:sp>
      <p:sp>
        <p:nvSpPr>
          <p:cNvPr id="9" name="Hexagon 8"/>
          <p:cNvSpPr/>
          <p:nvPr/>
        </p:nvSpPr>
        <p:spPr>
          <a:xfrm>
            <a:off x="3383280" y="182880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02</a:t>
            </a:r>
          </a:p>
        </p:txBody>
      </p:sp>
      <p:sp>
        <p:nvSpPr>
          <p:cNvPr id="10" name="TextBox 9"/>
          <p:cNvSpPr txBox="1"/>
          <p:nvPr/>
        </p:nvSpPr>
        <p:spPr>
          <a:xfrm>
            <a:off x="395020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Gap census</a:t>
            </a:r>
          </a:p>
        </p:txBody>
      </p:sp>
      <p:sp>
        <p:nvSpPr>
          <p:cNvPr id="11" name="TextBox 10"/>
          <p:cNvSpPr txBox="1"/>
          <p:nvPr/>
        </p:nvSpPr>
        <p:spPr>
          <a:xfrm>
            <a:off x="338328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OpenStreetMap, 12 categories around each campus · 505 candidates · 404 employers, 80 villages and 1 home added</a:t>
            </a:r>
          </a:p>
        </p:txBody>
      </p:sp>
      <p:sp>
        <p:nvSpPr>
          <p:cNvPr id="12" name="Rounded Rectangle 11"/>
          <p:cNvSpPr/>
          <p:nvPr/>
        </p:nvSpPr>
        <p:spPr>
          <a:xfrm>
            <a:off x="338328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Catchment sweep</a:t>
            </a:r>
          </a:p>
        </p:txBody>
      </p:sp>
      <p:sp>
        <p:nvSpPr>
          <p:cNvPr id="13" name="Hexagon 12"/>
          <p:cNvSpPr/>
          <p:nvPr/>
        </p:nvSpPr>
        <p:spPr>
          <a:xfrm>
            <a:off x="621792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sp>
        <p:nvSpPr>
          <p:cNvPr id="14" name="TextBox 13"/>
          <p:cNvSpPr txBox="1"/>
          <p:nvPr/>
        </p:nvSpPr>
        <p:spPr>
          <a:xfrm>
            <a:off x="678484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NGO register</a:t>
            </a:r>
          </a:p>
        </p:txBody>
      </p:sp>
      <p:sp>
        <p:nvSpPr>
          <p:cNvPr id="15" name="TextBox 14"/>
          <p:cNvSpPr txBox="1"/>
          <p:nvPr/>
        </p:nvSpPr>
        <p:spPr>
          <a:xfrm>
            <a:off x="621792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898 register entries read · 503 welfare records, 445 in scope, 58 out of scope</a:t>
            </a:r>
          </a:p>
        </p:txBody>
      </p:sp>
      <p:sp>
        <p:nvSpPr>
          <p:cNvPr id="16" name="Rounded Rectangle 15"/>
          <p:cNvSpPr/>
          <p:nvPr/>
        </p:nvSpPr>
        <p:spPr>
          <a:xfrm>
            <a:off x="621792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Welfare list</a:t>
            </a:r>
          </a:p>
        </p:txBody>
      </p:sp>
      <p:sp>
        <p:nvSpPr>
          <p:cNvPr id="17" name="Hexagon 16"/>
          <p:cNvSpPr/>
          <p:nvPr/>
        </p:nvSpPr>
        <p:spPr>
          <a:xfrm>
            <a:off x="905256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sp>
        <p:nvSpPr>
          <p:cNvPr id="18" name="TextBox 17"/>
          <p:cNvSpPr txBox="1"/>
          <p:nvPr/>
        </p:nvSpPr>
        <p:spPr>
          <a:xfrm>
            <a:off x="961948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Council data</a:t>
            </a:r>
          </a:p>
        </p:txBody>
      </p:sp>
      <p:sp>
        <p:nvSpPr>
          <p:cNvPr id="19" name="TextBox 18"/>
          <p:cNvSpPr txBox="1"/>
          <p:nvPr/>
        </p:nvSpPr>
        <p:spPr>
          <a:xfrm>
            <a:off x="905256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Council websites · 9 councils, 7 districts, 3 regions, 129 wards, 80 villages</a:t>
            </a:r>
          </a:p>
        </p:txBody>
      </p:sp>
      <p:sp>
        <p:nvSpPr>
          <p:cNvPr id="20" name="Rounded Rectangle 19"/>
          <p:cNvSpPr/>
          <p:nvPr/>
        </p:nvSpPr>
        <p:spPr>
          <a:xfrm>
            <a:off x="905256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Government list</a:t>
            </a:r>
          </a:p>
        </p:txBody>
      </p:sp>
      <p:sp>
        <p:nvSpPr>
          <p:cNvPr id="21" name="Hexagon 20"/>
          <p:cNvSpPr/>
          <p:nvPr/>
        </p:nvSpPr>
        <p:spPr>
          <a:xfrm>
            <a:off x="1965960" y="393192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05</a:t>
            </a:r>
          </a:p>
        </p:txBody>
      </p:sp>
      <p:sp>
        <p:nvSpPr>
          <p:cNvPr id="22" name="TextBox 21"/>
          <p:cNvSpPr txBox="1"/>
          <p:nvPr/>
        </p:nvSpPr>
        <p:spPr>
          <a:xfrm>
            <a:off x="2532888"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Google Maps ×4</a:t>
            </a:r>
          </a:p>
        </p:txBody>
      </p:sp>
      <p:sp>
        <p:nvSpPr>
          <p:cNvPr id="23" name="TextBox 22"/>
          <p:cNvSpPr txBox="1"/>
          <p:nvPr/>
        </p:nvSpPr>
        <p:spPr>
          <a:xfrm>
            <a:off x="196596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391 lookups in four rounds (120, 100, 120, 51) · 248 accepted, 25 to review, 118 a different place</a:t>
            </a:r>
          </a:p>
        </p:txBody>
      </p:sp>
      <p:sp>
        <p:nvSpPr>
          <p:cNvPr id="24" name="Rounded Rectangle 23"/>
          <p:cNvSpPr/>
          <p:nvPr/>
        </p:nvSpPr>
        <p:spPr>
          <a:xfrm>
            <a:off x="196596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Pins, phones</a:t>
            </a:r>
          </a:p>
        </p:txBody>
      </p:sp>
      <p:sp>
        <p:nvSpPr>
          <p:cNvPr id="25" name="Hexagon 24"/>
          <p:cNvSpPr/>
          <p:nvPr/>
        </p:nvSpPr>
        <p:spPr>
          <a:xfrm>
            <a:off x="4800600" y="39319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06</a:t>
            </a:r>
          </a:p>
        </p:txBody>
      </p:sp>
      <p:sp>
        <p:nvSpPr>
          <p:cNvPr id="26" name="TextBox 25"/>
          <p:cNvSpPr txBox="1"/>
          <p:nvPr/>
        </p:nvSpPr>
        <p:spPr>
          <a:xfrm>
            <a:off x="5367528"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User-named</a:t>
            </a:r>
          </a:p>
        </p:txBody>
      </p:sp>
      <p:sp>
        <p:nvSpPr>
          <p:cNvPr id="27" name="TextBox 26"/>
          <p:cNvSpPr txBox="1"/>
          <p:nvPr/>
        </p:nvSpPr>
        <p:spPr>
          <a:xfrm>
            <a:off x="480060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14 employers you named, placed from their Maps pins · 51 named leads located: 35 placed</a:t>
            </a:r>
          </a:p>
        </p:txBody>
      </p:sp>
      <p:sp>
        <p:nvSpPr>
          <p:cNvPr id="28" name="Rounded Rectangle 27"/>
          <p:cNvSpPr/>
          <p:nvPr/>
        </p:nvSpPr>
        <p:spPr>
          <a:xfrm>
            <a:off x="480060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Companies</a:t>
            </a:r>
          </a:p>
        </p:txBody>
      </p:sp>
      <p:sp>
        <p:nvSpPr>
          <p:cNvPr id="29" name="Hexagon 28"/>
          <p:cNvSpPr/>
          <p:nvPr/>
        </p:nvSpPr>
        <p:spPr>
          <a:xfrm>
            <a:off x="7635240" y="39319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30" name="TextBox 29"/>
          <p:cNvSpPr txBox="1"/>
          <p:nvPr/>
        </p:nvSpPr>
        <p:spPr>
          <a:xfrm>
            <a:off x="8202167"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Deep crawl</a:t>
            </a:r>
          </a:p>
        </p:txBody>
      </p:sp>
      <p:sp>
        <p:nvSpPr>
          <p:cNvPr id="31" name="TextBox 30"/>
          <p:cNvSpPr txBox="1"/>
          <p:nvPr/>
        </p:nvSpPr>
        <p:spPr>
          <a:xfrm>
            <a:off x="763524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Own websites, up to 15 pages: emails on 507 of 627 sites (81%), named people on 217</a:t>
            </a:r>
          </a:p>
        </p:txBody>
      </p:sp>
      <p:sp>
        <p:nvSpPr>
          <p:cNvPr id="32" name="Rounded Rectangle 31"/>
          <p:cNvSpPr/>
          <p:nvPr/>
        </p:nvSpPr>
        <p:spPr>
          <a:xfrm>
            <a:off x="763524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Own websites</a:t>
            </a:r>
          </a:p>
        </p:txBody>
      </p:sp>
      <p:sp>
        <p:nvSpPr>
          <p:cNvPr id="33" name="TextBox 32"/>
          <p:cNvSpPr txBox="1"/>
          <p:nvPr/>
        </p:nvSpPr>
        <p:spPr>
          <a:xfrm>
            <a:off x="548640" y="5852160"/>
            <a:ext cx="11064240" cy="274320"/>
          </a:xfrm>
          <a:prstGeom prst="rect">
            <a:avLst/>
          </a:prstGeom>
          <a:noFill/>
        </p:spPr>
        <p:txBody>
          <a:bodyPr wrap="square" lIns="0" tIns="0" rIns="0" bIns="0" anchor="t">
            <a:spAutoFit/>
          </a:bodyPr>
          <a:lstStyle/>
          <a:p>
            <a:pPr algn="l"/>
            <a:r>
              <a:rPr sz="900" b="0" i="0">
                <a:solidFill>
                  <a:srgbClr val="818283"/>
                </a:solidFill>
                <a:latin typeface="Arial"/>
              </a:rPr>
              <a:t>Gold: the catchment sweep around the five campuses. Google Maps gives pins, addresses and phones, never people.</a:t>
            </a:r>
          </a:p>
        </p:txBody>
      </p:sp>
      <p:pic>
        <p:nvPicPr>
          <p:cNvPr id="34" name="Picture 33" descr="image3.png"/>
          <p:cNvPicPr>
            <a:picLocks noChangeAspect="1"/>
          </p:cNvPicPr>
          <p:nvPr/>
        </p:nvPicPr>
        <p:blipFill>
          <a:blip r:embed="rId2"/>
          <a:stretch>
            <a:fillRect/>
          </a:stretch>
        </p:blipFill>
        <p:spPr>
          <a:xfrm>
            <a:off x="548640" y="6272784"/>
            <a:ext cx="1143000" cy="274320"/>
          </a:xfrm>
          <a:prstGeom prst="rect">
            <a:avLst/>
          </a:prstGeom>
        </p:spPr>
      </p:pic>
      <p:sp>
        <p:nvSpPr>
          <p:cNvPr id="35"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6"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OpenStreetMap; NGO register; council websites; Google Maps, October 2026</a:t>
            </a:r>
          </a:p>
        </p:txBody>
      </p:sp>
      <p:sp>
        <p:nvSpPr>
          <p:cNvPr id="3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02</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TWO</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Segments and confidence</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Who we write to, what we ask, and how sure we are it reaches the decision-maker.</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Four core segments</a:t>
            </a:r>
          </a:p>
          <a:p>
            <a:pPr algn="l" marL="155448" indent="-155448">
              <a:spcAft>
                <a:spcPts val="400"/>
              </a:spcAft>
              <a:buFont typeface="Arial"/>
              <a:buChar char="•"/>
            </a:pPr>
            <a:r>
              <a:rPr sz="1100" b="0" i="0">
                <a:solidFill>
                  <a:srgbClr val="FFFFFF"/>
                </a:solidFill>
                <a:latin typeface="Arial"/>
              </a:rPr>
              <a:t>Employer subsegments: kind, variant, reach tier</a:t>
            </a:r>
          </a:p>
          <a:p>
            <a:pPr algn="l" marL="155448" indent="-155448">
              <a:spcAft>
                <a:spcPts val="400"/>
              </a:spcAft>
              <a:buFont typeface="Arial"/>
              <a:buChar char="•"/>
            </a:pPr>
            <a:r>
              <a:rPr sz="1100" b="0" i="0">
                <a:solidFill>
                  <a:srgbClr val="FFFFFF"/>
                </a:solidFill>
                <a:latin typeface="Arial"/>
              </a:rPr>
              <a:t>Introducers, savings groups, welfare and government</a:t>
            </a:r>
          </a:p>
          <a:p>
            <a:pPr algn="l" marL="155448" indent="-155448">
              <a:spcAft>
                <a:spcPts val="400"/>
              </a:spcAft>
              <a:buFont typeface="Arial"/>
              <a:buChar char="•"/>
            </a:pPr>
            <a:r>
              <a:rPr sz="1100" b="0" i="0">
                <a:solidFill>
                  <a:srgbClr val="FFFFFF"/>
                </a:solidFill>
                <a:latin typeface="Arial"/>
              </a:rPr>
              <a:t>The confidence layer and the contact segments</a:t>
            </a:r>
          </a:p>
          <a:p>
            <a:pPr algn="l" marL="155448" indent="-155448">
              <a:spcAft>
                <a:spcPts val="400"/>
              </a:spcAft>
              <a:buFont typeface="Arial"/>
              <a:buChar char="•"/>
            </a:pPr>
            <a:r>
              <a:rPr sz="1100" b="0" i="0">
                <a:solidFill>
                  <a:srgbClr val="FFFFFF"/>
                </a:solidFill>
                <a:latin typeface="Arial"/>
              </a:rPr>
              <a:t>The on-the-ground recipient rule</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Each audience has its own reason to talk to us, its own request and its own decision-maker.</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partnership on a staff education benefit; sponsorship for the 14 that fund education</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 employers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partnership on the children's education, or student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15–20 minute Kiswahili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117</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(SACCOS): members, not staff, approached through the committee in Kiswahili</a:t>
            </a:r>
          </a:p>
        </p:txBody>
      </p:sp>
      <p:sp>
        <p:nvSpPr>
          <p:cNvPr id="26" name="TextBox 25"/>
          <p:cNvSpPr txBox="1"/>
          <p:nvPr/>
        </p:nvSpPr>
        <p:spPr>
          <a:xfrm>
            <a:off x="6519672" y="237744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39572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28" name="TextBox 27"/>
          <p:cNvSpPr txBox="1"/>
          <p:nvPr/>
        </p:nvSpPr>
        <p:spPr>
          <a:xfrm>
            <a:off x="7269480" y="2660904"/>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15468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17296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438144"/>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33" name="TextBox 32"/>
          <p:cNvSpPr txBox="1"/>
          <p:nvPr/>
        </p:nvSpPr>
        <p:spPr>
          <a:xfrm>
            <a:off x="7269480" y="3950207"/>
            <a:ext cx="4114800" cy="256032"/>
          </a:xfrm>
          <a:prstGeom prst="rect">
            <a:avLst/>
          </a:prstGeom>
          <a:noFill/>
        </p:spPr>
        <p:txBody>
          <a:bodyPr wrap="square" lIns="0" tIns="0" rIns="0" bIns="0" anchor="t">
            <a:spAutoFit/>
          </a:bodyPr>
          <a:lstStyle/>
          <a:p>
            <a:pPr algn="l"/>
            <a:r>
              <a:rPr sz="1150" b="1" i="0">
                <a:solidFill>
                  <a:srgbClr val="FFFFFF"/>
                </a:solidFill>
                <a:latin typeface="Arial"/>
              </a:rPr>
              <a:t>Unclassified (from map data)</a:t>
            </a:r>
          </a:p>
        </p:txBody>
      </p:sp>
      <p:sp>
        <p:nvSpPr>
          <p:cNvPr id="34" name="TextBox 33"/>
          <p:cNvSpPr txBox="1"/>
          <p:nvPr/>
        </p:nvSpPr>
        <p:spPr>
          <a:xfrm>
            <a:off x="7269480" y="4215383"/>
            <a:ext cx="4114800" cy="411480"/>
          </a:xfrm>
          <a:prstGeom prst="rect">
            <a:avLst/>
          </a:prstGeom>
          <a:noFill/>
        </p:spPr>
        <p:txBody>
          <a:bodyPr wrap="square" lIns="0" tIns="0" rIns="0" bIns="0" anchor="t">
            <a:spAutoFit/>
          </a:bodyPr>
          <a:lstStyle/>
          <a:p>
            <a:pPr algn="l"/>
            <a:r>
              <a:rPr sz="1000" b="0" i="0">
                <a:solidFill>
                  <a:srgbClr val="D9ECF9"/>
                </a:solidFill>
                <a:latin typeface="Arial"/>
              </a:rPr>
              <a:t>Treated as community until the type is known</a:t>
            </a:r>
          </a:p>
        </p:txBody>
      </p:sp>
      <p:sp>
        <p:nvSpPr>
          <p:cNvPr id="35" name="Rounded Rectangle 34"/>
          <p:cNvSpPr/>
          <p:nvPr/>
        </p:nvSpPr>
        <p:spPr>
          <a:xfrm>
            <a:off x="6519672" y="4709160"/>
            <a:ext cx="4800600" cy="1051560"/>
          </a:xfrm>
          <a:prstGeom prst="roundRect">
            <a:avLst>
              <a:gd name="adj" fmla="val 6086"/>
            </a:avLst>
          </a:prstGeom>
          <a:solidFill>
            <a:srgbClr val="FFF7E5"/>
          </a:solidFill>
          <a:ln w="12700">
            <a:solidFill>
              <a:srgbClr val="FFF7E5"/>
            </a:solidFill>
          </a:ln>
        </p:spPr>
        <p:txBody>
          <a:bodyPr rtlCol="0" anchor="ctr"/>
          <a:lstStyle/>
          <a:p>
            <a:pPr algn="ctr"/>
          </a:p>
        </p:txBody>
      </p:sp>
      <p:sp>
        <p:nvSpPr>
          <p:cNvPr id="36" name="Hexagon 35"/>
          <p:cNvSpPr/>
          <p:nvPr/>
        </p:nvSpPr>
        <p:spPr>
          <a:xfrm>
            <a:off x="6702552" y="4892040"/>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37" name="TextBox 36"/>
          <p:cNvSpPr txBox="1"/>
          <p:nvPr/>
        </p:nvSpPr>
        <p:spPr>
          <a:xfrm>
            <a:off x="7132320" y="4828032"/>
            <a:ext cx="4069080" cy="868680"/>
          </a:xfrm>
          <a:prstGeom prst="rect">
            <a:avLst/>
          </a:prstGeom>
          <a:noFill/>
        </p:spPr>
        <p:txBody>
          <a:bodyPr wrap="square" lIns="0" tIns="0" rIns="0" bIns="0" anchor="t">
            <a:spAutoFit/>
          </a:bodyPr>
          <a:lstStyle/>
          <a:p>
            <a:pPr algn="l"/>
            <a:r>
              <a:rPr sz="1000" b="1" i="0">
                <a:solidFill>
                  <a:srgbClr val="002368"/>
                </a:solidFill>
                <a:latin typeface="Arial"/>
              </a:rPr>
              <a:t>1 ready, 116 without email. </a:t>
            </a:r>
            <a:r>
              <a:rPr sz="1000" b="0" i="0">
                <a:solidFill>
                  <a:srgbClr val="000000"/>
                </a:solidFill>
                <a:latin typeface="Arial"/>
              </a:rPr>
              <a:t>Gates before S1: a native-speaker Kiswahili review, and Finance agreeing to extend the member rate (OF07, documented for KINEFA only).</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(58 MORE OUT OF SCOPE, NOT WRITTEN TO)</a:t>
            </a:r>
          </a:p>
        </p:txBody>
      </p:sp>
      <p:graphicFrame>
        <p:nvGraphicFramePr>
          <p:cNvPr id="5" name="Table 4"/>
          <p:cNvGraphicFramePr>
            <a:graphicFrameLocks noGrp="1"/>
          </p:cNvGraphicFramePr>
          <p:nvPr/>
        </p:nvGraphicFramePr>
        <p:xfrm>
          <a:off x="548640" y="1536192"/>
          <a:ext cx="5486400" cy="2304288"/>
        </p:xfrm>
        <a:graphic>
          <a:graphicData uri="http://schemas.openxmlformats.org/drawingml/2006/table">
            <a:tbl>
              <a:tblPr firstRow="0" bandRow="0">
                <a:tableStyleId>{2D5ABB26-0587-4C30-8999-92F81FD0307C}</a:tableStyleId>
              </a:tblPr>
              <a:tblGrid>
                <a:gridCol w="2148840"/>
                <a:gridCol w="566928"/>
                <a:gridCol w="749808"/>
                <a:gridCol w="566928"/>
                <a:gridCol w="722376"/>
                <a:gridCol w="731520"/>
              </a:tblGrid>
              <a:tr h="384048">
                <a:tc>
                  <a:txBody>
                    <a:bodyPr wrap="square"/>
                    <a:lstStyle/>
                    <a:p>
                      <a:r>
                        <a:rPr sz="900" b="1" i="0" spc="100">
                          <a:solidFill>
                            <a:srgbClr val="818283"/>
                          </a:solidFill>
                          <a:latin typeface="Arial"/>
                        </a:rPr>
                        <a:t>KIND</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TOTAL</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READY</a:t>
                      </a:r>
                    </a:p>
                  </a:txBody>
                  <a:tcPr marL="54864" marR="54864" marT="36576" marB="36576" anchor="ctr">
                    <a:lnL w="0">
                      <a:noFill/>
                    </a:lnL>
                    <a:lnR w="0">
                      <a:noFill/>
                    </a:lnR>
                    <a:lnT w="0">
                      <a:noFill/>
                    </a:lnT>
                    <a:lnB w="12700">
                      <a:solidFill>
                        <a:srgbClr val="80BFEC"/>
                      </a:solidFill>
                    </a:lnB>
                    <a:noFill/>
                  </a:tcPr>
                </a:tc>
              </a:tr>
              <a:tr h="384048">
                <a:tc>
                  <a:txBody>
                    <a:bodyPr wrap="square"/>
                    <a:lstStyle/>
                    <a:p>
                      <a:r>
                        <a:rPr sz="1050" b="1" i="0">
                          <a:solidFill>
                            <a:srgbClr val="002368"/>
                          </a:solidFill>
                          <a:latin typeface="Arial"/>
                        </a:rPr>
                        <a:t>Residential care (children's homes)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100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17</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Family-based and sponsorship programmes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12</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138</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164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25</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Specialised centres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6</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61</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Funders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94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104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34</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Welfare networks (introducers)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548640" y="3977639"/>
            <a:ext cx="5486400" cy="109728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000000"/>
                </a:solidFill>
                <a:latin typeface="Arial"/>
              </a:rPr>
              <a:t>Two requests: a partnership on the education of the children in their care (homes, programmes, centres), or sponsorship (funders, only with a verified link to a home near a campus).</a:t>
            </a:r>
          </a:p>
          <a:p>
            <a:pPr algn="l" marL="155448" indent="-155448">
              <a:spcAft>
                <a:spcPts val="400"/>
              </a:spcAft>
              <a:buFont typeface="Arial"/>
              <a:buChar char="•"/>
            </a:pPr>
            <a:r>
              <a:rPr sz="1050" b="0" i="0">
                <a:solidFill>
                  <a:srgbClr val="000000"/>
                </a:solidFill>
                <a:latin typeface="Arial"/>
              </a:rPr>
              <a:t>Recipient: the leader on the ground; a senior executive abroad is the escalation contact.</a:t>
            </a:r>
          </a:p>
        </p:txBody>
      </p:sp>
      <p:sp>
        <p:nvSpPr>
          <p:cNvPr id="7" name="TextBox 6"/>
          <p:cNvSpPr txBox="1"/>
          <p:nvPr/>
        </p:nvSpPr>
        <p:spPr>
          <a:xfrm>
            <a:off x="635508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graphicFrame>
        <p:nvGraphicFramePr>
          <p:cNvPr id="8" name="Table 7"/>
          <p:cNvGraphicFramePr>
            <a:graphicFrameLocks noGrp="1"/>
          </p:cNvGraphicFramePr>
          <p:nvPr/>
        </p:nvGraphicFramePr>
        <p:xfrm>
          <a:off x="6355080" y="1536192"/>
          <a:ext cx="5285232" cy="2304288"/>
        </p:xfrm>
        <a:graphic>
          <a:graphicData uri="http://schemas.openxmlformats.org/drawingml/2006/table">
            <a:tbl>
              <a:tblPr firstRow="0" bandRow="0">
                <a:tableStyleId>{2D5ABB26-0587-4C30-8999-92F81FD0307C}</a:tableStyleId>
              </a:tblPr>
              <a:tblGrid>
                <a:gridCol w="1783080"/>
                <a:gridCol w="868680"/>
                <a:gridCol w="2633472"/>
              </a:tblGrid>
              <a:tr h="384048">
                <a:tc>
                  <a:txBody>
                    <a:bodyPr wrap="square"/>
                    <a:lstStyle/>
                    <a:p>
                      <a:r>
                        <a:rPr sz="900" b="1" i="0" spc="100">
                          <a:solidFill>
                            <a:srgbClr val="818283"/>
                          </a:solidFill>
                          <a:latin typeface="Arial"/>
                        </a:rPr>
                        <a:t>SUBSEGMENT</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OFFICES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ORDER AND REQUEST</a:t>
                      </a:r>
                    </a:p>
                  </a:txBody>
                  <a:tcPr marL="54864" marR="54864" marT="36576" marB="36576" anchor="ctr">
                    <a:lnL w="0">
                      <a:noFill/>
                    </a:lnL>
                    <a:lnR w="0">
                      <a:noFill/>
                    </a:lnR>
                    <a:lnT w="0">
                      <a:noFill/>
                    </a:lnT>
                    <a:lnB w="12700">
                      <a:solidFill>
                        <a:srgbClr val="80BFEC"/>
                      </a:solidFill>
                    </a:lnB>
                    <a:noFill/>
                  </a:tcPr>
                </a:tc>
              </a:tr>
              <a:tr h="384048">
                <a:tc>
                  <a:txBody>
                    <a:bodyPr wrap="square"/>
                    <a:lstStyle/>
                    <a:p>
                      <a:r>
                        <a:rPr sz="1050" b="1" i="0">
                          <a:solidFill>
                            <a:srgbClr val="002368"/>
                          </a:solidFill>
                          <a:latin typeface="Arial"/>
                        </a:rPr>
                        <a:t>Pilot councils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First: protocol introduction to the ward officers</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Other councils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After the pilot</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District and regional</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 + 3</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Courtesy notice only</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Ward offices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129</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After the council introduction; nearest first</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Village offices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80</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Same; 36 Hai, 34 Meru, 9 Arusha DC, 1 city</a:t>
                      </a:r>
                    </a:p>
                  </a:txBody>
                  <a:tcPr marL="54864" marR="54864" marT="36576" marB="36576" anchor="ctr">
                    <a:lnL w="0">
                      <a:noFill/>
                    </a:lnL>
                    <a:lnR w="0">
                      <a:noFill/>
                    </a:lnR>
                    <a:lnT w="0">
                      <a:noFill/>
                    </a:lnT>
                    <a:lnB w="9525">
                      <a:solidFill>
                        <a:srgbClr val="ECECEC"/>
                      </a:solidFill>
                    </a:lnB>
                    <a:noFill/>
                  </a:tcPr>
                </a:tc>
              </a:tr>
            </a:tbl>
          </a:graphicData>
        </a:graphic>
      </p:graphicFrame>
      <p:sp>
        <p:nvSpPr>
          <p:cNvPr id="9" name="TextBox 8"/>
          <p:cNvSpPr txBox="1"/>
          <p:nvPr/>
        </p:nvSpPr>
        <p:spPr>
          <a:xfrm>
            <a:off x="635508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58</a:t>
            </a:r>
          </a:p>
        </p:txBody>
      </p:sp>
      <p:sp>
        <p:nvSpPr>
          <p:cNvPr id="10" name="TextBox 9"/>
          <p:cNvSpPr txBox="1"/>
          <p:nvPr/>
        </p:nvSpPr>
        <p:spPr>
          <a:xfrm>
            <a:off x="635508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wards within 10 km</a:t>
            </a:r>
          </a:p>
        </p:txBody>
      </p:sp>
      <p:sp>
        <p:nvSpPr>
          <p:cNvPr id="11" name="TextBox 10"/>
          <p:cNvSpPr txBox="1"/>
          <p:nvPr/>
        </p:nvSpPr>
        <p:spPr>
          <a:xfrm>
            <a:off x="768096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35</a:t>
            </a:r>
          </a:p>
        </p:txBody>
      </p:sp>
      <p:sp>
        <p:nvSpPr>
          <p:cNvPr id="12" name="TextBox 11"/>
          <p:cNvSpPr txBox="1"/>
          <p:nvPr/>
        </p:nvSpPr>
        <p:spPr>
          <a:xfrm>
            <a:off x="768096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at 10–20 km</a:t>
            </a:r>
          </a:p>
        </p:txBody>
      </p:sp>
      <p:sp>
        <p:nvSpPr>
          <p:cNvPr id="13" name="TextBox 12"/>
          <p:cNvSpPr txBox="1"/>
          <p:nvPr/>
        </p:nvSpPr>
        <p:spPr>
          <a:xfrm>
            <a:off x="900684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32</a:t>
            </a:r>
          </a:p>
        </p:txBody>
      </p:sp>
      <p:sp>
        <p:nvSpPr>
          <p:cNvPr id="14" name="TextBox 13"/>
          <p:cNvSpPr txBox="1"/>
          <p:nvPr/>
        </p:nvSpPr>
        <p:spPr>
          <a:xfrm>
            <a:off x="900684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beyond 20 km</a:t>
            </a:r>
          </a:p>
        </p:txBody>
      </p:sp>
      <p:sp>
        <p:nvSpPr>
          <p:cNvPr id="15" name="TextBox 14"/>
          <p:cNvSpPr txBox="1"/>
          <p:nvPr/>
        </p:nvSpPr>
        <p:spPr>
          <a:xfrm>
            <a:off x="1033272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4</a:t>
            </a:r>
          </a:p>
        </p:txBody>
      </p:sp>
      <p:sp>
        <p:nvSpPr>
          <p:cNvPr id="16" name="TextBox 15"/>
          <p:cNvSpPr txBox="1"/>
          <p:nvPr/>
        </p:nvSpPr>
        <p:spPr>
          <a:xfrm>
            <a:off x="1033272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to locate</a:t>
            </a:r>
          </a:p>
        </p:txBody>
      </p:sp>
      <p:sp>
        <p:nvSpPr>
          <p:cNvPr id="17" name="TextBox 16"/>
          <p:cNvSpPr txBox="1"/>
          <p:nvPr/>
        </p:nvSpPr>
        <p:spPr>
          <a:xfrm>
            <a:off x="6355080" y="4983480"/>
            <a:ext cx="5285232" cy="914400"/>
          </a:xfrm>
          <a:prstGeom prst="rect">
            <a:avLst/>
          </a:prstGeom>
          <a:noFill/>
        </p:spPr>
        <p:txBody>
          <a:bodyPr wrap="square" lIns="0" tIns="0" rIns="0" bIns="0" anchor="t">
            <a:spAutoFit/>
          </a:bodyPr>
          <a:lstStyle/>
          <a:p>
            <a:pPr algn="l"/>
            <a:r>
              <a:rPr sz="1000" b="0" i="0">
                <a:solidFill>
                  <a:srgbClr val="000000"/>
                </a:solidFill>
                <a:latin typeface="Arial"/>
              </a:rPr>
              <a:t>Pilot councils: Arusha City, Arusha District, Hai and Meru. Villages: 29 within 10 km, 41 at 10–20 km, 10 beyond. Mtaa offices: none recorded yet (a gap). 11 offices publish an official inbox for an advance copy.</a:t>
            </a:r>
          </a:p>
        </p:txBody>
      </p:sp>
      <p:pic>
        <p:nvPicPr>
          <p:cNvPr id="18" name="Picture 17" descr="image3.png"/>
          <p:cNvPicPr>
            <a:picLocks noChangeAspect="1"/>
          </p:cNvPicPr>
          <p:nvPr/>
        </p:nvPicPr>
        <p:blipFill>
          <a:blip r:embed="rId2"/>
          <a:stretch>
            <a:fillRect/>
          </a:stretch>
        </p:blipFill>
        <p:spPr>
          <a:xfrm>
            <a:off x="548640" y="6272784"/>
            <a:ext cx="1143000" cy="274320"/>
          </a:xfrm>
          <a:prstGeom prst="rect">
            <a:avLst/>
          </a:prstGeom>
        </p:spPr>
      </p:pic>
      <p:sp>
        <p:nvSpPr>
          <p:cNvPr id="1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sp>
        <p:nvSpPr>
          <p:cNvPr id="4" name="Rounded Rectangle 3"/>
          <p:cNvSpPr/>
          <p:nvPr/>
        </p:nvSpPr>
        <p:spPr>
          <a:xfrm>
            <a:off x="548640" y="1371600"/>
            <a:ext cx="3931920" cy="530352"/>
          </a:xfrm>
          <a:prstGeom prst="roundRect">
            <a:avLst>
              <a:gd name="adj" fmla="val 1206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31520" y="1408176"/>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direct</a:t>
            </a:r>
          </a:p>
        </p:txBody>
      </p:sp>
      <p:sp>
        <p:nvSpPr>
          <p:cNvPr id="6" name="TextBox 5"/>
          <p:cNvSpPr txBox="1"/>
          <p:nvPr/>
        </p:nvSpPr>
        <p:spPr>
          <a:xfrm>
            <a:off x="2194560" y="1408176"/>
            <a:ext cx="2194560" cy="457200"/>
          </a:xfrm>
          <a:prstGeom prst="rect">
            <a:avLst/>
          </a:prstGeom>
          <a:noFill/>
        </p:spPr>
        <p:txBody>
          <a:bodyPr wrap="square" lIns="0" tIns="0" rIns="0" bIns="0" anchor="ctr">
            <a:spAutoFit/>
          </a:bodyPr>
          <a:lstStyle/>
          <a:p>
            <a:pPr algn="l"/>
            <a:r>
              <a:rPr sz="850" b="0" i="0">
                <a:solidFill>
                  <a:srgbClr val="FFFFFF"/>
                </a:solidFill>
                <a:latin typeface="Arial"/>
              </a:rPr>
              <a:t>The person's own address, or the inbox for their role (hr@, md@, dg@)</a:t>
            </a:r>
          </a:p>
        </p:txBody>
      </p:sp>
      <p:sp>
        <p:nvSpPr>
          <p:cNvPr id="7" name="Rounded Rectangle 6"/>
          <p:cNvSpPr/>
          <p:nvPr/>
        </p:nvSpPr>
        <p:spPr>
          <a:xfrm>
            <a:off x="548640" y="1993392"/>
            <a:ext cx="3931920" cy="530352"/>
          </a:xfrm>
          <a:prstGeom prst="roundRect">
            <a:avLst>
              <a:gd name="adj" fmla="val 12068"/>
            </a:avLst>
          </a:prstGeom>
          <a:solidFill>
            <a:srgbClr val="1C4A8A"/>
          </a:solidFill>
          <a:ln w="12700">
            <a:solidFill>
              <a:srgbClr val="1C4A8A"/>
            </a:solidFill>
          </a:ln>
        </p:spPr>
        <p:txBody>
          <a:bodyPr rtlCol="0" anchor="ctr"/>
          <a:lstStyle/>
          <a:p>
            <a:pPr algn="ctr"/>
          </a:p>
        </p:txBody>
      </p:sp>
      <p:sp>
        <p:nvSpPr>
          <p:cNvPr id="8" name="TextBox 7"/>
          <p:cNvSpPr txBox="1"/>
          <p:nvPr/>
        </p:nvSpPr>
        <p:spPr>
          <a:xfrm>
            <a:off x="731520" y="2029968"/>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indirect</a:t>
            </a:r>
          </a:p>
        </p:txBody>
      </p:sp>
      <p:sp>
        <p:nvSpPr>
          <p:cNvPr id="9" name="TextBox 8"/>
          <p:cNvSpPr txBox="1"/>
          <p:nvPr/>
        </p:nvSpPr>
        <p:spPr>
          <a:xfrm>
            <a:off x="2194560" y="2029968"/>
            <a:ext cx="2194560" cy="457200"/>
          </a:xfrm>
          <a:prstGeom prst="rect">
            <a:avLst/>
          </a:prstGeom>
          <a:noFill/>
        </p:spPr>
        <p:txBody>
          <a:bodyPr wrap="square" lIns="0" tIns="0" rIns="0" bIns="0" anchor="ctr">
            <a:spAutoFit/>
          </a:bodyPr>
          <a:lstStyle/>
          <a:p>
            <a:pPr algn="l"/>
            <a:r>
              <a:rPr sz="850" b="0" i="0">
                <a:solidFill>
                  <a:srgbClr val="FFFFFF"/>
                </a:solidFill>
                <a:latin typeface="Arial"/>
              </a:rPr>
              <a:t>A general inbox (info@, reservations@) addressed to the named person</a:t>
            </a:r>
          </a:p>
        </p:txBody>
      </p:sp>
      <p:sp>
        <p:nvSpPr>
          <p:cNvPr id="10" name="Rounded Rectangle 9"/>
          <p:cNvSpPr/>
          <p:nvPr/>
        </p:nvSpPr>
        <p:spPr>
          <a:xfrm>
            <a:off x="548640" y="2615184"/>
            <a:ext cx="3931920" cy="530352"/>
          </a:xfrm>
          <a:prstGeom prst="roundRect">
            <a:avLst>
              <a:gd name="adj" fmla="val 1206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731520" y="2651760"/>
            <a:ext cx="1463040" cy="457200"/>
          </a:xfrm>
          <a:prstGeom prst="rect">
            <a:avLst/>
          </a:prstGeom>
          <a:noFill/>
        </p:spPr>
        <p:txBody>
          <a:bodyPr wrap="square" lIns="0" tIns="0" rIns="0" bIns="0" anchor="ctr">
            <a:spAutoFit/>
          </a:bodyPr>
          <a:lstStyle/>
          <a:p>
            <a:pPr algn="l"/>
            <a:r>
              <a:rPr sz="1150" b="1" i="0">
                <a:solidFill>
                  <a:srgbClr val="002368"/>
                </a:solidFill>
                <a:latin typeface="Arial"/>
              </a:rPr>
              <a:t>Medium</a:t>
            </a:r>
          </a:p>
        </p:txBody>
      </p:sp>
      <p:sp>
        <p:nvSpPr>
          <p:cNvPr id="12" name="TextBox 11"/>
          <p:cNvSpPr txBox="1"/>
          <p:nvPr/>
        </p:nvSpPr>
        <p:spPr>
          <a:xfrm>
            <a:off x="2194560" y="2651760"/>
            <a:ext cx="2194560" cy="457200"/>
          </a:xfrm>
          <a:prstGeom prst="rect">
            <a:avLst/>
          </a:prstGeom>
          <a:noFill/>
        </p:spPr>
        <p:txBody>
          <a:bodyPr wrap="square" lIns="0" tIns="0" rIns="0" bIns="0" anchor="ctr">
            <a:spAutoFit/>
          </a:bodyPr>
          <a:lstStyle/>
          <a:p>
            <a:pPr algn="l"/>
            <a:r>
              <a:rPr sz="850" b="0" i="0">
                <a:solidFill>
                  <a:srgbClr val="002368"/>
                </a:solidFill>
                <a:latin typeface="Arial"/>
              </a:rPr>
              <a:t>Ready, but to the organisation's inbox and needs routing, or a free-mail inbox it publishes</a:t>
            </a:r>
          </a:p>
        </p:txBody>
      </p:sp>
      <p:sp>
        <p:nvSpPr>
          <p:cNvPr id="13" name="Rounded Rectangle 12"/>
          <p:cNvSpPr/>
          <p:nvPr/>
        </p:nvSpPr>
        <p:spPr>
          <a:xfrm>
            <a:off x="548640" y="3236976"/>
            <a:ext cx="3931920" cy="530352"/>
          </a:xfrm>
          <a:prstGeom prst="roundRect">
            <a:avLst>
              <a:gd name="adj" fmla="val 12068"/>
            </a:avLst>
          </a:prstGeom>
          <a:solidFill>
            <a:srgbClr val="D9ECF9"/>
          </a:solidFill>
          <a:ln w="12700">
            <a:solidFill>
              <a:srgbClr val="D9ECF9"/>
            </a:solidFill>
          </a:ln>
        </p:spPr>
        <p:txBody>
          <a:bodyPr rtlCol="0" anchor="ctr"/>
          <a:lstStyle/>
          <a:p>
            <a:pPr algn="ctr"/>
          </a:p>
        </p:txBody>
      </p:sp>
      <p:sp>
        <p:nvSpPr>
          <p:cNvPr id="14" name="TextBox 13"/>
          <p:cNvSpPr txBox="1"/>
          <p:nvPr/>
        </p:nvSpPr>
        <p:spPr>
          <a:xfrm>
            <a:off x="731520" y="3273552"/>
            <a:ext cx="1463040" cy="457200"/>
          </a:xfrm>
          <a:prstGeom prst="rect">
            <a:avLst/>
          </a:prstGeom>
          <a:noFill/>
        </p:spPr>
        <p:txBody>
          <a:bodyPr wrap="square" lIns="0" tIns="0" rIns="0" bIns="0" anchor="ctr">
            <a:spAutoFit/>
          </a:bodyPr>
          <a:lstStyle/>
          <a:p>
            <a:pPr algn="l"/>
            <a:r>
              <a:rPr sz="1150" b="1" i="0">
                <a:solidFill>
                  <a:srgbClr val="002368"/>
                </a:solidFill>
                <a:latin typeface="Arial"/>
              </a:rPr>
              <a:t>Low</a:t>
            </a:r>
          </a:p>
        </p:txBody>
      </p:sp>
      <p:sp>
        <p:nvSpPr>
          <p:cNvPr id="15" name="TextBox 14"/>
          <p:cNvSpPr txBox="1"/>
          <p:nvPr/>
        </p:nvSpPr>
        <p:spPr>
          <a:xfrm>
            <a:off x="2194560" y="3273552"/>
            <a:ext cx="2194560" cy="457200"/>
          </a:xfrm>
          <a:prstGeom prst="rect">
            <a:avLst/>
          </a:prstGeom>
          <a:noFill/>
        </p:spPr>
        <p:txBody>
          <a:bodyPr wrap="square" lIns="0" tIns="0" rIns="0" bIns="0" anchor="ctr">
            <a:spAutoFit/>
          </a:bodyPr>
          <a:lstStyle/>
          <a:p>
            <a:pPr algn="l"/>
            <a:r>
              <a:rPr sz="850" b="0" i="0">
                <a:solidFill>
                  <a:srgbClr val="002368"/>
                </a:solidFill>
                <a:latin typeface="Arial"/>
              </a:rPr>
              <a:t>Held or needs research: red flags, closure, unconfirmed role or inbox, unlinked funder, checks</a:t>
            </a:r>
          </a:p>
        </p:txBody>
      </p:sp>
      <p:sp>
        <p:nvSpPr>
          <p:cNvPr id="16" name="Rounded Rectangle 15"/>
          <p:cNvSpPr/>
          <p:nvPr/>
        </p:nvSpPr>
        <p:spPr>
          <a:xfrm>
            <a:off x="548640" y="3858768"/>
            <a:ext cx="3931920" cy="530352"/>
          </a:xfrm>
          <a:prstGeom prst="roundRect">
            <a:avLst>
              <a:gd name="adj" fmla="val 12068"/>
            </a:avLst>
          </a:prstGeom>
          <a:solidFill>
            <a:srgbClr val="ECECEC"/>
          </a:solidFill>
          <a:ln w="12700">
            <a:solidFill>
              <a:srgbClr val="ECECEC"/>
            </a:solidFill>
          </a:ln>
        </p:spPr>
        <p:txBody>
          <a:bodyPr rtlCol="0" anchor="ctr"/>
          <a:lstStyle/>
          <a:p>
            <a:pPr algn="ctr"/>
          </a:p>
        </p:txBody>
      </p:sp>
      <p:sp>
        <p:nvSpPr>
          <p:cNvPr id="17" name="TextBox 16"/>
          <p:cNvSpPr txBox="1"/>
          <p:nvPr/>
        </p:nvSpPr>
        <p:spPr>
          <a:xfrm>
            <a:off x="731520" y="3895344"/>
            <a:ext cx="1463040" cy="457200"/>
          </a:xfrm>
          <a:prstGeom prst="rect">
            <a:avLst/>
          </a:prstGeom>
          <a:noFill/>
        </p:spPr>
        <p:txBody>
          <a:bodyPr wrap="square" lIns="0" tIns="0" rIns="0" bIns="0" anchor="ctr">
            <a:spAutoFit/>
          </a:bodyPr>
          <a:lstStyle/>
          <a:p>
            <a:pPr algn="l"/>
            <a:r>
              <a:rPr sz="1150" b="1" i="0">
                <a:solidFill>
                  <a:srgbClr val="002368"/>
                </a:solidFill>
                <a:latin typeface="Arial"/>
              </a:rPr>
              <a:t>No email</a:t>
            </a:r>
          </a:p>
        </p:txBody>
      </p:sp>
      <p:sp>
        <p:nvSpPr>
          <p:cNvPr id="18" name="TextBox 17"/>
          <p:cNvSpPr txBox="1"/>
          <p:nvPr/>
        </p:nvSpPr>
        <p:spPr>
          <a:xfrm>
            <a:off x="2194560" y="3895344"/>
            <a:ext cx="2194560" cy="457200"/>
          </a:xfrm>
          <a:prstGeom prst="rect">
            <a:avLst/>
          </a:prstGeom>
          <a:noFill/>
        </p:spPr>
        <p:txBody>
          <a:bodyPr wrap="square" lIns="0" tIns="0" rIns="0" bIns="0" anchor="ctr">
            <a:spAutoFit/>
          </a:bodyPr>
          <a:lstStyle/>
          <a:p>
            <a:pPr algn="l"/>
            <a:r>
              <a:rPr sz="850" b="0" i="0">
                <a:solidFill>
                  <a:srgbClr val="002368"/>
                </a:solidFill>
                <a:latin typeface="Arial"/>
              </a:rPr>
              <a:t>A phone only, or no route: the call sheets</a:t>
            </a:r>
          </a:p>
        </p:txBody>
      </p:sp>
      <p:graphicFrame>
        <p:nvGraphicFramePr>
          <p:cNvPr id="19" name="Table 18"/>
          <p:cNvGraphicFramePr>
            <a:graphicFrameLocks noGrp="1"/>
          </p:cNvGraphicFramePr>
          <p:nvPr/>
        </p:nvGraphicFramePr>
        <p:xfrm>
          <a:off x="4754880" y="1371600"/>
          <a:ext cx="6885432" cy="2057400"/>
        </p:xfrm>
        <a:graphic>
          <a:graphicData uri="http://schemas.openxmlformats.org/drawingml/2006/table">
            <a:tbl>
              <a:tblPr firstRow="0" bandRow="0">
                <a:tableStyleId>{2D5ABB26-0587-4C30-8999-92F81FD0307C}</a:tableStyleId>
              </a:tblPr>
              <a:tblGrid>
                <a:gridCol w="1463040"/>
                <a:gridCol w="1051560"/>
                <a:gridCol w="1051560"/>
                <a:gridCol w="914400"/>
                <a:gridCol w="822960"/>
                <a:gridCol w="1581912"/>
              </a:tblGrid>
              <a:tr h="411480">
                <a:tc>
                  <a:txBody>
                    <a:bodyPr wrap="square"/>
                    <a:lstStyle/>
                    <a:p>
                      <a:r>
                        <a:rPr sz="900" b="1" i="0" spc="100">
                          <a:solidFill>
                            <a:srgbClr val="818283"/>
                          </a:solidFill>
                          <a:latin typeface="Arial"/>
                        </a:rPr>
                        <a:t>TRACK</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INDIRECT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NO EMAIL</a:t>
                      </a:r>
                    </a:p>
                  </a:txBody>
                  <a:tcPr marL="54864" marR="54864" marT="36576" marB="36576" anchor="ctr">
                    <a:lnL w="0">
                      <a:noFill/>
                    </a:lnL>
                    <a:lnR w="0">
                      <a:noFill/>
                    </a:lnR>
                    <a:lnT w="0">
                      <a:noFill/>
                    </a:lnT>
                    <a:lnB w="12700">
                      <a:solidFill>
                        <a:srgbClr val="80BFEC"/>
                      </a:solidFill>
                    </a:lnB>
                    <a:noFill/>
                  </a:tcPr>
                </a:tc>
              </a:tr>
              <a:tr h="411480">
                <a:tc>
                  <a:txBody>
                    <a:bodyPr wrap="square"/>
                    <a:lstStyle/>
                    <a:p>
                      <a:r>
                        <a:rPr sz="1100" b="1" i="0">
                          <a:solidFill>
                            <a:srgbClr val="002368"/>
                          </a:solidFill>
                          <a:latin typeface="Arial"/>
                        </a:rPr>
                        <a:t>Companies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36</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349</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52</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569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Welfare</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55</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117</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233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 pilot councils</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224 held</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All 228 by hand</a:t>
                      </a:r>
                    </a:p>
                  </a:txBody>
                  <a:tcPr marL="54864" marR="54864" marT="36576" marB="36576" anchor="ctr">
                    <a:lnL w="0">
                      <a:noFill/>
                    </a:lnL>
                    <a:lnR w="0">
                      <a:noFill/>
                    </a:lnR>
                    <a:lnT w="0">
                      <a:noFill/>
                    </a:lnT>
                    <a:lnB w="9525">
                      <a:solidFill>
                        <a:srgbClr val="ECECEC"/>
                      </a:solidFill>
                    </a:lnB>
                    <a:noFill/>
                  </a:tcPr>
                </a:tc>
              </a:tr>
            </a:tbl>
          </a:graphicData>
        </a:graphic>
      </p:graphicFrame>
      <p:sp>
        <p:nvSpPr>
          <p:cNvPr id="20" name="TextBox 19"/>
          <p:cNvSpPr txBox="1"/>
          <p:nvPr/>
        </p:nvSpPr>
        <p:spPr>
          <a:xfrm>
            <a:off x="4754880" y="3611880"/>
            <a:ext cx="6858000" cy="502920"/>
          </a:xfrm>
          <a:prstGeom prst="rect">
            <a:avLst/>
          </a:prstGeom>
          <a:noFill/>
        </p:spPr>
        <p:txBody>
          <a:bodyPr wrap="square" lIns="0" tIns="0" rIns="0" bIns="0" anchor="t">
            <a:spAutoFit/>
          </a:bodyPr>
          <a:lstStyle/>
          <a:p>
            <a:pPr algn="l"/>
            <a:r>
              <a:rPr sz="1000" b="0" i="0">
                <a:solidFill>
                  <a:srgbClr val="818283"/>
                </a:solidFill>
                <a:latin typeface="Arial"/>
              </a:rPr>
              <a:t>Each segment is a separate contact list for the email tool. An address that two organisations share is used once (18 addresses).</a:t>
            </a:r>
          </a:p>
        </p:txBody>
      </p:sp>
      <p:sp>
        <p:nvSpPr>
          <p:cNvPr id="21" name="Rounded Rectangle 20"/>
          <p:cNvSpPr/>
          <p:nvPr/>
        </p:nvSpPr>
        <p:spPr>
          <a:xfrm>
            <a:off x="4754880" y="4206240"/>
            <a:ext cx="6885432" cy="1463040"/>
          </a:xfrm>
          <a:prstGeom prst="roundRect">
            <a:avLst>
              <a:gd name="adj" fmla="val 4375"/>
            </a:avLst>
          </a:prstGeom>
          <a:solidFill>
            <a:srgbClr val="FFF7E5"/>
          </a:solidFill>
          <a:ln w="12700">
            <a:solidFill>
              <a:srgbClr val="FFF7E5"/>
            </a:solidFill>
          </a:ln>
        </p:spPr>
        <p:txBody>
          <a:bodyPr rtlCol="0" anchor="ctr"/>
          <a:lstStyle/>
          <a:p>
            <a:pPr algn="ctr"/>
          </a:p>
        </p:txBody>
      </p:sp>
      <p:sp>
        <p:nvSpPr>
          <p:cNvPr id="22" name="TextBox 21"/>
          <p:cNvSpPr txBox="1"/>
          <p:nvPr/>
        </p:nvSpPr>
        <p:spPr>
          <a:xfrm>
            <a:off x="4983480" y="4343400"/>
            <a:ext cx="6492240" cy="274320"/>
          </a:xfrm>
          <a:prstGeom prst="rect">
            <a:avLst/>
          </a:prstGeom>
          <a:noFill/>
        </p:spPr>
        <p:txBody>
          <a:bodyPr wrap="square" lIns="0" tIns="0" rIns="0" bIns="0" anchor="t">
            <a:spAutoFit/>
          </a:bodyPr>
          <a:lstStyle/>
          <a:p>
            <a:pPr algn="l"/>
            <a:r>
              <a:rPr sz="1200" b="1" i="0">
                <a:solidFill>
                  <a:srgbClr val="002368"/>
                </a:solidFill>
                <a:latin typeface="Arial"/>
              </a:rPr>
              <a:t>Government delivery lists</a:t>
            </a:r>
          </a:p>
        </p:txBody>
      </p:sp>
      <p:sp>
        <p:nvSpPr>
          <p:cNvPr id="23" name="TextBox 22"/>
          <p:cNvSpPr txBox="1"/>
          <p:nvPr/>
        </p:nvSpPr>
        <p:spPr>
          <a:xfrm>
            <a:off x="4983480" y="4645152"/>
            <a:ext cx="6492240" cy="123444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Every office is segmented whatever the channel: letter addressee, who decides, who can decide quickly, postal and physical address, office phone, official email, release order.</a:t>
            </a:r>
          </a:p>
          <a:p>
            <a:pPr algn="l" marL="155448" indent="-155448">
              <a:spcAft>
                <a:spcPts val="300"/>
              </a:spcAft>
              <a:buFont typeface="Arial"/>
              <a:buChar char="•"/>
            </a:pPr>
            <a:r>
              <a:rPr sz="1000" b="0" i="0">
                <a:solidFill>
                  <a:srgbClr val="000000"/>
                </a:solidFill>
                <a:latin typeface="Arial"/>
              </a:rPr>
              <a:t>High: a pilot council letter is ready and the post holder is named by an official source within 180 days. Low: held until the pilot (councils), the B2G owner (districts, regions) or the council's introduction (wards, villages).</a:t>
            </a:r>
          </a:p>
        </p:txBody>
      </p:sp>
      <p:pic>
        <p:nvPicPr>
          <p:cNvPr id="24" name="Picture 23" descr="image3.png"/>
          <p:cNvPicPr>
            <a:picLocks noChangeAspect="1"/>
          </p:cNvPicPr>
          <p:nvPr/>
        </p:nvPicPr>
        <p:blipFill>
          <a:blip r:embed="rId2"/>
          <a:stretch>
            <a:fillRect/>
          </a:stretch>
        </p:blipFill>
        <p:spPr>
          <a:xfrm>
            <a:off x="548640" y="6272784"/>
            <a:ext cx="1143000" cy="274320"/>
          </a:xfrm>
          <a:prstGeom prst="rect">
            <a:avLst/>
          </a:prstGeom>
        </p:spPr>
      </p:pic>
      <p:sp>
        <p:nvSpPr>
          <p:cNvPr id="25"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REACH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54 leads reach the decision-maker directly</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HIGH-CONFIDENCE EMAIL ROUTES BY TRACK</a:t>
            </a:r>
          </a:p>
        </p:txBody>
      </p:sp>
      <p:graphicFrame>
        <p:nvGraphicFramePr>
          <p:cNvPr id="5" name="Chart 4"/>
          <p:cNvGraphicFramePr>
            <a:graphicFrameLocks noGrp="1"/>
          </p:cNvGraphicFramePr>
          <p:nvPr/>
        </p:nvGraphicFramePr>
        <p:xfrm>
          <a:off x="411480" y="1508760"/>
          <a:ext cx="5852160" cy="3291840"/>
        </p:xfrm>
        <a:graphic>
          <a:graphicData uri="http://schemas.openxmlformats.org/drawingml/2006/chart">
            <c:chart xmlns:c="http://schemas.openxmlformats.org/drawingml/2006/chart" r:id="rId2"/>
          </a:graphicData>
        </a:graphic>
      </p:graphicFrame>
      <p:sp>
        <p:nvSpPr>
          <p:cNvPr id="6" name="TextBox 5"/>
          <p:cNvSpPr txBox="1"/>
          <p:nvPr/>
        </p:nvSpPr>
        <p:spPr>
          <a:xfrm>
            <a:off x="2743200" y="4069080"/>
            <a:ext cx="1463040" cy="274320"/>
          </a:xfrm>
          <a:prstGeom prst="rect">
            <a:avLst/>
          </a:prstGeom>
          <a:noFill/>
        </p:spPr>
        <p:txBody>
          <a:bodyPr wrap="square" lIns="0" tIns="0" rIns="0" bIns="0" anchor="t">
            <a:spAutoFit/>
          </a:bodyPr>
          <a:lstStyle/>
          <a:p>
            <a:pPr algn="ctr"/>
            <a:r>
              <a:rPr sz="950" b="1" i="0">
                <a:solidFill>
                  <a:srgbClr val="002368"/>
                </a:solidFill>
                <a:latin typeface="Arial"/>
              </a:rPr>
              <a:t>4 direct · 8 indirect</a:t>
            </a:r>
          </a:p>
        </p:txBody>
      </p:sp>
      <p:sp>
        <p:nvSpPr>
          <p:cNvPr id="7" name="TextBox 6"/>
          <p:cNvSpPr txBox="1"/>
          <p:nvPr/>
        </p:nvSpPr>
        <p:spPr>
          <a:xfrm>
            <a:off x="548640" y="4846320"/>
            <a:ext cx="5577840" cy="1097280"/>
          </a:xfrm>
          <a:prstGeom prst="rect">
            <a:avLst/>
          </a:prstGeom>
          <a:noFill/>
        </p:spPr>
        <p:txBody>
          <a:bodyPr wrap="square" lIns="0" tIns="0" rIns="0" bIns="0" anchor="t">
            <a:spAutoFit/>
          </a:bodyPr>
          <a:lstStyle/>
          <a:p>
            <a:pPr algn="l"/>
            <a:r>
              <a:rPr sz="1000" b="0" i="0">
                <a:solidFill>
                  <a:srgbClr val="818283"/>
                </a:solidFill>
                <a:latin typeface="Arial"/>
              </a:rPr>
              <a:t>54 routes reach the decision-maker at their own or their role's inbox; 291 reach them through a general inbox addressed to them by name. The routes come from each organisation's own website, published directories and targeted searches.</a:t>
            </a:r>
          </a:p>
        </p:txBody>
      </p:sp>
      <p:sp>
        <p:nvSpPr>
          <p:cNvPr id="8" name="Rounded Rectangle 7"/>
          <p:cNvSpPr/>
          <p:nvPr/>
        </p:nvSpPr>
        <p:spPr>
          <a:xfrm>
            <a:off x="6537960" y="1325880"/>
            <a:ext cx="5102352"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9" name="TextBox 8"/>
          <p:cNvSpPr txBox="1"/>
          <p:nvPr/>
        </p:nvSpPr>
        <p:spPr>
          <a:xfrm>
            <a:off x="6812280" y="1508760"/>
            <a:ext cx="45720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 EVERYWHERE</a:t>
            </a:r>
          </a:p>
        </p:txBody>
      </p:sp>
      <p:sp>
        <p:nvSpPr>
          <p:cNvPr id="10" name="TextBox 9"/>
          <p:cNvSpPr txBox="1"/>
          <p:nvPr/>
        </p:nvSpPr>
        <p:spPr>
          <a:xfrm>
            <a:off x="6812280" y="1810512"/>
            <a:ext cx="4572000" cy="731520"/>
          </a:xfrm>
          <a:prstGeom prst="rect">
            <a:avLst/>
          </a:prstGeom>
          <a:noFill/>
        </p:spPr>
        <p:txBody>
          <a:bodyPr wrap="square" lIns="0" tIns="0" rIns="0" bIns="0" anchor="t">
            <a:spAutoFit/>
          </a:bodyPr>
          <a:lstStyle/>
          <a:p>
            <a:pPr algn="l"/>
            <a:r>
              <a:rPr sz="1700" b="0" i="0">
                <a:solidFill>
                  <a:srgbClr val="002368"/>
                </a:solidFill>
                <a:latin typeface="Georgia"/>
              </a:rPr>
              <a:t>The first message goes to the in-country person who can decide.</a:t>
            </a:r>
          </a:p>
        </p:txBody>
      </p:sp>
      <p:sp>
        <p:nvSpPr>
          <p:cNvPr id="11" name="TextBox 10"/>
          <p:cNvSpPr txBox="1"/>
          <p:nvPr/>
        </p:nvSpPr>
        <p:spPr>
          <a:xfrm>
            <a:off x="6812280" y="2697480"/>
            <a:ext cx="123444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2" name="TextBox 11"/>
          <p:cNvSpPr txBox="1"/>
          <p:nvPr/>
        </p:nvSpPr>
        <p:spPr>
          <a:xfrm>
            <a:off x="8046720" y="2697480"/>
            <a:ext cx="3429000" cy="731520"/>
          </a:xfrm>
          <a:prstGeom prst="rect">
            <a:avLst/>
          </a:prstGeom>
          <a:noFill/>
        </p:spPr>
        <p:txBody>
          <a:bodyPr wrap="square" lIns="0" tIns="0" rIns="0" bIns="0" anchor="t">
            <a:spAutoFit/>
          </a:bodyPr>
          <a:lstStyle/>
          <a:p>
            <a:pPr algn="l"/>
            <a:r>
              <a:rPr sz="1000" b="0" i="0">
                <a:solidFill>
                  <a:srgbClr val="000000"/>
                </a:solidFill>
                <a:latin typeface="Arial"/>
              </a:rPr>
              <a:t>The most senior person running the Tanzania or Arusha operation: owner, founder, MD, GM or HR head.</a:t>
            </a:r>
          </a:p>
        </p:txBody>
      </p:sp>
      <p:sp>
        <p:nvSpPr>
          <p:cNvPr id="13" name="TextBox 12"/>
          <p:cNvSpPr txBox="1"/>
          <p:nvPr/>
        </p:nvSpPr>
        <p:spPr>
          <a:xfrm>
            <a:off x="6812280" y="3483864"/>
            <a:ext cx="123444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4" name="TextBox 13"/>
          <p:cNvSpPr txBox="1"/>
          <p:nvPr/>
        </p:nvSpPr>
        <p:spPr>
          <a:xfrm>
            <a:off x="8046720" y="3483864"/>
            <a:ext cx="3429000" cy="731520"/>
          </a:xfrm>
          <a:prstGeom prst="rect">
            <a:avLst/>
          </a:prstGeom>
          <a:noFill/>
        </p:spPr>
        <p:txBody>
          <a:bodyPr wrap="square" lIns="0" tIns="0" rIns="0" bIns="0" anchor="t">
            <a:spAutoFit/>
          </a:bodyPr>
          <a:lstStyle/>
          <a:p>
            <a:pPr algn="l"/>
            <a:r>
              <a:rPr sz="1000" b="0" i="0">
                <a:solidFill>
                  <a:srgbClr val="000000"/>
                </a:solidFill>
                <a:latin typeface="Arial"/>
              </a:rPr>
              <a:t>The head of the home, country manager or programme director; a chair only when no executive is named.</a:t>
            </a:r>
          </a:p>
        </p:txBody>
      </p:sp>
      <p:sp>
        <p:nvSpPr>
          <p:cNvPr id="15" name="TextBox 14"/>
          <p:cNvSpPr txBox="1"/>
          <p:nvPr/>
        </p:nvSpPr>
        <p:spPr>
          <a:xfrm>
            <a:off x="6812280" y="4270248"/>
            <a:ext cx="1234440" cy="274320"/>
          </a:xfrm>
          <a:prstGeom prst="rect">
            <a:avLst/>
          </a:prstGeom>
          <a:noFill/>
        </p:spPr>
        <p:txBody>
          <a:bodyPr wrap="square" lIns="0" tIns="0" rIns="0" bIns="0" anchor="t">
            <a:spAutoFit/>
          </a:bodyPr>
          <a:lstStyle/>
          <a:p>
            <a:pPr algn="l"/>
            <a:r>
              <a:rPr sz="1100" b="1" i="0">
                <a:solidFill>
                  <a:srgbClr val="002368"/>
                </a:solidFill>
                <a:latin typeface="Arial"/>
              </a:rPr>
              <a:t>Escalation</a:t>
            </a:r>
          </a:p>
        </p:txBody>
      </p:sp>
      <p:sp>
        <p:nvSpPr>
          <p:cNvPr id="16" name="TextBox 15"/>
          <p:cNvSpPr txBox="1"/>
          <p:nvPr/>
        </p:nvSpPr>
        <p:spPr>
          <a:xfrm>
            <a:off x="8046720" y="4270248"/>
            <a:ext cx="3429000" cy="731520"/>
          </a:xfrm>
          <a:prstGeom prst="rect">
            <a:avLst/>
          </a:prstGeom>
          <a:noFill/>
        </p:spPr>
        <p:txBody>
          <a:bodyPr wrap="square" lIns="0" tIns="0" rIns="0" bIns="0" anchor="t">
            <a:spAutoFit/>
          </a:bodyPr>
          <a:lstStyle/>
          <a:p>
            <a:pPr algn="l"/>
            <a:r>
              <a:rPr sz="1000" b="0" i="0">
                <a:solidFill>
                  <a:srgbClr val="000000"/>
                </a:solidFill>
                <a:latin typeface="Arial"/>
              </a:rPr>
              <a:t>A group, regional or global executive is recorded, never copied, and gets no draft. Used only if the local office is silent after the follow-up, declines, or defers to head office.</a:t>
            </a:r>
          </a:p>
        </p:txBody>
      </p:sp>
      <p:sp>
        <p:nvSpPr>
          <p:cNvPr id="17" name="TextBox 16"/>
          <p:cNvSpPr txBox="1"/>
          <p:nvPr/>
        </p:nvSpPr>
        <p:spPr>
          <a:xfrm>
            <a:off x="6812280" y="5056632"/>
            <a:ext cx="1234440" cy="274320"/>
          </a:xfrm>
          <a:prstGeom prst="rect">
            <a:avLst/>
          </a:prstGeom>
          <a:noFill/>
        </p:spPr>
        <p:txBody>
          <a:bodyPr wrap="square" lIns="0" tIns="0" rIns="0" bIns="0" anchor="t">
            <a:spAutoFit/>
          </a:bodyPr>
          <a:lstStyle/>
          <a:p>
            <a:pPr algn="l"/>
            <a:r>
              <a:rPr sz="1100" b="1" i="0">
                <a:solidFill>
                  <a:srgbClr val="002368"/>
                </a:solidFill>
                <a:latin typeface="Arial"/>
              </a:rPr>
              <a:t>Never chosen</a:t>
            </a:r>
          </a:p>
        </p:txBody>
      </p:sp>
      <p:sp>
        <p:nvSpPr>
          <p:cNvPr id="18" name="TextBox 17"/>
          <p:cNvSpPr txBox="1"/>
          <p:nvPr/>
        </p:nvSpPr>
        <p:spPr>
          <a:xfrm>
            <a:off x="8046720" y="5056632"/>
            <a:ext cx="3429000" cy="731520"/>
          </a:xfrm>
          <a:prstGeom prst="rect">
            <a:avLst/>
          </a:prstGeom>
          <a:noFill/>
        </p:spPr>
        <p:txBody>
          <a:bodyPr wrap="square" lIns="0" tIns="0" rIns="0" bIns="0" anchor="t">
            <a:spAutoFit/>
          </a:bodyPr>
          <a:lstStyle/>
          <a:p>
            <a:pPr algn="l"/>
            <a:r>
              <a:rPr sz="1000" b="0" i="0">
                <a:solidFill>
                  <a:srgbClr val="000000"/>
                </a:solidFill>
                <a:latin typeface="Arial"/>
              </a:rPr>
              <a:t>Vice chairs, treasurers and secretaries.</a:t>
            </a:r>
          </a:p>
        </p:txBody>
      </p:sp>
      <p:pic>
        <p:nvPicPr>
          <p:cNvPr id="19" name="Picture 18" descr="image3.png"/>
          <p:cNvPicPr>
            <a:picLocks noChangeAspect="1"/>
          </p:cNvPicPr>
          <p:nvPr/>
        </p:nvPicPr>
        <p:blipFill>
          <a:blip r:embed="rId3"/>
          <a:stretch>
            <a:fillRect/>
          </a:stretch>
        </p:blipFill>
        <p:spPr>
          <a:xfrm>
            <a:off x="548640" y="6272784"/>
            <a:ext cx="1143000" cy="274320"/>
          </a:xfrm>
          <a:prstGeom prst="rect">
            <a:avLst/>
          </a:prstGeom>
        </p:spPr>
      </p:pic>
      <p:sp>
        <p:nvSpPr>
          <p:cNvPr id="2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03</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THREE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Drafting the first touch</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Ask for a meeting first; the offer follows. Reach the person who decides.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Why request-first, direct versus indirect</a:t>
            </a:r>
          </a:p>
          <a:p>
            <a:pPr algn="l" marL="155448" indent="-155448">
              <a:spcAft>
                <a:spcPts val="400"/>
              </a:spcAft>
              <a:buFont typeface="Arial"/>
              <a:buChar char="•"/>
            </a:pPr>
            <a:r>
              <a:rPr sz="1100" b="0" i="0">
                <a:solidFill>
                  <a:srgbClr val="FFFFFF"/>
                </a:solidFill>
                <a:latin typeface="Arial"/>
              </a:rPr>
              <a:t>The three first-touch cases, with counts</a:t>
            </a:r>
          </a:p>
          <a:p>
            <a:pPr algn="l" marL="155448" indent="-155448">
              <a:spcAft>
                <a:spcPts val="400"/>
              </a:spcAft>
              <a:buFont typeface="Arial"/>
              <a:buChar char="•"/>
            </a:pPr>
            <a:r>
              <a:rPr sz="1100" b="0" i="0">
                <a:solidFill>
                  <a:srgbClr val="FFFFFF"/>
                </a:solidFill>
                <a:latin typeface="Arial"/>
              </a:rPr>
              <a:t>Templates and redirect wording</a:t>
            </a:r>
          </a:p>
          <a:p>
            <a:pPr algn="l" marL="155448" indent="-155448">
              <a:spcAft>
                <a:spcPts val="400"/>
              </a:spcAft>
              <a:buFont typeface="Arial"/>
              <a:buChar char="•"/>
            </a:pPr>
            <a:r>
              <a:rPr sz="1100" b="0" i="0">
                <a:solidFill>
                  <a:srgbClr val="FFFFFF"/>
                </a:solidFill>
                <a:latin typeface="Arial"/>
              </a:rPr>
              <a:t>Offers and verified hooks by segment</a:t>
            </a:r>
          </a:p>
          <a:p>
            <a:pPr algn="l" marL="155448" indent="-155448">
              <a:spcAft>
                <a:spcPts val="400"/>
              </a:spcAft>
              <a:buFont typeface="Arial"/>
              <a:buChar char="•"/>
            </a:pPr>
            <a:r>
              <a:rPr sz="1100" b="0" i="0">
                <a:solidFill>
                  <a:srgbClr val="FFFFFF"/>
                </a:solidFill>
                <a:latin typeface="Arial"/>
              </a:rPr>
              <a:t>Calls, letters, the fallout thread and incentives</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PRINCIPLE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325880"/>
            <a:ext cx="11091672" cy="1417320"/>
          </a:xfrm>
          <a:prstGeom prst="roundRect">
            <a:avLst>
              <a:gd name="adj" fmla="val 4516"/>
            </a:avLst>
          </a:prstGeom>
          <a:solidFill>
            <a:srgbClr val="D9ECF9"/>
          </a:solidFill>
          <a:ln w="12700">
            <a:solidFill>
              <a:srgbClr val="D9ECF9"/>
            </a:solidFill>
          </a:ln>
        </p:spPr>
        <p:txBody>
          <a:bodyPr rtlCol="0" anchor="ctr"/>
          <a:lstStyle/>
          <a:p>
            <a:pPr algn="ctr"/>
          </a:p>
        </p:txBody>
      </p:sp>
      <p:pic>
        <p:nvPicPr>
          <p:cNvPr id="5" name="Picture 4" descr="image4.png"/>
          <p:cNvPicPr>
            <a:picLocks noChangeAspect="1"/>
          </p:cNvPicPr>
          <p:nvPr/>
        </p:nvPicPr>
        <p:blipFill>
          <a:blip r:embed="rId2"/>
          <a:stretch>
            <a:fillRect/>
          </a:stretch>
        </p:blipFill>
        <p:spPr>
          <a:xfrm>
            <a:off x="10561320" y="1444752"/>
            <a:ext cx="868680" cy="1131916"/>
          </a:xfrm>
          <a:prstGeom prst="rect">
            <a:avLst/>
          </a:prstGeom>
        </p:spPr>
      </p:pic>
      <p:sp>
        <p:nvSpPr>
          <p:cNvPr id="6" name="TextBox 5"/>
          <p:cNvSpPr txBox="1"/>
          <p:nvPr/>
        </p:nvSpPr>
        <p:spPr>
          <a:xfrm>
            <a:off x="914400" y="1508760"/>
            <a:ext cx="4389120" cy="1097280"/>
          </a:xfrm>
          <a:prstGeom prst="rect">
            <a:avLst/>
          </a:prstGeom>
          <a:noFill/>
        </p:spPr>
        <p:txBody>
          <a:bodyPr wrap="square" lIns="0" tIns="0" rIns="0" bIns="0" anchor="t">
            <a:spAutoFit/>
          </a:bodyPr>
          <a:lstStyle/>
          <a:p>
            <a:pPr algn="l"/>
            <a:r>
              <a:rPr sz="2600" b="0" i="0">
                <a:solidFill>
                  <a:srgbClr val="002368"/>
                </a:solidFill>
                <a:latin typeface="Georgia"/>
              </a:rPr>
              <a:t>Ask first. Offer second.</a:t>
            </a:r>
          </a:p>
        </p:txBody>
      </p:sp>
      <p:sp>
        <p:nvSpPr>
          <p:cNvPr id="7" name="TextBox 6"/>
          <p:cNvSpPr txBox="1"/>
          <p:nvPr/>
        </p:nvSpPr>
        <p:spPr>
          <a:xfrm>
            <a:off x="5394960" y="1481328"/>
            <a:ext cx="4937760" cy="1188720"/>
          </a:xfrm>
          <a:prstGeom prst="rect">
            <a:avLst/>
          </a:prstGeom>
          <a:noFill/>
        </p:spPr>
        <p:txBody>
          <a:bodyPr wrap="square" lIns="0" tIns="0" rIns="0" bIns="0" anchor="t">
            <a:spAutoFit/>
          </a:bodyPr>
          <a:lstStyle/>
          <a:p>
            <a:pPr algn="l"/>
            <a:r>
              <a:rPr sz="1200" b="1" i="0">
                <a:solidFill>
                  <a:srgbClr val="002368"/>
                </a:solidFill>
                <a:latin typeface="Arial"/>
              </a:rPr>
              <a:t>The first message asks for a short meeting, in person or by phone, and states no offer terms. </a:t>
            </a:r>
            <a:r>
              <a:rPr sz="1200" b="0" i="0">
                <a:solidFill>
                  <a:srgbClr val="000000"/>
                </a:solidFill>
                <a:latin typeface="Arial"/>
              </a:rPr>
              <a:t>The offer follows in the next message, once the conversation is open.</a:t>
            </a:r>
          </a:p>
        </p:txBody>
      </p:sp>
      <p:sp>
        <p:nvSpPr>
          <p:cNvPr id="8" name="TextBox 7"/>
          <p:cNvSpPr txBox="1"/>
          <p:nvPr/>
        </p:nvSpPr>
        <p:spPr>
          <a:xfrm>
            <a:off x="548640"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REQUEST-FIRST</a:t>
            </a:r>
          </a:p>
        </p:txBody>
      </p:sp>
      <p:sp>
        <p:nvSpPr>
          <p:cNvPr id="9" name="Hexagon 8"/>
          <p:cNvSpPr/>
          <p:nvPr/>
        </p:nvSpPr>
        <p:spPr>
          <a:xfrm>
            <a:off x="548640" y="33375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0" name="TextBox 9"/>
          <p:cNvSpPr txBox="1"/>
          <p:nvPr/>
        </p:nvSpPr>
        <p:spPr>
          <a:xfrm>
            <a:off x="1051560"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 first message that leads with discounts reads as a sales pitch and is easy to ignore.</a:t>
            </a:r>
          </a:p>
        </p:txBody>
      </p:sp>
      <p:sp>
        <p:nvSpPr>
          <p:cNvPr id="11" name="Hexagon 10"/>
          <p:cNvSpPr/>
          <p:nvPr/>
        </p:nvSpPr>
        <p:spPr>
          <a:xfrm>
            <a:off x="548640" y="417880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2" name="TextBox 11"/>
          <p:cNvSpPr txBox="1"/>
          <p:nvPr/>
        </p:nvSpPr>
        <p:spPr>
          <a:xfrm>
            <a:off x="1051560"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The meeting is a small, relevant ask the recipient can say yes to.</a:t>
            </a:r>
          </a:p>
        </p:txBody>
      </p:sp>
      <p:sp>
        <p:nvSpPr>
          <p:cNvPr id="13" name="Hexagon 12"/>
          <p:cNvSpPr/>
          <p:nvPr/>
        </p:nvSpPr>
        <p:spPr>
          <a:xfrm>
            <a:off x="548640" y="502005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1051560"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Terms need Finance's 2027 confirmation; keeping them out of the first touch avoids promising early.</a:t>
            </a:r>
          </a:p>
        </p:txBody>
      </p:sp>
      <p:sp>
        <p:nvSpPr>
          <p:cNvPr id="15" name="TextBox 14"/>
          <p:cNvSpPr txBox="1"/>
          <p:nvPr/>
        </p:nvSpPr>
        <p:spPr>
          <a:xfrm>
            <a:off x="6190488"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DIRECT VERSUS INDIRECT</a:t>
            </a:r>
          </a:p>
        </p:txBody>
      </p:sp>
      <p:sp>
        <p:nvSpPr>
          <p:cNvPr id="16" name="Hexagon 15"/>
          <p:cNvSpPr/>
          <p:nvPr/>
        </p:nvSpPr>
        <p:spPr>
          <a:xfrm>
            <a:off x="6190488" y="3337560"/>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1</a:t>
            </a:r>
          </a:p>
        </p:txBody>
      </p:sp>
      <p:sp>
        <p:nvSpPr>
          <p:cNvPr id="17" name="TextBox 16"/>
          <p:cNvSpPr txBox="1"/>
          <p:nvPr/>
        </p:nvSpPr>
        <p:spPr>
          <a:xfrm>
            <a:off x="6693407"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An ambiguous request to a general inbox (info@, admin@) is likelier to be ignored, and may never reach the person who can decide.</a:t>
            </a:r>
          </a:p>
        </p:txBody>
      </p:sp>
      <p:sp>
        <p:nvSpPr>
          <p:cNvPr id="18" name="Hexagon 17"/>
          <p:cNvSpPr/>
          <p:nvPr/>
        </p:nvSpPr>
        <p:spPr>
          <a:xfrm>
            <a:off x="6190488" y="4178808"/>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2</a:t>
            </a:r>
          </a:p>
        </p:txBody>
      </p:sp>
      <p:sp>
        <p:nvSpPr>
          <p:cNvPr id="19" name="TextBox 18"/>
          <p:cNvSpPr txBox="1"/>
          <p:nvPr/>
        </p:nvSpPr>
        <p:spPr>
          <a:xfrm>
            <a:off x="6693407"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So the first job is to reach the decision-maker for staff benefits: HR, the welfare officer, the COO.</a:t>
            </a:r>
          </a:p>
        </p:txBody>
      </p:sp>
      <p:sp>
        <p:nvSpPr>
          <p:cNvPr id="20" name="Hexagon 19"/>
          <p:cNvSpPr/>
          <p:nvPr/>
        </p:nvSpPr>
        <p:spPr>
          <a:xfrm>
            <a:off x="6190488" y="5020056"/>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21" name="TextBox 20"/>
          <p:cNvSpPr txBox="1"/>
          <p:nvPr/>
        </p:nvSpPr>
        <p:spPr>
          <a:xfrm>
            <a:off x="6693407"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How we reach them depends on what we know: their own address, a name behind a general inbox, or no name.</a:t>
            </a:r>
          </a:p>
        </p:txBody>
      </p:sp>
      <p:pic>
        <p:nvPicPr>
          <p:cNvPr id="22" name="Picture 21" descr="image3.png"/>
          <p:cNvPicPr>
            <a:picLocks noChangeAspect="1"/>
          </p:cNvPicPr>
          <p:nvPr/>
        </p:nvPicPr>
        <p:blipFill>
          <a:blip r:embed="rId3"/>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partnership pipeline draft</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Three first-touch cases, set by who we can reach</a:t>
            </a:r>
          </a:p>
        </p:txBody>
      </p:sp>
      <p:sp>
        <p:nvSpPr>
          <p:cNvPr id="4" name="Rounded Rectangle 3"/>
          <p:cNvSpPr/>
          <p:nvPr/>
        </p:nvSpPr>
        <p:spPr>
          <a:xfrm>
            <a:off x="548640" y="1325880"/>
            <a:ext cx="3593592" cy="379476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22959" y="146304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6" name="TextBox 5"/>
          <p:cNvSpPr txBox="1"/>
          <p:nvPr/>
        </p:nvSpPr>
        <p:spPr>
          <a:xfrm>
            <a:off x="1645919" y="166420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7" name="TextBox 6"/>
          <p:cNvSpPr txBox="1"/>
          <p:nvPr/>
        </p:nvSpPr>
        <p:spPr>
          <a:xfrm>
            <a:off x="822959" y="228600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8" name="TextBox 7"/>
          <p:cNvSpPr txBox="1"/>
          <p:nvPr/>
        </p:nvSpPr>
        <p:spPr>
          <a:xfrm>
            <a:off x="822959" y="2880360"/>
            <a:ext cx="3108960" cy="91440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cxnSp>
        <p:nvCxnSpPr>
          <p:cNvPr id="9" name="Connector 8"/>
          <p:cNvCxnSpPr/>
          <p:nvPr/>
        </p:nvCxnSpPr>
        <p:spPr>
          <a:xfrm>
            <a:off x="822959" y="3931920"/>
            <a:ext cx="3044952" cy="0"/>
          </a:xfrm>
          <a:prstGeom prst="line">
            <a:avLst/>
          </a:prstGeom>
          <a:ln w="9525">
            <a:solidFill>
              <a:srgbClr val="8091B3"/>
            </a:solidFill>
          </a:ln>
        </p:spPr>
      </p:cxnSp>
      <p:sp>
        <p:nvSpPr>
          <p:cNvPr id="10" name="TextBox 9"/>
          <p:cNvSpPr txBox="1"/>
          <p:nvPr/>
        </p:nvSpPr>
        <p:spPr>
          <a:xfrm>
            <a:off x="822959" y="4023360"/>
            <a:ext cx="1463040" cy="640080"/>
          </a:xfrm>
          <a:prstGeom prst="rect">
            <a:avLst/>
          </a:prstGeom>
          <a:noFill/>
        </p:spPr>
        <p:txBody>
          <a:bodyPr wrap="square" lIns="0" tIns="0" rIns="0" bIns="0" anchor="t">
            <a:spAutoFit/>
          </a:bodyPr>
          <a:lstStyle/>
          <a:p>
            <a:pPr algn="l"/>
            <a:r>
              <a:rPr sz="3200" b="0" i="0">
                <a:solidFill>
                  <a:srgbClr val="FFC952"/>
                </a:solidFill>
                <a:latin typeface="Georgia"/>
              </a:rPr>
              <a:t>63</a:t>
            </a:r>
          </a:p>
        </p:txBody>
      </p:sp>
      <p:sp>
        <p:nvSpPr>
          <p:cNvPr id="11" name="TextBox 10"/>
          <p:cNvSpPr txBox="1"/>
          <p:nvPr/>
        </p:nvSpPr>
        <p:spPr>
          <a:xfrm>
            <a:off x="2057400" y="4114800"/>
            <a:ext cx="1920240" cy="822960"/>
          </a:xfrm>
          <a:prstGeom prst="rect">
            <a:avLst/>
          </a:prstGeom>
          <a:noFill/>
        </p:spPr>
        <p:txBody>
          <a:bodyPr wrap="square" lIns="0" tIns="0" rIns="0" bIns="0" anchor="t">
            <a:spAutoFit/>
          </a:bodyPr>
          <a:lstStyle/>
          <a:p>
            <a:pPr algn="l"/>
            <a:r>
              <a:rPr sz="950" b="0" i="0">
                <a:solidFill>
                  <a:srgbClr val="FFFFFF"/>
                </a:solidFill>
                <a:latin typeface="Arial"/>
              </a:rPr>
              <a:t>drafts: companies 40, introducers 4, welfare 19</a:t>
            </a:r>
          </a:p>
        </p:txBody>
      </p:sp>
      <p:sp>
        <p:nvSpPr>
          <p:cNvPr id="12" name="Rounded Rectangle 11"/>
          <p:cNvSpPr/>
          <p:nvPr/>
        </p:nvSpPr>
        <p:spPr>
          <a:xfrm>
            <a:off x="4297679" y="1325880"/>
            <a:ext cx="3593592" cy="3794760"/>
          </a:xfrm>
          <a:prstGeom prst="roundRect">
            <a:avLst>
              <a:gd name="adj" fmla="val 1781"/>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4571999"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The full letter to the inbox, explicitly addressed to them, with a routing line at the top.</a:t>
            </a:r>
          </a:p>
        </p:txBody>
      </p:sp>
      <p:cxnSp>
        <p:nvCxnSpPr>
          <p:cNvPr id="17" name="Connector 16"/>
          <p:cNvCxnSpPr/>
          <p:nvPr/>
        </p:nvCxnSpPr>
        <p:spPr>
          <a:xfrm>
            <a:off x="4571999" y="3931920"/>
            <a:ext cx="3044952" cy="0"/>
          </a:xfrm>
          <a:prstGeom prst="line">
            <a:avLst/>
          </a:prstGeom>
          <a:ln w="9525">
            <a:solidFill>
              <a:srgbClr val="80BFEC"/>
            </a:solidFill>
          </a:ln>
        </p:spPr>
      </p:cxnSp>
      <p:sp>
        <p:nvSpPr>
          <p:cNvPr id="18" name="TextBox 17"/>
          <p:cNvSpPr txBox="1"/>
          <p:nvPr/>
        </p:nvSpPr>
        <p:spPr>
          <a:xfrm>
            <a:off x="4571999"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408</a:t>
            </a:r>
          </a:p>
        </p:txBody>
      </p:sp>
      <p:sp>
        <p:nvSpPr>
          <p:cNvPr id="19" name="TextBox 18"/>
          <p:cNvSpPr txBox="1"/>
          <p:nvPr/>
        </p:nvSpPr>
        <p:spPr>
          <a:xfrm>
            <a:off x="580644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246, introducers 8, welfare 154</a:t>
            </a:r>
          </a:p>
        </p:txBody>
      </p:sp>
      <p:sp>
        <p:nvSpPr>
          <p:cNvPr id="20" name="Rounded Rectangle 19"/>
          <p:cNvSpPr/>
          <p:nvPr/>
        </p:nvSpPr>
        <p:spPr>
          <a:xfrm>
            <a:off x="8046719" y="1325880"/>
            <a:ext cx="3593592" cy="379476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8321040"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22" name="TextBox 21"/>
          <p:cNvSpPr txBox="1"/>
          <p:nvPr/>
        </p:nvSpPr>
        <p:spPr>
          <a:xfrm>
            <a:off x="914399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3" name="TextBox 22"/>
          <p:cNvSpPr txBox="1"/>
          <p:nvPr/>
        </p:nvSpPr>
        <p:spPr>
          <a:xfrm>
            <a:off x="8321040"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4" name="TextBox 23"/>
          <p:cNvSpPr txBox="1"/>
          <p:nvPr/>
        </p:nvSpPr>
        <p:spPr>
          <a:xfrm>
            <a:off x="8321040"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cxnSp>
        <p:nvCxnSpPr>
          <p:cNvPr id="25" name="Connector 24"/>
          <p:cNvCxnSpPr/>
          <p:nvPr/>
        </p:nvCxnSpPr>
        <p:spPr>
          <a:xfrm>
            <a:off x="8321040" y="3931920"/>
            <a:ext cx="3044952" cy="0"/>
          </a:xfrm>
          <a:prstGeom prst="line">
            <a:avLst/>
          </a:prstGeom>
          <a:ln w="9525">
            <a:solidFill>
              <a:srgbClr val="80BFEC"/>
            </a:solidFill>
          </a:ln>
        </p:spPr>
      </p:cxnSp>
      <p:sp>
        <p:nvSpPr>
          <p:cNvPr id="26" name="TextBox 25"/>
          <p:cNvSpPr txBox="1"/>
          <p:nvPr/>
        </p:nvSpPr>
        <p:spPr>
          <a:xfrm>
            <a:off x="8321040"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423</a:t>
            </a:r>
          </a:p>
        </p:txBody>
      </p:sp>
      <p:sp>
        <p:nvSpPr>
          <p:cNvPr id="27" name="TextBox 26"/>
          <p:cNvSpPr txBox="1"/>
          <p:nvPr/>
        </p:nvSpPr>
        <p:spPr>
          <a:xfrm>
            <a:off x="955548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380, introducers 4, welfare 39</a:t>
            </a:r>
          </a:p>
        </p:txBody>
      </p:sp>
      <p:sp>
        <p:nvSpPr>
          <p:cNvPr id="28" name="TextBox 27"/>
          <p:cNvSpPr txBox="1"/>
          <p:nvPr/>
        </p:nvSpPr>
        <p:spPr>
          <a:xfrm>
            <a:off x="548640" y="5285232"/>
            <a:ext cx="11064240" cy="329184"/>
          </a:xfrm>
          <a:prstGeom prst="rect">
            <a:avLst/>
          </a:prstGeom>
          <a:noFill/>
        </p:spPr>
        <p:txBody>
          <a:bodyPr wrap="square" lIns="0" tIns="0" rIns="0" bIns="0" anchor="t">
            <a:spAutoFit/>
          </a:bodyPr>
          <a:lstStyle/>
          <a:p>
            <a:pPr algn="l"/>
            <a:r>
              <a:rPr sz="1300" b="0" i="0">
                <a:solidFill>
                  <a:srgbClr val="002368"/>
                </a:solidFill>
                <a:latin typeface="Georgia"/>
              </a:rPr>
              <a:t>Plus 802 leads with no email (569 master, 233 welfare): case C by phone. Government: does not apply; letters go by hand, addressed by title.</a:t>
            </a:r>
          </a:p>
        </p:txBody>
      </p:sp>
      <p:sp>
        <p:nvSpPr>
          <p:cNvPr id="29" name="TextBox 28"/>
          <p:cNvSpPr txBox="1"/>
          <p:nvPr/>
        </p:nvSpPr>
        <p:spPr>
          <a:xfrm>
            <a:off x="548640" y="5715000"/>
            <a:ext cx="11064240" cy="365760"/>
          </a:xfrm>
          <a:prstGeom prst="rect">
            <a:avLst/>
          </a:prstGeom>
          <a:noFill/>
        </p:spPr>
        <p:txBody>
          <a:bodyPr wrap="square" lIns="0" tIns="0" rIns="0" bIns="0" anchor="t">
            <a:spAutoFit/>
          </a:bodyPr>
          <a:lstStyle/>
          <a:p>
            <a:pPr algn="l"/>
            <a:r>
              <a:rPr sz="950" b="0" i="0">
                <a:solidFill>
                  <a:srgbClr val="818283"/>
                </a:solidFill>
                <a:latin typeface="Arial"/>
              </a:rPr>
              <a:t>Counts are email drafts. High and medium drafts go first; low drafts are held until their checks are done.</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drafts, October 2026</a:t>
            </a:r>
          </a:p>
        </p:txBody>
      </p:sp>
      <p:sp>
        <p:nvSpPr>
          <p:cNvPr id="3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My name is &lt;Sender name&gt;, &lt;Sender role&gt; at Silverleaf Academy in Arusha.</a:t>
            </a:r>
          </a:p>
          <a:p>
            <a:pPr algn="l"/>
            <a:r>
              <a:rPr sz="1000" b="0" i="0">
                <a:solidFill>
                  <a:srgbClr val="000000"/>
                </a:solidFill>
                <a:latin typeface="Arial"/>
              </a:rPr>
              <a:t/>
            </a: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r>
              <a:rPr sz="1000" b="0" i="0">
                <a:solidFill>
                  <a:srgbClr val="000000"/>
                </a:solidFill>
                <a:latin typeface="Arial"/>
              </a:rPr>
              <a:t/>
            </a:r>
          </a:p>
          <a:p>
            <a:pPr algn="l"/>
            <a:r>
              <a:rPr sz="1000" b="0" i="0">
                <a:solidFill>
                  <a:srgbClr val="000000"/>
                </a:solidFill>
                <a:latin typeface="Arial"/>
              </a:rPr>
              <a:t>Would it be possible to arrange a short meeting, either in person or by phone, to discuss this further?</a:t>
            </a:r>
          </a:p>
          <a:p>
            <a:pPr algn="l"/>
            <a:r>
              <a:rPr sz="1000" b="0" i="0">
                <a:solidFill>
                  <a:srgbClr val="000000"/>
                </a:solidFill>
                <a:latin typeface="Arial"/>
              </a:rPr>
              <a:t/>
            </a: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r>
              <a:rPr sz="1000" b="0" i="0">
                <a:solidFill>
                  <a:srgbClr val="000000"/>
                </a:solidFill>
                <a:latin typeface="Arial"/>
              </a:rPr>
              <a:t/>
            </a:r>
          </a:p>
          <a:p>
            <a:pPr algn="l"/>
            <a:r>
              <a:rPr sz="1000" b="1" i="0">
                <a:solidFill>
                  <a:srgbClr val="002368"/>
                </a:solidFill>
                <a:latin typeface="Arial"/>
              </a:rPr>
              <a:t>For the attention of &lt;Full Name&gt;, &lt;Role&gt;. If this inbox does not reach them, we would be grateful if it could be forwarded.</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algn="l" marL="155448" indent="-155448">
              <a:spcAft>
                <a:spcPts val="200"/>
              </a:spcAft>
              <a:buFont typeface="Arial"/>
              <a:buChar char="•"/>
            </a:pPr>
            <a:r>
              <a:rPr sz="950" b="0" i="0">
                <a:solidFill>
                  <a:srgbClr val="000000"/>
                </a:solidFill>
                <a:latin typeface="Arial"/>
              </a:rPr>
              <a:t>The person's name, not 'he' or 'him'; no honorific (Mr, Dr) unless a source states it.</a:t>
            </a:r>
          </a:p>
          <a:p>
            <a:pPr algn="l" marL="155448" indent="-155448">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drafts, October 2026</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r>
              <a:rPr sz="1050" b="0" i="0">
                <a:solidFill>
                  <a:srgbClr val="FFFFFF"/>
                </a:solidFill>
                <a:latin typeface="Arial"/>
              </a:rPr>
              <a:t/>
            </a:r>
          </a:p>
          <a:p>
            <a:pPr algn="l"/>
            <a:r>
              <a:rPr sz="1050" b="0" i="0">
                <a:solidFill>
                  <a:srgbClr val="FFFFFF"/>
                </a:solidFill>
                <a:latin typeface="Arial"/>
              </a:rPr>
              <a:t>Hello,</a:t>
            </a:r>
          </a:p>
          <a:p>
            <a:pPr algn="l"/>
            <a:r>
              <a:rPr sz="1050" b="0" i="0">
                <a:solidFill>
                  <a:srgbClr val="FFFFFF"/>
                </a:solidFill>
                <a:latin typeface="Arial"/>
              </a:rPr>
              <a:t/>
            </a:r>
          </a:p>
          <a:p>
            <a:pPr algn="l"/>
            <a:r>
              <a:rPr sz="1050" b="0" i="0">
                <a:solidFill>
                  <a:srgbClr val="FFFFFF"/>
                </a:solidFill>
                <a:latin typeface="Arial"/>
              </a:rPr>
              <a:t>I am writing from Silverleaf Academy in Arusha about a staff education benefit for the children of &lt;Organisation&gt;'s employees.</a:t>
            </a:r>
          </a:p>
          <a:p>
            <a:pPr algn="l"/>
            <a:r>
              <a:rPr sz="1050" b="0" i="0">
                <a:solidFill>
                  <a:srgbClr val="FFFFFF"/>
                </a:solidFill>
                <a:latin typeface="Arial"/>
              </a:rPr>
              <a:t/>
            </a:r>
          </a:p>
          <a:p>
            <a:pPr algn="l"/>
            <a:r>
              <a:rPr sz="1050" b="0" i="0">
                <a:solidFill>
                  <a:srgbClr val="FFFFFF"/>
                </a:solidFill>
                <a:latin typeface="Arial"/>
              </a:rPr>
              <a:t>Who looks after staff welfare and benefits (HR, the welfare officer or the COO)? We would like to send them a short note.</a:t>
            </a:r>
          </a:p>
          <a:p>
            <a:pPr algn="l"/>
            <a:r>
              <a:rPr sz="1050" b="0" i="0">
                <a:solidFill>
                  <a:srgbClr val="FFFFFF"/>
                </a:solidFill>
                <a:latin typeface="Arial"/>
              </a:rPr>
              <a:t/>
            </a: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firstRow="0" bandRow="0">
                <a:tableStyleId>{2D5ABB26-0587-4C30-8999-92F81FD0307C}</a:tableStyleId>
              </a:tblPr>
              <a:tblGrid>
                <a:gridCol w="1417320"/>
                <a:gridCol w="2148840"/>
                <a:gridCol w="3090672"/>
              </a:tblGrid>
              <a:tr h="566928">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tr>
              <a:tr h="566928">
                <a:tc>
                  <a:txBody>
                    <a:bodyPr wrap="square"/>
                    <a:lstStyle/>
                    <a:p>
                      <a:r>
                        <a:rPr sz="950" b="1" i="0">
                          <a:solidFill>
                            <a:srgbClr val="002368"/>
                          </a:solidFill>
                          <a:latin typeface="Arial"/>
                        </a:rPr>
                        <a:t>Employers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Public bodies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same as employers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heads human resources?</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the company's community giving?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is the programme officer for your work in Tanzania?</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Homes and programmes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education of the children in &lt;Organisation&gt;'s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an education benefit for &lt;Organisation&gt;'s members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0">
                      <a:noFill/>
                    </a:lnT>
                    <a:lnB w="9525">
                      <a:solidFill>
                        <a:srgbClr val="ECECEC"/>
                      </a:solidFill>
                    </a:lnB>
                    <a:noFill/>
                  </a:tcPr>
                </a:tc>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2"/>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389120"/>
        </p:xfrm>
        <a:graphic>
          <a:graphicData uri="http://schemas.openxmlformats.org/drawingml/2006/table">
            <a:tbl>
              <a:tblPr firstRow="0" bandRow="0">
                <a:tableStyleId>{2D5ABB26-0587-4C30-8999-92F81FD0307C}</a:tableStyleId>
              </a:tblPr>
              <a:tblGrid>
                <a:gridCol w="1828800"/>
                <a:gridCol w="3246120"/>
                <a:gridCol w="4069080"/>
                <a:gridCol w="1947672"/>
              </a:tblGrid>
              <a:tr h="54864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until it replies; sponsorship follow-up copy awaits approval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offer before a reply</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Savings groups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Family offer, plus the member-association group rate (OF07): 7% per student at 50, 12% at 100, 17% at 150</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must extend OF07; Kiswahili review</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All primary-age children; Finance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partner rate as a way to stretch sponsorship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Held without a verified link</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Register rule 5</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message drafts,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868680"/>
          </a:xfrm>
          <a:prstGeom prst="rect">
            <a:avLst/>
          </a:prstGeom>
          <a:noFill/>
        </p:spPr>
        <p:txBody>
          <a:bodyPr wrap="square" lIns="0" tIns="0" rIns="0" bIns="0" anchor="t">
            <a:spAutoFit/>
          </a:bodyPr>
          <a:lstStyle/>
          <a:p>
            <a:pPr algn="l"/>
            <a:r>
              <a:rPr sz="1050" b="0" i="0">
                <a:solidFill>
                  <a:srgbClr val="000000"/>
                </a:solidFill>
                <a:latin typeface="Arial"/>
              </a:rPr>
              <a:t>Kept only when the exact claim has a source URL and a verification date; otherwise the hook is left blank and the message opens directly with the request. No flattery, no personal details, no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Example: 'Your website says the agency employs more than 100 local people, including guides, receptionists and cooks, so such a benefit could reach a wide team.' (a workforce fact from the company's own website)</a:t>
            </a:r>
          </a:p>
          <a:p>
            <a:pPr algn="l" marL="155448" indent="-155448">
              <a:spcAft>
                <a:spcPts val="300"/>
              </a:spcAft>
              <a:buFont typeface="Arial"/>
              <a:buChar char="•"/>
            </a:pPr>
            <a:r>
              <a:rPr sz="1000" b="0" i="0">
                <a:solidFill>
                  <a:srgbClr val="000000"/>
                </a:solidFill>
                <a:latin typeface="Arial"/>
              </a:rPr>
              <a:t>Hook types on file: workforce 33, staff welfare 20, community programme 20, education programme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4069080"/>
          </a:xfrm>
          <a:prstGeom prst="rect">
            <a:avLst/>
          </a:prstGeom>
          <a:noFill/>
        </p:spPr>
        <p:txBody>
          <a:bodyPr wrap="square" lIns="0" tIns="0" rIns="0" bIns="0" anchor="t">
            <a:spAutoFit/>
          </a:bodyPr>
          <a:lstStyle/>
          <a:p>
            <a:pPr algn="l"/>
            <a:r>
              <a:rPr sz="1100" b="1" i="0">
                <a:solidFill>
                  <a:srgbClr val="FFC952"/>
                </a:solidFill>
                <a:latin typeface="Arial"/>
              </a:rPr>
              <a:t>RE: Request for an introduction to give parents information on preparing children to start school</a:t>
            </a:r>
          </a:p>
          <a:p>
            <a:pPr algn="l"/>
            <a:r>
              <a:rPr sz="1100" b="0" i="0">
                <a:solidFill>
                  <a:srgbClr val="FFFFFF"/>
                </a:solidFill>
                <a:latin typeface="Arial"/>
              </a:rPr>
              <a:t/>
            </a:r>
          </a:p>
          <a:p>
            <a:pPr algn="l"/>
            <a:r>
              <a:rPr sz="1100" b="0" i="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r>
              <a:rPr sz="1100" b="0" i="0">
                <a:solidFill>
                  <a:srgbClr val="FFFFFF"/>
                </a:solidFill>
                <a:latin typeface="Arial"/>
              </a:rPr>
              <a:t/>
            </a:r>
          </a:p>
          <a:p>
            <a:pPr algn="l"/>
            <a:r>
              <a:rPr sz="1100" b="0" i="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r>
              <a:rPr sz="1100" b="0" i="0">
                <a:solidFill>
                  <a:srgbClr val="FFFFFF"/>
                </a:solidFill>
                <a:latin typeface="Arial"/>
              </a:rPr>
              <a:t/>
            </a:r>
          </a:p>
          <a:p>
            <a:pPr algn="l"/>
            <a:r>
              <a:rPr sz="1100" b="0" i="0">
                <a:solidFill>
                  <a:srgbClr val="80BFEC"/>
                </a:solidFill>
                <a:latin typeface="Arial"/>
              </a:rPr>
              <a:t>Formal Kiswahili on letterhead, to the office by title, by hand. No hook that is personal; no offer.</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hook guidance and message drafts; government letter drafts</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BEYOND EMAIL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Calls and letters carry the leads email cannot reach</a:t>
            </a:r>
          </a:p>
        </p:txBody>
      </p:sp>
      <p:sp>
        <p:nvSpPr>
          <p:cNvPr id="4" name="Rounded Rectangle 3"/>
          <p:cNvSpPr/>
          <p:nvPr/>
        </p:nvSpPr>
        <p:spPr>
          <a:xfrm>
            <a:off x="548640"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59"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822959"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Front-desk call</a:t>
            </a:r>
          </a:p>
        </p:txBody>
      </p:sp>
      <p:sp>
        <p:nvSpPr>
          <p:cNvPr id="7" name="TextBox 6"/>
          <p:cNvSpPr txBox="1"/>
          <p:nvPr/>
        </p:nvSpPr>
        <p:spPr>
          <a:xfrm>
            <a:off x="822959"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General inbox, silent after the redirect request</a:t>
            </a:r>
          </a:p>
        </p:txBody>
      </p:sp>
      <p:sp>
        <p:nvSpPr>
          <p:cNvPr id="8" name="TextBox 7"/>
          <p:cNvSpPr txBox="1"/>
          <p:nvPr/>
        </p:nvSpPr>
        <p:spPr>
          <a:xfrm>
            <a:off x="822959"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After 2 working days, call the front desk and ask for the HR or welfare officer's name and email. Public bodies: the HR office or registry. Introducers: the secretariat. Homes: the home's office, then a letter left at the office.</a:t>
            </a:r>
          </a:p>
        </p:txBody>
      </p:sp>
      <p:sp>
        <p:nvSpPr>
          <p:cNvPr id="9" name="Rounded Rectangle 8"/>
          <p:cNvSpPr/>
          <p:nvPr/>
        </p:nvSpPr>
        <p:spPr>
          <a:xfrm>
            <a:off x="4297679" y="1325880"/>
            <a:ext cx="3593592" cy="393192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10" name="TextBox 9"/>
          <p:cNvSpPr txBox="1"/>
          <p:nvPr/>
        </p:nvSpPr>
        <p:spPr>
          <a:xfrm>
            <a:off x="4571999" y="1481328"/>
            <a:ext cx="914400" cy="548640"/>
          </a:xfrm>
          <a:prstGeom prst="rect">
            <a:avLst/>
          </a:prstGeom>
          <a:noFill/>
        </p:spPr>
        <p:txBody>
          <a:bodyPr wrap="square" lIns="0" tIns="0" rIns="0" bIns="0" anchor="t">
            <a:spAutoFit/>
          </a:bodyPr>
          <a:lstStyle/>
          <a:p>
            <a:pPr algn="l"/>
            <a:r>
              <a:rPr sz="3000" b="0" i="0">
                <a:solidFill>
                  <a:srgbClr val="FFC952"/>
                </a:solidFill>
                <a:latin typeface="Georgia"/>
              </a:rPr>
              <a:t>02</a:t>
            </a:r>
          </a:p>
        </p:txBody>
      </p:sp>
      <p:sp>
        <p:nvSpPr>
          <p:cNvPr id="11" name="TextBox 10"/>
          <p:cNvSpPr txBox="1"/>
          <p:nvPr/>
        </p:nvSpPr>
        <p:spPr>
          <a:xfrm>
            <a:off x="4571999" y="2103120"/>
            <a:ext cx="3108960" cy="320040"/>
          </a:xfrm>
          <a:prstGeom prst="rect">
            <a:avLst/>
          </a:prstGeom>
          <a:noFill/>
        </p:spPr>
        <p:txBody>
          <a:bodyPr wrap="square" lIns="0" tIns="0" rIns="0" bIns="0" anchor="t">
            <a:spAutoFit/>
          </a:bodyPr>
          <a:lstStyle/>
          <a:p>
            <a:pPr algn="l"/>
            <a:r>
              <a:rPr sz="1600" b="1" i="0">
                <a:solidFill>
                  <a:srgbClr val="FFFFFF"/>
                </a:solidFill>
                <a:latin typeface="Arial"/>
              </a:rPr>
              <a:t>Call sheet</a:t>
            </a:r>
          </a:p>
        </p:txBody>
      </p:sp>
      <p:sp>
        <p:nvSpPr>
          <p:cNvPr id="12" name="TextBox 11"/>
          <p:cNvSpPr txBox="1"/>
          <p:nvPr/>
        </p:nvSpPr>
        <p:spPr>
          <a:xfrm>
            <a:off x="4571999" y="2468880"/>
            <a:ext cx="3108960" cy="502920"/>
          </a:xfrm>
          <a:prstGeom prst="rect">
            <a:avLst/>
          </a:prstGeom>
          <a:noFill/>
        </p:spPr>
        <p:txBody>
          <a:bodyPr wrap="square" lIns="0" tIns="0" rIns="0" bIns="0" anchor="t">
            <a:spAutoFit/>
          </a:bodyPr>
          <a:lstStyle/>
          <a:p>
            <a:pPr algn="l"/>
            <a:r>
              <a:rPr sz="1050" b="1" i="0">
                <a:solidFill>
                  <a:srgbClr val="80BFEC"/>
                </a:solidFill>
                <a:latin typeface="Arial"/>
              </a:rPr>
              <a:t>802 leads with no email: 569 master, 233 welfare</a:t>
            </a:r>
          </a:p>
        </p:txBody>
      </p:sp>
      <p:sp>
        <p:nvSpPr>
          <p:cNvPr id="13" name="TextBox 12"/>
          <p:cNvSpPr txBox="1"/>
          <p:nvPr/>
        </p:nvSpPr>
        <p:spPr>
          <a:xfrm>
            <a:off x="4571999" y="3017520"/>
            <a:ext cx="3108960" cy="2194560"/>
          </a:xfrm>
          <a:prstGeom prst="rect">
            <a:avLst/>
          </a:prstGeom>
          <a:noFill/>
        </p:spPr>
        <p:txBody>
          <a:bodyPr wrap="square" lIns="0" tIns="0" rIns="0" bIns="0" anchor="t">
            <a:spAutoFit/>
          </a:bodyPr>
          <a:lstStyle/>
          <a:p>
            <a:pPr algn="l"/>
            <a:r>
              <a:rPr sz="1050" b="0" i="0">
                <a:solidFill>
                  <a:srgbClr val="D9ECF9"/>
                </a:solidFill>
                <a:latin typeface="Arial"/>
              </a:rPr>
              <a:t>A front-desk call asking the redirect question, two attempts on different days within 5 working days; the first message then follows 'as discussed'. Start with the 50 hotels and 18 hospitals and clinics that publish a phone.</a:t>
            </a:r>
          </a:p>
        </p:txBody>
      </p:sp>
      <p:sp>
        <p:nvSpPr>
          <p:cNvPr id="14" name="Rounded Rectangle 13"/>
          <p:cNvSpPr/>
          <p:nvPr/>
        </p:nvSpPr>
        <p:spPr>
          <a:xfrm>
            <a:off x="8046719"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321040"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8321040"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Hand-delivered letter</a:t>
            </a:r>
          </a:p>
        </p:txBody>
      </p:sp>
      <p:sp>
        <p:nvSpPr>
          <p:cNvPr id="17" name="TextBox 16"/>
          <p:cNvSpPr txBox="1"/>
          <p:nvPr/>
        </p:nvSpPr>
        <p:spPr>
          <a:xfrm>
            <a:off x="8321040"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The nearest P1 and P2 leads</a:t>
            </a:r>
          </a:p>
        </p:txBody>
      </p:sp>
      <p:sp>
        <p:nvSpPr>
          <p:cNvPr id="18" name="TextBox 17"/>
          <p:cNvSpPr txBox="1"/>
          <p:nvPr/>
        </p:nvSpPr>
        <p:spPr>
          <a:xfrm>
            <a:off x="8321040"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If the call gives no name or route, a letter is delivered by hand; then dormant, and re-tried once at the next intake window. Savings groups get a Kiswahili letter; government letters always go by hand.</a:t>
            </a:r>
          </a:p>
        </p:txBody>
      </p:sp>
      <p:sp>
        <p:nvSpPr>
          <p:cNvPr id="19" name="Rounded Rectangle 18"/>
          <p:cNvSpPr/>
          <p:nvPr/>
        </p:nvSpPr>
        <p:spPr>
          <a:xfrm>
            <a:off x="548640" y="5440680"/>
            <a:ext cx="11091672" cy="548640"/>
          </a:xfrm>
          <a:prstGeom prst="roundRect">
            <a:avLst>
              <a:gd name="adj" fmla="val 11666"/>
            </a:avLst>
          </a:prstGeom>
          <a:solidFill>
            <a:srgbClr val="FFF7E5"/>
          </a:solidFill>
          <a:ln w="12700">
            <a:solidFill>
              <a:srgbClr val="FFF7E5"/>
            </a:solidFill>
          </a:ln>
        </p:spPr>
        <p:txBody>
          <a:bodyPr rtlCol="0" anchor="ctr"/>
          <a:lstStyle/>
          <a:p>
            <a:pPr algn="ctr"/>
          </a:p>
        </p:txBody>
      </p:sp>
      <p:sp>
        <p:nvSpPr>
          <p:cNvPr id="20" name="Hexagon 19"/>
          <p:cNvSpPr/>
          <p:nvPr/>
        </p:nvSpPr>
        <p:spPr>
          <a:xfrm>
            <a:off x="777240" y="5641848"/>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1" name="TextBox 20"/>
          <p:cNvSpPr txBox="1"/>
          <p:nvPr/>
        </p:nvSpPr>
        <p:spPr>
          <a:xfrm>
            <a:off x="1234440" y="5623560"/>
            <a:ext cx="10177272" cy="228600"/>
          </a:xfrm>
          <a:prstGeom prst="rect">
            <a:avLst/>
          </a:prstGeom>
          <a:noFill/>
        </p:spPr>
        <p:txBody>
          <a:bodyPr wrap="square" lIns="0" tIns="0" rIns="0" bIns="0" anchor="t">
            <a:spAutoFit/>
          </a:bodyPr>
          <a:lstStyle/>
          <a:p>
            <a:pPr algn="l">
              <a:spcAft>
                <a:spcPts val="300"/>
              </a:spcAft>
            </a:pPr>
            <a:r>
              <a:rPr sz="1050" b="1" i="0">
                <a:solidFill>
                  <a:srgbClr val="002368"/>
                </a:solidFill>
                <a:latin typeface="Arial"/>
              </a:rPr>
              <a:t>Funders abroad: email only. </a:t>
            </a:r>
            <a:r>
              <a:rPr sz="1050" b="0" i="0">
                <a:solidFill>
                  <a:srgbClr val="000000"/>
                </a:solidFill>
                <a:latin typeface="Arial"/>
              </a:rPr>
              <a:t>No call or letter; dormant until the funder's next budget cycle. Homes are never visited unannounced: visits follow the safeguarding protocol.</a:t>
            </a:r>
          </a:p>
        </p:txBody>
      </p:sp>
      <p:pic>
        <p:nvPicPr>
          <p:cNvPr id="22" name="Picture 21" descr="image3.png"/>
          <p:cNvPicPr>
            <a:picLocks noChangeAspect="1"/>
          </p:cNvPicPr>
          <p:nvPr/>
        </p:nvPicPr>
        <p:blipFill>
          <a:blip r:embed="rId2"/>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NAMED-PERSON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named person gets three touches, then one escalation</a:t>
            </a:r>
          </a:p>
        </p:txBody>
      </p:sp>
      <p:sp>
        <p:nvSpPr>
          <p:cNvPr id="4" name="TextBox 3"/>
          <p:cNvSpPr txBox="1"/>
          <p:nvPr/>
        </p:nvSpPr>
        <p:spPr>
          <a:xfrm>
            <a:off x="548640"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DAY 0</a:t>
            </a:r>
          </a:p>
        </p:txBody>
      </p:sp>
      <p:sp>
        <p:nvSpPr>
          <p:cNvPr id="5" name="Rounded Rectangle 4"/>
          <p:cNvSpPr/>
          <p:nvPr/>
        </p:nvSpPr>
        <p:spPr>
          <a:xfrm>
            <a:off x="548640" y="1600200"/>
            <a:ext cx="2651760" cy="2148840"/>
          </a:xfrm>
          <a:prstGeom prst="roundRect">
            <a:avLst>
              <a:gd name="adj" fmla="val 2978"/>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31520" y="1737360"/>
            <a:ext cx="2286000" cy="320040"/>
          </a:xfrm>
          <a:prstGeom prst="rect">
            <a:avLst/>
          </a:prstGeom>
          <a:noFill/>
        </p:spPr>
        <p:txBody>
          <a:bodyPr wrap="square" lIns="0" tIns="0" rIns="0" bIns="0" anchor="t">
            <a:spAutoFit/>
          </a:bodyPr>
          <a:lstStyle/>
          <a:p>
            <a:pPr algn="l"/>
            <a:r>
              <a:rPr sz="1300" b="1" i="0">
                <a:solidFill>
                  <a:srgbClr val="FFFFFF"/>
                </a:solidFill>
                <a:latin typeface="Arial"/>
              </a:rPr>
              <a:t>First message</a:t>
            </a:r>
          </a:p>
        </p:txBody>
      </p:sp>
      <p:sp>
        <p:nvSpPr>
          <p:cNvPr id="7" name="TextBox 6"/>
          <p:cNvSpPr txBox="1"/>
          <p:nvPr/>
        </p:nvSpPr>
        <p:spPr>
          <a:xfrm>
            <a:off x="731520" y="2148840"/>
            <a:ext cx="2286000" cy="1554480"/>
          </a:xfrm>
          <a:prstGeom prst="rect">
            <a:avLst/>
          </a:prstGeom>
          <a:noFill/>
        </p:spPr>
        <p:txBody>
          <a:bodyPr wrap="square" lIns="0" tIns="0" rIns="0" bIns="0" anchor="t">
            <a:spAutoFit/>
          </a:bodyPr>
          <a:lstStyle/>
          <a:p>
            <a:pPr algn="l"/>
            <a:r>
              <a:rPr sz="1050" b="0" i="0">
                <a:solidFill>
                  <a:srgbClr val="FFFFFF"/>
                </a:solidFill>
                <a:latin typeface="Arial"/>
              </a:rPr>
              <a:t>The meeting request (case A) or the Attn letter (case B). No terms.</a:t>
            </a:r>
          </a:p>
        </p:txBody>
      </p:sp>
      <p:sp>
        <p:nvSpPr>
          <p:cNvPr id="8" name="Chevron 7"/>
          <p:cNvSpPr/>
          <p:nvPr/>
        </p:nvSpPr>
        <p:spPr>
          <a:xfrm>
            <a:off x="3227832" y="2560320"/>
            <a:ext cx="100584" cy="219456"/>
          </a:xfrm>
          <a:prstGeom prst="chevron">
            <a:avLst>
              <a:gd name="adj" fmla="val 55000"/>
            </a:avLst>
          </a:prstGeom>
          <a:solidFill>
            <a:srgbClr val="80BFEC"/>
          </a:solidFill>
          <a:ln>
            <a:noFill/>
          </a:ln>
        </p:spPr>
        <p:txBody>
          <a:bodyPr rtlCol="0" anchor="ctr"/>
          <a:lstStyle/>
          <a:p>
            <a:pPr algn="ctr"/>
          </a:p>
        </p:txBody>
      </p:sp>
      <p:sp>
        <p:nvSpPr>
          <p:cNvPr id="9" name="TextBox 8"/>
          <p:cNvSpPr txBox="1"/>
          <p:nvPr/>
        </p:nvSpPr>
        <p:spPr>
          <a:xfrm>
            <a:off x="3355848"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0" name="Rounded Rectangle 9"/>
          <p:cNvSpPr/>
          <p:nvPr/>
        </p:nvSpPr>
        <p:spPr>
          <a:xfrm>
            <a:off x="3355848" y="1600200"/>
            <a:ext cx="2651760" cy="2148840"/>
          </a:xfrm>
          <a:prstGeom prst="roundRect">
            <a:avLst>
              <a:gd name="adj" fmla="val 297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3538728"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1: the offer</a:t>
            </a:r>
          </a:p>
        </p:txBody>
      </p:sp>
      <p:sp>
        <p:nvSpPr>
          <p:cNvPr id="12" name="TextBox 11"/>
          <p:cNvSpPr txBox="1"/>
          <p:nvPr/>
        </p:nvSpPr>
        <p:spPr>
          <a:xfrm>
            <a:off x="3538728"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A few offer details from the register: OF04 and the family offer (welfare: OF03).</a:t>
            </a:r>
          </a:p>
        </p:txBody>
      </p:sp>
      <p:sp>
        <p:nvSpPr>
          <p:cNvPr id="13" name="Chevron 12"/>
          <p:cNvSpPr/>
          <p:nvPr/>
        </p:nvSpPr>
        <p:spPr>
          <a:xfrm>
            <a:off x="6035040" y="2560320"/>
            <a:ext cx="100584" cy="219456"/>
          </a:xfrm>
          <a:prstGeom prst="chevron">
            <a:avLst>
              <a:gd name="adj" fmla="val 55000"/>
            </a:avLst>
          </a:prstGeom>
          <a:solidFill>
            <a:srgbClr val="80BFEC"/>
          </a:solidFill>
          <a:ln>
            <a:noFill/>
          </a:ln>
        </p:spPr>
        <p:txBody>
          <a:bodyPr rtlCol="0" anchor="ctr"/>
          <a:lstStyle/>
          <a:p>
            <a:pPr algn="ctr"/>
          </a:p>
        </p:txBody>
      </p:sp>
      <p:sp>
        <p:nvSpPr>
          <p:cNvPr id="14" name="TextBox 13"/>
          <p:cNvSpPr txBox="1"/>
          <p:nvPr/>
        </p:nvSpPr>
        <p:spPr>
          <a:xfrm>
            <a:off x="6163055"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5" name="Rounded Rectangle 14"/>
          <p:cNvSpPr/>
          <p:nvPr/>
        </p:nvSpPr>
        <p:spPr>
          <a:xfrm>
            <a:off x="6163055" y="1600200"/>
            <a:ext cx="2651760" cy="2148840"/>
          </a:xfrm>
          <a:prstGeom prst="roundRect">
            <a:avLst>
              <a:gd name="adj" fmla="val 2978"/>
            </a:avLst>
          </a:prstGeom>
          <a:solidFill>
            <a:srgbClr val="D9ECF9"/>
          </a:solidFill>
          <a:ln w="12700">
            <a:solidFill>
              <a:srgbClr val="D9ECF9"/>
            </a:solidFill>
          </a:ln>
        </p:spPr>
        <p:txBody>
          <a:bodyPr rtlCol="0" anchor="ctr"/>
          <a:lstStyle/>
          <a:p>
            <a:pPr algn="ctr"/>
          </a:p>
        </p:txBody>
      </p:sp>
      <p:sp>
        <p:nvSpPr>
          <p:cNvPr id="16" name="TextBox 15"/>
          <p:cNvSpPr txBox="1"/>
          <p:nvPr/>
        </p:nvSpPr>
        <p:spPr>
          <a:xfrm>
            <a:off x="6345936"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2: the close</a:t>
            </a:r>
          </a:p>
        </p:txBody>
      </p:sp>
      <p:sp>
        <p:nvSpPr>
          <p:cNvPr id="17" name="TextBox 16"/>
          <p:cNvSpPr txBox="1"/>
          <p:nvPr/>
        </p:nvSpPr>
        <p:spPr>
          <a:xfrm>
            <a:off x="6345936"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'If this sits with someone else at &lt;Organisation&gt;, such as HR or the welfare officer, who should I write to? Otherwise I will close this for now.'</a:t>
            </a:r>
          </a:p>
        </p:txBody>
      </p:sp>
      <p:sp>
        <p:nvSpPr>
          <p:cNvPr id="18" name="Chevron 17"/>
          <p:cNvSpPr/>
          <p:nvPr/>
        </p:nvSpPr>
        <p:spPr>
          <a:xfrm>
            <a:off x="8842248" y="2560320"/>
            <a:ext cx="100584" cy="219456"/>
          </a:xfrm>
          <a:prstGeom prst="chevron">
            <a:avLst>
              <a:gd name="adj" fmla="val 55000"/>
            </a:avLst>
          </a:prstGeom>
          <a:solidFill>
            <a:srgbClr val="80BFEC"/>
          </a:solidFill>
          <a:ln>
            <a:noFill/>
          </a:ln>
        </p:spPr>
        <p:txBody>
          <a:bodyPr rtlCol="0" anchor="ctr"/>
          <a:lstStyle/>
          <a:p>
            <a:pPr algn="ctr"/>
          </a:p>
        </p:txBody>
      </p:sp>
      <p:sp>
        <p:nvSpPr>
          <p:cNvPr id="19" name="TextBox 18"/>
          <p:cNvSpPr txBox="1"/>
          <p:nvPr/>
        </p:nvSpPr>
        <p:spPr>
          <a:xfrm>
            <a:off x="8970263"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+5 WORKING DAYS</a:t>
            </a:r>
          </a:p>
        </p:txBody>
      </p:sp>
      <p:sp>
        <p:nvSpPr>
          <p:cNvPr id="20" name="Rounded Rectangle 19"/>
          <p:cNvSpPr/>
          <p:nvPr/>
        </p:nvSpPr>
        <p:spPr>
          <a:xfrm>
            <a:off x="8970263" y="1600200"/>
            <a:ext cx="2651760" cy="2148840"/>
          </a:xfrm>
          <a:prstGeom prst="roundRect">
            <a:avLst>
              <a:gd name="adj" fmla="val 2978"/>
            </a:avLst>
          </a:prstGeom>
          <a:solidFill>
            <a:srgbClr val="FFC952"/>
          </a:solidFill>
          <a:ln w="12700">
            <a:solidFill>
              <a:srgbClr val="FFC952"/>
            </a:solidFill>
          </a:ln>
        </p:spPr>
        <p:txBody>
          <a:bodyPr rtlCol="0" anchor="ctr"/>
          <a:lstStyle/>
          <a:p>
            <a:pPr algn="ctr"/>
          </a:p>
        </p:txBody>
      </p:sp>
      <p:sp>
        <p:nvSpPr>
          <p:cNvPr id="21" name="TextBox 20"/>
          <p:cNvSpPr txBox="1"/>
          <p:nvPr/>
        </p:nvSpPr>
        <p:spPr>
          <a:xfrm>
            <a:off x="9153143"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Escalation</a:t>
            </a:r>
          </a:p>
        </p:txBody>
      </p:sp>
      <p:sp>
        <p:nvSpPr>
          <p:cNvPr id="22" name="TextBox 21"/>
          <p:cNvSpPr txBox="1"/>
          <p:nvPr/>
        </p:nvSpPr>
        <p:spPr>
          <a:xfrm>
            <a:off x="9153143"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One message to the escalation contact, if one exists; then dormant until the next intake window.</a:t>
            </a:r>
          </a:p>
        </p:txBody>
      </p:sp>
      <p:sp>
        <p:nvSpPr>
          <p:cNvPr id="23" name="TextBox 22"/>
          <p:cNvSpPr txBox="1"/>
          <p:nvPr/>
        </p:nvSpPr>
        <p:spPr>
          <a:xfrm>
            <a:off x="548640" y="3840480"/>
            <a:ext cx="11064240" cy="457200"/>
          </a:xfrm>
          <a:prstGeom prst="rect">
            <a:avLst/>
          </a:prstGeom>
          <a:noFill/>
        </p:spPr>
        <p:txBody>
          <a:bodyPr wrap="square" lIns="0" tIns="0" rIns="0" bIns="0" anchor="t">
            <a:spAutoFit/>
          </a:bodyPr>
          <a:lstStyle/>
          <a:p>
            <a:pPr algn="l"/>
            <a:r>
              <a:rPr sz="1000" b="0" i="0">
                <a:solidFill>
                  <a:srgbClr val="818283"/>
                </a:solidFill>
                <a:latin typeface="Arial"/>
              </a:rPr>
              <a:t>247 of the 254 employer and introducer Attn drafts carry the offer follow-up and the close (sponsorship follow-ups await approved copy), and 154 welfare Attn drafts carry the close. No sequence exceeds three messages.</a:t>
            </a:r>
          </a:p>
        </p:txBody>
      </p:sp>
      <p:sp>
        <p:nvSpPr>
          <p:cNvPr id="24" name="Rounded Rectangle 23"/>
          <p:cNvSpPr/>
          <p:nvPr/>
        </p:nvSpPr>
        <p:spPr>
          <a:xfrm>
            <a:off x="548640" y="4389120"/>
            <a:ext cx="11091672" cy="1554480"/>
          </a:xfrm>
          <a:prstGeom prst="roundRect">
            <a:avLst>
              <a:gd name="adj" fmla="val 4117"/>
            </a:avLst>
          </a:prstGeom>
          <a:solidFill>
            <a:srgbClr val="FFF7E5"/>
          </a:solidFill>
          <a:ln w="12700">
            <a:solidFill>
              <a:srgbClr val="FFF7E5"/>
            </a:solidFill>
          </a:ln>
        </p:spPr>
        <p:txBody>
          <a:bodyPr rtlCol="0" anchor="ctr"/>
          <a:lstStyle/>
          <a:p>
            <a:pPr algn="ctr"/>
          </a:p>
        </p:txBody>
      </p:sp>
      <p:pic>
        <p:nvPicPr>
          <p:cNvPr id="25" name="Picture 24" descr="image12.png"/>
          <p:cNvPicPr>
            <a:picLocks noChangeAspect="1"/>
          </p:cNvPicPr>
          <p:nvPr/>
        </p:nvPicPr>
        <p:blipFill>
          <a:blip r:embed="rId2"/>
          <a:stretch>
            <a:fillRect/>
          </a:stretch>
        </p:blipFill>
        <p:spPr>
          <a:xfrm>
            <a:off x="10607040" y="4526280"/>
            <a:ext cx="822960" cy="1072342"/>
          </a:xfrm>
          <a:prstGeom prst="rect">
            <a:avLst/>
          </a:prstGeom>
        </p:spPr>
      </p:pic>
      <p:sp>
        <p:nvSpPr>
          <p:cNvPr id="26" name="TextBox 25"/>
          <p:cNvSpPr txBox="1"/>
          <p:nvPr/>
        </p:nvSpPr>
        <p:spPr>
          <a:xfrm>
            <a:off x="822960" y="4526280"/>
            <a:ext cx="3017520" cy="1280160"/>
          </a:xfrm>
          <a:prstGeom prst="rect">
            <a:avLst/>
          </a:prstGeom>
          <a:noFill/>
        </p:spPr>
        <p:txBody>
          <a:bodyPr wrap="square" lIns="0" tIns="0" rIns="0" bIns="0" anchor="t">
            <a:spAutoFit/>
          </a:bodyPr>
          <a:lstStyle/>
          <a:p>
            <a:pPr algn="l"/>
            <a:r>
              <a:rPr sz="1800" b="0" i="0">
                <a:solidFill>
                  <a:srgbClr val="002368"/>
                </a:solidFill>
                <a:latin typeface="Georgia"/>
              </a:rPr>
              <a:t>Incentives are a last resort, never in the flow.</a:t>
            </a:r>
          </a:p>
        </p:txBody>
      </p:sp>
      <p:sp>
        <p:nvSpPr>
          <p:cNvPr id="27" name="TextBox 26"/>
          <p:cNvSpPr txBox="1"/>
          <p:nvPr/>
        </p:nvSpPr>
        <p:spPr>
          <a:xfrm>
            <a:off x="4023360" y="4526280"/>
            <a:ext cx="6309360" cy="132588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A promotional incentive (discounted first months, a waived fee beyond the register) never appears in any automated or standard flow, nor in a cold or early message (S1–S5): it makes Silverleaf look desperate.</a:t>
            </a:r>
          </a:p>
          <a:p>
            <a:pPr algn="l" marL="155448" indent="-155448">
              <a:spcAft>
                <a:spcPts val="300"/>
              </a:spcAft>
              <a:buFont typeface="Arial"/>
              <a:buChar char="•"/>
            </a:pPr>
            <a:r>
              <a:rPr sz="1000" b="0" i="0">
                <a:solidFill>
                  <a:srgbClr val="000000"/>
                </a:solidFill>
                <a:latin typeface="Arial"/>
              </a:rPr>
              <a:t>Only at the proposal stage (S6), for one engaged employer, with Finance's written approval each time, time-limited, entered in the register first. Never for public bodies or government.</a:t>
            </a:r>
          </a:p>
        </p:txBody>
      </p:sp>
      <p:pic>
        <p:nvPicPr>
          <p:cNvPr id="28" name="Picture 27" descr="image3.png"/>
          <p:cNvPicPr>
            <a:picLocks noChangeAspect="1"/>
          </p:cNvPicPr>
          <p:nvPr/>
        </p:nvPicPr>
        <p:blipFill>
          <a:blip r:embed="rId3"/>
          <a:stretch>
            <a:fillRect/>
          </a:stretch>
        </p:blipFill>
        <p:spPr>
          <a:xfrm>
            <a:off x="548640" y="6272784"/>
            <a:ext cx="1143000" cy="274320"/>
          </a:xfrm>
          <a:prstGeom prst="rect">
            <a:avLst/>
          </a:prstGeom>
        </p:spPr>
      </p:pic>
      <p:sp>
        <p:nvSpPr>
          <p:cNvPr id="2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partnership pipeline draft; offer register</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04</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FOUR</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Pipelines and tracking</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What happens after the offer, and how we will know. A draft awaiting your approval.</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The shared spine, S0 to S9</a:t>
            </a:r>
          </a:p>
          <a:p>
            <a:pPr algn="l" marL="155448" indent="-155448">
              <a:spcAft>
                <a:spcPts val="400"/>
              </a:spcAft>
              <a:buFont typeface="Arial"/>
              <a:buChar char="•"/>
            </a:pPr>
            <a:r>
              <a:rPr sz="1100" b="0" i="0">
                <a:solidFill>
                  <a:srgbClr val="FFFFFF"/>
                </a:solidFill>
                <a:latin typeface="Arial"/>
              </a:rPr>
              <a:t>What happens after the offer</a:t>
            </a:r>
          </a:p>
          <a:p>
            <a:pPr algn="l" marL="155448" indent="-155448">
              <a:spcAft>
                <a:spcPts val="400"/>
              </a:spcAft>
              <a:buFont typeface="Arial"/>
              <a:buChar char="•"/>
            </a:pPr>
            <a:r>
              <a:rPr sz="1100" b="0" i="0">
                <a:solidFill>
                  <a:srgbClr val="FFFFFF"/>
                </a:solidFill>
                <a:latin typeface="Arial"/>
              </a:rPr>
              <a:t>Tracking and reporting back to partners</a:t>
            </a:r>
          </a:p>
          <a:p>
            <a:pPr algn="l" marL="155448" indent="-155448">
              <a:spcAft>
                <a:spcPts val="400"/>
              </a:spcAft>
              <a:buFont typeface="Arial"/>
              <a:buChar char="•"/>
            </a:pPr>
            <a:r>
              <a:rPr sz="1100" b="0" i="0">
                <a:solidFill>
                  <a:srgbClr val="FFFFFF"/>
                </a:solidFill>
                <a:latin typeface="Arial"/>
              </a:rPr>
              <a:t>Segment funnels, fallout and open questions: in the appendix</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DRAFT FOR APPROVAL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Hexagon 4"/>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rtlCol="0" anchor="ctr" wrap="square" tIns="27432" bIns="27432"/>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6" name="Chevron 5"/>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p>
        </p:txBody>
      </p:sp>
      <p:sp>
        <p:nvSpPr>
          <p:cNvPr id="7" name="Rounded Rectangle 6"/>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8" name="Chevron 7"/>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p>
        </p:txBody>
      </p:sp>
      <p:sp>
        <p:nvSpPr>
          <p:cNvPr id="9" name="Rounded Rectangle 8"/>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10" name="Chevron 9"/>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p>
        </p:txBody>
      </p:sp>
      <p:sp>
        <p:nvSpPr>
          <p:cNvPr id="11" name="Rounded Rectangle 10"/>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2" name="Chevron 11"/>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p>
        </p:txBody>
      </p:sp>
      <p:sp>
        <p:nvSpPr>
          <p:cNvPr id="13" name="Rounded Rectangle 12"/>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4" name="Chevron 13"/>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p>
        </p:txBody>
      </p:sp>
      <p:sp>
        <p:nvSpPr>
          <p:cNvPr id="15" name="Rounded Rectangle 14"/>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6" name="Chevron 15"/>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p>
        </p:txBody>
      </p:sp>
      <p:sp>
        <p:nvSpPr>
          <p:cNvPr id="17" name="Rounded Rectangle 16"/>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8" name="Chevron 17"/>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p>
        </p:txBody>
      </p:sp>
      <p:sp>
        <p:nvSpPr>
          <p:cNvPr id="19" name="Rounded Rectangle 18"/>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20" name="Chevron 19"/>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p>
        </p:txBody>
      </p:sp>
      <p:sp>
        <p:nvSpPr>
          <p:cNvPr id="21" name="Rounded Rectangle 20"/>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2" name="Chevron 21"/>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4" name="Connector 23"/>
          <p:cNvCxnSpPr/>
          <p:nvPr/>
        </p:nvCxnSpPr>
        <p:spPr>
          <a:xfrm flipV="1">
            <a:off x="6556248" y="1783080"/>
            <a:ext cx="0" cy="365760"/>
          </a:xfrm>
          <a:prstGeom prst="line">
            <a:avLst/>
          </a:prstGeom>
          <a:ln w="12700">
            <a:solidFill>
              <a:srgbClr val="002368"/>
            </a:solidFill>
          </a:ln>
        </p:spPr>
      </p:cxnSp>
      <p:cxnSp>
        <p:nvCxnSpPr>
          <p:cNvPr id="25" name="Connector 24"/>
          <p:cNvCxnSpPr/>
          <p:nvPr/>
        </p:nvCxnSpPr>
        <p:spPr>
          <a:xfrm>
            <a:off x="6556248" y="1783080"/>
            <a:ext cx="2212847" cy="0"/>
          </a:xfrm>
          <a:prstGeom prst="line">
            <a:avLst/>
          </a:prstGeom>
          <a:ln w="12700">
            <a:solidFill>
              <a:srgbClr val="002368"/>
            </a:solidFill>
          </a:ln>
        </p:spPr>
      </p:cxnSp>
      <p:cxnSp>
        <p:nvCxnSpPr>
          <p:cNvPr id="26" name="Connector 25"/>
          <p:cNvCxnSpPr/>
          <p:nvPr/>
        </p:nvCxnSpPr>
        <p:spPr>
          <a:xfrm>
            <a:off x="8769095" y="1783080"/>
            <a:ext cx="0" cy="365760"/>
          </a:xfrm>
          <a:prstGeom prst="line">
            <a:avLst/>
          </a:prstGeom>
          <a:ln w="12700">
            <a:solidFill>
              <a:srgbClr val="002368"/>
            </a:solidFill>
            <a:tailEnd type="triangle" w="med" len="med"/>
          </a:ln>
        </p:spPr>
      </p:cxnSp>
      <p:sp>
        <p:nvSpPr>
          <p:cNvPr id="27" name="TextBox 26"/>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8" name="Connector 27"/>
          <p:cNvCxnSpPr/>
          <p:nvPr/>
        </p:nvCxnSpPr>
        <p:spPr>
          <a:xfrm flipV="1">
            <a:off x="10981944" y="1783080"/>
            <a:ext cx="0" cy="365760"/>
          </a:xfrm>
          <a:prstGeom prst="line">
            <a:avLst/>
          </a:prstGeom>
          <a:ln w="12700">
            <a:solidFill>
              <a:srgbClr val="002368"/>
            </a:solidFill>
          </a:ln>
        </p:spPr>
      </p:cxnSp>
      <p:cxnSp>
        <p:nvCxnSpPr>
          <p:cNvPr id="29" name="Connector 28"/>
          <p:cNvCxnSpPr/>
          <p:nvPr/>
        </p:nvCxnSpPr>
        <p:spPr>
          <a:xfrm flipH="1">
            <a:off x="9875519" y="1783080"/>
            <a:ext cx="1106425" cy="0"/>
          </a:xfrm>
          <a:prstGeom prst="line">
            <a:avLst/>
          </a:prstGeom>
          <a:ln w="12700">
            <a:solidFill>
              <a:srgbClr val="002368"/>
            </a:solidFill>
          </a:ln>
        </p:spPr>
      </p:cxnSp>
      <p:cxnSp>
        <p:nvCxnSpPr>
          <p:cNvPr id="30" name="Connector 29"/>
          <p:cNvCxnSpPr/>
          <p:nvPr/>
        </p:nvCxnSpPr>
        <p:spPr>
          <a:xfrm>
            <a:off x="9875519" y="1783080"/>
            <a:ext cx="0" cy="365760"/>
          </a:xfrm>
          <a:prstGeom prst="line">
            <a:avLst/>
          </a:prstGeom>
          <a:ln w="12700">
            <a:solidFill>
              <a:srgbClr val="002368"/>
            </a:solidFill>
            <a:tailEnd type="triangle" w="med" len="med"/>
          </a:ln>
        </p:spPr>
      </p:cxnSp>
      <p:sp>
        <p:nvSpPr>
          <p:cNvPr id="31" name="TextBox 30"/>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2" name="Connector 31"/>
          <p:cNvCxnSpPr/>
          <p:nvPr/>
        </p:nvCxnSpPr>
        <p:spPr>
          <a:xfrm>
            <a:off x="3236976"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5449823"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6556248" y="3108960"/>
            <a:ext cx="0" cy="594360"/>
          </a:xfrm>
          <a:prstGeom prst="line">
            <a:avLst/>
          </a:prstGeom>
          <a:ln w="12700">
            <a:solidFill>
              <a:srgbClr val="818283"/>
            </a:solidFill>
            <a:prstDash val="dash"/>
            <a:tailEnd type="triangle" w="med" len="med"/>
          </a:ln>
        </p:spPr>
      </p:cxnSp>
      <p:cxnSp>
        <p:nvCxnSpPr>
          <p:cNvPr id="35" name="Connector 34"/>
          <p:cNvCxnSpPr/>
          <p:nvPr/>
        </p:nvCxnSpPr>
        <p:spPr>
          <a:xfrm>
            <a:off x="7662671" y="3108960"/>
            <a:ext cx="0" cy="594360"/>
          </a:xfrm>
          <a:prstGeom prst="line">
            <a:avLst/>
          </a:prstGeom>
          <a:ln w="12700">
            <a:solidFill>
              <a:srgbClr val="818283"/>
            </a:solidFill>
            <a:prstDash val="dash"/>
            <a:tailEnd type="triangle" w="med" len="med"/>
          </a:ln>
        </p:spPr>
      </p:cxnSp>
      <p:sp>
        <p:nvSpPr>
          <p:cNvPr id="36" name="Rounded Rectangle 35"/>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rtlCol="0" anchor="ctr" wrap="square" lIns="45720" rIns="45720" tIns="27432" bIns="27432"/>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7" name="Rounded Rectangle 36"/>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8" name="Rounded Rectangle 37"/>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9" name="Rounded Rectangle 38"/>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rtlCol="0" anchor="ctr" wrap="square" lIns="45720" rIns="45720" tIns="27432" bIns="27432"/>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40" name="Rounded Rectangle 39"/>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1" name="TextBox 40"/>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2" name="TextBox 41"/>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3" name="TextBox 42"/>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4" name="TextBox 43"/>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5" name="TextBox 44"/>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6" name="TextBox 45"/>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7" name="Hexagon 46"/>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48" name="TextBox 47"/>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9" name="Rounded Rectangle 48"/>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0" name="TextBox 49"/>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1" name="Rounded Rectangle 50"/>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52" name="TextBox 51"/>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3" name="Rounded Rectangle 52"/>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54" name="TextBox 53"/>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5" name="Rounded Rectangle 54"/>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56" name="TextBox 55"/>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7" name="Picture 56" descr="image3.png"/>
          <p:cNvPicPr>
            <a:picLocks noChangeAspect="1"/>
          </p:cNvPicPr>
          <p:nvPr/>
        </p:nvPicPr>
        <p:blipFill>
          <a:blip r:embed="rId2"/>
          <a:stretch>
            <a:fillRect/>
          </a:stretch>
        </p:blipFill>
        <p:spPr>
          <a:xfrm>
            <a:off x="548640" y="6272784"/>
            <a:ext cx="1143000" cy="274320"/>
          </a:xfrm>
          <a:prstGeom prst="rect">
            <a:avLst/>
          </a:prstGeom>
        </p:spPr>
      </p:pic>
      <p:sp>
        <p:nvSpPr>
          <p:cNvPr id="5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5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6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11091672" cy="4114800"/>
        </p:xfrm>
        <a:graphic>
          <a:graphicData uri="http://schemas.openxmlformats.org/drawingml/2006/table">
            <a:tbl>
              <a:tblPr firstRow="0" bandRow="0">
                <a:tableStyleId>{2D5ABB26-0587-4C30-8999-92F81FD0307C}</a:tableStyleId>
              </a:tblPr>
              <a:tblGrid>
                <a:gridCol w="1600200"/>
                <a:gridCol w="1737360"/>
                <a:gridCol w="1965960"/>
                <a:gridCol w="1828800"/>
                <a:gridCol w="1993392"/>
                <a:gridCol w="1965960"/>
              </a:tblGrid>
              <a:tr h="45720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tr>
              <a:tr h="45720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Call or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session: site visit, webinar or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Benefit proposal, only for a signed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partner or benefit partner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sign-ups enter the parent funnel</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Sponsors (A)</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Sponsored students enrolled</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SACCOS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Members' meeting or AGM slot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Group rate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circulates, or slot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 sign-ups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Secretariat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agreed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Member-benefit MOU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 circulation done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employers or homes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conversation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Safeguarding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Children enrolled via admissions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often video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tied to the home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Students enrolled via the home</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Councils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Courtesy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Introduction recorded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Ward and village funnels open</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Wards, villages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 the WEO or VEO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Slot agreed in writing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Community meeting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Parent opt-ins</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7" name="Picture 6" descr="image3.png"/>
          <p:cNvPicPr>
            <a:picLocks noChangeAspect="1"/>
          </p:cNvPicPr>
          <p:nvPr/>
        </p:nvPicPr>
        <p:blipFill>
          <a:blip r:embed="rId2"/>
          <a:stretch>
            <a:fillRect/>
          </a:stretch>
        </p:blipFill>
        <p:spPr>
          <a:xfrm>
            <a:off x="548640" y="6272784"/>
            <a:ext cx="1143000" cy="274320"/>
          </a:xfrm>
          <a:prstGeom prst="rect">
            <a:avLst/>
          </a:prstGeom>
        </p:spPr>
      </p:pic>
      <p:sp>
        <p:nvSpPr>
          <p:cNvPr id="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1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 AND REPORTING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is recorded, what we watch, what partners see</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61872"/>
          <a:ext cx="5943600" cy="3712464"/>
        </p:xfrm>
        <a:graphic>
          <a:graphicData uri="http://schemas.openxmlformats.org/drawingml/2006/table">
            <a:tbl>
              <a:tblPr firstRow="0" bandRow="0">
                <a:tableStyleId>{2D5ABB26-0587-4C30-8999-92F81FD0307C}</a:tableStyleId>
              </a:tblPr>
              <a:tblGrid>
                <a:gridCol w="960120"/>
                <a:gridCol w="4983480"/>
              </a:tblGrid>
              <a:tr h="530352">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tr>
              <a:tr h="530352">
                <a:tc>
                  <a:txBody>
                    <a:bodyPr wrap="square"/>
                    <a:lstStyle/>
                    <a:p>
                      <a:r>
                        <a:rPr sz="950" b="1" i="0">
                          <a:solidFill>
                            <a:srgbClr val="002368"/>
                          </a:solidFill>
                          <a:latin typeface="Arial"/>
                        </a:rPr>
                        <a:t>Every stage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S3–S5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S6–S7</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date, offer IDs, Finance confirmation; incentive register ID, approval and expiry; win type, approver, renewal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S8–S9</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Dormant, SX</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68122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METRICS</a:t>
            </a:r>
          </a:p>
        </p:txBody>
      </p:sp>
      <p:sp>
        <p:nvSpPr>
          <p:cNvPr id="7" name="Hexagon 6"/>
          <p:cNvSpPr/>
          <p:nvPr/>
        </p:nvSpPr>
        <p:spPr>
          <a:xfrm>
            <a:off x="6812280" y="160020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8" name="TextBox 7"/>
          <p:cNvSpPr txBox="1"/>
          <p:nvPr/>
        </p:nvSpPr>
        <p:spPr>
          <a:xfrm>
            <a:off x="7296912" y="1581912"/>
            <a:ext cx="4297680" cy="237744"/>
          </a:xfrm>
          <a:prstGeom prst="rect">
            <a:avLst/>
          </a:prstGeom>
          <a:noFill/>
        </p:spPr>
        <p:txBody>
          <a:bodyPr wrap="square" lIns="0" tIns="0" rIns="0" bIns="0" anchor="t">
            <a:spAutoFit/>
          </a:bodyPr>
          <a:lstStyle/>
          <a:p>
            <a:pPr algn="l"/>
            <a:r>
              <a:rPr sz="1100" b="1" i="0">
                <a:solidFill>
                  <a:srgbClr val="002368"/>
                </a:solidFill>
                <a:latin typeface="Arial"/>
              </a:rPr>
              <a:t>First touch</a:t>
            </a:r>
          </a:p>
        </p:txBody>
      </p:sp>
      <p:sp>
        <p:nvSpPr>
          <p:cNvPr id="9" name="TextBox 8"/>
          <p:cNvSpPr txBox="1"/>
          <p:nvPr/>
        </p:nvSpPr>
        <p:spPr>
          <a:xfrm>
            <a:off x="7296912" y="1819656"/>
            <a:ext cx="4297680" cy="457200"/>
          </a:xfrm>
          <a:prstGeom prst="rect">
            <a:avLst/>
          </a:prstGeom>
          <a:noFill/>
        </p:spPr>
        <p:txBody>
          <a:bodyPr wrap="square" lIns="0" tIns="0" rIns="0" bIns="0" anchor="t">
            <a:spAutoFit/>
          </a:bodyPr>
          <a:lstStyle/>
          <a:p>
            <a:pPr algn="l"/>
            <a:r>
              <a:rPr sz="950" b="0" i="0">
                <a:solidFill>
                  <a:srgbClr val="000000"/>
                </a:solidFill>
                <a:latin typeface="Arial"/>
              </a:rPr>
              <a:t>redirect → name obtained; Attn → reply; days to a name; front-desk call success</a:t>
            </a:r>
          </a:p>
        </p:txBody>
      </p:sp>
      <p:sp>
        <p:nvSpPr>
          <p:cNvPr id="10" name="Hexagon 9"/>
          <p:cNvSpPr/>
          <p:nvPr/>
        </p:nvSpPr>
        <p:spPr>
          <a:xfrm>
            <a:off x="6812280" y="222199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1" name="TextBox 10"/>
          <p:cNvSpPr txBox="1"/>
          <p:nvPr/>
        </p:nvSpPr>
        <p:spPr>
          <a:xfrm>
            <a:off x="7296912" y="2203704"/>
            <a:ext cx="4297680" cy="237744"/>
          </a:xfrm>
          <a:prstGeom prst="rect">
            <a:avLst/>
          </a:prstGeom>
          <a:noFill/>
        </p:spPr>
        <p:txBody>
          <a:bodyPr wrap="square" lIns="0" tIns="0" rIns="0" bIns="0" anchor="t">
            <a:spAutoFit/>
          </a:bodyPr>
          <a:lstStyle/>
          <a:p>
            <a:pPr algn="l"/>
            <a:r>
              <a:rPr sz="1100" b="1" i="0">
                <a:solidFill>
                  <a:srgbClr val="002368"/>
                </a:solidFill>
                <a:latin typeface="Arial"/>
              </a:rPr>
              <a:t>Spine</a:t>
            </a:r>
          </a:p>
        </p:txBody>
      </p:sp>
      <p:sp>
        <p:nvSpPr>
          <p:cNvPr id="12" name="TextBox 11"/>
          <p:cNvSpPr txBox="1"/>
          <p:nvPr/>
        </p:nvSpPr>
        <p:spPr>
          <a:xfrm>
            <a:off x="7296912" y="2441448"/>
            <a:ext cx="4297680" cy="457200"/>
          </a:xfrm>
          <a:prstGeom prst="rect">
            <a:avLst/>
          </a:prstGeom>
          <a:noFill/>
        </p:spPr>
        <p:txBody>
          <a:bodyPr wrap="square" lIns="0" tIns="0" rIns="0" bIns="0" anchor="t">
            <a:spAutoFit/>
          </a:bodyPr>
          <a:lstStyle/>
          <a:p>
            <a:pPr algn="l"/>
            <a:r>
              <a:rPr sz="950" b="0" i="0">
                <a:solidFill>
                  <a:srgbClr val="000000"/>
                </a:solidFill>
                <a:latin typeface="Arial"/>
              </a:rPr>
              <a:t>reply rate by band, case and subsegment; S3 → S4 → S5 → S7 conversion; meetings per week</a:t>
            </a:r>
          </a:p>
        </p:txBody>
      </p:sp>
      <p:sp>
        <p:nvSpPr>
          <p:cNvPr id="13" name="Hexagon 12"/>
          <p:cNvSpPr/>
          <p:nvPr/>
        </p:nvSpPr>
        <p:spPr>
          <a:xfrm>
            <a:off x="6812280" y="2843784"/>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7296912" y="2825496"/>
            <a:ext cx="4297680" cy="237744"/>
          </a:xfrm>
          <a:prstGeom prst="rect">
            <a:avLst/>
          </a:prstGeom>
          <a:noFill/>
        </p:spPr>
        <p:txBody>
          <a:bodyPr wrap="square" lIns="0" tIns="0" rIns="0" bIns="0" anchor="t">
            <a:spAutoFit/>
          </a:bodyPr>
          <a:lstStyle/>
          <a:p>
            <a:pPr algn="l"/>
            <a:r>
              <a:rPr sz="1100" b="1" i="0">
                <a:solidFill>
                  <a:srgbClr val="002368"/>
                </a:solidFill>
                <a:latin typeface="Arial"/>
              </a:rPr>
              <a:t>Fallout</a:t>
            </a:r>
          </a:p>
        </p:txBody>
      </p:sp>
      <p:sp>
        <p:nvSpPr>
          <p:cNvPr id="15" name="TextBox 14"/>
          <p:cNvSpPr txBox="1"/>
          <p:nvPr/>
        </p:nvSpPr>
        <p:spPr>
          <a:xfrm>
            <a:off x="7296912" y="3063240"/>
            <a:ext cx="4297680" cy="457200"/>
          </a:xfrm>
          <a:prstGeom prst="rect">
            <a:avLst/>
          </a:prstGeom>
          <a:noFill/>
        </p:spPr>
        <p:txBody>
          <a:bodyPr wrap="square" lIns="0" tIns="0" rIns="0" bIns="0" anchor="t">
            <a:spAutoFit/>
          </a:bodyPr>
          <a:lstStyle/>
          <a:p>
            <a:pPr algn="l"/>
            <a:r>
              <a:rPr sz="950" b="0" i="0">
                <a:solidFill>
                  <a:srgbClr val="000000"/>
                </a:solidFill>
                <a:latin typeface="Arial"/>
              </a:rPr>
              <a:t>share of dormant leads reopened at each window; warm-route conversion</a:t>
            </a:r>
          </a:p>
        </p:txBody>
      </p:sp>
      <p:sp>
        <p:nvSpPr>
          <p:cNvPr id="16" name="Hexagon 15"/>
          <p:cNvSpPr/>
          <p:nvPr/>
        </p:nvSpPr>
        <p:spPr>
          <a:xfrm>
            <a:off x="6812280" y="346557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17" name="TextBox 16"/>
          <p:cNvSpPr txBox="1"/>
          <p:nvPr/>
        </p:nvSpPr>
        <p:spPr>
          <a:xfrm>
            <a:off x="7296912" y="3447288"/>
            <a:ext cx="4297680" cy="237744"/>
          </a:xfrm>
          <a:prstGeom prst="rect">
            <a:avLst/>
          </a:prstGeom>
          <a:noFill/>
        </p:spPr>
        <p:txBody>
          <a:bodyPr wrap="square" lIns="0" tIns="0" rIns="0" bIns="0" anchor="t">
            <a:spAutoFit/>
          </a:bodyPr>
          <a:lstStyle/>
          <a:p>
            <a:pPr algn="l"/>
            <a:r>
              <a:rPr sz="1100" b="1" i="0">
                <a:solidFill>
                  <a:srgbClr val="002368"/>
                </a:solidFill>
                <a:latin typeface="Arial"/>
              </a:rPr>
              <a:t>Partners</a:t>
            </a:r>
          </a:p>
        </p:txBody>
      </p:sp>
      <p:sp>
        <p:nvSpPr>
          <p:cNvPr id="18" name="TextBox 17"/>
          <p:cNvSpPr txBox="1"/>
          <p:nvPr/>
        </p:nvSpPr>
        <p:spPr>
          <a:xfrm>
            <a:off x="7296912" y="3685032"/>
            <a:ext cx="4297680" cy="457200"/>
          </a:xfrm>
          <a:prstGeom prst="rect">
            <a:avLst/>
          </a:prstGeom>
          <a:noFill/>
        </p:spPr>
        <p:txBody>
          <a:bodyPr wrap="square" lIns="0" tIns="0" rIns="0" bIns="0" anchor="t">
            <a:spAutoFit/>
          </a:bodyPr>
          <a:lstStyle/>
          <a:p>
            <a:pPr algn="l"/>
            <a:r>
              <a:rPr sz="950" b="0" i="0">
                <a:solidFill>
                  <a:srgbClr val="000000"/>
                </a:solidFill>
                <a:latin typeface="Arial"/>
              </a:rPr>
              <a:t>sign-ups per 100 attendees and per circulation; referrals per circulation; places agreed → enrolled</a:t>
            </a:r>
          </a:p>
        </p:txBody>
      </p:sp>
      <p:sp>
        <p:nvSpPr>
          <p:cNvPr id="19" name="Hexagon 18"/>
          <p:cNvSpPr/>
          <p:nvPr/>
        </p:nvSpPr>
        <p:spPr>
          <a:xfrm>
            <a:off x="6812280" y="408736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20" name="TextBox 19"/>
          <p:cNvSpPr txBox="1"/>
          <p:nvPr/>
        </p:nvSpPr>
        <p:spPr>
          <a:xfrm>
            <a:off x="7296912" y="4069080"/>
            <a:ext cx="4297680" cy="237744"/>
          </a:xfrm>
          <a:prstGeom prst="rect">
            <a:avLst/>
          </a:prstGeom>
          <a:noFill/>
        </p:spPr>
        <p:txBody>
          <a:bodyPr wrap="square" lIns="0" tIns="0" rIns="0" bIns="0" anchor="t">
            <a:spAutoFit/>
          </a:bodyPr>
          <a:lstStyle/>
          <a:p>
            <a:pPr algn="l"/>
            <a:r>
              <a:rPr sz="1100" b="1" i="0">
                <a:solidFill>
                  <a:srgbClr val="002368"/>
                </a:solidFill>
                <a:latin typeface="Arial"/>
              </a:rPr>
              <a:t>Parent funnel</a:t>
            </a:r>
          </a:p>
        </p:txBody>
      </p:sp>
      <p:sp>
        <p:nvSpPr>
          <p:cNvPr id="21" name="TextBox 20"/>
          <p:cNvSpPr txBox="1"/>
          <p:nvPr/>
        </p:nvSpPr>
        <p:spPr>
          <a:xfrm>
            <a:off x="7296912" y="4306824"/>
            <a:ext cx="4297680" cy="457200"/>
          </a:xfrm>
          <a:prstGeom prst="rect">
            <a:avLst/>
          </a:prstGeom>
          <a:noFill/>
        </p:spPr>
        <p:txBody>
          <a:bodyPr wrap="square" lIns="0" tIns="0" rIns="0" bIns="0" anchor="t">
            <a:spAutoFit/>
          </a:bodyPr>
          <a:lstStyle/>
          <a:p>
            <a:pPr algn="l"/>
            <a:r>
              <a:rPr sz="950" b="0" i="0">
                <a:solidFill>
                  <a:srgbClr val="000000"/>
                </a:solidFill>
                <a:latin typeface="Arial"/>
              </a:rPr>
              <a:t>opt-in → inquiry → tour → application → enrolment, by partner code</a:t>
            </a:r>
          </a:p>
        </p:txBody>
      </p:sp>
      <p:sp>
        <p:nvSpPr>
          <p:cNvPr id="22" name="Hexagon 21"/>
          <p:cNvSpPr/>
          <p:nvPr/>
        </p:nvSpPr>
        <p:spPr>
          <a:xfrm>
            <a:off x="6812280" y="47091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23" name="TextBox 22"/>
          <p:cNvSpPr txBox="1"/>
          <p:nvPr/>
        </p:nvSpPr>
        <p:spPr>
          <a:xfrm>
            <a:off x="7296912" y="4690872"/>
            <a:ext cx="4297680" cy="237744"/>
          </a:xfrm>
          <a:prstGeom prst="rect">
            <a:avLst/>
          </a:prstGeom>
          <a:noFill/>
        </p:spPr>
        <p:txBody>
          <a:bodyPr wrap="square" lIns="0" tIns="0" rIns="0" bIns="0" anchor="t">
            <a:spAutoFit/>
          </a:bodyPr>
          <a:lstStyle/>
          <a:p>
            <a:pPr algn="l"/>
            <a:r>
              <a:rPr sz="1100" b="1" i="0">
                <a:solidFill>
                  <a:srgbClr val="002368"/>
                </a:solidFill>
                <a:latin typeface="Arial"/>
              </a:rPr>
              <a:t>Incentives</a:t>
            </a:r>
          </a:p>
        </p:txBody>
      </p:sp>
      <p:sp>
        <p:nvSpPr>
          <p:cNvPr id="24" name="TextBox 23"/>
          <p:cNvSpPr txBox="1"/>
          <p:nvPr/>
        </p:nvSpPr>
        <p:spPr>
          <a:xfrm>
            <a:off x="7296912" y="4928616"/>
            <a:ext cx="4297680" cy="457200"/>
          </a:xfrm>
          <a:prstGeom prst="rect">
            <a:avLst/>
          </a:prstGeom>
          <a:noFill/>
        </p:spPr>
        <p:txBody>
          <a:bodyPr wrap="square" lIns="0" tIns="0" rIns="0" bIns="0" anchor="t">
            <a:spAutoFit/>
          </a:bodyPr>
          <a:lstStyle/>
          <a:p>
            <a:pPr algn="l"/>
            <a:r>
              <a:rPr sz="950" b="0" i="0">
                <a:solidFill>
                  <a:srgbClr val="000000"/>
                </a:solidFill>
                <a:latin typeface="Arial"/>
              </a:rPr>
              <a:t>should stay rare: each one listed with its approval and expiry</a:t>
            </a:r>
          </a:p>
        </p:txBody>
      </p:sp>
      <p:sp>
        <p:nvSpPr>
          <p:cNvPr id="25" name="Rounded Rectangle 24"/>
          <p:cNvSpPr/>
          <p:nvPr/>
        </p:nvSpPr>
        <p:spPr>
          <a:xfrm>
            <a:off x="548640" y="5349240"/>
            <a:ext cx="11091672" cy="621792"/>
          </a:xfrm>
          <a:prstGeom prst="roundRect">
            <a:avLst>
              <a:gd name="adj" fmla="val 10294"/>
            </a:avLst>
          </a:prstGeom>
          <a:solidFill>
            <a:srgbClr val="FFF7E5"/>
          </a:solidFill>
          <a:ln w="12700">
            <a:solidFill>
              <a:srgbClr val="FFF7E5"/>
            </a:solidFill>
          </a:ln>
        </p:spPr>
        <p:txBody>
          <a:bodyPr rtlCol="0" anchor="ctr"/>
          <a:lstStyle/>
          <a:p>
            <a:pPr algn="ctr"/>
          </a:p>
        </p:txBody>
      </p:sp>
      <p:sp>
        <p:nvSpPr>
          <p:cNvPr id="26" name="Hexagon 25"/>
          <p:cNvSpPr/>
          <p:nvPr/>
        </p:nvSpPr>
        <p:spPr>
          <a:xfrm>
            <a:off x="777240" y="5550407"/>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7" name="TextBox 26"/>
          <p:cNvSpPr txBox="1"/>
          <p:nvPr/>
        </p:nvSpPr>
        <p:spPr>
          <a:xfrm>
            <a:off x="1234440" y="5532120"/>
            <a:ext cx="10177272" cy="301752"/>
          </a:xfrm>
          <a:prstGeom prst="rect">
            <a:avLst/>
          </a:prstGeom>
          <a:noFill/>
        </p:spPr>
        <p:txBody>
          <a:bodyPr wrap="square" lIns="0" tIns="0" rIns="0" bIns="0" anchor="t">
            <a:spAutoFit/>
          </a:bodyPr>
          <a:lstStyle/>
          <a:p>
            <a:pPr algn="l">
              <a:spcAft>
                <a:spcPts val="300"/>
              </a:spcAft>
            </a:pPr>
            <a:r>
              <a:rPr sz="1000" b="1" i="0">
                <a:solidFill>
                  <a:srgbClr val="002368"/>
                </a:solidFill>
                <a:latin typeface="Arial"/>
              </a:rPr>
              <a:t>Reporting back. </a:t>
            </a:r>
            <a:r>
              <a:rPr sz="1000" b="0" i="0">
                <a:solidFill>
                  <a:srgbClr val="000000"/>
                </a:solidFill>
                <a:latin typeface="Arial"/>
              </a:rPr>
              <a:t>Partners see totals per partner code each term, and any count of 1 or 2 shows as 'fewer than 3'. Staff, members and parents opt in themselves; no partner hands over a list (Personal Data Protection Act 2022).</a:t>
            </a:r>
          </a:p>
        </p:txBody>
      </p:sp>
      <p:pic>
        <p:nvPicPr>
          <p:cNvPr id="28" name="Picture 27" descr="image3.png"/>
          <p:cNvPicPr>
            <a:picLocks noChangeAspect="1"/>
          </p:cNvPicPr>
          <p:nvPr/>
        </p:nvPicPr>
        <p:blipFill>
          <a:blip r:embed="rId2"/>
          <a:stretch>
            <a:fillRect/>
          </a:stretch>
        </p:blipFill>
        <p:spPr>
          <a:xfrm>
            <a:off x="548640" y="6272784"/>
            <a:ext cx="1143000" cy="274320"/>
          </a:xfrm>
          <a:prstGeom prst="rect">
            <a:avLst/>
          </a:prstGeom>
        </p:spPr>
      </p:pic>
      <p:sp>
        <p:nvSpPr>
          <p:cNvPr id="29"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30"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3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things to move the work from draft to delivery</a:t>
            </a:r>
          </a:p>
        </p:txBody>
      </p:sp>
      <p:sp>
        <p:nvSpPr>
          <p:cNvPr id="4" name="Hexagon 3"/>
          <p:cNvSpPr/>
          <p:nvPr/>
        </p:nvSpPr>
        <p:spPr>
          <a:xfrm>
            <a:off x="548640" y="14173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5" name="TextBox 4"/>
          <p:cNvSpPr txBox="1"/>
          <p:nvPr/>
        </p:nvSpPr>
        <p:spPr>
          <a:xfrm>
            <a:off x="1188720" y="1280160"/>
            <a:ext cx="3291840" cy="685800"/>
          </a:xfrm>
          <a:prstGeom prst="rect">
            <a:avLst/>
          </a:prstGeom>
          <a:noFill/>
        </p:spPr>
        <p:txBody>
          <a:bodyPr wrap="square" lIns="0" tIns="0" rIns="0" bIns="0" anchor="ctr">
            <a:spAutoFit/>
          </a:bodyPr>
          <a:lstStyle/>
          <a:p>
            <a:pPr algn="l"/>
            <a:r>
              <a:rPr sz="1300" b="1" i="0">
                <a:solidFill>
                  <a:srgbClr val="002368"/>
                </a:solidFill>
                <a:latin typeface="Arial"/>
              </a:rPr>
              <a:t>Sign off the pipeline draft</a:t>
            </a:r>
          </a:p>
        </p:txBody>
      </p:sp>
      <p:sp>
        <p:nvSpPr>
          <p:cNvPr id="6" name="TextBox 5"/>
          <p:cNvSpPr txBox="1"/>
          <p:nvPr/>
        </p:nvSpPr>
        <p:spPr>
          <a:xfrm>
            <a:off x="4572000" y="1280160"/>
            <a:ext cx="7068312" cy="685800"/>
          </a:xfrm>
          <a:prstGeom prst="rect">
            <a:avLst/>
          </a:prstGeom>
          <a:noFill/>
        </p:spPr>
        <p:txBody>
          <a:bodyPr wrap="square" lIns="0" tIns="0" rIns="0" bIns="0" anchor="ctr">
            <a:spAutoFit/>
          </a:bodyPr>
          <a:lstStyle/>
          <a:p>
            <a:pPr algn="l"/>
            <a:r>
              <a:rPr sz="1050" b="0" i="0">
                <a:solidFill>
                  <a:srgbClr val="000000"/>
                </a:solidFill>
                <a:latin typeface="Arial"/>
              </a:rPr>
              <a:t>Approve the spine and the 13 segment funnels, and answer the 22 open questions; each has a recommendation (appendix).</a:t>
            </a:r>
          </a:p>
        </p:txBody>
      </p:sp>
      <p:cxnSp>
        <p:nvCxnSpPr>
          <p:cNvPr id="7" name="Connector 6"/>
          <p:cNvCxnSpPr/>
          <p:nvPr/>
        </p:nvCxnSpPr>
        <p:spPr>
          <a:xfrm>
            <a:off x="1188720" y="2157984"/>
            <a:ext cx="10451592" cy="0"/>
          </a:xfrm>
          <a:prstGeom prst="line">
            <a:avLst/>
          </a:prstGeom>
          <a:ln w="9525">
            <a:solidFill>
              <a:srgbClr val="ECECEC"/>
            </a:solidFill>
          </a:ln>
        </p:spPr>
      </p:cxnSp>
      <p:sp>
        <p:nvSpPr>
          <p:cNvPr id="8" name="Hexagon 7"/>
          <p:cNvSpPr/>
          <p:nvPr/>
        </p:nvSpPr>
        <p:spPr>
          <a:xfrm>
            <a:off x="548640" y="2313432"/>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sp>
        <p:nvSpPr>
          <p:cNvPr id="9" name="TextBox 8"/>
          <p:cNvSpPr txBox="1"/>
          <p:nvPr/>
        </p:nvSpPr>
        <p:spPr>
          <a:xfrm>
            <a:off x="1188720" y="2176272"/>
            <a:ext cx="3291840" cy="685800"/>
          </a:xfrm>
          <a:prstGeom prst="rect">
            <a:avLst/>
          </a:prstGeom>
          <a:noFill/>
        </p:spPr>
        <p:txBody>
          <a:bodyPr wrap="square" lIns="0" tIns="0" rIns="0" bIns="0" anchor="ctr">
            <a:spAutoFit/>
          </a:bodyPr>
          <a:lstStyle/>
          <a:p>
            <a:pPr algn="l"/>
            <a:r>
              <a:rPr sz="1300" b="1" i="0">
                <a:solidFill>
                  <a:srgbClr val="002368"/>
                </a:solidFill>
                <a:latin typeface="Arial"/>
              </a:rPr>
              <a:t>Build the tracking</a:t>
            </a:r>
          </a:p>
        </p:txBody>
      </p:sp>
      <p:sp>
        <p:nvSpPr>
          <p:cNvPr id="10" name="TextBox 9"/>
          <p:cNvSpPr txBox="1"/>
          <p:nvPr/>
        </p:nvSpPr>
        <p:spPr>
          <a:xfrm>
            <a:off x="4572000" y="2176272"/>
            <a:ext cx="7068312" cy="685800"/>
          </a:xfrm>
          <a:prstGeom prst="rect">
            <a:avLst/>
          </a:prstGeom>
          <a:noFill/>
        </p:spPr>
        <p:txBody>
          <a:bodyPr wrap="square" lIns="0" tIns="0" rIns="0" bIns="0" anchor="ctr">
            <a:spAutoFit/>
          </a:bodyPr>
          <a:lstStyle/>
          <a:p>
            <a:pPr algn="l"/>
            <a:r>
              <a:rPr sz="1050" b="0" i="0">
                <a:solidFill>
                  <a:srgbClr val="000000"/>
                </a:solidFill>
                <a:latin typeface="Arial"/>
              </a:rPr>
              <a:t>One pipeline record per deal, with stage, dates, next action and outcome, in all three lead lists; a pipeline sheet in each workbook; map filters by stage.</a:t>
            </a:r>
          </a:p>
        </p:txBody>
      </p:sp>
      <p:cxnSp>
        <p:nvCxnSpPr>
          <p:cNvPr id="11" name="Connector 10"/>
          <p:cNvCxnSpPr/>
          <p:nvPr/>
        </p:nvCxnSpPr>
        <p:spPr>
          <a:xfrm>
            <a:off x="1188720" y="3054096"/>
            <a:ext cx="10451592" cy="0"/>
          </a:xfrm>
          <a:prstGeom prst="line">
            <a:avLst/>
          </a:prstGeom>
          <a:ln w="9525">
            <a:solidFill>
              <a:srgbClr val="ECECEC"/>
            </a:solidFill>
          </a:ln>
        </p:spPr>
      </p:cxnSp>
      <p:sp>
        <p:nvSpPr>
          <p:cNvPr id="12" name="Hexagon 11"/>
          <p:cNvSpPr/>
          <p:nvPr/>
        </p:nvSpPr>
        <p:spPr>
          <a:xfrm>
            <a:off x="548640" y="320954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sp>
        <p:nvSpPr>
          <p:cNvPr id="13" name="TextBox 12"/>
          <p:cNvSpPr txBox="1"/>
          <p:nvPr/>
        </p:nvSpPr>
        <p:spPr>
          <a:xfrm>
            <a:off x="1188720" y="3072384"/>
            <a:ext cx="3291840" cy="685800"/>
          </a:xfrm>
          <a:prstGeom prst="rect">
            <a:avLst/>
          </a:prstGeom>
          <a:noFill/>
        </p:spPr>
        <p:txBody>
          <a:bodyPr wrap="square" lIns="0" tIns="0" rIns="0" bIns="0" anchor="ctr">
            <a:spAutoFit/>
          </a:bodyPr>
          <a:lstStyle/>
          <a:p>
            <a:pPr algn="l"/>
            <a:r>
              <a:rPr sz="1300" b="1" i="0">
                <a:solidFill>
                  <a:srgbClr val="002368"/>
                </a:solidFill>
                <a:latin typeface="Arial"/>
              </a:rPr>
              <a:t>Fix the Google Maps listings</a:t>
            </a:r>
          </a:p>
        </p:txBody>
      </p:sp>
      <p:sp>
        <p:nvSpPr>
          <p:cNvPr id="14" name="TextBox 13"/>
          <p:cNvSpPr txBox="1"/>
          <p:nvPr/>
        </p:nvSpPr>
        <p:spPr>
          <a:xfrm>
            <a:off x="4572000" y="3072384"/>
            <a:ext cx="7068312" cy="685800"/>
          </a:xfrm>
          <a:prstGeom prst="rect">
            <a:avLst/>
          </a:prstGeom>
          <a:noFill/>
        </p:spPr>
        <p:txBody>
          <a:bodyPr wrap="square" lIns="0" tIns="0" rIns="0" bIns="0" anchor="ctr">
            <a:spAutoFit/>
          </a:bodyPr>
          <a:lstStyle/>
          <a:p>
            <a:pPr algn="l"/>
            <a:r>
              <a:rPr sz="1050" b="0" i="0">
                <a:solidFill>
                  <a:srgbClr val="000000"/>
                </a:solidFill>
                <a:latin typeface="Arial"/>
              </a:rPr>
              <a:t>Move the Kijenge pin, correct or remove the two stray listings, and add Arusha City (Sakina) and Boma Ng'ombe from the website pins.</a:t>
            </a:r>
          </a:p>
        </p:txBody>
      </p:sp>
      <p:cxnSp>
        <p:nvCxnSpPr>
          <p:cNvPr id="15" name="Connector 14"/>
          <p:cNvCxnSpPr/>
          <p:nvPr/>
        </p:nvCxnSpPr>
        <p:spPr>
          <a:xfrm>
            <a:off x="1188720" y="3950208"/>
            <a:ext cx="10451592" cy="0"/>
          </a:xfrm>
          <a:prstGeom prst="line">
            <a:avLst/>
          </a:prstGeom>
          <a:ln w="9525">
            <a:solidFill>
              <a:srgbClr val="ECECEC"/>
            </a:solidFill>
          </a:ln>
        </p:spPr>
      </p:cxnSp>
      <p:sp>
        <p:nvSpPr>
          <p:cNvPr id="16" name="Hexagon 15"/>
          <p:cNvSpPr/>
          <p:nvPr/>
        </p:nvSpPr>
        <p:spPr>
          <a:xfrm>
            <a:off x="548640" y="4105655"/>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04</a:t>
            </a:r>
          </a:p>
        </p:txBody>
      </p:sp>
      <p:sp>
        <p:nvSpPr>
          <p:cNvPr id="17" name="TextBox 16"/>
          <p:cNvSpPr txBox="1"/>
          <p:nvPr/>
        </p:nvSpPr>
        <p:spPr>
          <a:xfrm>
            <a:off x="1188720" y="3968496"/>
            <a:ext cx="3291840" cy="685800"/>
          </a:xfrm>
          <a:prstGeom prst="rect">
            <a:avLst/>
          </a:prstGeom>
          <a:noFill/>
        </p:spPr>
        <p:txBody>
          <a:bodyPr wrap="square" lIns="0" tIns="0" rIns="0" bIns="0" anchor="ctr">
            <a:spAutoFit/>
          </a:bodyPr>
          <a:lstStyle/>
          <a:p>
            <a:pPr algn="l"/>
            <a:r>
              <a:rPr sz="1300" b="1" i="0">
                <a:solidFill>
                  <a:srgbClr val="002368"/>
                </a:solidFill>
                <a:latin typeface="Arial"/>
              </a:rPr>
              <a:t>Apply the high-direct research lessons</a:t>
            </a:r>
          </a:p>
        </p:txBody>
      </p:sp>
      <p:sp>
        <p:nvSpPr>
          <p:cNvPr id="18" name="TextBox 17"/>
          <p:cNvSpPr txBox="1"/>
          <p:nvPr/>
        </p:nvSpPr>
        <p:spPr>
          <a:xfrm>
            <a:off x="4572000" y="3968496"/>
            <a:ext cx="7068312" cy="685800"/>
          </a:xfrm>
          <a:prstGeom prst="rect">
            <a:avLst/>
          </a:prstGeom>
          <a:noFill/>
        </p:spPr>
        <p:txBody>
          <a:bodyPr wrap="square" lIns="0" tIns="0" rIns="0" bIns="0" anchor="ctr">
            <a:spAutoFit/>
          </a:bodyPr>
          <a:lstStyle/>
          <a:p>
            <a:pPr algn="l"/>
            <a:r>
              <a:rPr sz="1050" b="0" i="0">
                <a:solidFill>
                  <a:srgbClr val="000000"/>
                </a:solidFill>
                <a:latin typeface="Arial"/>
              </a:rPr>
              <a:t>Deep-crawl own sites before any search; directories pay for decision-makers; vacancy notices only for banks and larger employers; skip repeated name searches and @domain queries for small operators; try annual reports for P1 employers.</a:t>
            </a:r>
          </a:p>
        </p:txBody>
      </p:sp>
      <p:cxnSp>
        <p:nvCxnSpPr>
          <p:cNvPr id="19" name="Connector 18"/>
          <p:cNvCxnSpPr/>
          <p:nvPr/>
        </p:nvCxnSpPr>
        <p:spPr>
          <a:xfrm>
            <a:off x="1188720" y="4846320"/>
            <a:ext cx="10451592" cy="0"/>
          </a:xfrm>
          <a:prstGeom prst="line">
            <a:avLst/>
          </a:prstGeom>
          <a:ln w="9525">
            <a:solidFill>
              <a:srgbClr val="ECECEC"/>
            </a:solidFill>
          </a:ln>
        </p:spPr>
      </p:cxnSp>
      <p:sp>
        <p:nvSpPr>
          <p:cNvPr id="20" name="Hexagon 19"/>
          <p:cNvSpPr/>
          <p:nvPr/>
        </p:nvSpPr>
        <p:spPr>
          <a:xfrm>
            <a:off x="548640" y="500176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sp>
        <p:nvSpPr>
          <p:cNvPr id="21" name="TextBox 20"/>
          <p:cNvSpPr txBox="1"/>
          <p:nvPr/>
        </p:nvSpPr>
        <p:spPr>
          <a:xfrm>
            <a:off x="1188720" y="4864608"/>
            <a:ext cx="3291840" cy="685800"/>
          </a:xfrm>
          <a:prstGeom prst="rect">
            <a:avLst/>
          </a:prstGeom>
          <a:noFill/>
        </p:spPr>
        <p:txBody>
          <a:bodyPr wrap="square" lIns="0" tIns="0" rIns="0" bIns="0" anchor="ctr">
            <a:spAutoFit/>
          </a:bodyPr>
          <a:lstStyle/>
          <a:p>
            <a:pPr algn="l"/>
            <a:r>
              <a:rPr sz="1300" b="1" i="0">
                <a:solidFill>
                  <a:srgbClr val="002368"/>
                </a:solidFill>
                <a:latin typeface="Arial"/>
              </a:rPr>
              <a:t>Approve sponsorship follow-up copy</a:t>
            </a:r>
          </a:p>
        </p:txBody>
      </p:sp>
      <p:sp>
        <p:nvSpPr>
          <p:cNvPr id="22" name="TextBox 21"/>
          <p:cNvSpPr txBox="1"/>
          <p:nvPr/>
        </p:nvSpPr>
        <p:spPr>
          <a:xfrm>
            <a:off x="4572000" y="4864608"/>
            <a:ext cx="7068312" cy="685800"/>
          </a:xfrm>
          <a:prstGeom prst="rect">
            <a:avLst/>
          </a:prstGeom>
          <a:noFill/>
        </p:spPr>
        <p:txBody>
          <a:bodyPr wrap="square" lIns="0" tIns="0" rIns="0" bIns="0" anchor="ctr">
            <a:spAutoFit/>
          </a:bodyPr>
          <a:lstStyle/>
          <a:p>
            <a:pPr algn="l"/>
            <a:r>
              <a:rPr sz="1050" b="0" i="0">
                <a:solidFill>
                  <a:srgbClr val="000000"/>
                </a:solidFill>
                <a:latin typeface="Arial"/>
              </a:rPr>
              <a:t>The 14 sponsorship drafts to employers, and the funder follow-ups, need approved copy before they can go out.</a:t>
            </a:r>
          </a:p>
        </p:txBody>
      </p:sp>
      <p:pic>
        <p:nvPicPr>
          <p:cNvPr id="23" name="Picture 22" descr="image3.png"/>
          <p:cNvPicPr>
            <a:picLocks noChangeAspect="1"/>
          </p:cNvPicPr>
          <p:nvPr/>
        </p:nvPicPr>
        <p:blipFill>
          <a:blip r:embed="rId2"/>
          <a:stretch>
            <a:fillRect/>
          </a:stretch>
        </p:blipFill>
        <p:spPr>
          <a:xfrm>
            <a:off x="548640" y="6272784"/>
            <a:ext cx="1143000" cy="274320"/>
          </a:xfrm>
          <a:prstGeom prst="rect">
            <a:avLst/>
          </a:prstGeom>
        </p:spPr>
      </p:pic>
      <p:sp>
        <p:nvSpPr>
          <p:cNvPr id="24" name="Footer links"/>
          <p:cNvSpPr txBox="1"/>
          <p:nvPr/>
        </p:nvSpPr>
        <p:spPr>
          <a:xfrm>
            <a:off x="7915046" y="6309360"/>
            <a:ext cx="2829153"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review page →</a:t>
            </a:r>
          </a:p>
        </p:txBody>
      </p:sp>
      <p:sp>
        <p:nvSpPr>
          <p:cNvPr id="25" name="Footer source"/>
          <p:cNvSpPr txBox="1"/>
          <p:nvPr/>
        </p:nvSpPr>
        <p:spPr>
          <a:xfrm>
            <a:off x="1965960" y="6309360"/>
            <a:ext cx="5629046"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catchment criteria and research review</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A</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APPENDIX</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Appendix</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The segment funnels, fallout and re-activation, data protection, open questions and sources.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Overview and the parent-funnel hand-off</a:t>
            </a:r>
          </a:p>
          <a:p>
            <a:pPr algn="l" marL="155448" indent="-155448">
              <a:spcAft>
                <a:spcPts val="400"/>
              </a:spcAft>
              <a:buFont typeface="Arial"/>
              <a:buChar char="•"/>
            </a:pPr>
            <a:r>
              <a:rPr sz="1100" b="0" i="0">
                <a:solidFill>
                  <a:srgbClr val="FFFFFF"/>
                </a:solidFill>
                <a:latin typeface="Arial"/>
              </a:rPr>
              <a:t>Thirteen segment funnels: E1–E6, I1, W1–W3, G1–G3</a:t>
            </a:r>
          </a:p>
          <a:p>
            <a:pPr algn="l" marL="155448" indent="-155448">
              <a:spcAft>
                <a:spcPts val="400"/>
              </a:spcAft>
              <a:buFont typeface="Arial"/>
              <a:buChar char="•"/>
            </a:pPr>
            <a:r>
              <a:rPr sz="1100" b="0" i="0">
                <a:solidFill>
                  <a:srgbClr val="FFFFFF"/>
                </a:solidFill>
                <a:latin typeface="Arial"/>
              </a:rPr>
              <a:t>Fallout and re-activation</a:t>
            </a:r>
          </a:p>
          <a:p>
            <a:pPr algn="l" marL="155448" indent="-155448">
              <a:spcAft>
                <a:spcPts val="400"/>
              </a:spcAft>
              <a:buFont typeface="Arial"/>
              <a:buChar char="•"/>
            </a:pPr>
            <a:r>
              <a:rPr sz="1100" b="0" i="0">
                <a:solidFill>
                  <a:srgbClr val="FFFFFF"/>
                </a:solidFill>
                <a:latin typeface="Arial"/>
              </a:rPr>
              <a:t>Opt-in and data protection</a:t>
            </a:r>
          </a:p>
          <a:p>
            <a:pPr algn="l" marL="155448" indent="-155448">
              <a:spcAft>
                <a:spcPts val="400"/>
              </a:spcAft>
              <a:buFont typeface="Arial"/>
              <a:buChar char="•"/>
            </a:pPr>
            <a:r>
              <a:rPr sz="1100" b="0" i="0">
                <a:solidFill>
                  <a:srgbClr val="FFFFFF"/>
                </a:solidFill>
                <a:latin typeface="Arial"/>
              </a:rPr>
              <a:t>Open questions, with recommendations</a:t>
            </a:r>
          </a:p>
          <a:p>
            <a:pPr algn="l" marL="155448" indent="-155448">
              <a:spcAft>
                <a:spcPts val="400"/>
              </a:spcAft>
              <a:buFont typeface="Arial"/>
              <a:buChar char="•"/>
            </a:pPr>
            <a:r>
              <a:rPr sz="1100" b="0" i="0">
                <a:solidFill>
                  <a:srgbClr val="FFFFFF"/>
                </a:solidFill>
                <a:latin typeface="Arial"/>
              </a:rPr>
              <a:t>Sources and data dates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37160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Employers · 1,118</a:t>
            </a:r>
          </a:p>
        </p:txBody>
      </p:sp>
      <p:cxnSp>
        <p:nvCxnSpPr>
          <p:cNvPr id="6" name="Connector 5"/>
          <p:cNvCxnSpPr/>
          <p:nvPr/>
        </p:nvCxnSpPr>
        <p:spPr>
          <a:xfrm>
            <a:off x="2468880" y="1600200"/>
            <a:ext cx="320040" cy="1097280"/>
          </a:xfrm>
          <a:prstGeom prst="line">
            <a:avLst/>
          </a:prstGeom>
          <a:ln w="12700">
            <a:solidFill>
              <a:srgbClr val="80BFEC"/>
            </a:solidFill>
          </a:ln>
        </p:spPr>
      </p:cxnSp>
      <p:sp>
        <p:nvSpPr>
          <p:cNvPr id="7" name="Rounded Rectangle 6"/>
          <p:cNvSpPr/>
          <p:nvPr/>
        </p:nvSpPr>
        <p:spPr>
          <a:xfrm>
            <a:off x="548640" y="192024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SACCOS · 117</a:t>
            </a:r>
          </a:p>
        </p:txBody>
      </p:sp>
      <p:cxnSp>
        <p:nvCxnSpPr>
          <p:cNvPr id="8" name="Connector 7"/>
          <p:cNvCxnSpPr/>
          <p:nvPr/>
        </p:nvCxnSpPr>
        <p:spPr>
          <a:xfrm>
            <a:off x="2468880" y="2148840"/>
            <a:ext cx="320040" cy="548640"/>
          </a:xfrm>
          <a:prstGeom prst="line">
            <a:avLst/>
          </a:prstGeom>
          <a:ln w="12700">
            <a:solidFill>
              <a:srgbClr val="80BFEC"/>
            </a:solidFill>
          </a:ln>
        </p:spPr>
      </p:cxnSp>
      <p:sp>
        <p:nvSpPr>
          <p:cNvPr id="9" name="Rounded Rectangle 8"/>
          <p:cNvSpPr/>
          <p:nvPr/>
        </p:nvSpPr>
        <p:spPr>
          <a:xfrm>
            <a:off x="548640" y="246888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Introducers, networks · 16, 7</a:t>
            </a:r>
          </a:p>
        </p:txBody>
      </p:sp>
      <p:cxnSp>
        <p:nvCxnSpPr>
          <p:cNvPr id="10" name="Connector 9"/>
          <p:cNvCxnSpPr/>
          <p:nvPr/>
        </p:nvCxnSpPr>
        <p:spPr>
          <a:xfrm>
            <a:off x="2468880" y="2697480"/>
            <a:ext cx="320040" cy="0"/>
          </a:xfrm>
          <a:prstGeom prst="line">
            <a:avLst/>
          </a:prstGeom>
          <a:ln w="12700">
            <a:solidFill>
              <a:srgbClr val="80BFEC"/>
            </a:solidFill>
          </a:ln>
        </p:spPr>
      </p:cxnSp>
      <p:sp>
        <p:nvSpPr>
          <p:cNvPr id="11" name="Rounded Rectangle 10"/>
          <p:cNvSpPr/>
          <p:nvPr/>
        </p:nvSpPr>
        <p:spPr>
          <a:xfrm>
            <a:off x="548640" y="301752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Welfare · 438</a:t>
            </a:r>
          </a:p>
        </p:txBody>
      </p:sp>
      <p:cxnSp>
        <p:nvCxnSpPr>
          <p:cNvPr id="12" name="Connector 11"/>
          <p:cNvCxnSpPr/>
          <p:nvPr/>
        </p:nvCxnSpPr>
        <p:spPr>
          <a:xfrm flipV="1">
            <a:off x="2468880" y="2697480"/>
            <a:ext cx="320040" cy="548640"/>
          </a:xfrm>
          <a:prstGeom prst="line">
            <a:avLst/>
          </a:prstGeom>
          <a:ln w="12700">
            <a:solidFill>
              <a:srgbClr val="80BFEC"/>
            </a:solidFill>
          </a:ln>
        </p:spPr>
      </p:cxnSp>
      <p:sp>
        <p:nvSpPr>
          <p:cNvPr id="13" name="Rounded Rectangle 12"/>
          <p:cNvSpPr/>
          <p:nvPr/>
        </p:nvSpPr>
        <p:spPr>
          <a:xfrm>
            <a:off x="548640" y="356616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Government · 228</a:t>
            </a:r>
          </a:p>
        </p:txBody>
      </p:sp>
      <p:cxnSp>
        <p:nvCxnSpPr>
          <p:cNvPr id="14" name="Connector 13"/>
          <p:cNvCxnSpPr/>
          <p:nvPr/>
        </p:nvCxnSpPr>
        <p:spPr>
          <a:xfrm flipV="1">
            <a:off x="2468880" y="2697480"/>
            <a:ext cx="320040" cy="1097280"/>
          </a:xfrm>
          <a:prstGeom prst="line">
            <a:avLst/>
          </a:prstGeom>
          <a:ln w="12700">
            <a:solidFill>
              <a:srgbClr val="80BFEC"/>
            </a:solidFill>
          </a:ln>
        </p:spPr>
      </p:cxnSp>
      <p:sp>
        <p:nvSpPr>
          <p:cNvPr id="15" name="Rounded Rectangle 14"/>
          <p:cNvSpPr/>
          <p:nvPr/>
        </p:nvSpPr>
        <p:spPr>
          <a:xfrm>
            <a:off x="2834640" y="2377440"/>
            <a:ext cx="1298448" cy="685800"/>
          </a:xfrm>
          <a:prstGeom prst="roundRect">
            <a:avLst>
              <a:gd name="adj" fmla="val 9333"/>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Spine S1–S6</a:t>
            </a:r>
          </a:p>
          <a:p>
            <a:pPr algn="ctr"/>
            <a:r>
              <a:rPr sz="850" b="0" i="0">
                <a:solidFill>
                  <a:srgbClr val="002368"/>
                </a:solidFill>
                <a:latin typeface="Arial"/>
              </a:rPr>
              <a:t>Ready to Proposal</a:t>
            </a:r>
          </a:p>
        </p:txBody>
      </p:sp>
      <p:sp>
        <p:nvSpPr>
          <p:cNvPr id="16" name="Chevron 15"/>
          <p:cNvSpPr/>
          <p:nvPr/>
        </p:nvSpPr>
        <p:spPr>
          <a:xfrm>
            <a:off x="4178808" y="2624328"/>
            <a:ext cx="91440" cy="201168"/>
          </a:xfrm>
          <a:prstGeom prst="chevron">
            <a:avLst>
              <a:gd name="adj" fmla="val 55000"/>
            </a:avLst>
          </a:prstGeom>
          <a:solidFill>
            <a:srgbClr val="80BFEC"/>
          </a:solidFill>
          <a:ln>
            <a:noFill/>
          </a:ln>
        </p:spPr>
        <p:txBody>
          <a:bodyPr rtlCol="0" anchor="ctr"/>
          <a:lstStyle/>
          <a:p>
            <a:pPr algn="ctr"/>
          </a:p>
        </p:txBody>
      </p:sp>
      <p:sp>
        <p:nvSpPr>
          <p:cNvPr id="17" name="Rounded Rectangle 16"/>
          <p:cNvSpPr/>
          <p:nvPr/>
        </p:nvSpPr>
        <p:spPr>
          <a:xfrm>
            <a:off x="4315968"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8" name="Chevron 17"/>
          <p:cNvSpPr/>
          <p:nvPr/>
        </p:nvSpPr>
        <p:spPr>
          <a:xfrm>
            <a:off x="5660136" y="2624328"/>
            <a:ext cx="91440" cy="201168"/>
          </a:xfrm>
          <a:prstGeom prst="chevron">
            <a:avLst>
              <a:gd name="adj" fmla="val 55000"/>
            </a:avLst>
          </a:prstGeom>
          <a:solidFill>
            <a:srgbClr val="80BFEC"/>
          </a:solidFill>
          <a:ln>
            <a:noFill/>
          </a:ln>
        </p:spPr>
        <p:txBody>
          <a:bodyPr rtlCol="0" anchor="ctr"/>
          <a:lstStyle/>
          <a:p>
            <a:pPr algn="ctr"/>
          </a:p>
        </p:txBody>
      </p:sp>
      <p:sp>
        <p:nvSpPr>
          <p:cNvPr id="19" name="Rounded Rectangle 18"/>
          <p:cNvSpPr/>
          <p:nvPr/>
        </p:nvSpPr>
        <p:spPr>
          <a:xfrm>
            <a:off x="5797296"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sign-ups, referrals, placements</a:t>
            </a:r>
          </a:p>
        </p:txBody>
      </p:sp>
      <p:sp>
        <p:nvSpPr>
          <p:cNvPr id="20" name="Chevron 19"/>
          <p:cNvSpPr/>
          <p:nvPr/>
        </p:nvSpPr>
        <p:spPr>
          <a:xfrm>
            <a:off x="7141464" y="2624328"/>
            <a:ext cx="91440" cy="201168"/>
          </a:xfrm>
          <a:prstGeom prst="chevron">
            <a:avLst>
              <a:gd name="adj" fmla="val 55000"/>
            </a:avLst>
          </a:prstGeom>
          <a:solidFill>
            <a:srgbClr val="80BFEC"/>
          </a:solidFill>
          <a:ln>
            <a:noFill/>
          </a:ln>
        </p:spPr>
        <p:txBody>
          <a:bodyPr rtlCol="0" anchor="ctr"/>
          <a:lstStyle/>
          <a:p>
            <a:pPr algn="ctr"/>
          </a:p>
        </p:txBody>
      </p:sp>
      <p:sp>
        <p:nvSpPr>
          <p:cNvPr id="21" name="Rounded Rectangle 20"/>
          <p:cNvSpPr/>
          <p:nvPr/>
        </p:nvSpPr>
        <p:spPr>
          <a:xfrm>
            <a:off x="7278624"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Opt-in and Inquiry</a:t>
            </a:r>
          </a:p>
          <a:p>
            <a:pPr algn="ctr"/>
            <a:r>
              <a:rPr sz="850" b="0" i="0">
                <a:solidFill>
                  <a:srgbClr val="002368"/>
                </a:solidFill>
                <a:latin typeface="Arial"/>
              </a:rPr>
              <a:t>self-made, with a partner code</a:t>
            </a:r>
          </a:p>
        </p:txBody>
      </p:sp>
      <p:sp>
        <p:nvSpPr>
          <p:cNvPr id="22" name="Chevron 21"/>
          <p:cNvSpPr/>
          <p:nvPr/>
        </p:nvSpPr>
        <p:spPr>
          <a:xfrm>
            <a:off x="8622792" y="2624328"/>
            <a:ext cx="91440"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8759952"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Tour and Application</a:t>
            </a:r>
          </a:p>
          <a:p>
            <a:pPr algn="ctr"/>
            <a:r>
              <a:rPr sz="850" b="0" i="0">
                <a:solidFill>
                  <a:srgbClr val="002368"/>
                </a:solidFill>
                <a:latin typeface="Arial"/>
              </a:rPr>
              <a:t>admissions</a:t>
            </a:r>
          </a:p>
        </p:txBody>
      </p:sp>
      <p:sp>
        <p:nvSpPr>
          <p:cNvPr id="24" name="Chevron 23"/>
          <p:cNvSpPr/>
          <p:nvPr/>
        </p:nvSpPr>
        <p:spPr>
          <a:xfrm>
            <a:off x="10104120" y="2624328"/>
            <a:ext cx="91440"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10241280"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Enrolment</a:t>
            </a:r>
          </a:p>
        </p:txBody>
      </p:sp>
      <p:cxnSp>
        <p:nvCxnSpPr>
          <p:cNvPr id="26" name="Connector 25"/>
          <p:cNvCxnSpPr/>
          <p:nvPr/>
        </p:nvCxnSpPr>
        <p:spPr>
          <a:xfrm>
            <a:off x="6446520" y="3063240"/>
            <a:ext cx="0" cy="365760"/>
          </a:xfrm>
          <a:prstGeom prst="line">
            <a:avLst/>
          </a:prstGeom>
          <a:ln w="12700">
            <a:solidFill>
              <a:srgbClr val="818283"/>
            </a:solidFill>
            <a:prstDash val="dash"/>
          </a:ln>
        </p:spPr>
      </p:cxnSp>
      <p:cxnSp>
        <p:nvCxnSpPr>
          <p:cNvPr id="27" name="Connector 26"/>
          <p:cNvCxnSpPr/>
          <p:nvPr/>
        </p:nvCxnSpPr>
        <p:spPr>
          <a:xfrm flipH="1">
            <a:off x="3483864" y="3429000"/>
            <a:ext cx="2962656" cy="0"/>
          </a:xfrm>
          <a:prstGeom prst="line">
            <a:avLst/>
          </a:prstGeom>
          <a:ln w="12700">
            <a:solidFill>
              <a:srgbClr val="818283"/>
            </a:solidFill>
            <a:prstDash val="dash"/>
          </a:ln>
        </p:spPr>
      </p:cxnSp>
      <p:cxnSp>
        <p:nvCxnSpPr>
          <p:cNvPr id="28" name="Connector 27"/>
          <p:cNvCxnSpPr/>
          <p:nvPr/>
        </p:nvCxnSpPr>
        <p:spPr>
          <a:xfrm flipV="1">
            <a:off x="3483864" y="3063240"/>
            <a:ext cx="0" cy="365760"/>
          </a:xfrm>
          <a:prstGeom prst="line">
            <a:avLst/>
          </a:prstGeom>
          <a:ln w="12700">
            <a:solidFill>
              <a:srgbClr val="818283"/>
            </a:solidFill>
            <a:prstDash val="dash"/>
            <a:tailEnd type="triangle" w="med" len="med"/>
          </a:ln>
        </p:spPr>
      </p:cxnSp>
      <p:sp>
        <p:nvSpPr>
          <p:cNvPr id="29" name="TextBox 28"/>
          <p:cNvSpPr txBox="1"/>
          <p:nvPr/>
        </p:nvSpPr>
        <p:spPr>
          <a:xfrm>
            <a:off x="3657600" y="3456432"/>
            <a:ext cx="2377440" cy="219456"/>
          </a:xfrm>
          <a:prstGeom prst="rect">
            <a:avLst/>
          </a:prstGeom>
          <a:noFill/>
        </p:spPr>
        <p:txBody>
          <a:bodyPr wrap="square" lIns="0" tIns="0" rIns="0" bIns="0" anchor="t">
            <a:spAutoFit/>
          </a:bodyPr>
          <a:lstStyle/>
          <a:p>
            <a:pPr algn="l"/>
            <a:r>
              <a:rPr sz="900" b="0" i="0">
                <a:solidFill>
                  <a:srgbClr val="818283"/>
                </a:solidFill>
                <a:latin typeface="Arial"/>
              </a:rPr>
              <a:t>referred employers and homes re-enter</a:t>
            </a:r>
          </a:p>
        </p:txBody>
      </p:sp>
      <p:cxnSp>
        <p:nvCxnSpPr>
          <p:cNvPr id="30" name="Connector 29"/>
          <p:cNvCxnSpPr/>
          <p:nvPr/>
        </p:nvCxnSpPr>
        <p:spPr>
          <a:xfrm>
            <a:off x="6620256" y="3063240"/>
            <a:ext cx="0" cy="640080"/>
          </a:xfrm>
          <a:prstGeom prst="line">
            <a:avLst/>
          </a:prstGeom>
          <a:ln w="12700">
            <a:solidFill>
              <a:srgbClr val="818283"/>
            </a:solidFill>
            <a:prstDash val="dash"/>
          </a:ln>
        </p:spPr>
      </p:cxnSp>
      <p:cxnSp>
        <p:nvCxnSpPr>
          <p:cNvPr id="31" name="Connector 30"/>
          <p:cNvCxnSpPr/>
          <p:nvPr/>
        </p:nvCxnSpPr>
        <p:spPr>
          <a:xfrm>
            <a:off x="6620256" y="3703320"/>
            <a:ext cx="4270248" cy="0"/>
          </a:xfrm>
          <a:prstGeom prst="line">
            <a:avLst/>
          </a:prstGeom>
          <a:ln w="12700">
            <a:solidFill>
              <a:srgbClr val="818283"/>
            </a:solidFill>
            <a:prstDash val="dash"/>
          </a:ln>
        </p:spPr>
      </p:cxnSp>
      <p:cxnSp>
        <p:nvCxnSpPr>
          <p:cNvPr id="32" name="Connector 31"/>
          <p:cNvCxnSpPr/>
          <p:nvPr/>
        </p:nvCxnSpPr>
        <p:spPr>
          <a:xfrm flipV="1">
            <a:off x="10890504" y="3063240"/>
            <a:ext cx="0" cy="640080"/>
          </a:xfrm>
          <a:prstGeom prst="line">
            <a:avLst/>
          </a:prstGeom>
          <a:ln w="12700">
            <a:solidFill>
              <a:srgbClr val="818283"/>
            </a:solidFill>
            <a:prstDash val="dash"/>
            <a:tailEnd type="triangle" w="med" len="med"/>
          </a:ln>
        </p:spPr>
      </p:cxnSp>
      <p:sp>
        <p:nvSpPr>
          <p:cNvPr id="33" name="TextBox 32"/>
          <p:cNvSpPr txBox="1"/>
          <p:nvPr/>
        </p:nvSpPr>
        <p:spPr>
          <a:xfrm>
            <a:off x="7589520" y="3730752"/>
            <a:ext cx="3657600" cy="219456"/>
          </a:xfrm>
          <a:prstGeom prst="rect">
            <a:avLst/>
          </a:prstGeom>
          <a:noFill/>
        </p:spPr>
        <p:txBody>
          <a:bodyPr wrap="square" lIns="0" tIns="0" rIns="0" bIns="0" anchor="t">
            <a:spAutoFit/>
          </a:bodyPr>
          <a:lstStyle/>
          <a:p>
            <a:pPr algn="l"/>
            <a:r>
              <a:rPr sz="900" b="0" i="0">
                <a:solidFill>
                  <a:srgbClr val="818283"/>
                </a:solidFill>
                <a:latin typeface="Arial"/>
              </a:rPr>
              <a:t>placements and sponsored students go straight to enrolment</a:t>
            </a:r>
          </a:p>
        </p:txBody>
      </p:sp>
      <p:sp>
        <p:nvSpPr>
          <p:cNvPr id="34" name="TextBox 33"/>
          <p:cNvSpPr txBox="1"/>
          <p:nvPr/>
        </p:nvSpPr>
        <p:spPr>
          <a:xfrm>
            <a:off x="548640" y="4206240"/>
            <a:ext cx="7315200" cy="201168"/>
          </a:xfrm>
          <a:prstGeom prst="rect">
            <a:avLst/>
          </a:prstGeom>
          <a:noFill/>
        </p:spPr>
        <p:txBody>
          <a:bodyPr wrap="square" lIns="0" tIns="0" rIns="0" bIns="0" anchor="t">
            <a:spAutoFit/>
          </a:bodyPr>
          <a:lstStyle/>
          <a:p>
            <a:pPr algn="l"/>
            <a:r>
              <a:rPr sz="900" b="1" i="0" spc="200">
                <a:solidFill>
                  <a:srgbClr val="818283"/>
                </a:solidFill>
                <a:latin typeface="Arial"/>
              </a:rPr>
              <a:t>THE PARENT FUNNEL HAND-OFF: ADMISSIONS OWNS EACH FAMILY FROM THE OPT-IN</a:t>
            </a:r>
          </a:p>
        </p:txBody>
      </p:sp>
      <p:sp>
        <p:nvSpPr>
          <p:cNvPr id="35" name="Hexagon 34"/>
          <p:cNvSpPr/>
          <p:nvPr/>
        </p:nvSpPr>
        <p:spPr>
          <a:xfrm>
            <a:off x="5486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cxnSp>
        <p:nvCxnSpPr>
          <p:cNvPr id="36" name="Connector 35"/>
          <p:cNvCxnSpPr/>
          <p:nvPr/>
        </p:nvCxnSpPr>
        <p:spPr>
          <a:xfrm>
            <a:off x="1005840" y="4727448"/>
            <a:ext cx="1143000" cy="0"/>
          </a:xfrm>
          <a:prstGeom prst="line">
            <a:avLst/>
          </a:prstGeom>
          <a:ln w="15875">
            <a:solidFill>
              <a:srgbClr val="80BFEC"/>
            </a:solidFill>
          </a:ln>
        </p:spPr>
      </p:cxnSp>
      <p:sp>
        <p:nvSpPr>
          <p:cNvPr id="37" name="TextBox 36"/>
          <p:cNvSpPr txBox="1"/>
          <p:nvPr/>
        </p:nvSpPr>
        <p:spPr>
          <a:xfrm>
            <a:off x="548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Partner circulates</a:t>
            </a:r>
          </a:p>
        </p:txBody>
      </p:sp>
      <p:sp>
        <p:nvSpPr>
          <p:cNvPr id="38" name="TextBox 37"/>
          <p:cNvSpPr txBox="1"/>
          <p:nvPr/>
        </p:nvSpPr>
        <p:spPr>
          <a:xfrm>
            <a:off x="548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QR, pamphlet, form</a:t>
            </a:r>
          </a:p>
        </p:txBody>
      </p:sp>
      <p:sp>
        <p:nvSpPr>
          <p:cNvPr id="39" name="Hexagon 38"/>
          <p:cNvSpPr/>
          <p:nvPr/>
        </p:nvSpPr>
        <p:spPr>
          <a:xfrm>
            <a:off x="2148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cxnSp>
        <p:nvCxnSpPr>
          <p:cNvPr id="40" name="Connector 39"/>
          <p:cNvCxnSpPr/>
          <p:nvPr/>
        </p:nvCxnSpPr>
        <p:spPr>
          <a:xfrm>
            <a:off x="2606040" y="4727448"/>
            <a:ext cx="1142999" cy="0"/>
          </a:xfrm>
          <a:prstGeom prst="line">
            <a:avLst/>
          </a:prstGeom>
          <a:ln w="15875">
            <a:solidFill>
              <a:srgbClr val="80BFEC"/>
            </a:solidFill>
          </a:ln>
        </p:spPr>
      </p:cxnSp>
      <p:sp>
        <p:nvSpPr>
          <p:cNvPr id="41" name="TextBox 40"/>
          <p:cNvSpPr txBox="1"/>
          <p:nvPr/>
        </p:nvSpPr>
        <p:spPr>
          <a:xfrm>
            <a:off x="2148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Opt-in</a:t>
            </a:r>
          </a:p>
        </p:txBody>
      </p:sp>
      <p:sp>
        <p:nvSpPr>
          <p:cNvPr id="42" name="TextBox 41"/>
          <p:cNvSpPr txBox="1"/>
          <p:nvPr/>
        </p:nvSpPr>
        <p:spPr>
          <a:xfrm>
            <a:off x="2148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partner code EMP, SAC, INT, WEL, EVT</a:t>
            </a:r>
          </a:p>
        </p:txBody>
      </p:sp>
      <p:sp>
        <p:nvSpPr>
          <p:cNvPr id="43" name="Hexagon 42"/>
          <p:cNvSpPr/>
          <p:nvPr/>
        </p:nvSpPr>
        <p:spPr>
          <a:xfrm>
            <a:off x="3749039"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cxnSp>
        <p:nvCxnSpPr>
          <p:cNvPr id="44" name="Connector 43"/>
          <p:cNvCxnSpPr/>
          <p:nvPr/>
        </p:nvCxnSpPr>
        <p:spPr>
          <a:xfrm>
            <a:off x="4206240" y="4727448"/>
            <a:ext cx="1143000" cy="0"/>
          </a:xfrm>
          <a:prstGeom prst="line">
            <a:avLst/>
          </a:prstGeom>
          <a:ln w="15875">
            <a:solidFill>
              <a:srgbClr val="80BFEC"/>
            </a:solidFill>
          </a:ln>
        </p:spPr>
      </p:cxnSp>
      <p:sp>
        <p:nvSpPr>
          <p:cNvPr id="45" name="TextBox 44"/>
          <p:cNvSpPr txBox="1"/>
          <p:nvPr/>
        </p:nvSpPr>
        <p:spPr>
          <a:xfrm>
            <a:off x="3749039"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Inquiry</a:t>
            </a:r>
          </a:p>
        </p:txBody>
      </p:sp>
      <p:sp>
        <p:nvSpPr>
          <p:cNvPr id="46" name="TextBox 45"/>
          <p:cNvSpPr txBox="1"/>
          <p:nvPr/>
        </p:nvSpPr>
        <p:spPr>
          <a:xfrm>
            <a:off x="3749039"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same working period; reminder at 2 days</a:t>
            </a:r>
          </a:p>
        </p:txBody>
      </p:sp>
      <p:sp>
        <p:nvSpPr>
          <p:cNvPr id="47" name="Hexagon 46"/>
          <p:cNvSpPr/>
          <p:nvPr/>
        </p:nvSpPr>
        <p:spPr>
          <a:xfrm>
            <a:off x="53492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cxnSp>
        <p:nvCxnSpPr>
          <p:cNvPr id="48" name="Connector 47"/>
          <p:cNvCxnSpPr/>
          <p:nvPr/>
        </p:nvCxnSpPr>
        <p:spPr>
          <a:xfrm>
            <a:off x="5806440" y="4727448"/>
            <a:ext cx="1143000" cy="0"/>
          </a:xfrm>
          <a:prstGeom prst="line">
            <a:avLst/>
          </a:prstGeom>
          <a:ln w="15875">
            <a:solidFill>
              <a:srgbClr val="80BFEC"/>
            </a:solidFill>
          </a:ln>
        </p:spPr>
      </p:cxnSp>
      <p:sp>
        <p:nvSpPr>
          <p:cNvPr id="49" name="TextBox 48"/>
          <p:cNvSpPr txBox="1"/>
          <p:nvPr/>
        </p:nvSpPr>
        <p:spPr>
          <a:xfrm>
            <a:off x="53492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Qualified</a:t>
            </a:r>
          </a:p>
        </p:txBody>
      </p:sp>
      <p:sp>
        <p:nvSpPr>
          <p:cNvPr id="50" name="TextBox 49"/>
          <p:cNvSpPr txBox="1"/>
          <p:nvPr/>
        </p:nvSpPr>
        <p:spPr>
          <a:xfrm>
            <a:off x="53492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campus fit confirmed</a:t>
            </a:r>
          </a:p>
        </p:txBody>
      </p:sp>
      <p:sp>
        <p:nvSpPr>
          <p:cNvPr id="51" name="Hexagon 50"/>
          <p:cNvSpPr/>
          <p:nvPr/>
        </p:nvSpPr>
        <p:spPr>
          <a:xfrm>
            <a:off x="69494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cxnSp>
        <p:nvCxnSpPr>
          <p:cNvPr id="52" name="Connector 51"/>
          <p:cNvCxnSpPr/>
          <p:nvPr/>
        </p:nvCxnSpPr>
        <p:spPr>
          <a:xfrm>
            <a:off x="7406640" y="4727448"/>
            <a:ext cx="1143000" cy="0"/>
          </a:xfrm>
          <a:prstGeom prst="line">
            <a:avLst/>
          </a:prstGeom>
          <a:ln w="15875">
            <a:solidFill>
              <a:srgbClr val="80BFEC"/>
            </a:solidFill>
          </a:ln>
        </p:spPr>
      </p:cxnSp>
      <p:sp>
        <p:nvSpPr>
          <p:cNvPr id="53" name="TextBox 52"/>
          <p:cNvSpPr txBox="1"/>
          <p:nvPr/>
        </p:nvSpPr>
        <p:spPr>
          <a:xfrm>
            <a:off x="69494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Tour, Application</a:t>
            </a:r>
          </a:p>
        </p:txBody>
      </p:sp>
      <p:sp>
        <p:nvSpPr>
          <p:cNvPr id="54" name="TextBox 53"/>
          <p:cNvSpPr txBox="1"/>
          <p:nvPr/>
        </p:nvSpPr>
        <p:spPr>
          <a:xfrm>
            <a:off x="69494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recorded as they happen</a:t>
            </a:r>
          </a:p>
        </p:txBody>
      </p:sp>
      <p:sp>
        <p:nvSpPr>
          <p:cNvPr id="55" name="Hexagon 54"/>
          <p:cNvSpPr/>
          <p:nvPr/>
        </p:nvSpPr>
        <p:spPr>
          <a:xfrm>
            <a:off x="8549640" y="452628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06</a:t>
            </a:r>
          </a:p>
        </p:txBody>
      </p:sp>
      <p:cxnSp>
        <p:nvCxnSpPr>
          <p:cNvPr id="56" name="Connector 55"/>
          <p:cNvCxnSpPr/>
          <p:nvPr/>
        </p:nvCxnSpPr>
        <p:spPr>
          <a:xfrm>
            <a:off x="9006840" y="4727448"/>
            <a:ext cx="1143000" cy="0"/>
          </a:xfrm>
          <a:prstGeom prst="line">
            <a:avLst/>
          </a:prstGeom>
          <a:ln w="15875">
            <a:solidFill>
              <a:srgbClr val="80BFEC"/>
            </a:solidFill>
          </a:ln>
        </p:spPr>
      </p:cxnSp>
      <p:sp>
        <p:nvSpPr>
          <p:cNvPr id="57" name="TextBox 56"/>
          <p:cNvSpPr txBox="1"/>
          <p:nvPr/>
        </p:nvSpPr>
        <p:spPr>
          <a:xfrm>
            <a:off x="8549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Enrolment</a:t>
            </a:r>
          </a:p>
        </p:txBody>
      </p:sp>
      <p:sp>
        <p:nvSpPr>
          <p:cNvPr id="58" name="TextBox 57"/>
          <p:cNvSpPr txBox="1"/>
          <p:nvPr/>
        </p:nvSpPr>
        <p:spPr>
          <a:xfrm>
            <a:off x="8549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
            </a:r>
          </a:p>
        </p:txBody>
      </p:sp>
      <p:sp>
        <p:nvSpPr>
          <p:cNvPr id="59" name="Hexagon 58"/>
          <p:cNvSpPr/>
          <p:nvPr/>
        </p:nvSpPr>
        <p:spPr>
          <a:xfrm>
            <a:off x="10149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60" name="TextBox 59"/>
          <p:cNvSpPr txBox="1"/>
          <p:nvPr/>
        </p:nvSpPr>
        <p:spPr>
          <a:xfrm>
            <a:off x="10149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Totals to partner</a:t>
            </a:r>
          </a:p>
        </p:txBody>
      </p:sp>
      <p:sp>
        <p:nvSpPr>
          <p:cNvPr id="61" name="TextBox 60"/>
          <p:cNvSpPr txBox="1"/>
          <p:nvPr/>
        </p:nvSpPr>
        <p:spPr>
          <a:xfrm>
            <a:off x="10149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each term; small counts hidden</a:t>
            </a:r>
          </a:p>
        </p:txBody>
      </p:sp>
      <p:sp>
        <p:nvSpPr>
          <p:cNvPr id="62" name="TextBox 61"/>
          <p:cNvSpPr txBox="1"/>
          <p:nvPr/>
        </p:nvSpPr>
        <p:spPr>
          <a:xfrm>
            <a:off x="548640" y="5943600"/>
            <a:ext cx="11064240" cy="228600"/>
          </a:xfrm>
          <a:prstGeom prst="rect">
            <a:avLst/>
          </a:prstGeom>
          <a:noFill/>
        </p:spPr>
        <p:txBody>
          <a:bodyPr wrap="square" lIns="0" tIns="0" rIns="0" bIns="0" anchor="t">
            <a:spAutoFit/>
          </a:bodyPr>
          <a:lstStyle/>
          <a:p>
            <a:pPr algn="l"/>
            <a:r>
              <a:rPr sz="850" b="0" i="0">
                <a:solidFill>
                  <a:srgbClr val="818283"/>
                </a:solidFill>
                <a:latin typeface="Arial"/>
              </a:rPr>
              <a:t>Coord: Marketing and Partnership Coordinator  ·  Adm: admissions  ·  DSL: designated safeguarding lead  ·  WEO, VEO: ward and village executive officers  ·  B2G owner: government partnerships owner</a:t>
            </a:r>
          </a:p>
        </p:txBody>
      </p:sp>
      <p:pic>
        <p:nvPicPr>
          <p:cNvPr id="63" name="Picture 62" descr="image3.png"/>
          <p:cNvPicPr>
            <a:picLocks noChangeAspect="1"/>
          </p:cNvPicPr>
          <p:nvPr/>
        </p:nvPicPr>
        <p:blipFill>
          <a:blip r:embed="rId2"/>
          <a:stretch>
            <a:fillRect/>
          </a:stretch>
        </p:blipFill>
        <p:spPr>
          <a:xfrm>
            <a:off x="548640" y="6272784"/>
            <a:ext cx="1143000" cy="274320"/>
          </a:xfrm>
          <a:prstGeom prst="rect">
            <a:avLst/>
          </a:prstGeom>
        </p:spPr>
      </p:pic>
      <p:sp>
        <p:nvSpPr>
          <p:cNvPr id="6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the office?</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1" name="Rounded Rectangle 30"/>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2" name="Rounded Rectangle 31"/>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3" name="Chevron 32"/>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5" name="Chevron 34"/>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7" name="Chevron 36"/>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8" name="Rounded Rectangle 37"/>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9" name="Rounded Rectangle 38"/>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after fallout → Dormant · next window or TATO</a:t>
            </a:r>
          </a:p>
        </p:txBody>
      </p:sp>
      <p:sp>
        <p:nvSpPr>
          <p:cNvPr id="40" name="Rounded Rectangle 39"/>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41" name="TextBox 40"/>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2" name="TextBox 41"/>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3" name="Connector 42"/>
          <p:cNvCxnSpPr/>
          <p:nvPr/>
        </p:nvCxnSpPr>
        <p:spPr>
          <a:xfrm>
            <a:off x="548640" y="3730752"/>
            <a:ext cx="11091672" cy="0"/>
          </a:xfrm>
          <a:prstGeom prst="line">
            <a:avLst/>
          </a:prstGeom>
          <a:ln w="9525">
            <a:solidFill>
              <a:srgbClr val="ECECEC"/>
            </a:solidFill>
          </a:ln>
        </p:spPr>
      </p:cxnSp>
      <p:sp>
        <p:nvSpPr>
          <p:cNvPr id="44" name="TextBox 43"/>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5" name="TextBox 44"/>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6" name="TextBox 45"/>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7" name="Rounded Rectangle 46"/>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8" name="Chevron 47"/>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2" name="Chevron 51"/>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p>
        </p:txBody>
      </p:sp>
      <p:sp>
        <p:nvSpPr>
          <p:cNvPr id="53" name="Hexagon 52"/>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one site?</a:t>
            </a:r>
          </a:p>
        </p:txBody>
      </p:sp>
      <p:sp>
        <p:nvSpPr>
          <p:cNvPr id="54" name="Chevron 53"/>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6" name="Rounded Rectangle 55"/>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7" name="Rounded Rectangle 56"/>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8" name="Chevron 57"/>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60" name="Chevron 59"/>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2" name="Chevron 61"/>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3" name="Rounded Rectangle 62"/>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4" name="Rounded Rectangle 63"/>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HAT, APHFTA, CTI, TAHA</a:t>
            </a:r>
          </a:p>
        </p:txBody>
      </p:sp>
      <p:sp>
        <p:nvSpPr>
          <p:cNvPr id="65" name="Rounded Rectangle 64"/>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6" name="TextBox 65"/>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7" name="TextBox 66"/>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Secure sites need the employer's clearance.</a:t>
            </a:r>
          </a:p>
        </p:txBody>
      </p:sp>
      <p:pic>
        <p:nvPicPr>
          <p:cNvPr id="68" name="Picture 67" descr="image3.png"/>
          <p:cNvPicPr>
            <a:picLocks noChangeAspect="1"/>
          </p:cNvPicPr>
          <p:nvPr/>
        </p:nvPicPr>
        <p:blipFill>
          <a:blip r:embed="rId2"/>
          <a:stretch>
            <a:fillRect/>
          </a:stretch>
        </p:blipFill>
        <p:spPr>
          <a:xfrm>
            <a:off x="548640" y="6272784"/>
            <a:ext cx="1143000" cy="274320"/>
          </a:xfrm>
          <a:prstGeom prst="rect">
            <a:avLst/>
          </a:prstGeom>
        </p:spPr>
      </p:pic>
      <p:sp>
        <p:nvSpPr>
          <p:cNvPr id="69"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70"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7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Session or agreement first?</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1" name="Rounded Rectangle 30"/>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S5, S6 → Dormant · TBA or chamber</a:t>
            </a:r>
          </a:p>
        </p:txBody>
      </p:sp>
      <p:sp>
        <p:nvSpPr>
          <p:cNvPr id="39" name="Rounded Rectangle 38"/>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at S3 or S6 → SX</a:t>
            </a:r>
          </a:p>
        </p:txBody>
      </p:sp>
      <p:sp>
        <p:nvSpPr>
          <p:cNvPr id="40" name="TextBox 39"/>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6" name="Hexagon 45"/>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7" name="Chevron 46"/>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9" name="Chevron 48"/>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1" name="Chevron 50"/>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3" name="Chevron 52"/>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p>
        </p:txBody>
      </p:sp>
      <p:sp>
        <p:nvSpPr>
          <p:cNvPr id="54" name="Hexagon 53"/>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5" name="Chevron 54"/>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7" name="Rounded Rectangle 56"/>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8" name="Chevron 57"/>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60" name="Chevron 59"/>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2" name="Rounded Rectangle 61"/>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Check fails or HR refuses → SX compliance_blocked</a:t>
            </a:r>
          </a:p>
        </p:txBody>
      </p:sp>
      <p:sp>
        <p:nvSpPr>
          <p:cNvPr id="63" name="Rounded Rectangle 62"/>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64" name="TextBox 63"/>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5" name="TextBox 64"/>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6" name="Picture 65" descr="image3.png"/>
          <p:cNvPicPr>
            <a:picLocks noChangeAspect="1"/>
          </p:cNvPicPr>
          <p:nvPr/>
        </p:nvPicPr>
        <p:blipFill>
          <a:blip r:embed="rId2"/>
          <a:stretch>
            <a:fillRect/>
          </a:stretch>
        </p:blipFill>
        <p:spPr>
          <a:xfrm>
            <a:off x="548640" y="6272784"/>
            <a:ext cx="1143000" cy="274320"/>
          </a:xfrm>
          <a:prstGeom prst="rect">
            <a:avLst/>
          </a:prstGeom>
        </p:spPr>
      </p:pic>
      <p:sp>
        <p:nvSpPr>
          <p:cNvPr id="6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2" name="Rounded Rectangle 21"/>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3" name="Chevron 22"/>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5" name="Chevron 24"/>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7" name="Chevron 26"/>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9" name="Chevron 28"/>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1" name="Chevron 30"/>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3" name="Chevron 32"/>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5" name="Chevron 34"/>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7" name="Rounded Rectangle 36"/>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or S6 → Dormant</a:t>
            </a:r>
          </a:p>
        </p:txBody>
      </p:sp>
      <p:sp>
        <p:nvSpPr>
          <p:cNvPr id="38" name="Rounded Rectangle 37"/>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9" name="Rounded Rectangle 38"/>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rtlCol="0" anchor="ctr" wrap="square" lIns="45720" rIns="45720" tIns="27432" bIns="27432"/>
          <a:lstStyle/>
          <a:p>
            <a:pPr algn="ctr"/>
            <a:r>
              <a:rPr sz="900" b="1" i="0">
                <a:solidFill>
                  <a:srgbClr val="002368"/>
                </a:solidFill>
                <a:latin typeface="Arial"/>
              </a:rPr>
              <a:t>One month later, optional: staff benefit via E1</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wait for approved sponsorship copy. The staff benefit is never bundled into the ask.</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Employer-based 48, community 67, unclassified 2 · 117 (1 ready)</a:t>
            </a:r>
          </a:p>
        </p:txBody>
      </p:sp>
      <p:sp>
        <p:nvSpPr>
          <p:cNvPr id="45" name="Hexagon 44"/>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6" name="Chevron 45"/>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8" name="Chevron 47"/>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50" name="Chevron 49"/>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2" name="Chevron 51"/>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4" name="Rounded Rectangle 53"/>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Asks for a rate: </a:t>
            </a:r>
            <a:r>
              <a:rPr sz="900" b="0" i="0">
                <a:solidFill>
                  <a:srgbClr val="002368"/>
                </a:solidFill>
                <a:latin typeface="Arial"/>
              </a:rPr>
              <a:t>S6 group rate, only if Finance extends OF07</a:t>
            </a:r>
          </a:p>
        </p:txBody>
      </p:sp>
      <p:sp>
        <p:nvSpPr>
          <p:cNvPr id="55" name="Chevron 54"/>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7" name="Chevron 56"/>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Member sign-ups</a:t>
            </a:r>
          </a:p>
          <a:p>
            <a:pPr algn="ctr"/>
            <a:r>
              <a:rPr sz="850" b="0" i="0">
                <a:solidFill>
                  <a:srgbClr val="002368"/>
                </a:solidFill>
                <a:latin typeface="Arial"/>
              </a:rPr>
              <a:t>code SAC</a:t>
            </a:r>
          </a:p>
        </p:txBody>
      </p:sp>
      <p:sp>
        <p:nvSpPr>
          <p:cNvPr id="59" name="Chevron 58"/>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1" name="Rounded Rectangle 60"/>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members' meeting</a:t>
            </a:r>
          </a:p>
        </p:txBody>
      </p:sp>
      <p:sp>
        <p:nvSpPr>
          <p:cNvPr id="62" name="Rounded Rectangle 61"/>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Rate not approved → SX</a:t>
            </a:r>
          </a:p>
        </p:txBody>
      </p:sp>
      <p:sp>
        <p:nvSpPr>
          <p:cNvPr id="63" name="TextBox 62"/>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116 no email: call the chair or secretary first</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Gates before S1: a native-speaker Kiswahili review, and Finance's approval of the member rate. Sign-ups count toward the 50 / 100 / 150 thresholds as totals. No loan, payroll or subsidy claim.</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7"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2" name="Rounded Rectangle 21"/>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3" name="Chevron 22"/>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5" name="Chevron 24"/>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7" name="Chevron 26"/>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9" name="Chevron 28"/>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p>
        </p:txBody>
      </p:sp>
      <p:sp>
        <p:nvSpPr>
          <p:cNvPr id="30" name="Hexagon 29"/>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1" name="Chevron 30"/>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3" name="Chevron 32"/>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5" name="Chevron 34"/>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7" name="Rounded Rectangle 36"/>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or no referrals after two circulations → Dormant</a:t>
            </a:r>
          </a:p>
        </p:txBody>
      </p:sp>
      <p:sp>
        <p:nvSpPr>
          <p:cNvPr id="38" name="Rounded Rectangle 37"/>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9" name="TextBox 38"/>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5" name="Rounded Rectangle 44"/>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6" name="Chevron 45"/>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8" name="Chevron 47"/>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50" name="Chevron 49"/>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p>
        </p:txBody>
      </p:sp>
      <p:sp>
        <p:nvSpPr>
          <p:cNvPr id="51" name="Hexagon 50"/>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2" name="Chevron 51"/>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4" name="Chevron 53"/>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6" name="Chevron 55"/>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8" name="Chevron 57"/>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60" name="Rounded Rectangle 59"/>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Need not supported, or a safeguarding concern → SX</a:t>
            </a:r>
          </a:p>
        </p:txBody>
      </p:sp>
      <p:sp>
        <p:nvSpPr>
          <p:cNvPr id="61" name="Rounded Rectangle 60"/>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budget date</a:t>
            </a:r>
          </a:p>
        </p:txBody>
      </p:sp>
      <p:sp>
        <p:nvSpPr>
          <p:cNvPr id="62" name="TextBox 61"/>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3" name="Picture 62" descr="image3.png"/>
          <p:cNvPicPr>
            <a:picLocks noChangeAspect="1"/>
          </p:cNvPicPr>
          <p:nvPr/>
        </p:nvPicPr>
        <p:blipFill>
          <a:blip r:embed="rId2"/>
          <a:stretch>
            <a:fillRect/>
          </a:stretch>
        </p:blipFill>
        <p:spPr>
          <a:xfrm>
            <a:off x="548640" y="6272784"/>
            <a:ext cx="1143000" cy="274320"/>
          </a:xfrm>
          <a:prstGeom prst="rect">
            <a:avLst/>
          </a:prstGeom>
        </p:spPr>
      </p:pic>
      <p:sp>
        <p:nvSpPr>
          <p:cNvPr id="6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programmes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Who chooses the school?</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1" name="Rounded Rectangle 30"/>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2" name="Rounded Rectangle 31"/>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rtlCol="0" anchor="ctr" wrap="square" lIns="45720" rIns="45720" tIns="27432" bIns="27432"/>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3" name="Chevron 32"/>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5" name="Chevron 34"/>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7" name="Chevron 36"/>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8" name="Rounded Rectangle 37"/>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9" name="Rounded Rectangle 38"/>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40" name="Rounded Rectangle 39"/>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not relevant, safeguarding stop → SX</a:t>
            </a:r>
          </a:p>
        </p:txBody>
      </p:sp>
      <p:sp>
        <p:nvSpPr>
          <p:cNvPr id="41" name="TextBox 40"/>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2" name="TextBox 41"/>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3" name="Connector 42"/>
          <p:cNvCxnSpPr/>
          <p:nvPr/>
        </p:nvCxnSpPr>
        <p:spPr>
          <a:xfrm>
            <a:off x="548640" y="3730752"/>
            <a:ext cx="11091672" cy="0"/>
          </a:xfrm>
          <a:prstGeom prst="line">
            <a:avLst/>
          </a:prstGeom>
          <a:ln w="9525">
            <a:solidFill>
              <a:srgbClr val="ECECEC"/>
            </a:solidFill>
          </a:ln>
        </p:spPr>
      </p:cxnSp>
      <p:sp>
        <p:nvSpPr>
          <p:cNvPr id="44" name="TextBox 43"/>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5" name="TextBox 44"/>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6" name="TextBox 45"/>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7" name="Hexagon 46"/>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8" name="Chevron 47"/>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50" name="Chevron 49"/>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2" name="Chevron 51"/>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4" name="Chevron 53"/>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6" name="Chevron 55"/>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8" name="Chevron 57"/>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60" name="Chevron 59"/>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2" name="Rounded Rectangle 61"/>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budget cycle</a:t>
            </a:r>
          </a:p>
        </p:txBody>
      </p:sp>
      <p:sp>
        <p:nvSpPr>
          <p:cNvPr id="63" name="Rounded Rectangle 62"/>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4" name="TextBox 63"/>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5" name="TextBox 64"/>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6" name="Picture 65" descr="image3.png"/>
          <p:cNvPicPr>
            <a:picLocks noChangeAspect="1"/>
          </p:cNvPicPr>
          <p:nvPr/>
        </p:nvPicPr>
        <p:blipFill>
          <a:blip r:embed="rId2"/>
          <a:stretch>
            <a:fillRect/>
          </a:stretch>
        </p:blipFill>
        <p:spPr>
          <a:xfrm>
            <a:off x="548640" y="6272784"/>
            <a:ext cx="1143000" cy="274320"/>
          </a:xfrm>
          <a:prstGeom prst="rect">
            <a:avLst/>
          </a:prstGeom>
        </p:spPr>
      </p:pic>
      <p:sp>
        <p:nvSpPr>
          <p:cNvPr id="6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2" name="Hexagon 21"/>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3" name="Chevron 22"/>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5" name="Chevron 24"/>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7" name="Chevron 26"/>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9" name="Chevron 28"/>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1" name="Chevron 30"/>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3" name="Chevron 32"/>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5" name="Chevron 34"/>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7" name="Rounded Rectangle 36"/>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once next quarter</a:t>
            </a:r>
          </a:p>
        </p:txBody>
      </p:sp>
      <p:sp>
        <p:nvSpPr>
          <p:cNvPr id="38" name="Rounded Rectangle 37"/>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or payment asked → SX</a:t>
            </a:r>
          </a:p>
        </p:txBody>
      </p:sp>
      <p:cxnSp>
        <p:nvCxnSpPr>
          <p:cNvPr id="39" name="Connector 38"/>
          <p:cNvCxnSpPr/>
          <p:nvPr/>
        </p:nvCxnSpPr>
        <p:spPr>
          <a:xfrm>
            <a:off x="548640" y="3017520"/>
            <a:ext cx="11091672" cy="0"/>
          </a:xfrm>
          <a:prstGeom prst="line">
            <a:avLst/>
          </a:prstGeom>
          <a:ln w="9525">
            <a:solidFill>
              <a:srgbClr val="ECECEC"/>
            </a:solidFill>
          </a:ln>
        </p:spPr>
      </p:cxnSp>
      <p:sp>
        <p:nvSpPr>
          <p:cNvPr id="40" name="TextBox 39"/>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1" name="TextBox 40"/>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2" name="TextBox 41"/>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3" name="Hexagon 42"/>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4" name="Chevron 43"/>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p>
        </p:txBody>
      </p:sp>
      <p:sp>
        <p:nvSpPr>
          <p:cNvPr id="45" name="Rounded Rectangle 44"/>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6" name="Chevron 45"/>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8" name="Chevron 47"/>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50" name="Chevron 49"/>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2" name="Chevron 51"/>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4" name="Chevron 53"/>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6" name="Chevron 55"/>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8" name="Rounded Rectangle 57"/>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before next meeting</a:t>
            </a:r>
          </a:p>
        </p:txBody>
      </p:sp>
      <p:sp>
        <p:nvSpPr>
          <p:cNvPr id="59" name="Rounded Rectangle 58"/>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Payment or lists → stop, SX</a:t>
            </a:r>
          </a:p>
        </p:txBody>
      </p:sp>
      <p:cxnSp>
        <p:nvCxnSpPr>
          <p:cNvPr id="60" name="Connector 59"/>
          <p:cNvCxnSpPr/>
          <p:nvPr/>
        </p:nvCxnSpPr>
        <p:spPr>
          <a:xfrm>
            <a:off x="548640" y="4599432"/>
            <a:ext cx="11091672" cy="0"/>
          </a:xfrm>
          <a:prstGeom prst="line">
            <a:avLst/>
          </a:prstGeom>
          <a:ln w="9525">
            <a:solidFill>
              <a:srgbClr val="ECECEC"/>
            </a:solidFill>
          </a:ln>
        </p:spPr>
      </p:cxnSp>
      <p:sp>
        <p:nvSpPr>
          <p:cNvPr id="61" name="TextBox 60"/>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2" name="TextBox 61"/>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3" name="TextBox 62"/>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4" name="Hexagon 63"/>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5" name="Chevron 64"/>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p>
        </p:txBody>
      </p:sp>
      <p:sp>
        <p:nvSpPr>
          <p:cNvPr id="66" name="Rounded Rectangle 65"/>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7" name="Chevron 66"/>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p>
        </p:txBody>
      </p:sp>
      <p:sp>
        <p:nvSpPr>
          <p:cNvPr id="68" name="Rounded Rectangle 67"/>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9" name="Chevron 68"/>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p>
        </p:txBody>
      </p:sp>
      <p:sp>
        <p:nvSpPr>
          <p:cNvPr id="70" name="Rounded Rectangle 69"/>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1" name="TextBox 70"/>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first-phase target.</a:t>
            </a:r>
          </a:p>
        </p:txBody>
      </p:sp>
      <p:sp>
        <p:nvSpPr>
          <p:cNvPr id="72" name="TextBox 71"/>
          <p:cNvSpPr txBox="1"/>
          <p:nvPr/>
        </p:nvSpPr>
        <p:spPr>
          <a:xfrm>
            <a:off x="7223760" y="4736592"/>
            <a:ext cx="4416552" cy="128016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Silverleaf asks nothing for itself, offers nothing to officials and never takes lists of residents.</a:t>
            </a:r>
          </a:p>
          <a:p>
            <a:pPr algn="l" marL="155448" indent="-155448">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algn="l" marL="155448" indent="-155448">
              <a:spcAft>
                <a:spcPts val="200"/>
              </a:spcAft>
              <a:buFont typeface="Arial"/>
              <a:buChar char="•"/>
            </a:pPr>
            <a:r>
              <a:rPr sz="950" b="0" i="0">
                <a:solidFill>
                  <a:srgbClr val="000000"/>
                </a:solidFill>
                <a:latin typeface="Arial"/>
              </a:rPr>
              <a:t>Pause during an election campaign period, and never press.</a:t>
            </a:r>
          </a:p>
        </p:txBody>
      </p:sp>
      <p:pic>
        <p:nvPicPr>
          <p:cNvPr id="73" name="Picture 72" descr="image3.png"/>
          <p:cNvPicPr>
            <a:picLocks noChangeAspect="1"/>
          </p:cNvPicPr>
          <p:nvPr/>
        </p:nvPicPr>
        <p:blipFill>
          <a:blip r:embed="rId2"/>
          <a:stretch>
            <a:fillRect/>
          </a:stretch>
        </p:blipFill>
        <p:spPr>
          <a:xfrm>
            <a:off x="548640" y="6272784"/>
            <a:ext cx="1143000" cy="274320"/>
          </a:xfrm>
          <a:prstGeom prst="rect">
            <a:avLst/>
          </a:prstGeom>
        </p:spPr>
      </p:pic>
      <p:sp>
        <p:nvSpPr>
          <p:cNvPr id="7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7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government lead database, October 2026</a:t>
            </a:r>
          </a:p>
        </p:txBody>
      </p:sp>
      <p:sp>
        <p:nvSpPr>
          <p:cNvPr id="7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7406640" cy="4279392"/>
        </p:xfrm>
        <a:graphic>
          <a:graphicData uri="http://schemas.openxmlformats.org/drawingml/2006/table">
            <a:tbl>
              <a:tblPr firstRow="0" bandRow="0">
                <a:tableStyleId>{2D5ABB26-0587-4C30-8999-92F81FD0307C}</a:tableStyleId>
              </a:tblPr>
              <a:tblGrid>
                <a:gridCol w="640080"/>
                <a:gridCol w="1965960"/>
                <a:gridCol w="3063240"/>
                <a:gridCol w="1737360"/>
              </a:tblGrid>
              <a:tr h="475488">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general inbox</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dormant_no_route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named person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dormant_no_response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"Send details"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One-page outline plus two meeting slots; one check-in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dormant_details_no_reply</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"Not now"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Record their date; one message on that date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dormant_deferred_expired</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to a colleague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no session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dormant_after_meeting</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Session, no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Share the sign-up count; ask for one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dormant_after_session</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S8</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Few sign-ups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dormant_quiet_partner</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Rounded Rectangle 5"/>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8" name="TextBox 7"/>
          <p:cNvSpPr txBox="1"/>
          <p:nvPr/>
        </p:nvSpPr>
        <p:spPr>
          <a:xfrm>
            <a:off x="8412480" y="1755648"/>
            <a:ext cx="3063240" cy="173736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Dormant leads are re-tried once at the next intake window, or sooner through a warm route.</a:t>
            </a:r>
          </a:p>
          <a:p>
            <a:pPr algn="l" marL="155448" indent="-155448">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9" name="Rounded Rectangle 8"/>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p>
        </p:txBody>
      </p:sp>
      <p:sp>
        <p:nvSpPr>
          <p:cNvPr id="10" name="TextBox 9"/>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1" name="TextBox 10"/>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2" name="Picture 11" descr="image3.png"/>
          <p:cNvPicPr>
            <a:picLocks noChangeAspect="1"/>
          </p:cNvPicPr>
          <p:nvPr/>
        </p:nvPicPr>
        <p:blipFill>
          <a:blip r:embed="rId2"/>
          <a:stretch>
            <a:fillRect/>
          </a:stretch>
        </p:blipFill>
        <p:spPr>
          <a:xfrm>
            <a:off x="548640" y="6272784"/>
            <a:ext cx="1143000" cy="274320"/>
          </a:xfrm>
          <a:prstGeom prst="rect">
            <a:avLst/>
          </a:prstGeom>
        </p:spPr>
      </p:pic>
      <p:sp>
        <p:nvSpPr>
          <p:cNvPr id="13"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14"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1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DATA PROTECTION</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Opt-in only: no partner ever hands over a list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325880"/>
            <a:ext cx="3931920" cy="4617720"/>
          </a:xfrm>
          <a:prstGeom prst="roundRect">
            <a:avLst>
              <a:gd name="adj" fmla="val 1627"/>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822960" y="1508760"/>
            <a:ext cx="3474720" cy="274320"/>
          </a:xfrm>
          <a:prstGeom prst="rect">
            <a:avLst/>
          </a:prstGeom>
          <a:noFill/>
        </p:spPr>
        <p:txBody>
          <a:bodyPr wrap="square" lIns="0" tIns="0" rIns="0" bIns="0" anchor="t">
            <a:spAutoFit/>
          </a:bodyPr>
          <a:lstStyle/>
          <a:p>
            <a:pPr algn="l"/>
            <a:r>
              <a:rPr sz="900" b="1" i="0" spc="200">
                <a:solidFill>
                  <a:srgbClr val="80BFEC"/>
                </a:solidFill>
                <a:latin typeface="Arial"/>
              </a:rPr>
              <a:t>THE RULE</a:t>
            </a:r>
          </a:p>
        </p:txBody>
      </p:sp>
      <p:sp>
        <p:nvSpPr>
          <p:cNvPr id="7" name="TextBox 6"/>
          <p:cNvSpPr txBox="1"/>
          <p:nvPr/>
        </p:nvSpPr>
        <p:spPr>
          <a:xfrm>
            <a:off x="822960" y="1810512"/>
            <a:ext cx="3474720" cy="1371600"/>
          </a:xfrm>
          <a:prstGeom prst="rect">
            <a:avLst/>
          </a:prstGeom>
          <a:noFill/>
        </p:spPr>
        <p:txBody>
          <a:bodyPr wrap="square" lIns="0" tIns="0" rIns="0" bIns="0" anchor="t">
            <a:spAutoFit/>
          </a:bodyPr>
          <a:lstStyle/>
          <a:p>
            <a:pPr algn="l"/>
            <a:r>
              <a:rPr sz="2000" b="0" i="0">
                <a:solidFill>
                  <a:srgbClr val="FFFFFF"/>
                </a:solidFill>
                <a:latin typeface="Georgia"/>
              </a:rPr>
              <a:t>Staff, members and parents sign up themselves.</a:t>
            </a:r>
          </a:p>
        </p:txBody>
      </p:sp>
      <p:sp>
        <p:nvSpPr>
          <p:cNvPr id="8" name="TextBox 7"/>
          <p:cNvSpPr txBox="1"/>
          <p:nvPr/>
        </p:nvSpPr>
        <p:spPr>
          <a:xfrm>
            <a:off x="822960" y="2743200"/>
            <a:ext cx="3429000" cy="274320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D9ECF9"/>
                </a:solidFill>
                <a:latin typeface="Arial"/>
              </a:rPr>
              <a:t>Under Tanzania's Personal Data Protection Act 2022, no partner hands over a list of people.</a:t>
            </a:r>
          </a:p>
          <a:p>
            <a:pPr algn="l" marL="155448" indent="-155448">
              <a:spcAft>
                <a:spcPts val="400"/>
              </a:spcAft>
              <a:buFont typeface="Arial"/>
              <a:buChar char="•"/>
            </a:pPr>
            <a:r>
              <a:rPr sz="1050" b="0" i="0">
                <a:solidFill>
                  <a:srgbClr val="D9ECF9"/>
                </a:solidFill>
                <a:latin typeface="Arial"/>
              </a:rPr>
              <a:t>Parent data never enters the lead databases.</a:t>
            </a:r>
          </a:p>
          <a:p>
            <a:pPr algn="l" marL="155448" indent="-155448">
              <a:spcAft>
                <a:spcPts val="400"/>
              </a:spcAft>
              <a:buFont typeface="Arial"/>
              <a:buChar char="•"/>
            </a:pPr>
            <a:r>
              <a:rPr sz="1050" b="0" i="0">
                <a:solidFill>
                  <a:srgbClr val="D9ECF9"/>
                </a:solidFill>
                <a:latin typeface="Arial"/>
              </a:rPr>
              <a:t>Until the consented store is live, run inbound-only: material carries the admissions number, the application link and the partner code.</a:t>
            </a:r>
          </a:p>
        </p:txBody>
      </p:sp>
      <p:sp>
        <p:nvSpPr>
          <p:cNvPr id="9" name="TextBox 8"/>
          <p:cNvSpPr txBox="1"/>
          <p:nvPr/>
        </p:nvSpPr>
        <p:spPr>
          <a:xfrm>
            <a:off x="4754880" y="1371600"/>
            <a:ext cx="64008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 FOR THE DATA PROTECTION OFFICER'S REVIEW</a:t>
            </a:r>
          </a:p>
        </p:txBody>
      </p:sp>
      <p:sp>
        <p:nvSpPr>
          <p:cNvPr id="10" name="Rounded Rectangle 9"/>
          <p:cNvSpPr/>
          <p:nvPr/>
        </p:nvSpPr>
        <p:spPr>
          <a:xfrm>
            <a:off x="4754880"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Name</a:t>
            </a:r>
          </a:p>
        </p:txBody>
      </p:sp>
      <p:sp>
        <p:nvSpPr>
          <p:cNvPr id="11" name="Rounded Rectangle 10"/>
          <p:cNvSpPr/>
          <p:nvPr/>
        </p:nvSpPr>
        <p:spPr>
          <a:xfrm>
            <a:off x="7068312"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Phone; WhatsApp preferred?</a:t>
            </a:r>
          </a:p>
        </p:txBody>
      </p:sp>
      <p:sp>
        <p:nvSpPr>
          <p:cNvPr id="12" name="Rounded Rectangle 11"/>
          <p:cNvSpPr/>
          <p:nvPr/>
        </p:nvSpPr>
        <p:spPr>
          <a:xfrm>
            <a:off x="9381744"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Email (optional)</a:t>
            </a:r>
          </a:p>
        </p:txBody>
      </p:sp>
      <p:sp>
        <p:nvSpPr>
          <p:cNvPr id="13" name="Rounded Rectangle 12"/>
          <p:cNvSpPr/>
          <p:nvPr/>
        </p:nvSpPr>
        <p:spPr>
          <a:xfrm>
            <a:off x="4754880"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Area of residence</a:t>
            </a:r>
          </a:p>
        </p:txBody>
      </p:sp>
      <p:sp>
        <p:nvSpPr>
          <p:cNvPr id="14" name="Rounded Rectangle 13"/>
          <p:cNvSpPr/>
          <p:nvPr/>
        </p:nvSpPr>
        <p:spPr>
          <a:xfrm>
            <a:off x="7068312"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Level: daycare, pre-primary or primary</a:t>
            </a:r>
          </a:p>
        </p:txBody>
      </p:sp>
      <p:sp>
        <p:nvSpPr>
          <p:cNvPr id="15" name="Rounded Rectangle 14"/>
          <p:cNvSpPr/>
          <p:nvPr/>
        </p:nvSpPr>
        <p:spPr>
          <a:xfrm>
            <a:off x="9381744"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campus, or not sure</a:t>
            </a:r>
          </a:p>
        </p:txBody>
      </p:sp>
      <p:sp>
        <p:nvSpPr>
          <p:cNvPr id="16" name="Rounded Rectangle 15"/>
          <p:cNvSpPr/>
          <p:nvPr/>
        </p:nvSpPr>
        <p:spPr>
          <a:xfrm>
            <a:off x="4754880"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language</a:t>
            </a:r>
          </a:p>
        </p:txBody>
      </p:sp>
      <p:sp>
        <p:nvSpPr>
          <p:cNvPr id="17" name="Rounded Rectangle 16"/>
          <p:cNvSpPr/>
          <p:nvPr/>
        </p:nvSpPr>
        <p:spPr>
          <a:xfrm>
            <a:off x="7068312"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Consent statement and date</a:t>
            </a:r>
          </a:p>
        </p:txBody>
      </p:sp>
      <p:sp>
        <p:nvSpPr>
          <p:cNvPr id="18" name="Rounded Rectangle 17"/>
          <p:cNvSpPr/>
          <p:nvPr/>
        </p:nvSpPr>
        <p:spPr>
          <a:xfrm>
            <a:off x="9381744"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Partner code, from the QR link or paper form</a:t>
            </a:r>
          </a:p>
        </p:txBody>
      </p:sp>
      <p:sp>
        <p:nvSpPr>
          <p:cNvPr id="19" name="TextBox 18"/>
          <p:cNvSpPr txBox="1"/>
          <p:nvPr/>
        </p:nvSpPr>
        <p:spPr>
          <a:xfrm>
            <a:off x="4754880" y="3017520"/>
            <a:ext cx="6858000" cy="457200"/>
          </a:xfrm>
          <a:prstGeom prst="rect">
            <a:avLst/>
          </a:prstGeom>
          <a:noFill/>
        </p:spPr>
        <p:txBody>
          <a:bodyPr wrap="square" lIns="0" tIns="0" rIns="0" bIns="0" anchor="t">
            <a:spAutoFit/>
          </a:bodyPr>
          <a:lstStyle/>
          <a:p>
            <a:pPr algn="l"/>
            <a:r>
              <a:rPr sz="1000" b="0" i="0">
                <a:solidFill>
                  <a:srgbClr val="000000"/>
                </a:solidFill>
                <a:latin typeface="Arial"/>
              </a:rPr>
              <a:t>It asks for the level of interest, never a child's name or age, so it holds no children's data. Codes: EMP employer, SAC savings group, INT introducer, WEL welfare, EVT community event.</a:t>
            </a:r>
          </a:p>
        </p:txBody>
      </p:sp>
      <p:sp>
        <p:nvSpPr>
          <p:cNvPr id="20" name="Rounded Rectangle 19"/>
          <p:cNvSpPr/>
          <p:nvPr/>
        </p:nvSpPr>
        <p:spPr>
          <a:xfrm>
            <a:off x="4754880" y="3657600"/>
            <a:ext cx="6885432" cy="2286000"/>
          </a:xfrm>
          <a:prstGeom prst="roundRect">
            <a:avLst>
              <a:gd name="adj" fmla="val 2800"/>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4983480" y="3794760"/>
            <a:ext cx="6400800" cy="274320"/>
          </a:xfrm>
          <a:prstGeom prst="rect">
            <a:avLst/>
          </a:prstGeom>
          <a:noFill/>
        </p:spPr>
        <p:txBody>
          <a:bodyPr wrap="square" lIns="0" tIns="0" rIns="0" bIns="0" anchor="t">
            <a:spAutoFit/>
          </a:bodyPr>
          <a:lstStyle/>
          <a:p>
            <a:pPr algn="l"/>
            <a:r>
              <a:rPr sz="1300" b="1" i="0">
                <a:solidFill>
                  <a:srgbClr val="002368"/>
                </a:solidFill>
                <a:latin typeface="Arial"/>
              </a:rPr>
              <a:t>Reporting back to partners</a:t>
            </a:r>
          </a:p>
        </p:txBody>
      </p:sp>
      <p:sp>
        <p:nvSpPr>
          <p:cNvPr id="22" name="TextBox 21"/>
          <p:cNvSpPr txBox="1"/>
          <p:nvPr/>
        </p:nvSpPr>
        <p:spPr>
          <a:xfrm>
            <a:off x="4983480" y="4114800"/>
            <a:ext cx="3017520" cy="566928"/>
          </a:xfrm>
          <a:prstGeom prst="rect">
            <a:avLst/>
          </a:prstGeom>
          <a:noFill/>
        </p:spPr>
        <p:txBody>
          <a:bodyPr wrap="square" lIns="0" tIns="0" rIns="0" bIns="0" anchor="t">
            <a:spAutoFit/>
          </a:bodyPr>
          <a:lstStyle/>
          <a:p>
            <a:pPr algn="l"/>
            <a:r>
              <a:rPr sz="2600" b="0" i="0">
                <a:solidFill>
                  <a:srgbClr val="002368"/>
                </a:solidFill>
                <a:latin typeface="Georgia"/>
              </a:rPr>
              <a:t>Totals</a:t>
            </a:r>
          </a:p>
        </p:txBody>
      </p:sp>
      <p:sp>
        <p:nvSpPr>
          <p:cNvPr id="23" name="TextBox 22"/>
          <p:cNvSpPr txBox="1"/>
          <p:nvPr/>
        </p:nvSpPr>
        <p:spPr>
          <a:xfrm>
            <a:off x="4983480" y="4681728"/>
            <a:ext cx="3017520" cy="457200"/>
          </a:xfrm>
          <a:prstGeom prst="rect">
            <a:avLst/>
          </a:prstGeom>
          <a:noFill/>
        </p:spPr>
        <p:txBody>
          <a:bodyPr wrap="square" lIns="0" tIns="0" rIns="0" bIns="0" anchor="t">
            <a:spAutoFit/>
          </a:bodyPr>
          <a:lstStyle/>
          <a:p>
            <a:pPr algn="l"/>
            <a:r>
              <a:rPr sz="1000" b="0" i="0">
                <a:solidFill>
                  <a:srgbClr val="000000"/>
                </a:solidFill>
                <a:latin typeface="Arial"/>
              </a:rPr>
              <a:t>per partner code each term: sign-ups, enquiries, tours, applications, enrolments</a:t>
            </a:r>
          </a:p>
        </p:txBody>
      </p:sp>
      <p:sp>
        <p:nvSpPr>
          <p:cNvPr id="24" name="TextBox 23"/>
          <p:cNvSpPr txBox="1"/>
          <p:nvPr/>
        </p:nvSpPr>
        <p:spPr>
          <a:xfrm>
            <a:off x="8229600" y="4114800"/>
            <a:ext cx="3200400" cy="566928"/>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25" name="TextBox 24"/>
          <p:cNvSpPr txBox="1"/>
          <p:nvPr/>
        </p:nvSpPr>
        <p:spPr>
          <a:xfrm>
            <a:off x="8229600" y="4681728"/>
            <a:ext cx="3200400" cy="457200"/>
          </a:xfrm>
          <a:prstGeom prst="rect">
            <a:avLst/>
          </a:prstGeom>
          <a:noFill/>
        </p:spPr>
        <p:txBody>
          <a:bodyPr wrap="square" lIns="0" tIns="0" rIns="0" bIns="0" anchor="t">
            <a:spAutoFit/>
          </a:bodyPr>
          <a:lstStyle/>
          <a:p>
            <a:pPr algn="l"/>
            <a:r>
              <a:rPr sz="1000" b="0" i="0">
                <a:solidFill>
                  <a:srgbClr val="000000"/>
                </a:solidFill>
                <a:latin typeface="Arial"/>
              </a:rPr>
              <a:t>any count of 1 or 2 is shown as 'fewer than 3'; a code is not personal data</a:t>
            </a:r>
          </a:p>
        </p:txBody>
      </p:sp>
      <p:sp>
        <p:nvSpPr>
          <p:cNvPr id="26" name="TextBox 25"/>
          <p:cNvSpPr txBox="1"/>
          <p:nvPr/>
        </p:nvSpPr>
        <p:spPr>
          <a:xfrm>
            <a:off x="4983480" y="5257800"/>
            <a:ext cx="6400800" cy="64008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 [My employer] will not see my details; Silverleaf will share only total numbers. I can withdraw at any time.'</a:t>
            </a:r>
          </a:p>
        </p:txBody>
      </p:sp>
      <p:pic>
        <p:nvPicPr>
          <p:cNvPr id="27" name="Picture 26" descr="image3.png"/>
          <p:cNvPicPr>
            <a:picLocks noChangeAspect="1"/>
          </p:cNvPicPr>
          <p:nvPr/>
        </p:nvPicPr>
        <p:blipFill>
          <a:blip r:embed="rId2"/>
          <a:stretch>
            <a:fillRect/>
          </a:stretch>
        </p:blipFill>
        <p:spPr>
          <a:xfrm>
            <a:off x="548640" y="6272784"/>
            <a:ext cx="1143000" cy="274320"/>
          </a:xfrm>
          <a:prstGeom prst="rect">
            <a:avLst/>
          </a:prstGeom>
        </p:spPr>
      </p:pic>
      <p:sp>
        <p:nvSpPr>
          <p:cNvPr id="2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2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Personal Data Protection Act 2022</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 AWAITING YOU</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Open questions, with recommendations (1 of 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RECOMMENDED ANSWER</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owns each stage?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Coord S1–S7 and government letters; Adm from opt-in; campus head hosts; Finance confirms terms; CEO signs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Site visit or webinar?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for variant A sponsors?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Community meeting format?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Welfare-sponsored enrolment?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Introducer acknowledgement?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thank-you letter and termly totals; no reward until the 2027 referral scheme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Where do sign-ups live?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restricted store outside the lead databases, owned by admissions; inbound-only until the DPO approves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is a partnership closed?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or agreement first?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Notice for staff sessions?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OF04 without a staff list?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0">
                      <a:noFill/>
                    </a:lnT>
                    <a:lnB w="9525">
                      <a:solidFill>
                        <a:srgbClr val="ECECEC"/>
                      </a:solidFill>
                    </a:lnB>
                    <a:noFill/>
                  </a:tcPr>
                </a:tc>
              </a:tr>
            </a:tbl>
          </a:graphicData>
        </a:graphic>
      </p:graphicFrame>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(recommendations abridged)</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 AWAITING YOU</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Open questions, with recommendations (2 of 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RECOMMENDED ANSWER</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Public-body compliance check?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Smallest number in a report?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Show 'fewer than 3' for counts of 1 or 2</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Escalate after silence?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Working the no-email rows?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SACCOS with its employer?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One deal; the committee joins at the session</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per week?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Renewal cadence?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What may the government booklet say?</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may an incentive be used?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'Large enough' for 'or your HR lead'?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records a front-desk name?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0">
                      <a:noFill/>
                    </a:lnT>
                    <a:lnB w="9525">
                      <a:solidFill>
                        <a:srgbClr val="ECECEC"/>
                      </a:solidFill>
                    </a:lnB>
                    <a:noFill/>
                  </a:tcPr>
                </a:tc>
              </a:tr>
            </a:tbl>
          </a:graphicData>
        </a:graphic>
      </p:graphicFrame>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(recommendations abridged)</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SOURCES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Sources and the dates the data was taken</a:t>
            </a:r>
          </a:p>
        </p:txBody>
      </p:sp>
      <p:graphicFrame>
        <p:nvGraphicFramePr>
          <p:cNvPr id="4" name="Table 3"/>
          <p:cNvGraphicFramePr>
            <a:graphicFrameLocks noGrp="1"/>
          </p:cNvGraphicFramePr>
          <p:nvPr/>
        </p:nvGraphicFramePr>
        <p:xfrm>
          <a:off x="548640" y="1298448"/>
          <a:ext cx="11091672" cy="4279392"/>
        </p:xfrm>
        <a:graphic>
          <a:graphicData uri="http://schemas.openxmlformats.org/drawingml/2006/table">
            <a:tbl>
              <a:tblPr firstRow="0" bandRow="0">
                <a:tableStyleId>{2D5ABB26-0587-4C30-8999-92F81FD0307C}</a:tableStyleId>
              </a:tblPr>
              <a:tblGrid>
                <a:gridCol w="4937760"/>
                <a:gridCol w="4206240"/>
                <a:gridCol w="1947672"/>
              </a:tblGrid>
              <a:tr h="356616">
                <a:tc>
                  <a:txBody>
                    <a:bodyPr wrap="square"/>
                    <a:lstStyle/>
                    <a:p>
                      <a:r>
                        <a:rPr sz="900" b="1" i="0" spc="100">
                          <a:solidFill>
                            <a:srgbClr val="818283"/>
                          </a:solidFill>
                          <a:latin typeface="Arial"/>
                        </a:rPr>
                        <a:t>SOURCE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WHAT IT GAVE THIS DECK</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TAKEN</a:t>
                      </a:r>
                    </a:p>
                  </a:txBody>
                  <a:tcPr marL="54864" marR="54864" marT="36576" marB="36576" anchor="ctr">
                    <a:lnL w="0">
                      <a:noFill/>
                    </a:lnL>
                    <a:lnR w="0">
                      <a:noFill/>
                    </a:lnR>
                    <a:lnT w="0">
                      <a:noFill/>
                    </a:lnT>
                    <a:lnB w="12700">
                      <a:solidFill>
                        <a:srgbClr val="80BFEC"/>
                      </a:solidFill>
                    </a:lnB>
                    <a:noFill/>
                  </a:tcPr>
                </a:tc>
              </a:tr>
              <a:tr h="356616">
                <a:tc>
                  <a:txBody>
                    <a:bodyPr wrap="square"/>
                    <a:lstStyle/>
                    <a:p>
                      <a:r>
                        <a:rPr sz="950" b="1" i="0">
                          <a:solidFill>
                            <a:srgbClr val="002368"/>
                          </a:solidFill>
                          <a:latin typeface="Arial"/>
                        </a:rPr>
                        <a:t>outputs/master/Silverleaf Master 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companies, SACCOS, introducers, drafts, tiers, hooks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outputs/runs/arusha-welfare-2026-09/lead-database.sqlite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welfare kinds, priority, drafts,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outputs/runs/arusha-government-2026-09/lead-database.sqlite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offices, waves, delivery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outputs/maps/Silverleaf Lead Map.html</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points, distance bands, static map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built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Catchment Criteria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catchment rules, corrections, gaps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Core Segments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segment definitions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Resend Segments - 2026-10-06/-10/-12.md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confidence counts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6, 10,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 Employer (10-02), Welfare (10-10), Government (10-11) Drafts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draft wording and the letter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2–11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docs/strategy/partnership-pipelines-draft.md (draft 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spine, funnels, fallout, tracking, questions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scripts/messaging/first_touch.py · offer register v4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templates, redirect wording, offer terms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 23 Sept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outputs/reports/campus-gap-census-2026-10-11.md · research-playbook.md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capture sources, crawl and search lessons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669280"/>
            <a:ext cx="11064240" cy="411480"/>
          </a:xfrm>
          <a:prstGeom prst="rect">
            <a:avLst/>
          </a:prstGeom>
          <a:noFill/>
        </p:spPr>
        <p:txBody>
          <a:bodyPr wrap="square" lIns="0" tIns="0" rIns="0" bIns="0" anchor="t">
            <a:spAutoFit/>
          </a:bodyPr>
          <a:lstStyle/>
          <a:p>
            <a:pPr algn="l"/>
            <a:r>
              <a:rPr sz="950" b="0" i="0">
                <a:solidFill>
                  <a:srgbClr val="818283"/>
                </a:solidFill>
                <a:latin typeface="Arial"/>
              </a:rPr>
              <a:t>Every figure traces to a query in the sources file beside this deck. Relative links: </a:t>
            </a:r>
            <a:r>
              <a:rPr sz="950" b="1" i="0" u="sng">
                <a:solidFill>
                  <a:srgbClr val="002368"/>
                </a:solidFill>
                <a:latin typeface="Arial"/>
                <a:hlinkClick r:id="rId2">
                  <a:extLst>
                    <a:ext uri="{A12FA001-AC4F-418D-AE19-62706E023703}">
                      <ahyp:hlinkClr xmlns:ahyp="http://schemas.microsoft.com/office/drawing/2018/hyperlinkcolor" val="tx"/>
                    </a:ext>
                  </a:extLst>
                </a:hlinkClick>
              </a:rPr>
              <a:t>lead map</a:t>
            </a:r>
            <a:r>
              <a:rPr sz="950" b="0" i="0">
                <a:solidFill>
                  <a:srgbClr val="818283"/>
                </a:solidFill>
                <a:latin typeface="Arial"/>
              </a:rPr>
              <a:t>  ·  </a:t>
            </a:r>
            <a:r>
              <a:rPr sz="950" b="1" i="0" u="sng">
                <a:solidFill>
                  <a:srgbClr val="002368"/>
                </a:solidFill>
                <a:latin typeface="Arial"/>
                <a:hlinkClick r:id="rId3">
                  <a:extLst>
                    <a:ext uri="{A12FA001-AC4F-418D-AE19-62706E023703}">
                      <ahyp:hlinkClr xmlns:ahyp="http://schemas.microsoft.com/office/drawing/2018/hyperlinkcolor" val="tx"/>
                    </a:ext>
                  </a:extLst>
                </a:hlinkClick>
              </a:rPr>
              <a:t>pipeline review page</a:t>
            </a:r>
            <a:r>
              <a:rPr sz="950" b="0" i="0">
                <a:solidFill>
                  <a:srgbClr val="818283"/>
                </a:solidFill>
                <a:latin typeface="Arial"/>
              </a:rPr>
              <a:t>.</a:t>
            </a:r>
          </a:p>
        </p:txBody>
      </p:sp>
      <p:pic>
        <p:nvPicPr>
          <p:cNvPr id="6" name="Picture 5" descr="image3.png"/>
          <p:cNvPicPr>
            <a:picLocks noChangeAspect="1"/>
          </p:cNvPicPr>
          <p:nvPr/>
        </p:nvPicPr>
        <p:blipFill>
          <a:blip r:embed="rId4"/>
          <a:stretch>
            <a:fillRect/>
          </a:stretch>
        </p:blipFill>
        <p:spPr>
          <a:xfrm>
            <a:off x="548640" y="6272784"/>
            <a:ext cx="1143000" cy="274320"/>
          </a:xfrm>
          <a:prstGeom prst="rect">
            <a:avLst/>
          </a:prstGeom>
        </p:spPr>
      </p:pic>
      <p:sp>
        <p:nvSpPr>
          <p:cNvPr id="7" name="Footer links"/>
          <p:cNvSpPr txBox="1"/>
          <p:nvPr/>
        </p:nvSpPr>
        <p:spPr>
          <a:xfrm>
            <a:off x="7915046" y="6309360"/>
            <a:ext cx="2829153"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6">
                  <a:extLst>
                    <a:ext uri="{A12FA001-AC4F-418D-AE19-62706E023703}">
                      <ahyp:hlinkClr xmlns:ahyp="http://schemas.microsoft.com/office/drawing/2018/hyperlinkcolor" val="tx"/>
                    </a:ext>
                  </a:extLst>
                </a:hlinkClick>
              </a:rPr>
              <a:t>Pipeline review page →</a:t>
            </a:r>
          </a:p>
        </p:txBody>
      </p:sp>
      <p:sp>
        <p:nvSpPr>
          <p:cNvPr id="8" name="Footer source"/>
          <p:cNvSpPr txBox="1"/>
          <p:nvPr/>
        </p:nvSpPr>
        <p:spPr>
          <a:xfrm>
            <a:off x="1965960" y="6309360"/>
            <a:ext cx="5629046"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strategy documents, October 2026</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Lists, segments, drafts and the pipeline design are ready for review. Nothing is sent automatically; a person sends every message, after your sign-off.</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review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2026-09-10T00:30:39.2670000Z</dcterms:created>
  <dcterms:modified xsi:type="dcterms:W3CDTF">2026-09-10T00:30:39.2670000Z</dcterms:modified>
</coreProperties>
</file>