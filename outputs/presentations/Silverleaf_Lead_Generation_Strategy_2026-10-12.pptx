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8433a703b2cf495a" Type="http://schemas.openxmlformats.org/officeDocument/2006/relationships/extended-properties" Target="docProps/app.xml"/><Relationship Id="Rd40ef8c8e9af4631" Type="http://schemas.openxmlformats.org/officeDocument/2006/relationships/officeDocument" Target="ppt/presentation.xml"/><Relationship Id="Rdd8e5c467ef54994"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05f2eafc1c3c436f"/>
  </p:sldMasterIdLst>
  <p:notesMasterIdLst>
    <p:notesMasterId xmlns:r="http://schemas.openxmlformats.org/officeDocument/2006/relationships" r:id="Re2246cf756d44e01"/>
  </p:notesMasterIdLst>
  <p:sldIdLst>
    <p:sldId xmlns:ns0="http://schemas.openxmlformats.org/officeDocument/2006/relationships" id="256" ns0:id="rId7"/>
    <p:sldId xmlns:ns0="http://schemas.openxmlformats.org/officeDocument/2006/relationships" id="257" ns0:id="rId8"/>
    <p:sldId xmlns:ns0="http://schemas.openxmlformats.org/officeDocument/2006/relationships" id="258" ns0:id="rId9"/>
    <p:sldId xmlns:ns0="http://schemas.openxmlformats.org/officeDocument/2006/relationships" id="259" ns0:id="rId10"/>
    <p:sldId xmlns:ns0="http://schemas.openxmlformats.org/officeDocument/2006/relationships" id="260" ns0:id="rId11"/>
    <p:sldId xmlns:ns0="http://schemas.openxmlformats.org/officeDocument/2006/relationships" id="261" ns0:id="rId12"/>
    <p:sldId xmlns:ns0="http://schemas.openxmlformats.org/officeDocument/2006/relationships" id="262" ns0:id="rId13"/>
    <p:sldId xmlns:ns0="http://schemas.openxmlformats.org/officeDocument/2006/relationships" id="263" ns0:id="rId14"/>
    <p:sldId xmlns:ns0="http://schemas.openxmlformats.org/officeDocument/2006/relationships" id="264" ns0:id="rId15"/>
    <p:sldId xmlns:ns0="http://schemas.openxmlformats.org/officeDocument/2006/relationships" id="265" ns0:id="rId16"/>
    <p:sldId xmlns:ns0="http://schemas.openxmlformats.org/officeDocument/2006/relationships" id="266" ns0:id="rId17"/>
    <p:sldId xmlns:ns0="http://schemas.openxmlformats.org/officeDocument/2006/relationships" id="267" ns0:id="rId18"/>
    <p:sldId xmlns:ns0="http://schemas.openxmlformats.org/officeDocument/2006/relationships" id="268" ns0:id="rId19"/>
    <p:sldId xmlns:ns0="http://schemas.openxmlformats.org/officeDocument/2006/relationships" id="269" ns0:id="rId20"/>
    <p:sldId xmlns:ns0="http://schemas.openxmlformats.org/officeDocument/2006/relationships" id="270" ns0:id="rId21"/>
    <p:sldId xmlns:ns0="http://schemas.openxmlformats.org/officeDocument/2006/relationships" id="271" ns0:id="rId22"/>
    <p:sldId xmlns:ns0="http://schemas.openxmlformats.org/officeDocument/2006/relationships" id="272" ns0:id="rId23"/>
    <p:sldId xmlns:ns0="http://schemas.openxmlformats.org/officeDocument/2006/relationships" id="273" ns0:id="rId24"/>
    <p:sldId xmlns:ns0="http://schemas.openxmlformats.org/officeDocument/2006/relationships" id="274" ns0:id="rId25"/>
    <p:sldId xmlns:ns0="http://schemas.openxmlformats.org/officeDocument/2006/relationships" id="275" ns0:id="rId26"/>
    <p:sldId xmlns:ns0="http://schemas.openxmlformats.org/officeDocument/2006/relationships" id="276" ns0:id="rId27"/>
    <p:sldId xmlns:ns0="http://schemas.openxmlformats.org/officeDocument/2006/relationships" id="277" ns0:id="rId28"/>
    <p:sldId xmlns:ns0="http://schemas.openxmlformats.org/officeDocument/2006/relationships" id="278" ns0:id="rId29"/>
    <p:sldId xmlns:ns0="http://schemas.openxmlformats.org/officeDocument/2006/relationships" id="279" ns0:id="rId30"/>
    <p:sldId xmlns:ns0="http://schemas.openxmlformats.org/officeDocument/2006/relationships" id="280" ns0:id="rId31"/>
    <p:sldId xmlns:ns0="http://schemas.openxmlformats.org/officeDocument/2006/relationships" id="281" ns0:id="rId32"/>
    <p:sldId xmlns:ns0="http://schemas.openxmlformats.org/officeDocument/2006/relationships" id="282" ns0:id="rId33"/>
    <p:sldId xmlns:ns0="http://schemas.openxmlformats.org/officeDocument/2006/relationships" id="283" ns0:id="rId34"/>
    <p:sldId xmlns:ns0="http://schemas.openxmlformats.org/officeDocument/2006/relationships" id="284" ns0:id="rId35"/>
    <p:sldId xmlns:ns0="http://schemas.openxmlformats.org/officeDocument/2006/relationships" id="285" ns0:id="rId36"/>
    <p:sldId xmlns:ns0="http://schemas.openxmlformats.org/officeDocument/2006/relationships" id="286" ns0:id="rId37"/>
    <p:sldId xmlns:ns0="http://schemas.openxmlformats.org/officeDocument/2006/relationships" id="287" ns0:id="rId38"/>
    <p:sldId xmlns:ns0="http://schemas.openxmlformats.org/officeDocument/2006/relationships" id="288" ns0:id="rId39"/>
    <p:sldId xmlns:ns0="http://schemas.openxmlformats.org/officeDocument/2006/relationships" id="289" ns0:id="rId40"/>
    <p:sldId xmlns:ns0="http://schemas.openxmlformats.org/officeDocument/2006/relationships" id="290" ns0:id="rId41"/>
    <p:sldId xmlns:ns0="http://schemas.openxmlformats.org/officeDocument/2006/relationships" id="291" ns0:id="rId42"/>
    <p:sldId xmlns:ns0="http://schemas.openxmlformats.org/officeDocument/2006/relationships" id="292" ns0:id="rId43"/>
    <p:sldId xmlns:ns0="http://schemas.openxmlformats.org/officeDocument/2006/relationships" id="293" ns0:id="rId44"/>
    <p:sldId xmlns:ns0="http://schemas.openxmlformats.org/officeDocument/2006/relationships" id="294" ns0:id="rId45"/>
    <p:sldId xmlns:ns0="http://schemas.openxmlformats.org/officeDocument/2006/relationships" id="295" ns0:id="rId46"/>
    <p:sldId xmlns:ns0="http://schemas.openxmlformats.org/officeDocument/2006/relationships" id="296" ns0:id="rId47"/>
    <p:sldId xmlns:ns0="http://schemas.openxmlformats.org/officeDocument/2006/relationships" id="297" ns0:id="rId48"/>
    <p:sldId xmlns:ns0="http://schemas.openxmlformats.org/officeDocument/2006/relationships" id="298" ns0:id="rId49"/>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5f2eafc1c3c436f" Type="http://schemas.openxmlformats.org/officeDocument/2006/relationships/slideMaster" Target="slideMasters/slideMaster1.xml"/><Relationship Id="R383f8cbfc79a4d86" Type="http://schemas.openxmlformats.org/officeDocument/2006/relationships/theme" Target="theme/theme1.xml"/><Relationship Id="R8dd52c38e44e4341" Type="http://schemas.openxmlformats.org/officeDocument/2006/relationships/viewProps" Target="viewProps.xml"/><Relationship Id="Ra9d8f7c8a9324bff" Type="http://schemas.openxmlformats.org/officeDocument/2006/relationships/tableStyles" Target="tableStyles.xml"/><Relationship Id="Re2246cf756d44e01" Type="http://schemas.openxmlformats.org/officeDocument/2006/relationships/notesMaster" Target="notesMasters/notesMaster1.xml"/><Relationship Id="Rfab06bc7f14646de" Type="http://schemas.openxmlformats.org/officeDocument/2006/relationships/presProps" Target="presProp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stacked"/>
        <c:ser>
          <c:idx val="0"/>
          <c:order val="0"/>
          <c:tx>
            <c:strRef>
              <c:f>Sheet1!$B$1</c:f>
              <c:strCache>
                <c:ptCount val="1"/>
                <c:pt idx="0">
                  <c:v>Employers</c:v>
                </c:pt>
              </c:strCache>
            </c:strRef>
          </c:tx>
          <c:spPr>
            <a:solidFill>
              <a:srgbClr val="002368"/>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ser>
        <c:ser>
          <c:idx val="1"/>
          <c:order val="1"/>
          <c:tx>
            <c:strRef>
              <c:f>Sheet1!$C$1</c:f>
              <c:strCache>
                <c:ptCount val="1"/>
                <c:pt idx="0">
                  <c:v>Introducers</c:v>
                </c:pt>
              </c:strCache>
            </c:strRef>
          </c:tx>
          <c:spPr>
            <a:solidFill>
              <a:srgbClr val="FFC952"/>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ser>
        <c:ser>
          <c:idx val="2"/>
          <c:order val="2"/>
          <c:tx>
            <c:strRef>
              <c:f>Sheet1!$D$1</c:f>
              <c:strCache>
                <c:ptCount val="1"/>
                <c:pt idx="0">
                  <c:v>Welfare</c:v>
                </c:pt>
              </c:strCache>
            </c:strRef>
          </c:tx>
          <c:spPr>
            <a:solidFill>
              <a:srgbClr val="80BFEC"/>
            </a:solidFill>
            <a:ln>
              <a:noFill/>
            </a:ln>
          </c:spPr>
          <c:invertIfNegative val="0"/>
          <c:dLbls>
            <c:numFmt formatCode="[&lt;25]&quot;&quot;;#,##0" sourceLinked="0"/>
            <c:txPr>
              <a:bodyPr/>
              <a:lstStyle/>
              <a:p>
                <a:pPr>
                  <a:defRPr sz="900">
                    <a:solidFill>
                      <a:srgbClr val="002368"/>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ser>
        <c:ser>
          <c:idx val="3"/>
          <c:order val="3"/>
          <c:tx>
            <c:strRef>
              <c:f>Sheet1!$E$1</c:f>
              <c:strCache>
                <c:ptCount val="1"/>
                <c:pt idx="0">
                  <c:v>Government</c:v>
                </c:pt>
              </c:strCache>
            </c:strRef>
          </c:tx>
          <c:spPr>
            <a:solidFill>
              <a:srgbClr val="8091B3"/>
            </a:solidFill>
            <a:ln>
              <a:noFill/>
            </a:ln>
          </c:spPr>
          <c:invertIfNegative val="0"/>
          <c:dLbls>
            <c:numFmt formatCode="[&lt;25]&quot;&quot;;#,##0" sourceLinked="0"/>
            <c:txPr>
              <a:bodyPr/>
              <a:lstStyle/>
              <a:p>
                <a:pPr>
                  <a:defRPr sz="900">
                    <a:solidFill>
                      <a:srgbClr val="FFFFFF"/>
                    </a:solidFill>
                  </a:defRPr>
                </a:pPr>
              </a:p>
            </c:txPr>
            <c:showLegendKey val="0"/>
            <c:showVal val="1"/>
            <c:showCatName val="0"/>
            <c:showSerName val="0"/>
            <c:showPercent val="0"/>
            <c:showBubbleSize val="0"/>
            <c:showLeaderLines val="1"/>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ser>
        <c:dLbls>
          <c:numFmt formatCode="#,##0" sourceLinked="0"/>
          <c:txPr>
            <a:bodyPr/>
            <a:lstStyle/>
            <a:p>
              <a:pPr>
                <a:defRPr sz="900" b="1">
                  <a:solidFill>
                    <a:srgbClr val="FFFFFF"/>
                  </a:solidFill>
                  <a:latin typeface="Arial"/>
                </a:defRPr>
              </a:pPr>
            </a:p>
          </c:txPr>
          <c:dLblPos val="ctr"/>
          <c:showLegendKey val="0"/>
          <c:showVal val="1"/>
          <c:showCatName val="0"/>
          <c:showSerName val="0"/>
          <c:showPercent val="0"/>
          <c:showBubbleSize val="0"/>
          <c:showLeaderLines val="1"/>
        </c:dLbls>
        <c:gapWidth val="45"/>
        <c:overlap val="10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Leads</c:v>
                </c:pt>
              </c:strCache>
            </c:strRef>
          </c:tx>
          <c:spPr>
            <a:solidFill>
              <a:srgbClr val="002368"/>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ser>
        <c:ser>
          <c:idx val="1"/>
          <c:order val="1"/>
          <c:tx>
            <c:strRef>
              <c:f>Sheet1!$C$1</c:f>
              <c:strCache>
                <c:ptCount val="1"/>
                <c:pt idx="0">
                  <c:v>Ready for review</c:v>
                </c:pt>
              </c:strCache>
            </c:strRef>
          </c:tx>
          <c:spPr>
            <a:solidFill>
              <a:srgbClr val="80BFEC"/>
            </a:solidFill>
            <a:ln>
              <a:noFill/>
            </a:ln>
          </c:spPr>
          <c:invertIfNegative val="0"/>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ser>
        <c:dLbls>
          <c:numFmt formatCode="#,##0" sourceLinked="0"/>
          <c:txPr>
            <a:bodyPr/>
            <a:lstStyle/>
            <a:p>
              <a:pPr>
                <a:defRPr sz="900" b="1">
                  <a:solidFill>
                    <a:srgbClr val="002368"/>
                  </a:solidFill>
                  <a:latin typeface="Arial"/>
                </a:defRPr>
              </a:pPr>
            </a:p>
          </c:txPr>
          <c:showLegendKey val="0"/>
          <c:showVal val="1"/>
          <c:showCatName val="0"/>
          <c:showSerName val="0"/>
          <c:showPercent val="0"/>
          <c:showBubbleSize val="0"/>
          <c:showLeaderLines val="1"/>
        </c:dLbls>
        <c:gapWidth val="40"/>
        <c:overlap val="-10"/>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1000">
                <a:solidFill>
                  <a:srgbClr val="002368"/>
                </a:solidFill>
                <a:latin typeface="Arial"/>
              </a:defRPr>
            </a:pPr>
          </a:p>
        </c:txPr>
        <c:crossAx val="-2113994440"/>
        <c:crosses val="autoZero"/>
        <c:auto val="1"/>
        <c:lblAlgn val="ctr"/>
        <c:lblOffset val="100"/>
        <c:noMultiLvlLbl val="0"/>
      </c:catAx>
      <c:valAx>
        <c:axId val="-2113994440"/>
        <c:scaling>
          <c:min val="0.0"/>
        </c:scaling>
        <c:delete/>
        <c:axPos val="b"/>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000">
          <a:solidFill>
            <a:srgbClr val="002368"/>
          </a:solidFill>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High direct</c:v>
                </c:pt>
              </c:strCache>
            </c:strRef>
          </c:tx>
          <c:spPr>
            <a:solidFill>
              <a:srgbClr val="002368"/>
            </a:solidFill>
            <a:ln>
              <a:noFill/>
            </a:ln>
          </c:spPr>
          <c:invertIfNegative val="0"/>
          <c:cat>
            <c:strRef>
              <c:f>Sheet1!$A$2:$A$3</c:f>
              <c:strCache>
                <c:ptCount val="2"/>
                <c:pt idx="0">
                  <c:v>10 Oct</c:v>
                </c:pt>
                <c:pt idx="1">
                  <c:v>12 Oct</c:v>
                </c:pt>
              </c:strCache>
            </c:strRef>
          </c:cat>
          <c:val>
            <c:numRef>
              <c:f>Sheet1!$B$2:$B$3</c:f>
              <c:numCache>
                <c:formatCode>General</c:formatCode>
                <c:ptCount val="2"/>
                <c:pt idx="0">
                  <c:v>41</c:v>
                </c:pt>
                <c:pt idx="1">
                  <c:v>54</c:v>
                </c:pt>
              </c:numCache>
            </c:numRef>
          </c:val>
        </c:ser>
        <c:ser>
          <c:idx val="1"/>
          <c:order val="1"/>
          <c:tx>
            <c:strRef>
              <c:f>Sheet1!$C$1</c:f>
              <c:strCache>
                <c:ptCount val="1"/>
                <c:pt idx="0">
                  <c:v>High indirect</c:v>
                </c:pt>
              </c:strCache>
            </c:strRef>
          </c:tx>
          <c:spPr>
            <a:solidFill>
              <a:srgbClr val="80BFEC"/>
            </a:solidFill>
            <a:ln>
              <a:noFill/>
            </a:ln>
          </c:spPr>
          <c:invertIfNegative val="0"/>
          <c:cat>
            <c:strRef>
              <c:f>Sheet1!$A$2:$A$3</c:f>
              <c:strCache>
                <c:ptCount val="2"/>
                <c:pt idx="0">
                  <c:v>10 Oct</c:v>
                </c:pt>
                <c:pt idx="1">
                  <c:v>12 Oct</c:v>
                </c:pt>
              </c:strCache>
            </c:strRef>
          </c:cat>
          <c:val>
            <c:numRef>
              <c:f>Sheet1!$C$2:$C$3</c:f>
              <c:numCache>
                <c:formatCode>General</c:formatCode>
                <c:ptCount val="2"/>
                <c:pt idx="0">
                  <c:v>268</c:v>
                </c:pt>
                <c:pt idx="1">
                  <c:v>291</c:v>
                </c:pt>
              </c:numCache>
            </c:numRef>
          </c:val>
        </c:ser>
        <c:dLbls>
          <c:numFmt formatCode="#,##0" sourceLinked="0"/>
          <c:txPr>
            <a:bodyPr/>
            <a:lstStyle/>
            <a:p>
              <a:pPr>
                <a:defRPr sz="1100" b="1">
                  <a:solidFill>
                    <a:srgbClr val="FFFFFF"/>
                  </a:solidFill>
                  <a:latin typeface="Arial"/>
                </a:defRPr>
              </a:pPr>
            </a:p>
          </c:txPr>
          <c:dLblPos val="ctr"/>
          <c:showLegendKey val="0"/>
          <c:showVal val="1"/>
          <c:showCatName val="0"/>
          <c:showSerName val="0"/>
          <c:showPercent val="0"/>
          <c:showBubbleSize val="0"/>
          <c:showLeaderLines val="1"/>
        </c:dLbls>
        <c:gapWidth val="70"/>
        <c:overlap val="100"/>
        <c:axId val="-2068027336"/>
        <c:axId val="-2113994440"/>
      </c:barChart>
      <c:catAx>
        <c:axId val="-2068027336"/>
        <c:scaling>
          <c:orientation val="minMax"/>
        </c:scaling>
        <c:delete val="0"/>
        <c:axPos val="b"/>
        <c:majorTickMark val="out"/>
        <c:minorTickMark val="none"/>
        <c:tickLblPos val="nextTo"/>
        <c:spPr>
          <a:ln>
            <a:noFill/>
          </a:ln>
        </c:spPr>
        <c:txPr>
          <a:bodyPr/>
          <a:lstStyle/>
          <a:p>
            <a:pPr>
              <a:defRPr sz="1100">
                <a:solidFill>
                  <a:srgbClr val="002368"/>
                </a:solidFill>
                <a:latin typeface="Arial"/>
              </a:defRPr>
            </a:pPr>
          </a:p>
        </c:txPr>
        <c:crossAx val="-2113994440"/>
        <c:crosses val="autoZero"/>
        <c:auto val="1"/>
        <c:lblAlgn val="ctr"/>
        <c:lblOffset val="100"/>
        <c:noMultiLvlLbl val="0"/>
      </c:catAx>
      <c:valAx>
        <c:axId val="-2113994440"/>
        <c:scaling>
          <c:min val="0.0"/>
        </c:scaling>
        <c:delete/>
        <c:axPos val="l"/>
        <c:majorTickMark val="out"/>
        <c:minorTickMark val="none"/>
        <c:tickLblPos val="nextTo"/>
        <c:crossAx val="-2068027336"/>
        <c:crosses val="autoZero"/>
      </c:valAx>
    </c:plotArea>
    <c:legend>
      <c:legendPos val="t"/>
      <c:overlay val="0"/>
      <c:txPr>
        <a:bodyPr/>
        <a:lstStyle/>
        <a:p>
          <a:pPr>
            <a:defRPr sz="1000">
              <a:solidFill>
                <a:srgbClr val="002368"/>
              </a:solidFill>
              <a:latin typeface="Arial"/>
            </a:defRPr>
          </a:pPr>
        </a:p>
      </c:txPr>
    </c:legend>
    <c:dispBlanksAs val="gap"/>
  </c:chart>
  <c:txPr>
    <a:bodyPr/>
    <a:lstStyle/>
    <a:p>
      <a:pPr>
        <a:defRPr sz="11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938e489a839d4521"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Counts from read-only copies of the three databases taken on 12 October 2026 (master, welfare run arusha-welfare-2026-09, government run arusha-government-2026-09) and from outputs/maps/Silverleaf Lead Map.html built the same day.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Distances are straight-line (great-circle), rounded to 0.1 km, not road distance. Location precision is recorded for every point (point/address under 0.5 km; locality 1–3 km; town up to 8 km; estimated ward points 1–5 km). Plausibility box for welfare and government research: latitude -3.62 to -3.10, longitude 36.42 to 37.40; the NGO register is read to 30 km so places just over the line are seen.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Band counts are recomputed from the lead map payload (straight line from each lead's map point to the nearest campus). They differ from the employer table in the Catchment Criteria document of 11 October (505 / 64 / 60 / 37 / 50), which counted 716 companies before the gap census and used the databases' stored distances. Of the master's company distances: 47 recomputed from own coordinates, 383 from the importer's gazetteer, 440 kept (at most about 1.2 km off), 101 with no location.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Gap census: OpenStreetMap features within 25 km of each campus against the three lists (406 new, 99 to review); excluded schools and kindergartens (competitors), unnamed features, single practitioners. Targeted known gaps: 52 new; international NGOs on the register held by no list: 50. The 51 named leads: 10 Arusha-area offices and 25 offices outside the catchment placed; 12 have only a town or country; 4 not found. Deep crawl figures are from the research playbook (crawl of 11 October 2026).</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Stale counts in Silverleaf Core Segments - 2026-10-11.md: 716 companies (now 1,118), 444 welfare in scope (445), 150 government offices (228, after 80 villages were added by the gap census). Ready for review today: 752 companies, 16 introducers, 1 savings group, 86 welfare drafts, 4 pilot council letters.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and other companies' (152 in the Corporate employers segment) is split by organisation subtype as in the pipeline draft: banks and other companies 87, manufacturing 19, retail 17, farms and estates 14, international organisations 10, aviation 5. Savings groups are counted separately (117). Public bodies are approached only through HR, after a compliance check.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Government wave counts today differ from the Core Segments document (55 / 33 / 31 / 12 for wards) and the pipeline draft (57 / 35 / 32 / 5): ward points were refined on 11 October. Decision-makers: the council director (DED), the District or Regional Commissioner, the ward or village executive officer; education, community development and social welfare officers are quick-decision contacts. Names go on the delivery list, never in the letter.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no-email company figure (569) includes 116 savings groups and 453 companies. The Core Segments document's 'no email 229' for employers predates the gap census, which added 404 employers, most of them without a published route. Each Resend contact's confidence_reason says what would promote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6 October the export had 255 high rows (companies 192, introducers 11, welfare 52) with no direct/indirect split, so the chart shows that date as text only. Only 8 of 1,118 company plans record an escalation contact so far (pipeline draft conflict 11).</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Case by band: companies high-direct A 36; high-indirect B 228; medium C 332, B 15, A 2; low C 48, B 3, A 2. Introducers high-direct A 4; high-indirect B 8; medium C 4. Welfare high-direct A 11, B 5; high-indirect B 57, A 1; medium B 3, C 7; low B 89, A 7, C 32. The pipeline draft's section 4 table (34 / 221 / 360 ...) is from the evening of 11 October and is superseded by these counts.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Register status: Finance confirms that each term applies to the 2027 school year before any message that states it is sent (2027 enrolment plan tasks A1 and A2). OF05 referral package has expired; no referral rewards until a 2027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8d1688d4ee064f44"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50918ad14f994acd" Type="http://schemas.openxmlformats.org/officeDocument/2006/relationships/slideLayout" Target="../slideLayouts/slideLayout1.xml"/><Relationship Id="R74cd2e922e854c38" Type="http://schemas.openxmlformats.org/officeDocument/2006/relationships/theme" Target="theme/theme2.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50918ad14f994acd"/>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5.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 Id="rId4"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xml"/><Relationship Id="rId3" Type="http://schemas.openxmlformats.org/officeDocument/2006/relationships/image" Target="../media/image3.png"/><Relationship Id="rId4"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 Id="rId4" Type="http://schemas.openxmlformats.org/officeDocument/2006/relationships/notesSlide" Target="../notesSlides/notesSlide1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20-%20Draft.html"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20-%20Draft.html"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maps/Silverleaf%20Lead%20Map.html" TargetMode="External"/><Relationship Id="rId3" Type="http://schemas.openxmlformats.org/officeDocument/2006/relationships/hyperlink" Target="../strategy/Silverleaf%20Partnership%20Pipelines%20-%20Draft.html" TargetMode="External"/><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 Id="rId6" Type="http://schemas.openxmlformats.org/officeDocument/2006/relationships/hyperlink" Target="file:///C:/Work/silverleaf-agentic-marketing/outputs/strategy/Silverleaf%20Partnership%20Pipelines%20-%20Draft.html"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20-%20Draft.html"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a:solidFill>
                  <a:srgbClr val="FFFFFF"/>
                </a:solidFill>
                <a:latin typeface="Arial"/>
              </a:rPr>
              <a:t>Partnership Lead</a:t>
            </a:r>
          </a:p>
          <a:p>
            <a:pPr algn="l"/>
            <a:r>
              <a:rPr sz="5200" b="1" i="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Data as of 12 October 2026  ·  nothing is sent from the repository</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the gaps, and how 1,924 leads were collected</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05</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11</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offers, hooks, calls and the fallout thread</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one funnel per subsegment group, what follows the offer, and the decisions awaiting you</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27</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and an appendix of sources with the dates the data was taken.</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this deck's outline</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 on 12 October</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1</a:t>
            </a:r>
          </a:p>
        </p:txBody>
      </p:sp>
      <p:sp>
        <p:nvSpPr>
          <p:cNvPr id="22" name="TextBox 21"/>
          <p:cNvSpPr txBox="1"/>
          <p:nvPr/>
        </p:nvSpPr>
        <p:spPr>
          <a:xfrm>
            <a:off x="6949440" y="1371600"/>
            <a:ext cx="4663440" cy="292608"/>
          </a:xfrm>
          <a:prstGeom prst="rect">
            <a:avLst/>
          </a:prstGeom>
          <a:noFill/>
        </p:spPr>
        <p:txBody>
          <a:bodyPr wrap="square" lIns="0" tIns="0" rIns="0" bIns="0" anchor="t">
            <a:spAutoFit/>
          </a:bodyPr>
          <a:lstStyle/>
          <a:p>
            <a:pPr algn="l"/>
            <a:r>
              <a:rPr sz="1300" b="1" i="0">
                <a:solidFill>
                  <a:srgbClr val="002368"/>
                </a:solidFill>
                <a:latin typeface="Arial"/>
              </a:rPr>
              <a:t>On the map</a:t>
            </a:r>
          </a:p>
        </p:txBody>
      </p:sp>
      <p:sp>
        <p:nvSpPr>
          <p:cNvPr id="23" name="TextBox 22"/>
          <p:cNvSpPr txBox="1"/>
          <p:nvPr/>
        </p:nvSpPr>
        <p:spPr>
          <a:xfrm>
            <a:off x="6949440" y="1682496"/>
            <a:ext cx="4663440" cy="822960"/>
          </a:xfrm>
          <a:prstGeom prst="rect">
            <a:avLst/>
          </a:prstGeom>
          <a:noFill/>
        </p:spPr>
        <p:txBody>
          <a:bodyPr wrap="square" lIns="0" tIns="0" rIns="0" bIns="0" anchor="t">
            <a:spAutoFit/>
          </a:bodyPr>
          <a:lstStyle/>
          <a:p>
            <a:pPr algn="l"/>
            <a:r>
              <a:rPr sz="11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257860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2</a:t>
            </a:r>
          </a:p>
        </p:txBody>
      </p:sp>
      <p:sp>
        <p:nvSpPr>
          <p:cNvPr id="25" name="TextBox 24"/>
          <p:cNvSpPr txBox="1"/>
          <p:nvPr/>
        </p:nvSpPr>
        <p:spPr>
          <a:xfrm>
            <a:off x="6949440" y="2532888"/>
            <a:ext cx="4663440" cy="292608"/>
          </a:xfrm>
          <a:prstGeom prst="rect">
            <a:avLst/>
          </a:prstGeom>
          <a:noFill/>
        </p:spPr>
        <p:txBody>
          <a:bodyPr wrap="square" lIns="0" tIns="0" rIns="0" bIns="0" anchor="t">
            <a:spAutoFit/>
          </a:bodyPr>
          <a:lstStyle/>
          <a:p>
            <a:pPr algn="l"/>
            <a:r>
              <a:rPr sz="1300" b="1" i="0">
                <a:solidFill>
                  <a:srgbClr val="002368"/>
                </a:solidFill>
                <a:latin typeface="Arial"/>
              </a:rPr>
              <a:t>Reach</a:t>
            </a:r>
          </a:p>
        </p:txBody>
      </p:sp>
      <p:sp>
        <p:nvSpPr>
          <p:cNvPr id="26" name="TextBox 25"/>
          <p:cNvSpPr txBox="1"/>
          <p:nvPr/>
        </p:nvSpPr>
        <p:spPr>
          <a:xfrm>
            <a:off x="6949440" y="2843784"/>
            <a:ext cx="4663440" cy="822960"/>
          </a:xfrm>
          <a:prstGeom prst="rect">
            <a:avLst/>
          </a:prstGeom>
          <a:noFill/>
        </p:spPr>
        <p:txBody>
          <a:bodyPr wrap="square" lIns="0" tIns="0" rIns="0" bIns="0" anchor="t">
            <a:spAutoFit/>
          </a:bodyPr>
          <a:lstStyle/>
          <a:p>
            <a:pPr algn="l"/>
            <a:r>
              <a:rPr sz="1100" b="0" i="0">
                <a:solidFill>
                  <a:srgbClr val="000000"/>
                </a:solidFill>
                <a:latin typeface="Arial"/>
              </a:rPr>
              <a:t>345 email routes are high confidence: 54 to the decision-maker's own or role inbox, 291 to a general inbox addressed to them. High-direct grew from 41 to 54 since 10 October.</a:t>
            </a:r>
          </a:p>
        </p:txBody>
      </p:sp>
      <p:sp>
        <p:nvSpPr>
          <p:cNvPr id="27" name="Hexagon 26"/>
          <p:cNvSpPr/>
          <p:nvPr/>
        </p:nvSpPr>
        <p:spPr>
          <a:xfrm>
            <a:off x="6355080" y="3739896"/>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3</a:t>
            </a:r>
          </a:p>
        </p:txBody>
      </p:sp>
      <p:sp>
        <p:nvSpPr>
          <p:cNvPr id="28" name="TextBox 27"/>
          <p:cNvSpPr txBox="1"/>
          <p:nvPr/>
        </p:nvSpPr>
        <p:spPr>
          <a:xfrm>
            <a:off x="6949440" y="3694176"/>
            <a:ext cx="4663440" cy="292608"/>
          </a:xfrm>
          <a:prstGeom prst="rect">
            <a:avLst/>
          </a:prstGeom>
          <a:noFill/>
        </p:spPr>
        <p:txBody>
          <a:bodyPr wrap="square" lIns="0" tIns="0" rIns="0" bIns="0" anchor="t">
            <a:spAutoFit/>
          </a:bodyPr>
          <a:lstStyle/>
          <a:p>
            <a:pPr algn="l"/>
            <a:r>
              <a:rPr sz="1300" b="1" i="0">
                <a:solidFill>
                  <a:srgbClr val="002368"/>
                </a:solidFill>
                <a:latin typeface="Arial"/>
              </a:rPr>
              <a:t>Drafts</a:t>
            </a:r>
          </a:p>
        </p:txBody>
      </p:sp>
      <p:sp>
        <p:nvSpPr>
          <p:cNvPr id="29" name="TextBox 28"/>
          <p:cNvSpPr txBox="1"/>
          <p:nvPr/>
        </p:nvSpPr>
        <p:spPr>
          <a:xfrm>
            <a:off x="6949440" y="4005072"/>
            <a:ext cx="4663440" cy="822960"/>
          </a:xfrm>
          <a:prstGeom prst="rect">
            <a:avLst/>
          </a:prstGeom>
          <a:noFill/>
        </p:spPr>
        <p:txBody>
          <a:bodyPr wrap="square" lIns="0" tIns="0" rIns="0" bIns="0" anchor="t">
            <a:spAutoFit/>
          </a:bodyPr>
          <a:lstStyle/>
          <a:p>
            <a:pPr algn="l"/>
            <a:r>
              <a:rPr sz="1100" b="0" i="0">
                <a:solidFill>
                  <a:srgbClr val="000000"/>
                </a:solidFill>
                <a:latin typeface="Arial"/>
              </a:rPr>
              <a:t>Email first touches: 63 direct (case A), 408 Attn (case B), 423 redirect requests (case C). 802 leads have no email and go on the call sheets; 228 government letters go by hand.</a:t>
            </a:r>
          </a:p>
        </p:txBody>
      </p:sp>
      <p:sp>
        <p:nvSpPr>
          <p:cNvPr id="30" name="Hexagon 29"/>
          <p:cNvSpPr/>
          <p:nvPr/>
        </p:nvSpPr>
        <p:spPr>
          <a:xfrm>
            <a:off x="6355080" y="490118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4</a:t>
            </a:r>
          </a:p>
        </p:txBody>
      </p:sp>
      <p:sp>
        <p:nvSpPr>
          <p:cNvPr id="31" name="TextBox 30"/>
          <p:cNvSpPr txBox="1"/>
          <p:nvPr/>
        </p:nvSpPr>
        <p:spPr>
          <a:xfrm>
            <a:off x="6949440" y="4855464"/>
            <a:ext cx="4663440" cy="292608"/>
          </a:xfrm>
          <a:prstGeom prst="rect">
            <a:avLst/>
          </a:prstGeom>
          <a:noFill/>
        </p:spPr>
        <p:txBody>
          <a:bodyPr wrap="square" lIns="0" tIns="0" rIns="0" bIns="0" anchor="t">
            <a:spAutoFit/>
          </a:bodyPr>
          <a:lstStyle/>
          <a:p>
            <a:pPr algn="l"/>
            <a:r>
              <a:rPr sz="1300" b="1" i="0">
                <a:solidFill>
                  <a:srgbClr val="002368"/>
                </a:solidFill>
                <a:latin typeface="Arial"/>
              </a:rPr>
              <a:t>Decisions</a:t>
            </a:r>
          </a:p>
        </p:txBody>
      </p:sp>
      <p:sp>
        <p:nvSpPr>
          <p:cNvPr id="32" name="TextBox 31"/>
          <p:cNvSpPr txBox="1"/>
          <p:nvPr/>
        </p:nvSpPr>
        <p:spPr>
          <a:xfrm>
            <a:off x="6949440" y="5166360"/>
            <a:ext cx="4663440" cy="822960"/>
          </a:xfrm>
          <a:prstGeom prst="rect">
            <a:avLst/>
          </a:prstGeom>
          <a:noFill/>
        </p:spPr>
        <p:txBody>
          <a:bodyPr wrap="square" lIns="0" tIns="0" rIns="0" bIns="0" anchor="t">
            <a:spAutoFit/>
          </a:bodyPr>
          <a:lstStyle/>
          <a:p>
            <a:pPr algn="l"/>
            <a:r>
              <a:rPr sz="1100" b="0" i="0">
                <a:solidFill>
                  <a:srgbClr val="000000"/>
                </a:solidFill>
                <a:latin typeface="Arial"/>
              </a:rPr>
              <a:t>The partnership pipeline is a draft awaiting your approval: 22 open questions, each with a recommendation. Nothing is sent from the repository; a person sends.</a:t>
            </a:r>
          </a:p>
        </p:txBody>
      </p:sp>
      <p:pic>
        <p:nvPicPr>
          <p:cNvPr id="33" name="Picture 32" descr="image3.png"/>
          <p:cNvPicPr>
            <a:picLocks noChangeAspect="1"/>
          </p:cNvPicPr>
          <p:nvPr/>
        </p:nvPicPr>
        <p:blipFill>
          <a:blip r:embed="rId2"/>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read-only copies of the master, welfare and government databases, 12 October 2026; Resend Segments 2026-10-10 and 2026-10-12</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01</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ONE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Catchment and lead capture</a:t>
            </a:r>
          </a:p>
        </p:txBody>
      </p:sp>
      <p:sp>
        <p:nvSpPr>
          <p:cNvPr id="6" name="TextBox 5"/>
          <p:cNvSpPr txBox="1"/>
          <p:nvPr/>
        </p:nvSpPr>
        <p:spPr>
          <a:xfrm>
            <a:off x="640080" y="4114800"/>
            <a:ext cx="5760720" cy="640080"/>
          </a:xfrm>
          <a:prstGeom prst="rect">
            <a:avLst/>
          </a:prstGeom>
          <a:noFill/>
        </p:spPr>
        <p:txBody>
          <a:bodyPr wrap="square" lIns="0" tIns="0" rIns="0" bIns="0" anchor="t">
            <a:spAutoFit/>
          </a:bodyPr>
          <a:lstStyle/>
          <a:p>
            <a:pPr algn="l"/>
            <a:r>
              <a:rPr sz="1600" b="0" i="0">
                <a:solidFill>
                  <a:srgbClr val="80BFEC"/>
                </a:solidFill>
                <a:latin typeface="Georgia"/>
              </a:rPr>
              <a:t>How close is close enough, and where the leads came from.</a:t>
            </a:r>
          </a:p>
        </p:txBody>
      </p:sp>
      <p:sp>
        <p:nvSpPr>
          <p:cNvPr id="7" name="TextBox 6"/>
          <p:cNvSpPr txBox="1"/>
          <p:nvPr/>
        </p:nvSpPr>
        <p:spPr>
          <a:xfrm>
            <a:off x="640080" y="4892040"/>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Five campuses and the 25 km line</a:t>
            </a:r>
          </a:p>
          <a:p>
            <a:pPr algn="l" marL="155448" indent="-155448">
              <a:spcAft>
                <a:spcPts val="400"/>
              </a:spcAft>
              <a:buFont typeface="Arial"/>
              <a:buChar char="•"/>
            </a:pPr>
            <a:r>
              <a:rPr sz="1100" b="0" i="0">
                <a:solidFill>
                  <a:srgbClr val="FFFFFF"/>
                </a:solidFill>
                <a:latin typeface="Arial"/>
              </a:rPr>
              <a:t>Distance bands, segment by segment</a:t>
            </a:r>
          </a:p>
          <a:p>
            <a:pPr algn="l" marL="155448" indent="-155448">
              <a:spcAft>
                <a:spcPts val="400"/>
              </a:spcAft>
              <a:buFont typeface="Arial"/>
              <a:buChar char="•"/>
            </a:pPr>
            <a:r>
              <a:rPr sz="1100" b="0" i="0">
                <a:solidFill>
                  <a:srgbClr val="FFFFFF"/>
                </a:solidFill>
                <a:latin typeface="Arial"/>
              </a:rPr>
              <a:t>Corrections never remove a lead</a:t>
            </a:r>
          </a:p>
          <a:p>
            <a:pPr algn="l" marL="155448" indent="-155448">
              <a:spcAft>
                <a:spcPts val="400"/>
              </a:spcAft>
              <a:buFont typeface="Arial"/>
              <a:buChar char="•"/>
            </a:pPr>
            <a:r>
              <a:rPr sz="1100" b="0" i="0">
                <a:solidFill>
                  <a:srgbClr val="FFFFFF"/>
                </a:solidFill>
                <a:latin typeface="Arial"/>
              </a:rPr>
              <a:t>Gaps and take-aways for the Silverleaf team</a:t>
            </a:r>
          </a:p>
          <a:p>
            <a:pPr algn="l" marL="155448" indent="-155448">
              <a:spcAft>
                <a:spcPts val="400"/>
              </a:spcAft>
              <a:buFont typeface="Arial"/>
              <a:buChar char="•"/>
            </a:pPr>
            <a:r>
              <a:rPr sz="1100" b="0" i="0">
                <a:solidFill>
                  <a:srgbClr val="FFFFFF"/>
                </a:solidFill>
                <a:latin typeface="Arial"/>
              </a:rPr>
              <a:t>How the leads were captured</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2"/>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rtlCol="0" anchor="ctr" wrap="square" lIns="0" tIns="0" rIns="0" bIns="0"/>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rtlCol="0" anchor="ctr" wrap="square" lIns="0" tIns="0" rIns="0" bIns="0"/>
          <a:lstStyle/>
          <a:p>
            <a:pPr algn="ctr"/>
            <a:r>
              <a:rPr sz="900" b="1" i="0">
                <a:solidFill>
                  <a:srgbClr val="FFFFFF"/>
                </a:solidFill>
                <a:latin typeface="Arial"/>
              </a:rPr>
              <a:t/>
            </a: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point is the map pin on the campus's own page of silverleaf.co.tz, read 11 October 2026, and stored in the master's campuses table.</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3"/>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- 2026-10-11, §1; campuses table; lead points from the lead map page (organisations only, no names drawn)</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Straight-line distance to the nearest campus sorts every lead into one of six bands. Each segment applies the line differently.</a:t>
            </a:r>
          </a:p>
        </p:txBody>
      </p:sp>
      <p:sp>
        <p:nvSpPr>
          <p:cNvPr id="5" name="Rounded Rectangle 4"/>
          <p:cNvSpPr/>
          <p:nvPr/>
        </p:nvSpPr>
        <p:spPr>
          <a:xfrm>
            <a:off x="548640" y="1828800"/>
            <a:ext cx="1737360" cy="960120"/>
          </a:xfrm>
          <a:prstGeom prst="roundRect">
            <a:avLst>
              <a:gd name="adj" fmla="val 6666"/>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685800"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0–5 km</a:t>
            </a:r>
          </a:p>
        </p:txBody>
      </p:sp>
      <p:sp>
        <p:nvSpPr>
          <p:cNvPr id="7" name="TextBox 6"/>
          <p:cNvSpPr txBox="1"/>
          <p:nvPr/>
        </p:nvSpPr>
        <p:spPr>
          <a:xfrm>
            <a:off x="685800"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First wave everywhere: a daily commute</a:t>
            </a:r>
          </a:p>
        </p:txBody>
      </p:sp>
      <p:sp>
        <p:nvSpPr>
          <p:cNvPr id="8" name="Rounded Rectangle 7"/>
          <p:cNvSpPr/>
          <p:nvPr/>
        </p:nvSpPr>
        <p:spPr>
          <a:xfrm>
            <a:off x="2414016" y="1828800"/>
            <a:ext cx="1737360" cy="960120"/>
          </a:xfrm>
          <a:prstGeom prst="roundRect">
            <a:avLst>
              <a:gd name="adj" fmla="val 6666"/>
            </a:avLst>
          </a:prstGeom>
          <a:solidFill>
            <a:srgbClr val="1C4A8A"/>
          </a:solidFill>
          <a:ln w="12700">
            <a:solidFill>
              <a:srgbClr val="1C4A8A"/>
            </a:solidFill>
          </a:ln>
        </p:spPr>
        <p:txBody>
          <a:bodyPr rtlCol="0" anchor="ctr"/>
          <a:lstStyle/>
          <a:p>
            <a:pPr algn="ctr"/>
          </a:p>
        </p:txBody>
      </p:sp>
      <p:sp>
        <p:nvSpPr>
          <p:cNvPr id="9" name="TextBox 8"/>
          <p:cNvSpPr txBox="1"/>
          <p:nvPr/>
        </p:nvSpPr>
        <p:spPr>
          <a:xfrm>
            <a:off x="2551176"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6–10 km</a:t>
            </a:r>
          </a:p>
        </p:txBody>
      </p:sp>
      <p:sp>
        <p:nvSpPr>
          <p:cNvPr id="10" name="TextBox 9"/>
          <p:cNvSpPr txBox="1"/>
          <p:nvPr/>
        </p:nvSpPr>
        <p:spPr>
          <a:xfrm>
            <a:off x="2551176"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Still close: first wave for employers and wards</a:t>
            </a:r>
          </a:p>
        </p:txBody>
      </p:sp>
      <p:sp>
        <p:nvSpPr>
          <p:cNvPr id="11" name="Rounded Rectangle 10"/>
          <p:cNvSpPr/>
          <p:nvPr/>
        </p:nvSpPr>
        <p:spPr>
          <a:xfrm>
            <a:off x="4279392" y="1828800"/>
            <a:ext cx="1737360" cy="960120"/>
          </a:xfrm>
          <a:prstGeom prst="roundRect">
            <a:avLst>
              <a:gd name="adj" fmla="val 6666"/>
            </a:avLst>
          </a:prstGeom>
          <a:solidFill>
            <a:srgbClr val="3E7BBE"/>
          </a:solidFill>
          <a:ln w="12700">
            <a:solidFill>
              <a:srgbClr val="3E7BBE"/>
            </a:solidFill>
          </a:ln>
        </p:spPr>
        <p:txBody>
          <a:bodyPr rtlCol="0" anchor="ctr"/>
          <a:lstStyle/>
          <a:p>
            <a:pPr algn="ctr"/>
          </a:p>
        </p:txBody>
      </p:sp>
      <p:sp>
        <p:nvSpPr>
          <p:cNvPr id="12" name="TextBox 11"/>
          <p:cNvSpPr txBox="1"/>
          <p:nvPr/>
        </p:nvSpPr>
        <p:spPr>
          <a:xfrm>
            <a:off x="4416552" y="1920240"/>
            <a:ext cx="1508760" cy="329184"/>
          </a:xfrm>
          <a:prstGeom prst="rect">
            <a:avLst/>
          </a:prstGeom>
          <a:noFill/>
        </p:spPr>
        <p:txBody>
          <a:bodyPr wrap="square" lIns="0" tIns="0" rIns="0" bIns="0" anchor="t">
            <a:spAutoFit/>
          </a:bodyPr>
          <a:lstStyle/>
          <a:p>
            <a:pPr algn="l"/>
            <a:r>
              <a:rPr sz="1400" b="1" i="0">
                <a:solidFill>
                  <a:srgbClr val="FFFFFF"/>
                </a:solidFill>
                <a:latin typeface="Arial"/>
              </a:rPr>
              <a:t>11–15 km</a:t>
            </a:r>
          </a:p>
        </p:txBody>
      </p:sp>
      <p:sp>
        <p:nvSpPr>
          <p:cNvPr id="13" name="TextBox 12"/>
          <p:cNvSpPr txBox="1"/>
          <p:nvPr/>
        </p:nvSpPr>
        <p:spPr>
          <a:xfrm>
            <a:off x="4416552" y="2240280"/>
            <a:ext cx="1508760" cy="502920"/>
          </a:xfrm>
          <a:prstGeom prst="rect">
            <a:avLst/>
          </a:prstGeom>
          <a:noFill/>
        </p:spPr>
        <p:txBody>
          <a:bodyPr wrap="square" lIns="0" tIns="0" rIns="0" bIns="0" anchor="t">
            <a:spAutoFit/>
          </a:bodyPr>
          <a:lstStyle/>
          <a:p>
            <a:pPr algn="l"/>
            <a:r>
              <a:rPr sz="950" b="0" i="0">
                <a:solidFill>
                  <a:srgbClr val="FFFFFF"/>
                </a:solidFill>
                <a:latin typeface="Arial"/>
              </a:rPr>
              <a:t>Reachable with school transport</a:t>
            </a:r>
          </a:p>
        </p:txBody>
      </p:sp>
      <p:sp>
        <p:nvSpPr>
          <p:cNvPr id="14" name="Rounded Rectangle 13"/>
          <p:cNvSpPr/>
          <p:nvPr/>
        </p:nvSpPr>
        <p:spPr>
          <a:xfrm>
            <a:off x="6144768" y="1828800"/>
            <a:ext cx="1737360" cy="960120"/>
          </a:xfrm>
          <a:prstGeom prst="roundRect">
            <a:avLst>
              <a:gd name="adj" fmla="val 6666"/>
            </a:avLst>
          </a:prstGeom>
          <a:solidFill>
            <a:srgbClr val="80BFEC"/>
          </a:solidFill>
          <a:ln w="12700">
            <a:solidFill>
              <a:srgbClr val="80BFEC"/>
            </a:solidFill>
          </a:ln>
        </p:spPr>
        <p:txBody>
          <a:bodyPr rtlCol="0" anchor="ctr"/>
          <a:lstStyle/>
          <a:p>
            <a:pPr algn="ctr"/>
          </a:p>
        </p:txBody>
      </p:sp>
      <p:sp>
        <p:nvSpPr>
          <p:cNvPr id="15" name="TextBox 14"/>
          <p:cNvSpPr txBox="1"/>
          <p:nvPr/>
        </p:nvSpPr>
        <p:spPr>
          <a:xfrm>
            <a:off x="6281928"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16–20 km</a:t>
            </a:r>
          </a:p>
        </p:txBody>
      </p:sp>
      <p:sp>
        <p:nvSpPr>
          <p:cNvPr id="16" name="TextBox 15"/>
          <p:cNvSpPr txBox="1"/>
          <p:nvPr/>
        </p:nvSpPr>
        <p:spPr>
          <a:xfrm>
            <a:off x="6281928"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Transport; a later wave for wards</a:t>
            </a:r>
          </a:p>
        </p:txBody>
      </p:sp>
      <p:sp>
        <p:nvSpPr>
          <p:cNvPr id="17" name="Rounded Rectangle 16"/>
          <p:cNvSpPr/>
          <p:nvPr/>
        </p:nvSpPr>
        <p:spPr>
          <a:xfrm>
            <a:off x="8010144" y="1828800"/>
            <a:ext cx="1737360" cy="960120"/>
          </a:xfrm>
          <a:prstGeom prst="roundRect">
            <a:avLst>
              <a:gd name="adj" fmla="val 6666"/>
            </a:avLst>
          </a:prstGeom>
          <a:solidFill>
            <a:srgbClr val="D9ECF9"/>
          </a:solidFill>
          <a:ln w="12700">
            <a:solidFill>
              <a:srgbClr val="D9ECF9"/>
            </a:solidFill>
          </a:ln>
        </p:spPr>
        <p:txBody>
          <a:bodyPr rtlCol="0" anchor="ctr"/>
          <a:lstStyle/>
          <a:p>
            <a:pPr algn="ctr"/>
          </a:p>
        </p:txBody>
      </p:sp>
      <p:sp>
        <p:nvSpPr>
          <p:cNvPr id="18" name="TextBox 17"/>
          <p:cNvSpPr txBox="1"/>
          <p:nvPr/>
        </p:nvSpPr>
        <p:spPr>
          <a:xfrm>
            <a:off x="8147304"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21–25 km</a:t>
            </a:r>
          </a:p>
        </p:txBody>
      </p:sp>
      <p:sp>
        <p:nvSpPr>
          <p:cNvPr id="19" name="TextBox 18"/>
          <p:cNvSpPr txBox="1"/>
          <p:nvPr/>
        </p:nvSpPr>
        <p:spPr>
          <a:xfrm>
            <a:off x="8147304"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Edge of the transport area; lowest priority</a:t>
            </a:r>
          </a:p>
        </p:txBody>
      </p:sp>
      <p:sp>
        <p:nvSpPr>
          <p:cNvPr id="20" name="Rounded Rectangle 19"/>
          <p:cNvSpPr/>
          <p:nvPr/>
        </p:nvSpPr>
        <p:spPr>
          <a:xfrm>
            <a:off x="9875519" y="1828800"/>
            <a:ext cx="1737360" cy="960120"/>
          </a:xfrm>
          <a:prstGeom prst="roundRect">
            <a:avLst>
              <a:gd name="adj" fmla="val 6666"/>
            </a:avLst>
          </a:prstGeom>
          <a:solidFill>
            <a:srgbClr val="ECECEC"/>
          </a:solidFill>
          <a:ln w="12700">
            <a:solidFill>
              <a:srgbClr val="ECECEC"/>
            </a:solidFill>
          </a:ln>
        </p:spPr>
        <p:txBody>
          <a:bodyPr rtlCol="0" anchor="ctr"/>
          <a:lstStyle/>
          <a:p>
            <a:pPr algn="ctr"/>
          </a:p>
        </p:txBody>
      </p:sp>
      <p:sp>
        <p:nvSpPr>
          <p:cNvPr id="21" name="TextBox 20"/>
          <p:cNvSpPr txBox="1"/>
          <p:nvPr/>
        </p:nvSpPr>
        <p:spPr>
          <a:xfrm>
            <a:off x="10012680" y="1920240"/>
            <a:ext cx="1508760" cy="329184"/>
          </a:xfrm>
          <a:prstGeom prst="rect">
            <a:avLst/>
          </a:prstGeom>
          <a:noFill/>
        </p:spPr>
        <p:txBody>
          <a:bodyPr wrap="square" lIns="0" tIns="0" rIns="0" bIns="0" anchor="t">
            <a:spAutoFit/>
          </a:bodyPr>
          <a:lstStyle/>
          <a:p>
            <a:pPr algn="l"/>
            <a:r>
              <a:rPr sz="1400" b="1" i="0">
                <a:solidFill>
                  <a:srgbClr val="002368"/>
                </a:solidFill>
                <a:latin typeface="Arial"/>
              </a:rPr>
              <a:t>Beyond 25 km</a:t>
            </a:r>
          </a:p>
        </p:txBody>
      </p:sp>
      <p:sp>
        <p:nvSpPr>
          <p:cNvPr id="22" name="TextBox 21"/>
          <p:cNvSpPr txBox="1"/>
          <p:nvPr/>
        </p:nvSpPr>
        <p:spPr>
          <a:xfrm>
            <a:off x="10012680" y="2240280"/>
            <a:ext cx="1508760" cy="502920"/>
          </a:xfrm>
          <a:prstGeom prst="rect">
            <a:avLst/>
          </a:prstGeom>
          <a:noFill/>
        </p:spPr>
        <p:txBody>
          <a:bodyPr wrap="square" lIns="0" tIns="0" rIns="0" bIns="0" anchor="t">
            <a:spAutoFit/>
          </a:bodyPr>
          <a:lstStyle/>
          <a:p>
            <a:pPr algn="l"/>
            <a:r>
              <a:rPr sz="950" b="0" i="0">
                <a:solidFill>
                  <a:srgbClr val="002368"/>
                </a:solidFill>
                <a:latin typeface="Arial"/>
              </a:rPr>
              <a:t>Outside the catchment</a:t>
            </a:r>
          </a:p>
        </p:txBody>
      </p:sp>
      <p:sp>
        <p:nvSpPr>
          <p:cNvPr id="23" name="Rounded Rectangle 22"/>
          <p:cNvSpPr/>
          <p:nvPr/>
        </p:nvSpPr>
        <p:spPr>
          <a:xfrm>
            <a:off x="548640"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4" name="TextBox 23"/>
          <p:cNvSpPr txBox="1"/>
          <p:nvPr/>
        </p:nvSpPr>
        <p:spPr>
          <a:xfrm>
            <a:off x="777240"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Employers</a:t>
            </a:r>
          </a:p>
        </p:txBody>
      </p:sp>
      <p:sp>
        <p:nvSpPr>
          <p:cNvPr id="25" name="TextBox 24"/>
          <p:cNvSpPr txBox="1"/>
          <p:nvPr/>
        </p:nvSpPr>
        <p:spPr>
          <a:xfrm>
            <a:off x="777240"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Distance ranks, it never rules out: staff live in many places. Reach score +2 at 0–5 km, +1 at 6–10 km, −3 beyond 40 km. A business operating outside Arusha–Kilimanjaro is held (39 plans), sourced in employer-corrections.json.</a:t>
            </a:r>
          </a:p>
        </p:txBody>
      </p:sp>
      <p:sp>
        <p:nvSpPr>
          <p:cNvPr id="26" name="Rounded Rectangle 25"/>
          <p:cNvSpPr/>
          <p:nvPr/>
        </p:nvSpPr>
        <p:spPr>
          <a:xfrm>
            <a:off x="6190488" y="306324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27" name="TextBox 26"/>
          <p:cNvSpPr txBox="1"/>
          <p:nvPr/>
        </p:nvSpPr>
        <p:spPr>
          <a:xfrm>
            <a:off x="6419088" y="3200400"/>
            <a:ext cx="5029200" cy="274320"/>
          </a:xfrm>
          <a:prstGeom prst="rect">
            <a:avLst/>
          </a:prstGeom>
          <a:noFill/>
        </p:spPr>
        <p:txBody>
          <a:bodyPr wrap="square" lIns="0" tIns="0" rIns="0" bIns="0" anchor="t">
            <a:spAutoFit/>
          </a:bodyPr>
          <a:lstStyle/>
          <a:p>
            <a:pPr algn="l"/>
            <a:r>
              <a:rPr sz="1300" b="1" i="0">
                <a:solidFill>
                  <a:srgbClr val="002368"/>
                </a:solidFill>
                <a:latin typeface="Arial"/>
              </a:rPr>
              <a:t>Introducers</a:t>
            </a:r>
          </a:p>
        </p:txBody>
      </p:sp>
      <p:sp>
        <p:nvSpPr>
          <p:cNvPr id="28" name="TextBox 27"/>
          <p:cNvSpPr txBox="1"/>
          <p:nvPr/>
        </p:nvSpPr>
        <p:spPr>
          <a:xfrm>
            <a:off x="6419088" y="3502152"/>
            <a:ext cx="5029200" cy="868680"/>
          </a:xfrm>
          <a:prstGeom prst="rect">
            <a:avLst/>
          </a:prstGeom>
          <a:noFill/>
        </p:spPr>
        <p:txBody>
          <a:bodyPr wrap="square" lIns="0" tIns="0" rIns="0" bIns="0" anchor="t">
            <a:spAutoFit/>
          </a:bodyPr>
          <a:lstStyle/>
          <a:p>
            <a:pPr algn="l"/>
            <a:r>
              <a:rPr sz="1050" b="0" i="0">
                <a:solidFill>
                  <a:srgbClr val="000000"/>
                </a:solidFill>
                <a:latin typeface="Arial"/>
              </a:rPr>
              <a:t>No distance rule. A chamber or association is judged by how many members employ staff near the campuses, so national bodies are in scope.</a:t>
            </a:r>
          </a:p>
        </p:txBody>
      </p:sp>
      <p:sp>
        <p:nvSpPr>
          <p:cNvPr id="29" name="Rounded Rectangle 28"/>
          <p:cNvSpPr/>
          <p:nvPr/>
        </p:nvSpPr>
        <p:spPr>
          <a:xfrm>
            <a:off x="548640"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0" name="TextBox 29"/>
          <p:cNvSpPr txBox="1"/>
          <p:nvPr/>
        </p:nvSpPr>
        <p:spPr>
          <a:xfrm>
            <a:off x="777240"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Welfare</a:t>
            </a:r>
          </a:p>
        </p:txBody>
      </p:sp>
      <p:sp>
        <p:nvSpPr>
          <p:cNvPr id="31" name="TextBox 30"/>
          <p:cNvSpPr txBox="1"/>
          <p:nvPr/>
        </p:nvSpPr>
        <p:spPr>
          <a:xfrm>
            <a:off x="777240"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Homes, programmes and centres are held beyond 25 km or while the location is unresolved. A funder needs a verified link to a home within 25 km. Networks are exempt. Distance points 15 / 12 / 9 / 6 / 3 by band.</a:t>
            </a:r>
          </a:p>
        </p:txBody>
      </p:sp>
      <p:sp>
        <p:nvSpPr>
          <p:cNvPr id="32" name="Rounded Rectangle 31"/>
          <p:cNvSpPr/>
          <p:nvPr/>
        </p:nvSpPr>
        <p:spPr>
          <a:xfrm>
            <a:off x="6190488" y="4526280"/>
            <a:ext cx="5449824" cy="1325880"/>
          </a:xfrm>
          <a:prstGeom prst="roundRect">
            <a:avLst>
              <a:gd name="adj" fmla="val 4827"/>
            </a:avLst>
          </a:prstGeom>
          <a:solidFill>
            <a:srgbClr val="FFFFFF"/>
          </a:solidFill>
          <a:ln w="12700">
            <a:solidFill>
              <a:srgbClr val="D9ECF9"/>
            </a:solidFill>
          </a:ln>
        </p:spPr>
        <p:txBody>
          <a:bodyPr rtlCol="0" anchor="ctr"/>
          <a:lstStyle/>
          <a:p>
            <a:pPr algn="ctr"/>
          </a:p>
        </p:txBody>
      </p:sp>
      <p:sp>
        <p:nvSpPr>
          <p:cNvPr id="33" name="TextBox 32"/>
          <p:cNvSpPr txBox="1"/>
          <p:nvPr/>
        </p:nvSpPr>
        <p:spPr>
          <a:xfrm>
            <a:off x="6419088" y="4663440"/>
            <a:ext cx="5029200" cy="274320"/>
          </a:xfrm>
          <a:prstGeom prst="rect">
            <a:avLst/>
          </a:prstGeom>
          <a:noFill/>
        </p:spPr>
        <p:txBody>
          <a:bodyPr wrap="square" lIns="0" tIns="0" rIns="0" bIns="0" anchor="t">
            <a:spAutoFit/>
          </a:bodyPr>
          <a:lstStyle/>
          <a:p>
            <a:pPr algn="l"/>
            <a:r>
              <a:rPr sz="1300" b="1" i="0">
                <a:solidFill>
                  <a:srgbClr val="002368"/>
                </a:solidFill>
                <a:latin typeface="Arial"/>
              </a:rPr>
              <a:t>Government</a:t>
            </a:r>
          </a:p>
        </p:txBody>
      </p:sp>
      <p:sp>
        <p:nvSpPr>
          <p:cNvPr id="34" name="TextBox 33"/>
          <p:cNvSpPr txBox="1"/>
          <p:nvPr/>
        </p:nvSpPr>
        <p:spPr>
          <a:xfrm>
            <a:off x="6419088" y="4965192"/>
            <a:ext cx="5029200" cy="868680"/>
          </a:xfrm>
          <a:prstGeom prst="rect">
            <a:avLst/>
          </a:prstGeom>
          <a:noFill/>
        </p:spPr>
        <p:txBody>
          <a:bodyPr wrap="square" lIns="0" tIns="0" rIns="0" bIns="0" anchor="t">
            <a:spAutoFit/>
          </a:bodyPr>
          <a:lstStyle/>
          <a:p>
            <a:pPr algn="l"/>
            <a:r>
              <a:rPr sz="1050" b="0" i="0">
                <a:solidFill>
                  <a:srgbClr val="000000"/>
                </a:solidFill>
                <a:latin typeface="Arial"/>
              </a:rPr>
              <a:t>A ward is in scope when its reference point is within 25 km; transport score 25 × the average band weight to the nearest campus and the nearest primary campus. Wards within 10 km come first.</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- 2026-10-11, §2–§4; offer register (transport TZS 550,000–1,000,000 a year by distance; no route guaranteed)</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WHERE THE LEADS SIT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Most leads sit within 5 km of a campus</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DISTANCE BAND AND SEGMENT</a:t>
            </a:r>
          </a:p>
        </p:txBody>
      </p:sp>
      <p:graphicFrame>
        <p:nvGraphicFramePr>
          <p:cNvPr id="5" name="Chart 4"/>
          <p:cNvGraphicFramePr>
            <a:graphicFrameLocks noGrp="1"/>
          </p:cNvGraphicFramePr>
          <p:nvPr/>
        </p:nvGraphicFramePr>
        <p:xfrm>
          <a:off x="411480" y="1508760"/>
          <a:ext cx="6766560" cy="3749039"/>
        </p:xfrm>
        <a:graphic>
          <a:graphicData uri="http://schemas.openxmlformats.org/drawingml/2006/chart">
            <c:chart xmlns:c="http://schemas.openxmlformats.org/drawingml/2006/chart" r:id="rId2"/>
          </a:graphicData>
        </a:graphic>
      </p:graphicFrame>
      <p:sp>
        <p:nvSpPr>
          <p:cNvPr id="6" name="TextBox 5"/>
          <p:cNvSpPr txBox="1"/>
          <p:nvPr/>
        </p:nvSpPr>
        <p:spPr>
          <a:xfrm>
            <a:off x="548640" y="5349240"/>
            <a:ext cx="6583680" cy="548640"/>
          </a:xfrm>
          <a:prstGeom prst="rect">
            <a:avLst/>
          </a:prstGeom>
          <a:noFill/>
        </p:spPr>
        <p:txBody>
          <a:bodyPr wrap="square" lIns="0" tIns="0" rIns="0" bIns="0" anchor="t">
            <a:spAutoFit/>
          </a:bodyPr>
          <a:lstStyle/>
          <a:p>
            <a:pPr algn="l"/>
            <a:r>
              <a:rPr sz="1000" b="0" i="0">
                <a:solidFill>
                  <a:srgbClr val="818283"/>
                </a:solidFill>
                <a:latin typeface="Arial"/>
              </a:rPr>
              <a:t>Labels shown for 25 or more. 1,864 leads drawn; 1,805 within 25 km. The 21–25 km bulge is mostly Moshi, inside Boma Ng'ombe's circle. 60 leads have no usable point (30 of them funders abroad).</a:t>
            </a:r>
          </a:p>
        </p:txBody>
      </p:sp>
      <p:sp>
        <p:nvSpPr>
          <p:cNvPr id="7" name="Rounded Rectangle 6"/>
          <p:cNvSpPr/>
          <p:nvPr/>
        </p:nvSpPr>
        <p:spPr>
          <a:xfrm>
            <a:off x="7406640" y="1325880"/>
            <a:ext cx="4233672" cy="4617720"/>
          </a:xfrm>
          <a:prstGeom prst="roundRect">
            <a:avLst>
              <a:gd name="adj" fmla="val 1511"/>
            </a:avLst>
          </a:prstGeom>
          <a:solidFill>
            <a:srgbClr val="D9ECF9"/>
          </a:solidFill>
          <a:ln w="12700">
            <a:solidFill>
              <a:srgbClr val="D9ECF9"/>
            </a:solidFill>
          </a:ln>
        </p:spPr>
        <p:txBody>
          <a:bodyPr rtlCol="0" anchor="ctr"/>
          <a:lstStyle/>
          <a:p>
            <a:pPr algn="ctr"/>
          </a:p>
        </p:txBody>
      </p:sp>
      <p:pic>
        <p:nvPicPr>
          <p:cNvPr id="8" name="Picture 7" descr="image4.png"/>
          <p:cNvPicPr>
            <a:picLocks noChangeAspect="1"/>
          </p:cNvPicPr>
          <p:nvPr/>
        </p:nvPicPr>
        <p:blipFill>
          <a:blip r:embed="rId3"/>
          <a:stretch>
            <a:fillRect/>
          </a:stretch>
        </p:blipFill>
        <p:spPr>
          <a:xfrm>
            <a:off x="10744200" y="1508760"/>
            <a:ext cx="594360" cy="774469"/>
          </a:xfrm>
          <a:prstGeom prst="rect">
            <a:avLst/>
          </a:prstGeom>
        </p:spPr>
      </p:pic>
      <p:sp>
        <p:nvSpPr>
          <p:cNvPr id="9" name="TextBox 8"/>
          <p:cNvSpPr txBox="1"/>
          <p:nvPr/>
        </p:nvSpPr>
        <p:spPr>
          <a:xfrm>
            <a:off x="7680960" y="1554480"/>
            <a:ext cx="2926080" cy="822960"/>
          </a:xfrm>
          <a:prstGeom prst="rect">
            <a:avLst/>
          </a:prstGeom>
          <a:noFill/>
        </p:spPr>
        <p:txBody>
          <a:bodyPr wrap="square" lIns="0" tIns="0" rIns="0" bIns="0" anchor="t">
            <a:spAutoFit/>
          </a:bodyPr>
          <a:lstStyle/>
          <a:p>
            <a:pPr algn="l"/>
            <a:r>
              <a:rPr sz="2000" b="0" i="0">
                <a:solidFill>
                  <a:srgbClr val="002368"/>
                </a:solidFill>
                <a:latin typeface="Georgia"/>
              </a:rPr>
              <a:t>Corrections never remove a lead.</a:t>
            </a:r>
          </a:p>
        </p:txBody>
      </p:sp>
      <p:sp>
        <p:nvSpPr>
          <p:cNvPr id="10" name="TextBox 9"/>
          <p:cNvSpPr txBox="1"/>
          <p:nvPr/>
        </p:nvSpPr>
        <p:spPr>
          <a:xfrm>
            <a:off x="7680960" y="2450592"/>
            <a:ext cx="3749039" cy="685800"/>
          </a:xfrm>
          <a:prstGeom prst="rect">
            <a:avLst/>
          </a:prstGeom>
          <a:noFill/>
        </p:spPr>
        <p:txBody>
          <a:bodyPr wrap="square" lIns="0" tIns="0" rIns="0" bIns="0" anchor="t">
            <a:spAutoFit/>
          </a:bodyPr>
          <a:lstStyle/>
          <a:p>
            <a:pPr algn="l"/>
            <a:r>
              <a:rPr sz="1050" b="0" i="0">
                <a:solidFill>
                  <a:srgbClr val="000000"/>
                </a:solidFill>
                <a:latin typeface="Arial"/>
              </a:rPr>
              <a:t>When a campus pin is corrected, a lead may move nearer another campus, but a lead inside the catchment or its bands is never dropped (your decision, 11 October).</a:t>
            </a:r>
          </a:p>
        </p:txBody>
      </p:sp>
      <p:sp>
        <p:nvSpPr>
          <p:cNvPr id="11" name="TextBox 10"/>
          <p:cNvSpPr txBox="1"/>
          <p:nvPr/>
        </p:nvSpPr>
        <p:spPr>
          <a:xfrm>
            <a:off x="7680960" y="3310128"/>
            <a:ext cx="3749039" cy="237744"/>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2" name="TextBox 11"/>
          <p:cNvSpPr txBox="1"/>
          <p:nvPr/>
        </p:nvSpPr>
        <p:spPr>
          <a:xfrm>
            <a:off x="7680960" y="3557016"/>
            <a:ext cx="3749039" cy="594360"/>
          </a:xfrm>
          <a:prstGeom prst="rect">
            <a:avLst/>
          </a:prstGeom>
          <a:noFill/>
        </p:spPr>
        <p:txBody>
          <a:bodyPr wrap="square" lIns="0" tIns="0" rIns="0" bIns="0" anchor="t">
            <a:spAutoFit/>
          </a:bodyPr>
          <a:lstStyle/>
          <a:p>
            <a:pPr algn="l"/>
            <a:r>
              <a:rPr sz="1000" b="0" i="0">
                <a:solidFill>
                  <a:srgbClr val="000000"/>
                </a:solidFill>
                <a:latin typeface="Arial"/>
              </a:rPr>
              <a:t>None crossed 25 km outward; two moved inside (24.9 km); 19 now nearer a different campus.</a:t>
            </a:r>
          </a:p>
        </p:txBody>
      </p:sp>
      <p:sp>
        <p:nvSpPr>
          <p:cNvPr id="13" name="TextBox 12"/>
          <p:cNvSpPr txBox="1"/>
          <p:nvPr/>
        </p:nvSpPr>
        <p:spPr>
          <a:xfrm>
            <a:off x="7680960" y="4178808"/>
            <a:ext cx="3749039" cy="237744"/>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14" name="TextBox 13"/>
          <p:cNvSpPr txBox="1"/>
          <p:nvPr/>
        </p:nvSpPr>
        <p:spPr>
          <a:xfrm>
            <a:off x="7680960" y="4425696"/>
            <a:ext cx="3749039" cy="594360"/>
          </a:xfrm>
          <a:prstGeom prst="rect">
            <a:avLst/>
          </a:prstGeom>
          <a:noFill/>
        </p:spPr>
        <p:txBody>
          <a:bodyPr wrap="square" lIns="0" tIns="0" rIns="0" bIns="0" anchor="t">
            <a:spAutoFit/>
          </a:bodyPr>
          <a:lstStyle/>
          <a:p>
            <a:pPr algn="l"/>
            <a:r>
              <a:rPr sz="1000" b="0" i="0">
                <a:solidFill>
                  <a:srgbClr val="000000"/>
                </a:solidFill>
                <a:latin typeface="Arial"/>
              </a:rPr>
              <a:t>Gararagua ward moved 24.2 → 25.4 km and is kept through catchment_kept; Msaranga came into scope.</a:t>
            </a:r>
          </a:p>
        </p:txBody>
      </p:sp>
      <p:sp>
        <p:nvSpPr>
          <p:cNvPr id="15" name="TextBox 14"/>
          <p:cNvSpPr txBox="1"/>
          <p:nvPr/>
        </p:nvSpPr>
        <p:spPr>
          <a:xfrm>
            <a:off x="7680960" y="5047488"/>
            <a:ext cx="3749039" cy="237744"/>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6" name="TextBox 15"/>
          <p:cNvSpPr txBox="1"/>
          <p:nvPr/>
        </p:nvSpPr>
        <p:spPr>
          <a:xfrm>
            <a:off x="7680960" y="5294375"/>
            <a:ext cx="3749039" cy="594360"/>
          </a:xfrm>
          <a:prstGeom prst="rect">
            <a:avLst/>
          </a:prstGeom>
          <a:noFill/>
        </p:spPr>
        <p:txBody>
          <a:bodyPr wrap="square" lIns="0" tIns="0" rIns="0" bIns="0" anchor="t">
            <a:spAutoFit/>
          </a:bodyPr>
          <a:lstStyle/>
          <a:p>
            <a:pPr algn="l"/>
            <a:r>
              <a:rPr sz="1000" b="0" i="0">
                <a:solidFill>
                  <a:srgbClr val="000000"/>
                </a:solidFill>
                <a:latin typeface="Arial"/>
              </a:rPr>
              <a:t>Distance never removes a company. 51 now nearer another campus; 32 changed reach tier.</a:t>
            </a:r>
          </a:p>
        </p:txBody>
      </p:sp>
      <p:pic>
        <p:nvPicPr>
          <p:cNvPr id="17" name="Picture 16" descr="image3.png"/>
          <p:cNvPicPr>
            <a:picLocks noChangeAspect="1"/>
          </p:cNvPicPr>
          <p:nvPr/>
        </p:nvPicPr>
        <p:blipFill>
          <a:blip r:embed="rId4"/>
          <a:stretch>
            <a:fillRect/>
          </a:stretch>
        </p:blipFill>
        <p:spPr>
          <a:xfrm>
            <a:off x="548640" y="6272784"/>
            <a:ext cx="1143000" cy="274320"/>
          </a:xfrm>
          <a:prstGeom prst="rect">
            <a:avLst/>
          </a:prstGeom>
        </p:spPr>
      </p:pic>
      <p:sp>
        <p:nvSpPr>
          <p:cNvPr id="1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1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lead map page built 2026-10-12 (each lead's own point to the nearest campus); Catchment Criteria §5; campus-distance-recompute.json</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GAPS AND TAKE-AWAYS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Fix the Google Maps listings parents find</a:t>
            </a:r>
          </a:p>
        </p:txBody>
      </p:sp>
      <p:sp>
        <p:nvSpPr>
          <p:cNvPr id="4" name="Rounded Rectangle 3"/>
          <p:cNvSpPr/>
          <p:nvPr/>
        </p:nvSpPr>
        <p:spPr>
          <a:xfrm>
            <a:off x="548640" y="1325880"/>
            <a:ext cx="603504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68680" y="1554480"/>
            <a:ext cx="5486400" cy="274320"/>
          </a:xfrm>
          <a:prstGeom prst="rect">
            <a:avLst/>
          </a:prstGeom>
          <a:noFill/>
        </p:spPr>
        <p:txBody>
          <a:bodyPr wrap="square" lIns="0" tIns="0" rIns="0" bIns="0" anchor="t">
            <a:spAutoFit/>
          </a:bodyPr>
          <a:lstStyle/>
          <a:p>
            <a:pPr algn="l"/>
            <a:r>
              <a:rPr sz="900" b="1" i="0" spc="200">
                <a:solidFill>
                  <a:srgbClr val="80BFEC"/>
                </a:solidFill>
                <a:latin typeface="Arial"/>
              </a:rPr>
              <a:t>TAKE-AWAYS FOR THE SILVERLEAF TEAM</a:t>
            </a:r>
          </a:p>
        </p:txBody>
      </p:sp>
      <p:sp>
        <p:nvSpPr>
          <p:cNvPr id="6" name="TextBox 5"/>
          <p:cNvSpPr txBox="1"/>
          <p:nvPr/>
        </p:nvSpPr>
        <p:spPr>
          <a:xfrm>
            <a:off x="868680" y="1874519"/>
            <a:ext cx="5486400" cy="457200"/>
          </a:xfrm>
          <a:prstGeom prst="rect">
            <a:avLst/>
          </a:prstGeom>
          <a:noFill/>
        </p:spPr>
        <p:txBody>
          <a:bodyPr wrap="square" lIns="0" tIns="0" rIns="0" bIns="0" anchor="t">
            <a:spAutoFit/>
          </a:bodyPr>
          <a:lstStyle/>
          <a:p>
            <a:pPr algn="l"/>
            <a:r>
              <a:rPr sz="1500" b="0" i="0">
                <a:solidFill>
                  <a:srgbClr val="FFFFFF"/>
                </a:solidFill>
                <a:latin typeface="Georgia"/>
              </a:rPr>
              <a:t>For whoever manages Silverleaf's Google profile</a:t>
            </a:r>
          </a:p>
        </p:txBody>
      </p:sp>
      <p:sp>
        <p:nvSpPr>
          <p:cNvPr id="7" name="Hexagon 6"/>
          <p:cNvSpPr/>
          <p:nvPr/>
        </p:nvSpPr>
        <p:spPr>
          <a:xfrm>
            <a:off x="868680" y="2487168"/>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1</a:t>
            </a:r>
          </a:p>
        </p:txBody>
      </p:sp>
      <p:sp>
        <p:nvSpPr>
          <p:cNvPr id="8" name="TextBox 7"/>
          <p:cNvSpPr txBox="1"/>
          <p:nvPr/>
        </p:nvSpPr>
        <p:spPr>
          <a:xfrm>
            <a:off x="1371600" y="2468880"/>
            <a:ext cx="4983480" cy="256032"/>
          </a:xfrm>
          <a:prstGeom prst="rect">
            <a:avLst/>
          </a:prstGeom>
          <a:noFill/>
        </p:spPr>
        <p:txBody>
          <a:bodyPr wrap="square" lIns="0" tIns="0" rIns="0" bIns="0" anchor="t">
            <a:spAutoFit/>
          </a:bodyPr>
          <a:lstStyle/>
          <a:p>
            <a:pPr algn="l"/>
            <a:r>
              <a:rPr sz="1200" b="1" i="0">
                <a:solidFill>
                  <a:srgbClr val="FFFFFF"/>
                </a:solidFill>
                <a:latin typeface="Arial"/>
              </a:rPr>
              <a:t>Kijenge Campus is pinned about 70 km away</a:t>
            </a:r>
          </a:p>
        </p:txBody>
      </p:sp>
      <p:sp>
        <p:nvSpPr>
          <p:cNvPr id="9" name="TextBox 8"/>
          <p:cNvSpPr txBox="1"/>
          <p:nvPr/>
        </p:nvSpPr>
        <p:spPr>
          <a:xfrm>
            <a:off x="1371600" y="2743200"/>
            <a:ext cx="4983480" cy="548640"/>
          </a:xfrm>
          <a:prstGeom prst="rect">
            <a:avLst/>
          </a:prstGeom>
          <a:noFill/>
        </p:spPr>
        <p:txBody>
          <a:bodyPr wrap="square" lIns="0" tIns="0" rIns="0" bIns="0" anchor="t">
            <a:spAutoFit/>
          </a:bodyPr>
          <a:lstStyle/>
          <a:p>
            <a:pPr algn="l"/>
            <a:r>
              <a:rPr sz="1050" b="0" i="0">
                <a:solidFill>
                  <a:srgbClr val="D9ECF9"/>
                </a:solidFill>
                <a:latin typeface="Arial"/>
              </a:rPr>
              <a:t>Parents who search for it get wrong directions. Move the pin to the website's point.</a:t>
            </a:r>
          </a:p>
        </p:txBody>
      </p:sp>
      <p:sp>
        <p:nvSpPr>
          <p:cNvPr id="10" name="Hexagon 9"/>
          <p:cNvSpPr/>
          <p:nvPr/>
        </p:nvSpPr>
        <p:spPr>
          <a:xfrm>
            <a:off x="868680" y="3337560"/>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2</a:t>
            </a:r>
          </a:p>
        </p:txBody>
      </p:sp>
      <p:sp>
        <p:nvSpPr>
          <p:cNvPr id="11" name="TextBox 10"/>
          <p:cNvSpPr txBox="1"/>
          <p:nvPr/>
        </p:nvSpPr>
        <p:spPr>
          <a:xfrm>
            <a:off x="1371600" y="3319272"/>
            <a:ext cx="4983480" cy="256032"/>
          </a:xfrm>
          <a:prstGeom prst="rect">
            <a:avLst/>
          </a:prstGeom>
          <a:noFill/>
        </p:spPr>
        <p:txBody>
          <a:bodyPr wrap="square" lIns="0" tIns="0" rIns="0" bIns="0" anchor="t">
            <a:spAutoFit/>
          </a:bodyPr>
          <a:lstStyle/>
          <a:p>
            <a:pPr algn="l"/>
            <a:r>
              <a:rPr sz="1200" b="1" i="0">
                <a:solidFill>
                  <a:srgbClr val="FFFFFF"/>
                </a:solidFill>
                <a:latin typeface="Arial"/>
              </a:rPr>
              <a:t>Two listings match no campus</a:t>
            </a:r>
          </a:p>
        </p:txBody>
      </p:sp>
      <p:sp>
        <p:nvSpPr>
          <p:cNvPr id="12" name="TextBox 11"/>
          <p:cNvSpPr txBox="1"/>
          <p:nvPr/>
        </p:nvSpPr>
        <p:spPr>
          <a:xfrm>
            <a:off x="1371600" y="3593592"/>
            <a:ext cx="4983480" cy="548640"/>
          </a:xfrm>
          <a:prstGeom prst="rect">
            <a:avLst/>
          </a:prstGeom>
          <a:noFill/>
        </p:spPr>
        <p:txBody>
          <a:bodyPr wrap="square" lIns="0" tIns="0" rIns="0" bIns="0" anchor="t">
            <a:spAutoFit/>
          </a:bodyPr>
          <a:lstStyle/>
          <a:p>
            <a:pPr algn="l"/>
            <a:r>
              <a:rPr sz="1050" b="0" i="0">
                <a:solidFill>
                  <a:srgbClr val="D9ECF9"/>
                </a:solidFill>
                <a:latin typeface="Arial"/>
              </a:rPr>
              <a:t>"Silverleaf Primary School" near Usa River and "Silverleaf Academy Office" in Moshi: correct or remove them.</a:t>
            </a:r>
          </a:p>
        </p:txBody>
      </p:sp>
      <p:sp>
        <p:nvSpPr>
          <p:cNvPr id="13" name="Hexagon 12"/>
          <p:cNvSpPr/>
          <p:nvPr/>
        </p:nvSpPr>
        <p:spPr>
          <a:xfrm>
            <a:off x="868680" y="4187952"/>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3</a:t>
            </a:r>
          </a:p>
        </p:txBody>
      </p:sp>
      <p:sp>
        <p:nvSpPr>
          <p:cNvPr id="14" name="TextBox 13"/>
          <p:cNvSpPr txBox="1"/>
          <p:nvPr/>
        </p:nvSpPr>
        <p:spPr>
          <a:xfrm>
            <a:off x="1371600" y="4169664"/>
            <a:ext cx="4983480" cy="256032"/>
          </a:xfrm>
          <a:prstGeom prst="rect">
            <a:avLst/>
          </a:prstGeom>
          <a:noFill/>
        </p:spPr>
        <p:txBody>
          <a:bodyPr wrap="square" lIns="0" tIns="0" rIns="0" bIns="0" anchor="t">
            <a:spAutoFit/>
          </a:bodyPr>
          <a:lstStyle/>
          <a:p>
            <a:pPr algn="l"/>
            <a:r>
              <a:rPr sz="1200" b="1" i="0">
                <a:solidFill>
                  <a:srgbClr val="FFFFFF"/>
                </a:solidFill>
                <a:latin typeface="Arial"/>
              </a:rPr>
              <a:t>Two campuses have no listing</a:t>
            </a:r>
          </a:p>
        </p:txBody>
      </p:sp>
      <p:sp>
        <p:nvSpPr>
          <p:cNvPr id="15" name="TextBox 14"/>
          <p:cNvSpPr txBox="1"/>
          <p:nvPr/>
        </p:nvSpPr>
        <p:spPr>
          <a:xfrm>
            <a:off x="1371600" y="4443984"/>
            <a:ext cx="4983480" cy="548640"/>
          </a:xfrm>
          <a:prstGeom prst="rect">
            <a:avLst/>
          </a:prstGeom>
          <a:noFill/>
        </p:spPr>
        <p:txBody>
          <a:bodyPr wrap="square" lIns="0" tIns="0" rIns="0" bIns="0" anchor="t">
            <a:spAutoFit/>
          </a:bodyPr>
          <a:lstStyle/>
          <a:p>
            <a:pPr algn="l"/>
            <a:r>
              <a:rPr sz="1050" b="0" i="0">
                <a:solidFill>
                  <a:srgbClr val="D9ECF9"/>
                </a:solidFill>
                <a:latin typeface="Arial"/>
              </a:rPr>
              <a:t>Add Arusha City (Sakina) and Boma Ng'ombe, using the pins on the website's campus pages.</a:t>
            </a:r>
          </a:p>
        </p:txBody>
      </p:sp>
      <p:sp>
        <p:nvSpPr>
          <p:cNvPr id="16" name="Hexagon 15"/>
          <p:cNvSpPr/>
          <p:nvPr/>
        </p:nvSpPr>
        <p:spPr>
          <a:xfrm>
            <a:off x="868680" y="5038344"/>
            <a:ext cx="347472" cy="301752"/>
          </a:xfrm>
          <a:prstGeom prst="hexagon">
            <a:avLst>
              <a:gd name="adj" fmla="val 25000"/>
              <a:gd name="vf" fmla="val 115470"/>
            </a:avLst>
          </a:prstGeom>
          <a:solidFill>
            <a:srgbClr val="80BFEC"/>
          </a:solidFill>
          <a:ln>
            <a:noFill/>
          </a:ln>
        </p:spPr>
        <p:txBody>
          <a:bodyPr rtlCol="0" anchor="ctr" wrap="square" lIns="0" tIns="0" rIns="0" bIns="0"/>
          <a:lstStyle/>
          <a:p>
            <a:pPr algn="ctr"/>
            <a:r>
              <a:rPr sz="1000" b="1" i="0">
                <a:solidFill>
                  <a:srgbClr val="002368"/>
                </a:solidFill>
                <a:latin typeface="Arial"/>
              </a:rPr>
              <a:t>4</a:t>
            </a:r>
          </a:p>
        </p:txBody>
      </p:sp>
      <p:sp>
        <p:nvSpPr>
          <p:cNvPr id="17" name="TextBox 16"/>
          <p:cNvSpPr txBox="1"/>
          <p:nvPr/>
        </p:nvSpPr>
        <p:spPr>
          <a:xfrm>
            <a:off x="1371600" y="5020056"/>
            <a:ext cx="4983480" cy="256032"/>
          </a:xfrm>
          <a:prstGeom prst="rect">
            <a:avLst/>
          </a:prstGeom>
          <a:noFill/>
        </p:spPr>
        <p:txBody>
          <a:bodyPr wrap="square" lIns="0" tIns="0" rIns="0" bIns="0" anchor="t">
            <a:spAutoFit/>
          </a:bodyPr>
          <a:lstStyle/>
          <a:p>
            <a:pPr algn="l"/>
            <a:r>
              <a:rPr sz="1200" b="1" i="0">
                <a:solidFill>
                  <a:srgbClr val="FFFFFF"/>
                </a:solidFill>
                <a:latin typeface="Arial"/>
              </a:rPr>
              <a:t>Keep the website pins accurate</a:t>
            </a:r>
          </a:p>
        </p:txBody>
      </p:sp>
      <p:sp>
        <p:nvSpPr>
          <p:cNvPr id="18" name="TextBox 17"/>
          <p:cNvSpPr txBox="1"/>
          <p:nvPr/>
        </p:nvSpPr>
        <p:spPr>
          <a:xfrm>
            <a:off x="1371600" y="5294376"/>
            <a:ext cx="4983480" cy="548640"/>
          </a:xfrm>
          <a:prstGeom prst="rect">
            <a:avLst/>
          </a:prstGeom>
          <a:noFill/>
        </p:spPr>
        <p:txBody>
          <a:bodyPr wrap="square" lIns="0" tIns="0" rIns="0" bIns="0" anchor="t">
            <a:spAutoFit/>
          </a:bodyPr>
          <a:lstStyle/>
          <a:p>
            <a:pPr algn="l"/>
            <a:r>
              <a:rPr sz="1050" b="0" i="0">
                <a:solidFill>
                  <a:srgbClr val="D9ECF9"/>
                </a:solidFill>
                <a:latin typeface="Arial"/>
              </a:rPr>
              <a:t>They are the reference for every distance. If a campus moves, correct the page and tell the lead team so distances are recomputed.</a:t>
            </a:r>
          </a:p>
        </p:txBody>
      </p:sp>
      <p:sp>
        <p:nvSpPr>
          <p:cNvPr id="19" name="TextBox 18"/>
          <p:cNvSpPr txBox="1"/>
          <p:nvPr/>
        </p:nvSpPr>
        <p:spPr>
          <a:xfrm>
            <a:off x="6903720" y="137160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KNOWN GAPS AND PROPOSED FIXES</a:t>
            </a:r>
          </a:p>
        </p:txBody>
      </p:sp>
      <p:sp>
        <p:nvSpPr>
          <p:cNvPr id="20" name="TextBox 19"/>
          <p:cNvSpPr txBox="1"/>
          <p:nvPr/>
        </p:nvSpPr>
        <p:spPr>
          <a:xfrm>
            <a:off x="6903720" y="1664208"/>
            <a:ext cx="914400" cy="457200"/>
          </a:xfrm>
          <a:prstGeom prst="rect">
            <a:avLst/>
          </a:prstGeom>
          <a:noFill/>
        </p:spPr>
        <p:txBody>
          <a:bodyPr wrap="square" lIns="0" tIns="0" rIns="0" bIns="0" anchor="t">
            <a:spAutoFit/>
          </a:bodyPr>
          <a:lstStyle/>
          <a:p>
            <a:pPr algn="l"/>
            <a:r>
              <a:rPr sz="1600" b="0" i="0">
                <a:solidFill>
                  <a:srgbClr val="80BFEC"/>
                </a:solidFill>
                <a:latin typeface="Georgia"/>
              </a:rPr>
              <a:t>01</a:t>
            </a:r>
          </a:p>
        </p:txBody>
      </p:sp>
      <p:sp>
        <p:nvSpPr>
          <p:cNvPr id="21" name="TextBox 20"/>
          <p:cNvSpPr txBox="1"/>
          <p:nvPr/>
        </p:nvSpPr>
        <p:spPr>
          <a:xfrm>
            <a:off x="7452360" y="1682496"/>
            <a:ext cx="4160520" cy="256032"/>
          </a:xfrm>
          <a:prstGeom prst="rect">
            <a:avLst/>
          </a:prstGeom>
          <a:noFill/>
        </p:spPr>
        <p:txBody>
          <a:bodyPr wrap="square" lIns="0" tIns="0" rIns="0" bIns="0" anchor="t">
            <a:spAutoFit/>
          </a:bodyPr>
          <a:lstStyle/>
          <a:p>
            <a:pPr algn="l"/>
            <a:r>
              <a:rPr sz="1200" b="1" i="0">
                <a:solidFill>
                  <a:srgbClr val="002368"/>
                </a:solidFill>
                <a:latin typeface="Arial"/>
              </a:rPr>
              <a:t>Straight line only</a:t>
            </a:r>
          </a:p>
        </p:txBody>
      </p:sp>
      <p:sp>
        <p:nvSpPr>
          <p:cNvPr id="22" name="TextBox 21"/>
          <p:cNvSpPr txBox="1"/>
          <p:nvPr/>
        </p:nvSpPr>
        <p:spPr>
          <a:xfrm>
            <a:off x="7452360" y="1956816"/>
            <a:ext cx="4160520" cy="685800"/>
          </a:xfrm>
          <a:prstGeom prst="rect">
            <a:avLst/>
          </a:prstGeom>
          <a:noFill/>
        </p:spPr>
        <p:txBody>
          <a:bodyPr wrap="square" lIns="0" tIns="0" rIns="0" bIns="0" anchor="t">
            <a:spAutoFit/>
          </a:bodyPr>
          <a:lstStyle/>
          <a:p>
            <a:pPr algn="l"/>
            <a:r>
              <a:rPr sz="1050" b="0" i="0">
                <a:solidFill>
                  <a:srgbClr val="000000"/>
                </a:solidFill>
                <a:latin typeface="Arial"/>
              </a:rPr>
              <a:t>For leads at 11–25 km a road distance or drive time would be fairer. Not yet built.</a:t>
            </a:r>
          </a:p>
        </p:txBody>
      </p:sp>
      <p:cxnSp>
        <p:nvCxnSpPr>
          <p:cNvPr id="23" name="Connector 22"/>
          <p:cNvCxnSpPr/>
          <p:nvPr/>
        </p:nvCxnSpPr>
        <p:spPr>
          <a:xfrm>
            <a:off x="6903720" y="2642616"/>
            <a:ext cx="4736592" cy="0"/>
          </a:xfrm>
          <a:prstGeom prst="line">
            <a:avLst/>
          </a:prstGeom>
          <a:ln w="9525">
            <a:solidFill>
              <a:srgbClr val="ECECEC"/>
            </a:solidFill>
          </a:ln>
        </p:spPr>
      </p:cxnSp>
      <p:sp>
        <p:nvSpPr>
          <p:cNvPr id="24" name="TextBox 23"/>
          <p:cNvSpPr txBox="1"/>
          <p:nvPr/>
        </p:nvSpPr>
        <p:spPr>
          <a:xfrm>
            <a:off x="6903720" y="2734056"/>
            <a:ext cx="914400" cy="457200"/>
          </a:xfrm>
          <a:prstGeom prst="rect">
            <a:avLst/>
          </a:prstGeom>
          <a:noFill/>
        </p:spPr>
        <p:txBody>
          <a:bodyPr wrap="square" lIns="0" tIns="0" rIns="0" bIns="0" anchor="t">
            <a:spAutoFit/>
          </a:bodyPr>
          <a:lstStyle/>
          <a:p>
            <a:pPr algn="l"/>
            <a:r>
              <a:rPr sz="1600" b="0" i="0">
                <a:solidFill>
                  <a:srgbClr val="80BFEC"/>
                </a:solidFill>
                <a:latin typeface="Georgia"/>
              </a:rPr>
              <a:t>02</a:t>
            </a:r>
          </a:p>
        </p:txBody>
      </p:sp>
      <p:sp>
        <p:nvSpPr>
          <p:cNvPr id="25" name="TextBox 24"/>
          <p:cNvSpPr txBox="1"/>
          <p:nvPr/>
        </p:nvSpPr>
        <p:spPr>
          <a:xfrm>
            <a:off x="7452360" y="2752344"/>
            <a:ext cx="4160520" cy="256032"/>
          </a:xfrm>
          <a:prstGeom prst="rect">
            <a:avLst/>
          </a:prstGeom>
          <a:noFill/>
        </p:spPr>
        <p:txBody>
          <a:bodyPr wrap="square" lIns="0" tIns="0" rIns="0" bIns="0" anchor="t">
            <a:spAutoFit/>
          </a:bodyPr>
          <a:lstStyle/>
          <a:p>
            <a:pPr algn="l"/>
            <a:r>
              <a:rPr sz="1200" b="1" i="0">
                <a:solidFill>
                  <a:srgbClr val="002368"/>
                </a:solidFill>
                <a:latin typeface="Arial"/>
              </a:rPr>
              <a:t>440 companies on old points</a:t>
            </a:r>
          </a:p>
        </p:txBody>
      </p:sp>
      <p:sp>
        <p:nvSpPr>
          <p:cNvPr id="26" name="TextBox 25"/>
          <p:cNvSpPr txBox="1"/>
          <p:nvPr/>
        </p:nvSpPr>
        <p:spPr>
          <a:xfrm>
            <a:off x="7452360" y="3026664"/>
            <a:ext cx="4160520" cy="685800"/>
          </a:xfrm>
          <a:prstGeom prst="rect">
            <a:avLst/>
          </a:prstGeom>
          <a:noFill/>
        </p:spPr>
        <p:txBody>
          <a:bodyPr wrap="square" lIns="0" tIns="0" rIns="0" bIns="0" anchor="t">
            <a:spAutoFit/>
          </a:bodyPr>
          <a:lstStyle/>
          <a:p>
            <a:pPr algn="l"/>
            <a:r>
              <a:rPr sz="1050" b="0" i="0">
                <a:solidFill>
                  <a:srgbClr val="000000"/>
                </a:solidFill>
                <a:latin typeface="Arial"/>
              </a:rPr>
              <a:t>Their distance was computed from the old campus points; placing them from their address gives them coordinates of their own.</a:t>
            </a:r>
          </a:p>
        </p:txBody>
      </p:sp>
      <p:cxnSp>
        <p:nvCxnSpPr>
          <p:cNvPr id="27" name="Connector 26"/>
          <p:cNvCxnSpPr/>
          <p:nvPr/>
        </p:nvCxnSpPr>
        <p:spPr>
          <a:xfrm>
            <a:off x="6903720" y="3712464"/>
            <a:ext cx="4736592" cy="0"/>
          </a:xfrm>
          <a:prstGeom prst="line">
            <a:avLst/>
          </a:prstGeom>
          <a:ln w="9525">
            <a:solidFill>
              <a:srgbClr val="ECECEC"/>
            </a:solidFill>
          </a:ln>
        </p:spPr>
      </p:cxnSp>
      <p:sp>
        <p:nvSpPr>
          <p:cNvPr id="28" name="TextBox 27"/>
          <p:cNvSpPr txBox="1"/>
          <p:nvPr/>
        </p:nvSpPr>
        <p:spPr>
          <a:xfrm>
            <a:off x="6903720" y="3803904"/>
            <a:ext cx="914400" cy="457200"/>
          </a:xfrm>
          <a:prstGeom prst="rect">
            <a:avLst/>
          </a:prstGeom>
          <a:noFill/>
        </p:spPr>
        <p:txBody>
          <a:bodyPr wrap="square" lIns="0" tIns="0" rIns="0" bIns="0" anchor="t">
            <a:spAutoFit/>
          </a:bodyPr>
          <a:lstStyle/>
          <a:p>
            <a:pPr algn="l"/>
            <a:r>
              <a:rPr sz="1600" b="0" i="0">
                <a:solidFill>
                  <a:srgbClr val="80BFEC"/>
                </a:solidFill>
                <a:latin typeface="Georgia"/>
              </a:rPr>
              <a:t>03</a:t>
            </a:r>
          </a:p>
        </p:txBody>
      </p:sp>
      <p:sp>
        <p:nvSpPr>
          <p:cNvPr id="29" name="TextBox 28"/>
          <p:cNvSpPr txBox="1"/>
          <p:nvPr/>
        </p:nvSpPr>
        <p:spPr>
          <a:xfrm>
            <a:off x="7452360" y="3822191"/>
            <a:ext cx="4160520" cy="256032"/>
          </a:xfrm>
          <a:prstGeom prst="rect">
            <a:avLst/>
          </a:prstGeom>
          <a:noFill/>
        </p:spPr>
        <p:txBody>
          <a:bodyPr wrap="square" lIns="0" tIns="0" rIns="0" bIns="0" anchor="t">
            <a:spAutoFit/>
          </a:bodyPr>
          <a:lstStyle/>
          <a:p>
            <a:pPr algn="l"/>
            <a:r>
              <a:rPr sz="1200" b="1" i="0">
                <a:solidFill>
                  <a:srgbClr val="002368"/>
                </a:solidFill>
                <a:latin typeface="Arial"/>
              </a:rPr>
              <a:t>Companies without a campus</a:t>
            </a:r>
          </a:p>
        </p:txBody>
      </p:sp>
      <p:sp>
        <p:nvSpPr>
          <p:cNvPr id="30" name="TextBox 29"/>
          <p:cNvSpPr txBox="1"/>
          <p:nvPr/>
        </p:nvSpPr>
        <p:spPr>
          <a:xfrm>
            <a:off x="7452360" y="4096512"/>
            <a:ext cx="4160520" cy="685800"/>
          </a:xfrm>
          <a:prstGeom prst="rect">
            <a:avLst/>
          </a:prstGeom>
          <a:noFill/>
        </p:spPr>
        <p:txBody>
          <a:bodyPr wrap="square" lIns="0" tIns="0" rIns="0" bIns="0" anchor="t">
            <a:spAutoFit/>
          </a:bodyPr>
          <a:lstStyle/>
          <a:p>
            <a:pPr algn="l"/>
            <a:r>
              <a:rPr sz="1050" b="0" i="0">
                <a:solidFill>
                  <a:srgbClr val="000000"/>
                </a:solidFill>
                <a:latin typeface="Arial"/>
              </a:rPr>
              <a:t>About 50 have no nearest campus recorded; most have an address or town that can be placed at locality level.</a:t>
            </a:r>
          </a:p>
        </p:txBody>
      </p:sp>
      <p:cxnSp>
        <p:nvCxnSpPr>
          <p:cNvPr id="31" name="Connector 30"/>
          <p:cNvCxnSpPr/>
          <p:nvPr/>
        </p:nvCxnSpPr>
        <p:spPr>
          <a:xfrm>
            <a:off x="6903720" y="4782312"/>
            <a:ext cx="4736592" cy="0"/>
          </a:xfrm>
          <a:prstGeom prst="line">
            <a:avLst/>
          </a:prstGeom>
          <a:ln w="9525">
            <a:solidFill>
              <a:srgbClr val="ECECEC"/>
            </a:solidFill>
          </a:ln>
        </p:spPr>
      </p:cxnSp>
      <p:sp>
        <p:nvSpPr>
          <p:cNvPr id="32" name="TextBox 31"/>
          <p:cNvSpPr txBox="1"/>
          <p:nvPr/>
        </p:nvSpPr>
        <p:spPr>
          <a:xfrm>
            <a:off x="6903720" y="4873752"/>
            <a:ext cx="914400" cy="457200"/>
          </a:xfrm>
          <a:prstGeom prst="rect">
            <a:avLst/>
          </a:prstGeom>
          <a:noFill/>
        </p:spPr>
        <p:txBody>
          <a:bodyPr wrap="square" lIns="0" tIns="0" rIns="0" bIns="0" anchor="t">
            <a:spAutoFit/>
          </a:bodyPr>
          <a:lstStyle/>
          <a:p>
            <a:pPr algn="l"/>
            <a:r>
              <a:rPr sz="1600" b="0" i="0">
                <a:solidFill>
                  <a:srgbClr val="80BFEC"/>
                </a:solidFill>
                <a:latin typeface="Georgia"/>
              </a:rPr>
              <a:t>04</a:t>
            </a:r>
          </a:p>
        </p:txBody>
      </p:sp>
      <p:sp>
        <p:nvSpPr>
          <p:cNvPr id="33" name="TextBox 32"/>
          <p:cNvSpPr txBox="1"/>
          <p:nvPr/>
        </p:nvSpPr>
        <p:spPr>
          <a:xfrm>
            <a:off x="7452360" y="4892040"/>
            <a:ext cx="4160520" cy="256032"/>
          </a:xfrm>
          <a:prstGeom prst="rect">
            <a:avLst/>
          </a:prstGeom>
          <a:noFill/>
        </p:spPr>
        <p:txBody>
          <a:bodyPr wrap="square" lIns="0" tIns="0" rIns="0" bIns="0" anchor="t">
            <a:spAutoFit/>
          </a:bodyPr>
          <a:lstStyle/>
          <a:p>
            <a:pPr algn="l"/>
            <a:r>
              <a:rPr sz="1200" b="1" i="0">
                <a:solidFill>
                  <a:srgbClr val="002368"/>
                </a:solidFill>
                <a:latin typeface="Arial"/>
              </a:rPr>
              <a:t>Ward locations are estimates</a:t>
            </a:r>
          </a:p>
        </p:txBody>
      </p:sp>
      <p:sp>
        <p:nvSpPr>
          <p:cNvPr id="34" name="TextBox 33"/>
          <p:cNvSpPr txBox="1"/>
          <p:nvPr/>
        </p:nvSpPr>
        <p:spPr>
          <a:xfrm>
            <a:off x="7452360" y="5166360"/>
            <a:ext cx="4160520" cy="685800"/>
          </a:xfrm>
          <a:prstGeom prst="rect">
            <a:avLst/>
          </a:prstGeom>
          <a:noFill/>
        </p:spPr>
        <p:txBody>
          <a:bodyPr wrap="square" lIns="0" tIns="0" rIns="0" bIns="0" anchor="t">
            <a:spAutoFit/>
          </a:bodyPr>
          <a:lstStyle/>
          <a:p>
            <a:pPr algn="l"/>
            <a:r>
              <a:rPr sz="1050" b="0" i="0">
                <a:solidFill>
                  <a:srgbClr val="000000"/>
                </a:solidFill>
                <a:latin typeface="Arial"/>
              </a:rPr>
              <a:t>OpenStreetMap has no ward boundaries here; official boundaries would replace the single reference points.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7"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- 2026-10-11, §1 and §6–§7 (Google Maps checked by the coordinator, 11 October)</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Seven sources built the three lists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Deterministic collectors first, then targeted lookups; every record keeps its source URL and dates.</a:t>
            </a:r>
          </a:p>
        </p:txBody>
      </p:sp>
      <p:sp>
        <p:nvSpPr>
          <p:cNvPr id="5" name="Hexagon 4"/>
          <p:cNvSpPr/>
          <p:nvPr/>
        </p:nvSpPr>
        <p:spPr>
          <a:xfrm>
            <a:off x="54864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6" name="TextBox 5"/>
          <p:cNvSpPr txBox="1"/>
          <p:nvPr/>
        </p:nvSpPr>
        <p:spPr>
          <a:xfrm>
            <a:off x="111556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Master list</a:t>
            </a:r>
          </a:p>
        </p:txBody>
      </p:sp>
      <p:sp>
        <p:nvSpPr>
          <p:cNvPr id="7" name="TextBox 6"/>
          <p:cNvSpPr txBox="1"/>
          <p:nvPr/>
        </p:nvSpPr>
        <p:spPr>
          <a:xfrm>
            <a:off x="54864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TATO 476 · TCDC 115 · OSM 241 records (to 10 Sept); now 1,376 master records</a:t>
            </a:r>
          </a:p>
        </p:txBody>
      </p:sp>
      <p:sp>
        <p:nvSpPr>
          <p:cNvPr id="8" name="Rounded Rectangle 7"/>
          <p:cNvSpPr/>
          <p:nvPr/>
        </p:nvSpPr>
        <p:spPr>
          <a:xfrm>
            <a:off x="54864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 SACCOS</a:t>
            </a:r>
          </a:p>
        </p:txBody>
      </p:sp>
      <p:sp>
        <p:nvSpPr>
          <p:cNvPr id="9" name="Hexagon 8"/>
          <p:cNvSpPr/>
          <p:nvPr/>
        </p:nvSpPr>
        <p:spPr>
          <a:xfrm>
            <a:off x="3383280" y="182880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02</a:t>
            </a:r>
          </a:p>
        </p:txBody>
      </p:sp>
      <p:sp>
        <p:nvSpPr>
          <p:cNvPr id="10" name="TextBox 9"/>
          <p:cNvSpPr txBox="1"/>
          <p:nvPr/>
        </p:nvSpPr>
        <p:spPr>
          <a:xfrm>
            <a:off x="395020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Gap census</a:t>
            </a:r>
          </a:p>
        </p:txBody>
      </p:sp>
      <p:sp>
        <p:nvSpPr>
          <p:cNvPr id="11" name="TextBox 10"/>
          <p:cNvSpPr txBox="1"/>
          <p:nvPr/>
        </p:nvSpPr>
        <p:spPr>
          <a:xfrm>
            <a:off x="338328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OSM, 12 categories, 36 queries · 505 candidates · 404 employers merged, 80 villages, 1 home</a:t>
            </a:r>
          </a:p>
        </p:txBody>
      </p:sp>
      <p:sp>
        <p:nvSpPr>
          <p:cNvPr id="12" name="Rounded Rectangle 11"/>
          <p:cNvSpPr/>
          <p:nvPr/>
        </p:nvSpPr>
        <p:spPr>
          <a:xfrm>
            <a:off x="338328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11 Oct</a:t>
            </a:r>
          </a:p>
        </p:txBody>
      </p:sp>
      <p:sp>
        <p:nvSpPr>
          <p:cNvPr id="13" name="Hexagon 12"/>
          <p:cNvSpPr/>
          <p:nvPr/>
        </p:nvSpPr>
        <p:spPr>
          <a:xfrm>
            <a:off x="621792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4" name="TextBox 13"/>
          <p:cNvSpPr txBox="1"/>
          <p:nvPr/>
        </p:nvSpPr>
        <p:spPr>
          <a:xfrm>
            <a:off x="678484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NGO register</a:t>
            </a:r>
          </a:p>
        </p:txBody>
      </p:sp>
      <p:sp>
        <p:nvSpPr>
          <p:cNvPr id="15" name="TextBox 14"/>
          <p:cNvSpPr txBox="1"/>
          <p:nvPr/>
        </p:nvSpPr>
        <p:spPr>
          <a:xfrm>
            <a:off x="621792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898 register entries read · 503 welfare records, 445 in scope, 58 out of scope</a:t>
            </a:r>
          </a:p>
        </p:txBody>
      </p:sp>
      <p:sp>
        <p:nvSpPr>
          <p:cNvPr id="16" name="Rounded Rectangle 15"/>
          <p:cNvSpPr/>
          <p:nvPr/>
        </p:nvSpPr>
        <p:spPr>
          <a:xfrm>
            <a:off x="621792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Welfare run</a:t>
            </a:r>
          </a:p>
        </p:txBody>
      </p:sp>
      <p:sp>
        <p:nvSpPr>
          <p:cNvPr id="17" name="Hexagon 16"/>
          <p:cNvSpPr/>
          <p:nvPr/>
        </p:nvSpPr>
        <p:spPr>
          <a:xfrm>
            <a:off x="9052560" y="182880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sp>
        <p:nvSpPr>
          <p:cNvPr id="18" name="TextBox 17"/>
          <p:cNvSpPr txBox="1"/>
          <p:nvPr/>
        </p:nvSpPr>
        <p:spPr>
          <a:xfrm>
            <a:off x="9619488" y="1883664"/>
            <a:ext cx="2103120" cy="292608"/>
          </a:xfrm>
          <a:prstGeom prst="rect">
            <a:avLst/>
          </a:prstGeom>
          <a:noFill/>
        </p:spPr>
        <p:txBody>
          <a:bodyPr wrap="square" lIns="0" tIns="0" rIns="0" bIns="0" anchor="t">
            <a:spAutoFit/>
          </a:bodyPr>
          <a:lstStyle/>
          <a:p>
            <a:pPr algn="l"/>
            <a:r>
              <a:rPr sz="1300" b="1" i="0">
                <a:solidFill>
                  <a:srgbClr val="002368"/>
                </a:solidFill>
                <a:latin typeface="Arial"/>
              </a:rPr>
              <a:t>Council data</a:t>
            </a:r>
          </a:p>
        </p:txBody>
      </p:sp>
      <p:sp>
        <p:nvSpPr>
          <p:cNvPr id="19" name="TextBox 18"/>
          <p:cNvSpPr txBox="1"/>
          <p:nvPr/>
        </p:nvSpPr>
        <p:spPr>
          <a:xfrm>
            <a:off x="9052560" y="2359152"/>
            <a:ext cx="2606040" cy="914400"/>
          </a:xfrm>
          <a:prstGeom prst="rect">
            <a:avLst/>
          </a:prstGeom>
          <a:noFill/>
        </p:spPr>
        <p:txBody>
          <a:bodyPr wrap="square" lIns="0" tIns="0" rIns="0" bIns="0" anchor="t">
            <a:spAutoFit/>
          </a:bodyPr>
          <a:lstStyle/>
          <a:p>
            <a:pPr algn="l"/>
            <a:r>
              <a:rPr sz="1050" b="0" i="0">
                <a:solidFill>
                  <a:srgbClr val="000000"/>
                </a:solidFill>
                <a:latin typeface="Arial"/>
              </a:rPr>
              <a:t>Council sites captured 23 Sept and 10 Oct · 9 councils, 7 districts, 3 regions, 129 wards, 80 villages</a:t>
            </a:r>
          </a:p>
        </p:txBody>
      </p:sp>
      <p:sp>
        <p:nvSpPr>
          <p:cNvPr id="20" name="Rounded Rectangle 19"/>
          <p:cNvSpPr/>
          <p:nvPr/>
        </p:nvSpPr>
        <p:spPr>
          <a:xfrm>
            <a:off x="9052560" y="331012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Government run</a:t>
            </a:r>
          </a:p>
        </p:txBody>
      </p:sp>
      <p:sp>
        <p:nvSpPr>
          <p:cNvPr id="21" name="Hexagon 20"/>
          <p:cNvSpPr/>
          <p:nvPr/>
        </p:nvSpPr>
        <p:spPr>
          <a:xfrm>
            <a:off x="1965960" y="393192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05</a:t>
            </a:r>
          </a:p>
        </p:txBody>
      </p:sp>
      <p:sp>
        <p:nvSpPr>
          <p:cNvPr id="22" name="TextBox 21"/>
          <p:cNvSpPr txBox="1"/>
          <p:nvPr/>
        </p:nvSpPr>
        <p:spPr>
          <a:xfrm>
            <a:off x="253288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Google Maps ×4</a:t>
            </a:r>
          </a:p>
        </p:txBody>
      </p:sp>
      <p:sp>
        <p:nvSpPr>
          <p:cNvPr id="23" name="TextBox 22"/>
          <p:cNvSpPr txBox="1"/>
          <p:nvPr/>
        </p:nvSpPr>
        <p:spPr>
          <a:xfrm>
            <a:off x="196596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391 lookups in four rounds (120, 100, 120, 51) · 248 accepted, 25 to review, 118 a different place</a:t>
            </a:r>
          </a:p>
        </p:txBody>
      </p:sp>
      <p:sp>
        <p:nvSpPr>
          <p:cNvPr id="24" name="Rounded Rectangle 23"/>
          <p:cNvSpPr/>
          <p:nvPr/>
        </p:nvSpPr>
        <p:spPr>
          <a:xfrm>
            <a:off x="196596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Pins, phones</a:t>
            </a:r>
          </a:p>
        </p:txBody>
      </p:sp>
      <p:sp>
        <p:nvSpPr>
          <p:cNvPr id="25" name="Hexagon 24"/>
          <p:cNvSpPr/>
          <p:nvPr/>
        </p:nvSpPr>
        <p:spPr>
          <a:xfrm>
            <a:off x="480060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06</a:t>
            </a:r>
          </a:p>
        </p:txBody>
      </p:sp>
      <p:sp>
        <p:nvSpPr>
          <p:cNvPr id="26" name="TextBox 25"/>
          <p:cNvSpPr txBox="1"/>
          <p:nvPr/>
        </p:nvSpPr>
        <p:spPr>
          <a:xfrm>
            <a:off x="5367528"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User-named</a:t>
            </a:r>
          </a:p>
        </p:txBody>
      </p:sp>
      <p:sp>
        <p:nvSpPr>
          <p:cNvPr id="27" name="TextBox 26"/>
          <p:cNvSpPr txBox="1"/>
          <p:nvPr/>
        </p:nvSpPr>
        <p:spPr>
          <a:xfrm>
            <a:off x="480060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14 employers you named, placed from their Maps pins · 51 named leads located: 35 placed</a:t>
            </a:r>
          </a:p>
        </p:txBody>
      </p:sp>
      <p:sp>
        <p:nvSpPr>
          <p:cNvPr id="28" name="Rounded Rectangle 27"/>
          <p:cNvSpPr/>
          <p:nvPr/>
        </p:nvSpPr>
        <p:spPr>
          <a:xfrm>
            <a:off x="480060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Companies</a:t>
            </a:r>
          </a:p>
        </p:txBody>
      </p:sp>
      <p:sp>
        <p:nvSpPr>
          <p:cNvPr id="29" name="Hexagon 28"/>
          <p:cNvSpPr/>
          <p:nvPr/>
        </p:nvSpPr>
        <p:spPr>
          <a:xfrm>
            <a:off x="7635240" y="39319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30" name="TextBox 29"/>
          <p:cNvSpPr txBox="1"/>
          <p:nvPr/>
        </p:nvSpPr>
        <p:spPr>
          <a:xfrm>
            <a:off x="8202167" y="3986783"/>
            <a:ext cx="2103120" cy="292608"/>
          </a:xfrm>
          <a:prstGeom prst="rect">
            <a:avLst/>
          </a:prstGeom>
          <a:noFill/>
        </p:spPr>
        <p:txBody>
          <a:bodyPr wrap="square" lIns="0" tIns="0" rIns="0" bIns="0" anchor="t">
            <a:spAutoFit/>
          </a:bodyPr>
          <a:lstStyle/>
          <a:p>
            <a:pPr algn="l"/>
            <a:r>
              <a:rPr sz="1300" b="1" i="0">
                <a:solidFill>
                  <a:srgbClr val="002368"/>
                </a:solidFill>
                <a:latin typeface="Arial"/>
              </a:rPr>
              <a:t>Deep crawl</a:t>
            </a:r>
          </a:p>
        </p:txBody>
      </p:sp>
      <p:sp>
        <p:nvSpPr>
          <p:cNvPr id="31" name="TextBox 30"/>
          <p:cNvSpPr txBox="1"/>
          <p:nvPr/>
        </p:nvSpPr>
        <p:spPr>
          <a:xfrm>
            <a:off x="7635240" y="4462272"/>
            <a:ext cx="2606040" cy="914400"/>
          </a:xfrm>
          <a:prstGeom prst="rect">
            <a:avLst/>
          </a:prstGeom>
          <a:noFill/>
        </p:spPr>
        <p:txBody>
          <a:bodyPr wrap="square" lIns="0" tIns="0" rIns="0" bIns="0" anchor="t">
            <a:spAutoFit/>
          </a:bodyPr>
          <a:lstStyle/>
          <a:p>
            <a:pPr algn="l"/>
            <a:r>
              <a:rPr sz="1050" b="0" i="0">
                <a:solidFill>
                  <a:srgbClr val="000000"/>
                </a:solidFill>
                <a:latin typeface="Arial"/>
              </a:rPr>
              <a:t>Own websites, up to 15 pages: emails on 507 of 627 sites (81%), named people on 217</a:t>
            </a:r>
          </a:p>
        </p:txBody>
      </p:sp>
      <p:sp>
        <p:nvSpPr>
          <p:cNvPr id="32" name="Rounded Rectangle 31"/>
          <p:cNvSpPr/>
          <p:nvPr/>
        </p:nvSpPr>
        <p:spPr>
          <a:xfrm>
            <a:off x="7635240" y="5413248"/>
            <a:ext cx="1371600" cy="23774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00" b="0" i="0">
                <a:solidFill>
                  <a:srgbClr val="002368"/>
                </a:solidFill>
                <a:latin typeface="Arial"/>
              </a:rPr>
              <a:t>11 Oct</a:t>
            </a:r>
          </a:p>
        </p:txBody>
      </p:sp>
      <p:sp>
        <p:nvSpPr>
          <p:cNvPr id="33" name="TextBox 32"/>
          <p:cNvSpPr txBox="1"/>
          <p:nvPr/>
        </p:nvSpPr>
        <p:spPr>
          <a:xfrm>
            <a:off x="548640" y="5852160"/>
            <a:ext cx="11064240" cy="274320"/>
          </a:xfrm>
          <a:prstGeom prst="rect">
            <a:avLst/>
          </a:prstGeom>
          <a:noFill/>
        </p:spPr>
        <p:txBody>
          <a:bodyPr wrap="square" lIns="0" tIns="0" rIns="0" bIns="0" anchor="t">
            <a:spAutoFit/>
          </a:bodyPr>
          <a:lstStyle/>
          <a:p>
            <a:pPr algn="l"/>
            <a:r>
              <a:rPr sz="900" b="0" i="0">
                <a:solidFill>
                  <a:srgbClr val="818283"/>
                </a:solidFill>
                <a:latin typeface="Arial"/>
              </a:rPr>
              <a:t>Gold: the two passes run in the catchment sweep of 11 October. Google Maps gives pins, addresses and phones, never people.</a:t>
            </a:r>
          </a:p>
        </p:txBody>
      </p:sp>
      <p:pic>
        <p:nvPicPr>
          <p:cNvPr id="34" name="Picture 33" descr="image3.png"/>
          <p:cNvPicPr>
            <a:picLocks noChangeAspect="1"/>
          </p:cNvPicPr>
          <p:nvPr/>
        </p:nvPicPr>
        <p:blipFill>
          <a:blip r:embed="rId2"/>
          <a:stretch>
            <a:fillRect/>
          </a:stretch>
        </p:blipFill>
        <p:spPr>
          <a:xfrm>
            <a:off x="548640" y="6272784"/>
            <a:ext cx="1143000" cy="274320"/>
          </a:xfrm>
          <a:prstGeom prst="rect">
            <a:avLst/>
          </a:prstGeom>
        </p:spPr>
      </p:pic>
      <p:sp>
        <p:nvSpPr>
          <p:cNvPr id="35"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6"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reference deck 2026-09-10; campus-gap-census-2026-10-11.md; registry_ngos; google_maps_*_2026-10-11.jsonl; research-playbook.md</a:t>
            </a:r>
          </a:p>
        </p:txBody>
      </p:sp>
      <p:sp>
        <p:nvSpPr>
          <p:cNvPr id="3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02</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TWO</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Segments and confidence</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Who we write to, what we ask, and how sure we are it reaches the decision-maker.</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Four core segments</a:t>
            </a:r>
          </a:p>
          <a:p>
            <a:pPr algn="l" marL="155448" indent="-155448">
              <a:spcAft>
                <a:spcPts val="400"/>
              </a:spcAft>
              <a:buFont typeface="Arial"/>
              <a:buChar char="•"/>
            </a:pPr>
            <a:r>
              <a:rPr sz="1100" b="0" i="0">
                <a:solidFill>
                  <a:srgbClr val="FFFFFF"/>
                </a:solidFill>
                <a:latin typeface="Arial"/>
              </a:rPr>
              <a:t>Employer subsegments: kind, variant, reach tier</a:t>
            </a:r>
          </a:p>
          <a:p>
            <a:pPr algn="l" marL="155448" indent="-155448">
              <a:spcAft>
                <a:spcPts val="400"/>
              </a:spcAft>
              <a:buFont typeface="Arial"/>
              <a:buChar char="•"/>
            </a:pPr>
            <a:r>
              <a:rPr sz="1100" b="0" i="0">
                <a:solidFill>
                  <a:srgbClr val="FFFFFF"/>
                </a:solidFill>
                <a:latin typeface="Arial"/>
              </a:rPr>
              <a:t>Introducers, savings groups, welfare and government</a:t>
            </a:r>
          </a:p>
          <a:p>
            <a:pPr algn="l" marL="155448" indent="-155448">
              <a:spcAft>
                <a:spcPts val="400"/>
              </a:spcAft>
              <a:buFont typeface="Arial"/>
              <a:buChar char="•"/>
            </a:pPr>
            <a:r>
              <a:rPr sz="1100" b="0" i="0">
                <a:solidFill>
                  <a:srgbClr val="FFFFFF"/>
                </a:solidFill>
                <a:latin typeface="Arial"/>
              </a:rPr>
              <a:t>The confidence layer and the Resend segments</a:t>
            </a:r>
          </a:p>
          <a:p>
            <a:pPr algn="l" marL="155448" indent="-155448">
              <a:spcAft>
                <a:spcPts val="400"/>
              </a:spcAft>
              <a:buFont typeface="Arial"/>
              <a:buChar char="•"/>
            </a:pPr>
            <a:r>
              <a:rPr sz="1100" b="0" i="0">
                <a:solidFill>
                  <a:srgbClr val="FFFFFF"/>
                </a:solidFill>
                <a:latin typeface="Arial"/>
              </a:rPr>
              <a:t>The on-the-ground recipient rule</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Counted from the databases today; the Core Segments document of 11 October predates the gap census.</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partnership on a staff education benefit; sponsorship for the 14 that fund education</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 employers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partnership on the children's education, or student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15–20 minute Kiswahili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master outreach_plans (selection 'Candidate for review'), welfare and government run outreach_plans, 12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master outreach_plans, organisations.subtype and employer_reach, 12 October 2026 (kind as in build_company_audience_profile.kind_of)</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1051560"/>
          </a:xfrm>
          <a:prstGeom prst="roundRect">
            <a:avLst>
              <a:gd name="adj" fmla="val 6086"/>
            </a:avLst>
          </a:prstGeom>
          <a:solidFill>
            <a:srgbClr val="FFF7E5"/>
          </a:solidFill>
          <a:ln w="12700">
            <a:solidFill>
              <a:srgbClr val="FFF7E5"/>
            </a:solidFill>
          </a:ln>
        </p:spPr>
        <p:txBody>
          <a:bodyPr rtlCol="0" anchor="ctr"/>
          <a:lstStyle/>
          <a:p>
            <a:pPr algn="ct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 ready, 116 without email. </a:t>
            </a:r>
            <a:r>
              <a:rPr sz="1000" b="0" i="0">
                <a:solidFill>
                  <a:srgbClr val="000000"/>
                </a:solidFill>
                <a:latin typeface="Arial"/>
              </a:rPr>
              <a:t>Gates before S1: a native-speaker Kiswahili review, and Finance agreeing to extend the member rate (OF07, documented for KINEFA only).</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master organisations.segment ('Introducer: …') and subtype (TCDC licence class), outreach_plans, 12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(58 MORE OUT OF SCOPE, NOT WRITTEN TO)</a:t>
            </a:r>
          </a:p>
        </p:txBody>
      </p:sp>
      <p:graphicFrame>
        <p:nvGraphicFramePr>
          <p:cNvPr id="5" name="Table 4"/>
          <p:cNvGraphicFramePr>
            <a:graphicFrameLocks noGrp="1"/>
          </p:cNvGraphicFramePr>
          <p:nvPr/>
        </p:nvGraphicFramePr>
        <p:xfrm>
          <a:off x="548640" y="1536192"/>
          <a:ext cx="5486400" cy="2304288"/>
        </p:xfrm>
        <a:graphic>
          <a:graphicData uri="http://schemas.openxmlformats.org/drawingml/2006/table">
            <a:tbl>
              <a:tblPr firstRow="0" bandRow="0">
                <a:tableStyleId>{2D5ABB26-0587-4C30-8999-92F81FD0307C}</a:tableStyleId>
              </a:tblPr>
              <a:tblGrid>
                <a:gridCol w="2148840"/>
                <a:gridCol w="566928"/>
                <a:gridCol w="749808"/>
                <a:gridCol w="566928"/>
                <a:gridCol w="722376"/>
                <a:gridCol w="731520"/>
              </a:tblGrid>
              <a:tr h="384048">
                <a:tc>
                  <a:txBody>
                    <a:bodyPr wrap="square"/>
                    <a:lstStyle/>
                    <a:p>
                      <a:r>
                        <a:rPr sz="900" b="1" i="0" spc="100">
                          <a:solidFill>
                            <a:srgbClr val="818283"/>
                          </a:solidFill>
                          <a:latin typeface="Arial"/>
                        </a:rPr>
                        <a:t>KIND</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TOTAL</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READY</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Residential care (children's homes)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17</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Family-based and sponsorship programmes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138</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164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25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Specialised centres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61</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70</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Funders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94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104</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34</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Welfare networks (introducers)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a:t>
                      </a:r>
                    </a:p>
                  </a:txBody>
                  <a:tcPr marL="54864"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3977639"/>
            <a:ext cx="5486400" cy="109728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000000"/>
                </a:solidFill>
                <a:latin typeface="Arial"/>
              </a:rPr>
              <a:t>Two requests: a partnership on the education of the children in their care (homes, programmes, centres), or sponsorship (funders, only with a verified link to a home near a campus).</a:t>
            </a:r>
          </a:p>
          <a:p>
            <a:pPr algn="l" marL="155448" indent="-155448">
              <a:spcAft>
                <a:spcPts val="400"/>
              </a:spcAft>
              <a:buFont typeface="Arial"/>
              <a:buChar char="•"/>
            </a:pPr>
            <a:r>
              <a:rPr sz="1050" b="0" i="0">
                <a:solidFill>
                  <a:srgbClr val="000000"/>
                </a:solidFill>
                <a:latin typeface="Arial"/>
              </a:rPr>
              <a:t>Recipient: the leader on the ground; a senior executive abroad is the escalation contact.</a:t>
            </a:r>
          </a:p>
        </p:txBody>
      </p:sp>
      <p:sp>
        <p:nvSpPr>
          <p:cNvPr id="7" name="TextBox 6"/>
          <p:cNvSpPr txBox="1"/>
          <p:nvPr/>
        </p:nvSpPr>
        <p:spPr>
          <a:xfrm>
            <a:off x="635508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graphicFrame>
        <p:nvGraphicFramePr>
          <p:cNvPr id="8" name="Table 7"/>
          <p:cNvGraphicFramePr>
            <a:graphicFrameLocks noGrp="1"/>
          </p:cNvGraphicFramePr>
          <p:nvPr/>
        </p:nvGraphicFramePr>
        <p:xfrm>
          <a:off x="6355080" y="1536192"/>
          <a:ext cx="5285232" cy="2304288"/>
        </p:xfrm>
        <a:graphic>
          <a:graphicData uri="http://schemas.openxmlformats.org/drawingml/2006/table">
            <a:tbl>
              <a:tblPr firstRow="0" bandRow="0">
                <a:tableStyleId>{2D5ABB26-0587-4C30-8999-92F81FD0307C}</a:tableStyleId>
              </a:tblPr>
              <a:tblGrid>
                <a:gridCol w="1783080"/>
                <a:gridCol w="868680"/>
                <a:gridCol w="2633472"/>
              </a:tblGrid>
              <a:tr h="384048">
                <a:tc>
                  <a:txBody>
                    <a:bodyPr wrap="square"/>
                    <a:lstStyle/>
                    <a:p>
                      <a:r>
                        <a:rPr sz="900" b="1" i="0" spc="100">
                          <a:solidFill>
                            <a:srgbClr val="818283"/>
                          </a:solidFill>
                          <a:latin typeface="Arial"/>
                        </a:rPr>
                        <a:t>SUBSEGMENT</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OFFICES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ORDER AND REQUEST</a:t>
                      </a:r>
                    </a:p>
                  </a:txBody>
                  <a:tcPr marL="54864" marR="54864" marT="36576" marB="36576" anchor="ctr">
                    <a:lnL w="0">
                      <a:noFill/>
                    </a:lnL>
                    <a:lnR w="0">
                      <a:noFill/>
                    </a:lnR>
                    <a:lnT w="0">
                      <a:noFill/>
                    </a:lnT>
                    <a:lnB w="12700">
                      <a:solidFill>
                        <a:srgbClr val="80BFEC"/>
                      </a:solidFill>
                    </a:lnB>
                    <a:noFill/>
                  </a:tcPr>
                </a:tc>
              </a:tr>
              <a:tr h="384048">
                <a:tc>
                  <a:txBody>
                    <a:bodyPr wrap="square"/>
                    <a:lstStyle/>
                    <a:p>
                      <a:r>
                        <a:rPr sz="1050" b="1" i="0">
                          <a:solidFill>
                            <a:srgbClr val="002368"/>
                          </a:solidFill>
                          <a:latin typeface="Arial"/>
                        </a:rPr>
                        <a:t>Pilot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First: protocol introduction to the ward officers</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Other councils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5</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pilot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District and regional</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7 + 3</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Courtesy notice only</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Ward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129</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After the council introduction; nearest first</a:t>
                      </a:r>
                    </a:p>
                  </a:txBody>
                  <a:tcPr marL="54864" marR="54864" marT="36576" marB="36576" anchor="ctr">
                    <a:lnL w="0">
                      <a:noFill/>
                    </a:lnL>
                    <a:lnR w="0">
                      <a:noFill/>
                    </a:lnR>
                    <a:lnT w="0">
                      <a:noFill/>
                    </a:lnT>
                    <a:lnB w="9525">
                      <a:solidFill>
                        <a:srgbClr val="ECECEC"/>
                      </a:solidFill>
                    </a:lnB>
                    <a:noFill/>
                  </a:tcPr>
                </a:tc>
              </a:tr>
              <a:tr h="384048">
                <a:tc>
                  <a:txBody>
                    <a:bodyPr wrap="square"/>
                    <a:lstStyle/>
                    <a:p>
                      <a:r>
                        <a:rPr sz="1050" b="1" i="0">
                          <a:solidFill>
                            <a:srgbClr val="002368"/>
                          </a:solidFill>
                          <a:latin typeface="Arial"/>
                        </a:rPr>
                        <a:t>Village offices</a:t>
                      </a:r>
                    </a:p>
                  </a:txBody>
                  <a:tcPr marL="0" marR="54864" marT="36576" marB="36576" anchor="ctr">
                    <a:lnL w="0">
                      <a:noFill/>
                    </a:lnL>
                    <a:lnR w="0">
                      <a:noFill/>
                    </a:lnR>
                    <a:lnT w="0">
                      <a:noFill/>
                    </a:lnT>
                    <a:lnB w="9525">
                      <a:solidFill>
                        <a:srgbClr val="ECECEC"/>
                      </a:solidFill>
                    </a:lnB>
                    <a:noFill/>
                  </a:tcPr>
                </a:tc>
                <a:tc>
                  <a:txBody>
                    <a:bodyPr wrap="square"/>
                    <a:lstStyle/>
                    <a:p>
                      <a:pPr algn="r"/>
                      <a:r>
                        <a:rPr sz="1050" b="0" i="0">
                          <a:solidFill>
                            <a:srgbClr val="000000"/>
                          </a:solidFill>
                          <a:latin typeface="Arial"/>
                        </a:rPr>
                        <a:t>80</a:t>
                      </a:r>
                    </a:p>
                  </a:txBody>
                  <a:tcPr marL="54864" marR="54864" marT="36576" marB="36576" anchor="ctr">
                    <a:lnL w="0">
                      <a:noFill/>
                    </a:lnL>
                    <a:lnR w="0">
                      <a:noFill/>
                    </a:lnR>
                    <a:lnT w="0">
                      <a:noFill/>
                    </a:lnT>
                    <a:lnB w="9525">
                      <a:solidFill>
                        <a:srgbClr val="ECECEC"/>
                      </a:solidFill>
                    </a:lnB>
                    <a:noFill/>
                  </a:tcPr>
                </a:tc>
                <a:tc>
                  <a:txBody>
                    <a:bodyPr wrap="square"/>
                    <a:lstStyle/>
                    <a:p>
                      <a:r>
                        <a:rPr sz="1050" b="0" i="0">
                          <a:solidFill>
                            <a:srgbClr val="000000"/>
                          </a:solidFill>
                          <a:latin typeface="Arial"/>
                        </a:rPr>
                        <a:t>Same; 36 Hai, 34 Meru, 9 Arusha DC, 1 city</a:t>
                      </a:r>
                    </a:p>
                  </a:txBody>
                  <a:tcPr marL="54864" marR="54864" marT="36576" marB="36576" anchor="ctr">
                    <a:lnL w="0">
                      <a:noFill/>
                    </a:lnL>
                    <a:lnR w="0">
                      <a:noFill/>
                    </a:lnR>
                    <a:lnT w="0">
                      <a:noFill/>
                    </a:lnT>
                    <a:lnB w="9525">
                      <a:solidFill>
                        <a:srgbClr val="ECECEC"/>
                      </a:solidFill>
                    </a:lnB>
                    <a:noFill/>
                  </a:tcPr>
                </a:tc>
              </a:tr>
            </a:tbl>
          </a:graphicData>
        </a:graphic>
      </p:graphicFrame>
      <p:sp>
        <p:nvSpPr>
          <p:cNvPr id="9" name="TextBox 8"/>
          <p:cNvSpPr txBox="1"/>
          <p:nvPr/>
        </p:nvSpPr>
        <p:spPr>
          <a:xfrm>
            <a:off x="635508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58</a:t>
            </a:r>
          </a:p>
        </p:txBody>
      </p:sp>
      <p:sp>
        <p:nvSpPr>
          <p:cNvPr id="10" name="TextBox 9"/>
          <p:cNvSpPr txBox="1"/>
          <p:nvPr/>
        </p:nvSpPr>
        <p:spPr>
          <a:xfrm>
            <a:off x="635508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wards within 10 km</a:t>
            </a:r>
          </a:p>
        </p:txBody>
      </p:sp>
      <p:sp>
        <p:nvSpPr>
          <p:cNvPr id="11" name="TextBox 10"/>
          <p:cNvSpPr txBox="1"/>
          <p:nvPr/>
        </p:nvSpPr>
        <p:spPr>
          <a:xfrm>
            <a:off x="768096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35</a:t>
            </a:r>
          </a:p>
        </p:txBody>
      </p:sp>
      <p:sp>
        <p:nvSpPr>
          <p:cNvPr id="12" name="TextBox 11"/>
          <p:cNvSpPr txBox="1"/>
          <p:nvPr/>
        </p:nvSpPr>
        <p:spPr>
          <a:xfrm>
            <a:off x="768096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at 10–20 km</a:t>
            </a:r>
          </a:p>
        </p:txBody>
      </p:sp>
      <p:sp>
        <p:nvSpPr>
          <p:cNvPr id="13" name="TextBox 12"/>
          <p:cNvSpPr txBox="1"/>
          <p:nvPr/>
        </p:nvSpPr>
        <p:spPr>
          <a:xfrm>
            <a:off x="900684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32</a:t>
            </a:r>
          </a:p>
        </p:txBody>
      </p:sp>
      <p:sp>
        <p:nvSpPr>
          <p:cNvPr id="14" name="TextBox 13"/>
          <p:cNvSpPr txBox="1"/>
          <p:nvPr/>
        </p:nvSpPr>
        <p:spPr>
          <a:xfrm>
            <a:off x="900684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beyond 20 km</a:t>
            </a:r>
          </a:p>
        </p:txBody>
      </p:sp>
      <p:sp>
        <p:nvSpPr>
          <p:cNvPr id="15" name="TextBox 14"/>
          <p:cNvSpPr txBox="1"/>
          <p:nvPr/>
        </p:nvSpPr>
        <p:spPr>
          <a:xfrm>
            <a:off x="10332720" y="4023360"/>
            <a:ext cx="1280160" cy="457200"/>
          </a:xfrm>
          <a:prstGeom prst="rect">
            <a:avLst/>
          </a:prstGeom>
          <a:noFill/>
        </p:spPr>
        <p:txBody>
          <a:bodyPr wrap="square" lIns="0" tIns="0" rIns="0" bIns="0" anchor="t">
            <a:spAutoFit/>
          </a:bodyPr>
          <a:lstStyle/>
          <a:p>
            <a:pPr algn="l"/>
            <a:r>
              <a:rPr sz="2400" b="0" i="0">
                <a:solidFill>
                  <a:srgbClr val="002368"/>
                </a:solidFill>
                <a:latin typeface="Georgia"/>
              </a:rPr>
              <a:t>4</a:t>
            </a:r>
          </a:p>
        </p:txBody>
      </p:sp>
      <p:sp>
        <p:nvSpPr>
          <p:cNvPr id="16" name="TextBox 15"/>
          <p:cNvSpPr txBox="1"/>
          <p:nvPr/>
        </p:nvSpPr>
        <p:spPr>
          <a:xfrm>
            <a:off x="10332720" y="4480560"/>
            <a:ext cx="1280160" cy="365760"/>
          </a:xfrm>
          <a:prstGeom prst="rect">
            <a:avLst/>
          </a:prstGeom>
          <a:noFill/>
        </p:spPr>
        <p:txBody>
          <a:bodyPr wrap="square" lIns="0" tIns="0" rIns="0" bIns="0" anchor="t">
            <a:spAutoFit/>
          </a:bodyPr>
          <a:lstStyle/>
          <a:p>
            <a:pPr algn="l"/>
            <a:r>
              <a:rPr sz="950" b="0" i="0">
                <a:solidFill>
                  <a:srgbClr val="818283"/>
                </a:solidFill>
                <a:latin typeface="Arial"/>
              </a:rPr>
              <a:t>to locate</a:t>
            </a:r>
          </a:p>
        </p:txBody>
      </p:sp>
      <p:sp>
        <p:nvSpPr>
          <p:cNvPr id="17" name="TextBox 16"/>
          <p:cNvSpPr txBox="1"/>
          <p:nvPr/>
        </p:nvSpPr>
        <p:spPr>
          <a:xfrm>
            <a:off x="6355080" y="4983480"/>
            <a:ext cx="5285232" cy="914400"/>
          </a:xfrm>
          <a:prstGeom prst="rect">
            <a:avLst/>
          </a:prstGeom>
          <a:noFill/>
        </p:spPr>
        <p:txBody>
          <a:bodyPr wrap="square" lIns="0" tIns="0" rIns="0" bIns="0" anchor="t">
            <a:spAutoFit/>
          </a:bodyPr>
          <a:lstStyle/>
          <a:p>
            <a:pPr algn="l"/>
            <a:r>
              <a:rPr sz="1000" b="0" i="0">
                <a:solidFill>
                  <a:srgbClr val="000000"/>
                </a:solidFill>
                <a:latin typeface="Arial"/>
              </a:rPr>
              <a:t>Pilot councils: Arusha City, Arusha District, Hai and Meru. Villages: 29 within 10 km, 41 at 10–20 km, 10 beyond. Mtaa offices: none recorded yet (a gap). 11 offices publish an official inbox for an advance copy.</a:t>
            </a:r>
          </a:p>
        </p:txBody>
      </p:sp>
      <p:pic>
        <p:nvPicPr>
          <p:cNvPr id="18" name="Picture 17" descr="image3.png"/>
          <p:cNvPicPr>
            <a:picLocks noChangeAspect="1"/>
          </p:cNvPicPr>
          <p:nvPr/>
        </p:nvPicPr>
        <p:blipFill>
          <a:blip r:embed="rId2"/>
          <a:stretch>
            <a:fillRect/>
          </a:stretch>
        </p:blipFill>
        <p:spPr>
          <a:xfrm>
            <a:off x="548640" y="6272784"/>
            <a:ext cx="1143000" cy="274320"/>
          </a:xfrm>
          <a:prstGeom prst="rect">
            <a:avLst/>
          </a:prstGeom>
        </p:spPr>
      </p:pic>
      <p:sp>
        <p:nvSpPr>
          <p:cNvPr id="1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welfare run organisations and outreach_plans; government run government_office_profiles and export_resend_contacts.government_rows, 12 October 2026</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sp>
        <p:nvSpPr>
          <p:cNvPr id="4" name="Rounded Rectangle 3"/>
          <p:cNvSpPr/>
          <p:nvPr/>
        </p:nvSpPr>
        <p:spPr>
          <a:xfrm>
            <a:off x="548640" y="1371600"/>
            <a:ext cx="3931920" cy="530352"/>
          </a:xfrm>
          <a:prstGeom prst="roundRect">
            <a:avLst>
              <a:gd name="adj" fmla="val 12068"/>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31520" y="1408176"/>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direct</a:t>
            </a:r>
          </a:p>
        </p:txBody>
      </p:sp>
      <p:sp>
        <p:nvSpPr>
          <p:cNvPr id="6" name="TextBox 5"/>
          <p:cNvSpPr txBox="1"/>
          <p:nvPr/>
        </p:nvSpPr>
        <p:spPr>
          <a:xfrm>
            <a:off x="2194560" y="1408176"/>
            <a:ext cx="2194560" cy="457200"/>
          </a:xfrm>
          <a:prstGeom prst="rect">
            <a:avLst/>
          </a:prstGeom>
          <a:noFill/>
        </p:spPr>
        <p:txBody>
          <a:bodyPr wrap="square" lIns="0" tIns="0" rIns="0" bIns="0" anchor="ctr">
            <a:spAutoFit/>
          </a:bodyPr>
          <a:lstStyle/>
          <a:p>
            <a:pPr algn="l"/>
            <a:r>
              <a:rPr sz="850" b="0" i="0">
                <a:solidFill>
                  <a:srgbClr val="FFFFFF"/>
                </a:solidFill>
                <a:latin typeface="Arial"/>
              </a:rPr>
              <a:t>The person's own address, or the inbox for their role (hr@, md@, dg@)</a:t>
            </a:r>
          </a:p>
        </p:txBody>
      </p:sp>
      <p:sp>
        <p:nvSpPr>
          <p:cNvPr id="7" name="Rounded Rectangle 6"/>
          <p:cNvSpPr/>
          <p:nvPr/>
        </p:nvSpPr>
        <p:spPr>
          <a:xfrm>
            <a:off x="548640" y="1993392"/>
            <a:ext cx="3931920" cy="530352"/>
          </a:xfrm>
          <a:prstGeom prst="roundRect">
            <a:avLst>
              <a:gd name="adj" fmla="val 12068"/>
            </a:avLst>
          </a:prstGeom>
          <a:solidFill>
            <a:srgbClr val="1C4A8A"/>
          </a:solidFill>
          <a:ln w="12700">
            <a:solidFill>
              <a:srgbClr val="1C4A8A"/>
            </a:solidFill>
          </a:ln>
        </p:spPr>
        <p:txBody>
          <a:bodyPr rtlCol="0" anchor="ctr"/>
          <a:lstStyle/>
          <a:p>
            <a:pPr algn="ctr"/>
          </a:p>
        </p:txBody>
      </p:sp>
      <p:sp>
        <p:nvSpPr>
          <p:cNvPr id="8" name="TextBox 7"/>
          <p:cNvSpPr txBox="1"/>
          <p:nvPr/>
        </p:nvSpPr>
        <p:spPr>
          <a:xfrm>
            <a:off x="731520" y="2029968"/>
            <a:ext cx="1463040" cy="457200"/>
          </a:xfrm>
          <a:prstGeom prst="rect">
            <a:avLst/>
          </a:prstGeom>
          <a:noFill/>
        </p:spPr>
        <p:txBody>
          <a:bodyPr wrap="square" lIns="0" tIns="0" rIns="0" bIns="0" anchor="ctr">
            <a:spAutoFit/>
          </a:bodyPr>
          <a:lstStyle/>
          <a:p>
            <a:pPr algn="l"/>
            <a:r>
              <a:rPr sz="1150" b="1" i="0">
                <a:solidFill>
                  <a:srgbClr val="FFFFFF"/>
                </a:solidFill>
                <a:latin typeface="Arial"/>
              </a:rPr>
              <a:t>High · indirect</a:t>
            </a:r>
          </a:p>
        </p:txBody>
      </p:sp>
      <p:sp>
        <p:nvSpPr>
          <p:cNvPr id="9" name="TextBox 8"/>
          <p:cNvSpPr txBox="1"/>
          <p:nvPr/>
        </p:nvSpPr>
        <p:spPr>
          <a:xfrm>
            <a:off x="2194560" y="2029968"/>
            <a:ext cx="2194560" cy="457200"/>
          </a:xfrm>
          <a:prstGeom prst="rect">
            <a:avLst/>
          </a:prstGeom>
          <a:noFill/>
        </p:spPr>
        <p:txBody>
          <a:bodyPr wrap="square" lIns="0" tIns="0" rIns="0" bIns="0" anchor="ctr">
            <a:spAutoFit/>
          </a:bodyPr>
          <a:lstStyle/>
          <a:p>
            <a:pPr algn="l"/>
            <a:r>
              <a:rPr sz="850" b="0" i="0">
                <a:solidFill>
                  <a:srgbClr val="FFFFFF"/>
                </a:solidFill>
                <a:latin typeface="Arial"/>
              </a:rPr>
              <a:t>A general inbox (info@, reservations@) addressed to the named person</a:t>
            </a:r>
          </a:p>
        </p:txBody>
      </p:sp>
      <p:sp>
        <p:nvSpPr>
          <p:cNvPr id="10" name="Rounded Rectangle 9"/>
          <p:cNvSpPr/>
          <p:nvPr/>
        </p:nvSpPr>
        <p:spPr>
          <a:xfrm>
            <a:off x="548640" y="2615184"/>
            <a:ext cx="3931920" cy="530352"/>
          </a:xfrm>
          <a:prstGeom prst="roundRect">
            <a:avLst>
              <a:gd name="adj" fmla="val 1206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731520" y="2651760"/>
            <a:ext cx="1463040" cy="457200"/>
          </a:xfrm>
          <a:prstGeom prst="rect">
            <a:avLst/>
          </a:prstGeom>
          <a:noFill/>
        </p:spPr>
        <p:txBody>
          <a:bodyPr wrap="square" lIns="0" tIns="0" rIns="0" bIns="0" anchor="ctr">
            <a:spAutoFit/>
          </a:bodyPr>
          <a:lstStyle/>
          <a:p>
            <a:pPr algn="l"/>
            <a:r>
              <a:rPr sz="1150" b="1" i="0">
                <a:solidFill>
                  <a:srgbClr val="002368"/>
                </a:solidFill>
                <a:latin typeface="Arial"/>
              </a:rPr>
              <a:t>Medium</a:t>
            </a:r>
          </a:p>
        </p:txBody>
      </p:sp>
      <p:sp>
        <p:nvSpPr>
          <p:cNvPr id="12" name="TextBox 11"/>
          <p:cNvSpPr txBox="1"/>
          <p:nvPr/>
        </p:nvSpPr>
        <p:spPr>
          <a:xfrm>
            <a:off x="2194560" y="2651760"/>
            <a:ext cx="2194560" cy="457200"/>
          </a:xfrm>
          <a:prstGeom prst="rect">
            <a:avLst/>
          </a:prstGeom>
          <a:noFill/>
        </p:spPr>
        <p:txBody>
          <a:bodyPr wrap="square" lIns="0" tIns="0" rIns="0" bIns="0" anchor="ctr">
            <a:spAutoFit/>
          </a:bodyPr>
          <a:lstStyle/>
          <a:p>
            <a:pPr algn="l"/>
            <a:r>
              <a:rPr sz="850" b="0" i="0">
                <a:solidFill>
                  <a:srgbClr val="002368"/>
                </a:solidFill>
                <a:latin typeface="Arial"/>
              </a:rPr>
              <a:t>Ready, but to the organisation's inbox and needs routing, or a free-mail inbox it publishes</a:t>
            </a:r>
          </a:p>
        </p:txBody>
      </p:sp>
      <p:sp>
        <p:nvSpPr>
          <p:cNvPr id="13" name="Rounded Rectangle 12"/>
          <p:cNvSpPr/>
          <p:nvPr/>
        </p:nvSpPr>
        <p:spPr>
          <a:xfrm>
            <a:off x="548640" y="3236976"/>
            <a:ext cx="3931920" cy="530352"/>
          </a:xfrm>
          <a:prstGeom prst="roundRect">
            <a:avLst>
              <a:gd name="adj" fmla="val 12068"/>
            </a:avLst>
          </a:prstGeom>
          <a:solidFill>
            <a:srgbClr val="D9ECF9"/>
          </a:solidFill>
          <a:ln w="12700">
            <a:solidFill>
              <a:srgbClr val="D9ECF9"/>
            </a:solidFill>
          </a:ln>
        </p:spPr>
        <p:txBody>
          <a:bodyPr rtlCol="0" anchor="ctr"/>
          <a:lstStyle/>
          <a:p>
            <a:pPr algn="ctr"/>
          </a:p>
        </p:txBody>
      </p:sp>
      <p:sp>
        <p:nvSpPr>
          <p:cNvPr id="14" name="TextBox 13"/>
          <p:cNvSpPr txBox="1"/>
          <p:nvPr/>
        </p:nvSpPr>
        <p:spPr>
          <a:xfrm>
            <a:off x="731520" y="3273552"/>
            <a:ext cx="1463040" cy="457200"/>
          </a:xfrm>
          <a:prstGeom prst="rect">
            <a:avLst/>
          </a:prstGeom>
          <a:noFill/>
        </p:spPr>
        <p:txBody>
          <a:bodyPr wrap="square" lIns="0" tIns="0" rIns="0" bIns="0" anchor="ctr">
            <a:spAutoFit/>
          </a:bodyPr>
          <a:lstStyle/>
          <a:p>
            <a:pPr algn="l"/>
            <a:r>
              <a:rPr sz="1150" b="1" i="0">
                <a:solidFill>
                  <a:srgbClr val="002368"/>
                </a:solidFill>
                <a:latin typeface="Arial"/>
              </a:rPr>
              <a:t>Low</a:t>
            </a:r>
          </a:p>
        </p:txBody>
      </p:sp>
      <p:sp>
        <p:nvSpPr>
          <p:cNvPr id="15" name="TextBox 14"/>
          <p:cNvSpPr txBox="1"/>
          <p:nvPr/>
        </p:nvSpPr>
        <p:spPr>
          <a:xfrm>
            <a:off x="2194560" y="3273552"/>
            <a:ext cx="2194560" cy="457200"/>
          </a:xfrm>
          <a:prstGeom prst="rect">
            <a:avLst/>
          </a:prstGeom>
          <a:noFill/>
        </p:spPr>
        <p:txBody>
          <a:bodyPr wrap="square" lIns="0" tIns="0" rIns="0" bIns="0" anchor="ctr">
            <a:spAutoFit/>
          </a:bodyPr>
          <a:lstStyle/>
          <a:p>
            <a:pPr algn="l"/>
            <a:r>
              <a:rPr sz="850" b="0" i="0">
                <a:solidFill>
                  <a:srgbClr val="002368"/>
                </a:solidFill>
                <a:latin typeface="Arial"/>
              </a:rPr>
              <a:t>Held or needs research: red flags, closure, unconfirmed role or inbox, unlinked funder, checks</a:t>
            </a:r>
          </a:p>
        </p:txBody>
      </p:sp>
      <p:sp>
        <p:nvSpPr>
          <p:cNvPr id="16" name="Rounded Rectangle 15"/>
          <p:cNvSpPr/>
          <p:nvPr/>
        </p:nvSpPr>
        <p:spPr>
          <a:xfrm>
            <a:off x="548640" y="3858768"/>
            <a:ext cx="3931920" cy="530352"/>
          </a:xfrm>
          <a:prstGeom prst="roundRect">
            <a:avLst>
              <a:gd name="adj" fmla="val 12068"/>
            </a:avLst>
          </a:prstGeom>
          <a:solidFill>
            <a:srgbClr val="ECECEC"/>
          </a:solidFill>
          <a:ln w="12700">
            <a:solidFill>
              <a:srgbClr val="ECECEC"/>
            </a:solidFill>
          </a:ln>
        </p:spPr>
        <p:txBody>
          <a:bodyPr rtlCol="0" anchor="ctr"/>
          <a:lstStyle/>
          <a:p>
            <a:pPr algn="ctr"/>
          </a:p>
        </p:txBody>
      </p:sp>
      <p:sp>
        <p:nvSpPr>
          <p:cNvPr id="17" name="TextBox 16"/>
          <p:cNvSpPr txBox="1"/>
          <p:nvPr/>
        </p:nvSpPr>
        <p:spPr>
          <a:xfrm>
            <a:off x="731520" y="3895344"/>
            <a:ext cx="1463040" cy="457200"/>
          </a:xfrm>
          <a:prstGeom prst="rect">
            <a:avLst/>
          </a:prstGeom>
          <a:noFill/>
        </p:spPr>
        <p:txBody>
          <a:bodyPr wrap="square" lIns="0" tIns="0" rIns="0" bIns="0" anchor="ctr">
            <a:spAutoFit/>
          </a:bodyPr>
          <a:lstStyle/>
          <a:p>
            <a:pPr algn="l"/>
            <a:r>
              <a:rPr sz="1150" b="1" i="0">
                <a:solidFill>
                  <a:srgbClr val="002368"/>
                </a:solidFill>
                <a:latin typeface="Arial"/>
              </a:rPr>
              <a:t>No email</a:t>
            </a:r>
          </a:p>
        </p:txBody>
      </p:sp>
      <p:sp>
        <p:nvSpPr>
          <p:cNvPr id="18" name="TextBox 17"/>
          <p:cNvSpPr txBox="1"/>
          <p:nvPr/>
        </p:nvSpPr>
        <p:spPr>
          <a:xfrm>
            <a:off x="2194560" y="3895344"/>
            <a:ext cx="2194560" cy="457200"/>
          </a:xfrm>
          <a:prstGeom prst="rect">
            <a:avLst/>
          </a:prstGeom>
          <a:noFill/>
        </p:spPr>
        <p:txBody>
          <a:bodyPr wrap="square" lIns="0" tIns="0" rIns="0" bIns="0" anchor="ctr">
            <a:spAutoFit/>
          </a:bodyPr>
          <a:lstStyle/>
          <a:p>
            <a:pPr algn="l"/>
            <a:r>
              <a:rPr sz="850" b="0" i="0">
                <a:solidFill>
                  <a:srgbClr val="002368"/>
                </a:solidFill>
                <a:latin typeface="Arial"/>
              </a:rPr>
              <a:t>A phone only, or no route: the call sheets</a:t>
            </a:r>
          </a:p>
        </p:txBody>
      </p:sp>
      <p:graphicFrame>
        <p:nvGraphicFramePr>
          <p:cNvPr id="19" name="Table 18"/>
          <p:cNvGraphicFramePr>
            <a:graphicFrameLocks noGrp="1"/>
          </p:cNvGraphicFramePr>
          <p:nvPr/>
        </p:nvGraphicFramePr>
        <p:xfrm>
          <a:off x="4754880" y="1371600"/>
          <a:ext cx="6885432" cy="2057400"/>
        </p:xfrm>
        <a:graphic>
          <a:graphicData uri="http://schemas.openxmlformats.org/drawingml/2006/table">
            <a:tbl>
              <a:tblPr firstRow="0" bandRow="0">
                <a:tableStyleId>{2D5ABB26-0587-4C30-8999-92F81FD0307C}</a:tableStyleId>
              </a:tblPr>
              <a:tblGrid>
                <a:gridCol w="1463040"/>
                <a:gridCol w="1051560"/>
                <a:gridCol w="1051560"/>
                <a:gridCol w="914400"/>
                <a:gridCol w="822960"/>
                <a:gridCol w="1581912"/>
              </a:tblGrid>
              <a:tr h="411480">
                <a:tc>
                  <a:txBody>
                    <a:bodyPr wrap="square"/>
                    <a:lstStyle/>
                    <a:p>
                      <a:r>
                        <a:rPr sz="900" b="1" i="0" spc="100">
                          <a:solidFill>
                            <a:srgbClr val="818283"/>
                          </a:solidFill>
                          <a:latin typeface="Arial"/>
                        </a:rPr>
                        <a:t>TRACK</a:t>
                      </a:r>
                    </a:p>
                  </a:txBody>
                  <a:tcPr marL="0"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HIGH INDIRECT</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MEDIUM</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LOW</a:t>
                      </a:r>
                    </a:p>
                  </a:txBody>
                  <a:tcPr marL="54864" marR="54864" marT="36576" marB="36576" anchor="ctr">
                    <a:lnL w="0">
                      <a:noFill/>
                    </a:lnL>
                    <a:lnR w="0">
                      <a:noFill/>
                    </a:lnR>
                    <a:lnT w="0">
                      <a:noFill/>
                    </a:lnT>
                    <a:lnB w="12700">
                      <a:solidFill>
                        <a:srgbClr val="80BFEC"/>
                      </a:solidFill>
                    </a:lnB>
                    <a:noFill/>
                  </a:tcPr>
                </a:tc>
                <a:tc>
                  <a:txBody>
                    <a:bodyPr wrap="square"/>
                    <a:lstStyle/>
                    <a:p>
                      <a:pPr algn="r"/>
                      <a:r>
                        <a:rPr sz="900" b="1" i="0" spc="100">
                          <a:solidFill>
                            <a:srgbClr val="818283"/>
                          </a:solidFill>
                          <a:latin typeface="Arial"/>
                        </a:rPr>
                        <a:t>NO EMAIL</a:t>
                      </a:r>
                    </a:p>
                  </a:txBody>
                  <a:tcPr marL="54864" marR="54864" marT="36576" marB="36576" anchor="ctr">
                    <a:lnL w="0">
                      <a:noFill/>
                    </a:lnL>
                    <a:lnR w="0">
                      <a:noFill/>
                    </a:lnR>
                    <a:lnT w="0">
                      <a:noFill/>
                    </a:lnT>
                    <a:lnB w="12700">
                      <a:solidFill>
                        <a:srgbClr val="80BFEC"/>
                      </a:solidFill>
                    </a:lnB>
                    <a:noFill/>
                  </a:tcPr>
                </a:tc>
              </a:tr>
              <a:tr h="411480">
                <a:tc>
                  <a:txBody>
                    <a:bodyPr wrap="square"/>
                    <a:lstStyle/>
                    <a:p>
                      <a:r>
                        <a:rPr sz="1100" b="1" i="0">
                          <a:solidFill>
                            <a:srgbClr val="002368"/>
                          </a:solidFill>
                          <a:latin typeface="Arial"/>
                        </a:rPr>
                        <a:t>Companies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36</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349</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52</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569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8</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3</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Welfare</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14</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55</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117</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233 (call sheet)</a:t>
                      </a:r>
                    </a:p>
                  </a:txBody>
                  <a:tcPr marL="54864" marR="54864" marT="36576" marB="36576" anchor="ctr">
                    <a:lnL w="0">
                      <a:noFill/>
                    </a:lnL>
                    <a:lnR w="0">
                      <a:noFill/>
                    </a:lnR>
                    <a:lnT w="0">
                      <a:noFill/>
                    </a:lnT>
                    <a:lnB w="9525">
                      <a:solidFill>
                        <a:srgbClr val="ECECEC"/>
                      </a:solidFill>
                    </a:lnB>
                    <a:noFill/>
                  </a:tcPr>
                </a:tc>
              </a:tr>
              <a:tr h="411480">
                <a:tc>
                  <a:txBody>
                    <a:bodyPr wrap="square"/>
                    <a:lstStyle/>
                    <a:p>
                      <a:r>
                        <a:rPr sz="110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4 pilot councils</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0</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224 held</a:t>
                      </a:r>
                    </a:p>
                  </a:txBody>
                  <a:tcPr marL="54864" marR="54864" marT="36576" marB="36576" anchor="ctr">
                    <a:lnL w="0">
                      <a:noFill/>
                    </a:lnL>
                    <a:lnR w="0">
                      <a:noFill/>
                    </a:lnR>
                    <a:lnT w="0">
                      <a:noFill/>
                    </a:lnT>
                    <a:lnB w="9525">
                      <a:solidFill>
                        <a:srgbClr val="ECECEC"/>
                      </a:solidFill>
                    </a:lnB>
                    <a:noFill/>
                  </a:tcPr>
                </a:tc>
                <a:tc>
                  <a:txBody>
                    <a:bodyPr wrap="square"/>
                    <a:lstStyle/>
                    <a:p>
                      <a:pPr algn="r"/>
                      <a:r>
                        <a:rPr sz="1100" b="0" i="0">
                          <a:solidFill>
                            <a:srgbClr val="000000"/>
                          </a:solidFill>
                          <a:latin typeface="Arial"/>
                        </a:rPr>
                        <a:t>All 228 by hand</a:t>
                      </a:r>
                    </a:p>
                  </a:txBody>
                  <a:tcPr marL="54864" marR="54864" marT="36576" marB="36576" anchor="ctr">
                    <a:lnL w="0">
                      <a:noFill/>
                    </a:lnL>
                    <a:lnR w="0">
                      <a:noFill/>
                    </a:lnR>
                    <a:lnT w="0">
                      <a:noFill/>
                    </a:lnT>
                    <a:lnB w="9525">
                      <a:solidFill>
                        <a:srgbClr val="ECECEC"/>
                      </a:solidFill>
                    </a:lnB>
                    <a:noFill/>
                  </a:tcPr>
                </a:tc>
              </a:tr>
            </a:tbl>
          </a:graphicData>
        </a:graphic>
      </p:graphicFrame>
      <p:sp>
        <p:nvSpPr>
          <p:cNvPr id="20" name="TextBox 19"/>
          <p:cNvSpPr txBox="1"/>
          <p:nvPr/>
        </p:nvSpPr>
        <p:spPr>
          <a:xfrm>
            <a:off x="4754880" y="3611880"/>
            <a:ext cx="6858000" cy="502920"/>
          </a:xfrm>
          <a:prstGeom prst="rect">
            <a:avLst/>
          </a:prstGeom>
          <a:noFill/>
        </p:spPr>
        <p:txBody>
          <a:bodyPr wrap="square" lIns="0" tIns="0" rIns="0" bIns="0" anchor="t">
            <a:spAutoFit/>
          </a:bodyPr>
          <a:lstStyle/>
          <a:p>
            <a:pPr algn="l"/>
            <a:r>
              <a:rPr sz="1000" b="0" i="0">
                <a:solidFill>
                  <a:srgbClr val="818283"/>
                </a:solidFill>
                <a:latin typeface="Arial"/>
              </a:rPr>
              <a:t>Resend import files for 12 October, one per segment (not committed: they hold addresses). An address two rows share is exported once (18 this week).</a:t>
            </a:r>
          </a:p>
        </p:txBody>
      </p:sp>
      <p:sp>
        <p:nvSpPr>
          <p:cNvPr id="21" name="Rounded Rectangle 20"/>
          <p:cNvSpPr/>
          <p:nvPr/>
        </p:nvSpPr>
        <p:spPr>
          <a:xfrm>
            <a:off x="4754880" y="4206240"/>
            <a:ext cx="6885432" cy="1463040"/>
          </a:xfrm>
          <a:prstGeom prst="roundRect">
            <a:avLst>
              <a:gd name="adj" fmla="val 4375"/>
            </a:avLst>
          </a:prstGeom>
          <a:solidFill>
            <a:srgbClr val="FFF7E5"/>
          </a:solidFill>
          <a:ln w="12700">
            <a:solidFill>
              <a:srgbClr val="FFF7E5"/>
            </a:solidFill>
          </a:ln>
        </p:spPr>
        <p:txBody>
          <a:bodyPr rtlCol="0" anchor="ctr"/>
          <a:lstStyle/>
          <a:p>
            <a:pPr algn="ctr"/>
          </a:p>
        </p:txBody>
      </p:sp>
      <p:sp>
        <p:nvSpPr>
          <p:cNvPr id="22" name="TextBox 21"/>
          <p:cNvSpPr txBox="1"/>
          <p:nvPr/>
        </p:nvSpPr>
        <p:spPr>
          <a:xfrm>
            <a:off x="4983480" y="4343400"/>
            <a:ext cx="6492240" cy="274320"/>
          </a:xfrm>
          <a:prstGeom prst="rect">
            <a:avLst/>
          </a:prstGeom>
          <a:noFill/>
        </p:spPr>
        <p:txBody>
          <a:bodyPr wrap="square" lIns="0" tIns="0" rIns="0" bIns="0" anchor="t">
            <a:spAutoFit/>
          </a:bodyPr>
          <a:lstStyle/>
          <a:p>
            <a:pPr algn="l"/>
            <a:r>
              <a:rPr sz="1200" b="1" i="0">
                <a:solidFill>
                  <a:srgbClr val="002368"/>
                </a:solidFill>
                <a:latin typeface="Arial"/>
              </a:rPr>
              <a:t>Government delivery lists</a:t>
            </a:r>
          </a:p>
        </p:txBody>
      </p:sp>
      <p:sp>
        <p:nvSpPr>
          <p:cNvPr id="23" name="TextBox 22"/>
          <p:cNvSpPr txBox="1"/>
          <p:nvPr/>
        </p:nvSpPr>
        <p:spPr>
          <a:xfrm>
            <a:off x="4983480" y="4645152"/>
            <a:ext cx="6492240" cy="123444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Every office is segmented whatever the channel: letter addressee, who decides, who can decide quickly, postal and physical address, office phone, official email, release order.</a:t>
            </a:r>
          </a:p>
          <a:p>
            <a:pPr algn="l" marL="155448" indent="-155448">
              <a:spcAft>
                <a:spcPts val="300"/>
              </a:spcAft>
              <a:buFont typeface="Arial"/>
              <a:buChar char="•"/>
            </a:pPr>
            <a:r>
              <a:rPr sz="1000" b="0" i="0">
                <a:solidFill>
                  <a:srgbClr val="000000"/>
                </a:solidFill>
                <a:latin typeface="Arial"/>
              </a:rPr>
              <a:t>High: a pilot council letter is ready and the post holder is named by an official source within 180 days. Low: held until the pilot (councils), the B2G owner (districts, regions) or the council's introduction (wards, villages).</a:t>
            </a:r>
          </a:p>
        </p:txBody>
      </p:sp>
      <p:pic>
        <p:nvPicPr>
          <p:cNvPr id="24" name="Picture 23" descr="image3.png"/>
          <p:cNvPicPr>
            <a:picLocks noChangeAspect="1"/>
          </p:cNvPicPr>
          <p:nvPr/>
        </p:nvPicPr>
        <p:blipFill>
          <a:blip r:embed="rId2"/>
          <a:stretch>
            <a:fillRect/>
          </a:stretch>
        </p:blipFill>
        <p:spPr>
          <a:xfrm>
            <a:off x="548640" y="6272784"/>
            <a:ext cx="1143000" cy="274320"/>
          </a:xfrm>
          <a:prstGeom prst="rect">
            <a:avLst/>
          </a:prstGeom>
        </p:spPr>
      </p:pic>
      <p:sp>
        <p:nvSpPr>
          <p:cNvPr id="25"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Resend Segments - 2026-10-12; export_resend_contacts.py (docstring rules, company_rows, welfare_rows, government_rows)</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REACH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High-confidence reach is growing, through the person on the ground</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HIGH-CONFIDENCE EMAIL ROUTES, ALL TRACKS</a:t>
            </a:r>
          </a:p>
        </p:txBody>
      </p:sp>
      <p:graphicFrame>
        <p:nvGraphicFramePr>
          <p:cNvPr id="5" name="Chart 4"/>
          <p:cNvGraphicFramePr>
            <a:graphicFrameLocks noGrp="1"/>
          </p:cNvGraphicFramePr>
          <p:nvPr/>
        </p:nvGraphicFramePr>
        <p:xfrm>
          <a:off x="411480" y="1508760"/>
          <a:ext cx="5852160" cy="3291840"/>
        </p:xfrm>
        <a:graphic>
          <a:graphicData uri="http://schemas.openxmlformats.org/drawingml/2006/chart">
            <c:chart xmlns:c="http://schemas.openxmlformats.org/drawingml/2006/chart" r:id="rId2"/>
          </a:graphicData>
        </a:graphic>
      </p:graphicFrame>
      <p:sp>
        <p:nvSpPr>
          <p:cNvPr id="6" name="TextBox 5"/>
          <p:cNvSpPr txBox="1"/>
          <p:nvPr/>
        </p:nvSpPr>
        <p:spPr>
          <a:xfrm>
            <a:off x="548640" y="4846320"/>
            <a:ext cx="5577840" cy="1097280"/>
          </a:xfrm>
          <a:prstGeom prst="rect">
            <a:avLst/>
          </a:prstGeom>
          <a:noFill/>
        </p:spPr>
        <p:txBody>
          <a:bodyPr wrap="square" lIns="0" tIns="0" rIns="0" bIns="0" anchor="t">
            <a:spAutoFit/>
          </a:bodyPr>
          <a:lstStyle/>
          <a:p>
            <a:pPr algn="l"/>
            <a:r>
              <a:rPr sz="1000" b="0" i="0">
                <a:solidFill>
                  <a:srgbClr val="818283"/>
                </a:solidFill>
                <a:latin typeface="Arial"/>
              </a:rPr>
              <a:t>6 October: 255 high, before the direct/indirect split (decided 10 October). Direct grew 41 → 54 through the deep crawl, own-site extraction and the high-direct search wave of 11 October.</a:t>
            </a:r>
          </a:p>
        </p:txBody>
      </p:sp>
      <p:sp>
        <p:nvSpPr>
          <p:cNvPr id="7" name="Rounded Rectangle 6"/>
          <p:cNvSpPr/>
          <p:nvPr/>
        </p:nvSpPr>
        <p:spPr>
          <a:xfrm>
            <a:off x="6537960" y="1325880"/>
            <a:ext cx="5102352" cy="4617720"/>
          </a:xfrm>
          <a:prstGeom prst="roundRect">
            <a:avLst>
              <a:gd name="adj" fmla="val 1386"/>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812280" y="1508760"/>
            <a:ext cx="45720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 EVERYWHERE</a:t>
            </a:r>
          </a:p>
        </p:txBody>
      </p:sp>
      <p:sp>
        <p:nvSpPr>
          <p:cNvPr id="9" name="TextBox 8"/>
          <p:cNvSpPr txBox="1"/>
          <p:nvPr/>
        </p:nvSpPr>
        <p:spPr>
          <a:xfrm>
            <a:off x="6812280" y="1810512"/>
            <a:ext cx="4572000" cy="731520"/>
          </a:xfrm>
          <a:prstGeom prst="rect">
            <a:avLst/>
          </a:prstGeom>
          <a:noFill/>
        </p:spPr>
        <p:txBody>
          <a:bodyPr wrap="square" lIns="0" tIns="0" rIns="0" bIns="0" anchor="t">
            <a:spAutoFit/>
          </a:bodyPr>
          <a:lstStyle/>
          <a:p>
            <a:pPr algn="l"/>
            <a:r>
              <a:rPr sz="1700" b="0" i="0">
                <a:solidFill>
                  <a:srgbClr val="002368"/>
                </a:solidFill>
                <a:latin typeface="Georgia"/>
              </a:rPr>
              <a:t>The first message goes to the in-country person who can decide.</a:t>
            </a:r>
          </a:p>
        </p:txBody>
      </p:sp>
      <p:sp>
        <p:nvSpPr>
          <p:cNvPr id="10" name="TextBox 9"/>
          <p:cNvSpPr txBox="1"/>
          <p:nvPr/>
        </p:nvSpPr>
        <p:spPr>
          <a:xfrm>
            <a:off x="6812280" y="2697480"/>
            <a:ext cx="123444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11" name="TextBox 10"/>
          <p:cNvSpPr txBox="1"/>
          <p:nvPr/>
        </p:nvSpPr>
        <p:spPr>
          <a:xfrm>
            <a:off x="8046720" y="2697480"/>
            <a:ext cx="3429000" cy="731520"/>
          </a:xfrm>
          <a:prstGeom prst="rect">
            <a:avLst/>
          </a:prstGeom>
          <a:noFill/>
        </p:spPr>
        <p:txBody>
          <a:bodyPr wrap="square" lIns="0" tIns="0" rIns="0" bIns="0" anchor="t">
            <a:spAutoFit/>
          </a:bodyPr>
          <a:lstStyle/>
          <a:p>
            <a:pPr algn="l"/>
            <a:r>
              <a:rPr sz="1000" b="0" i="0">
                <a:solidFill>
                  <a:srgbClr val="000000"/>
                </a:solidFill>
                <a:latin typeface="Arial"/>
              </a:rPr>
              <a:t>The most senior person running the Tanzania or Arusha operation: owner, founder, MD, GM or HR head.</a:t>
            </a:r>
          </a:p>
        </p:txBody>
      </p:sp>
      <p:sp>
        <p:nvSpPr>
          <p:cNvPr id="12" name="TextBox 11"/>
          <p:cNvSpPr txBox="1"/>
          <p:nvPr/>
        </p:nvSpPr>
        <p:spPr>
          <a:xfrm>
            <a:off x="6812280" y="3483864"/>
            <a:ext cx="123444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13" name="TextBox 12"/>
          <p:cNvSpPr txBox="1"/>
          <p:nvPr/>
        </p:nvSpPr>
        <p:spPr>
          <a:xfrm>
            <a:off x="8046720" y="3483864"/>
            <a:ext cx="3429000" cy="731520"/>
          </a:xfrm>
          <a:prstGeom prst="rect">
            <a:avLst/>
          </a:prstGeom>
          <a:noFill/>
        </p:spPr>
        <p:txBody>
          <a:bodyPr wrap="square" lIns="0" tIns="0" rIns="0" bIns="0" anchor="t">
            <a:spAutoFit/>
          </a:bodyPr>
          <a:lstStyle/>
          <a:p>
            <a:pPr algn="l"/>
            <a:r>
              <a:rPr sz="1000" b="0" i="0">
                <a:solidFill>
                  <a:srgbClr val="000000"/>
                </a:solidFill>
                <a:latin typeface="Arial"/>
              </a:rPr>
              <a:t>The head of the home, country manager or programme director; a chair only when no executive is named.</a:t>
            </a:r>
          </a:p>
        </p:txBody>
      </p:sp>
      <p:sp>
        <p:nvSpPr>
          <p:cNvPr id="14" name="TextBox 13"/>
          <p:cNvSpPr txBox="1"/>
          <p:nvPr/>
        </p:nvSpPr>
        <p:spPr>
          <a:xfrm>
            <a:off x="6812280" y="4270248"/>
            <a:ext cx="1234440" cy="274320"/>
          </a:xfrm>
          <a:prstGeom prst="rect">
            <a:avLst/>
          </a:prstGeom>
          <a:noFill/>
        </p:spPr>
        <p:txBody>
          <a:bodyPr wrap="square" lIns="0" tIns="0" rIns="0" bIns="0" anchor="t">
            <a:spAutoFit/>
          </a:bodyPr>
          <a:lstStyle/>
          <a:p>
            <a:pPr algn="l"/>
            <a:r>
              <a:rPr sz="1100" b="1" i="0">
                <a:solidFill>
                  <a:srgbClr val="002368"/>
                </a:solidFill>
                <a:latin typeface="Arial"/>
              </a:rPr>
              <a:t>Escalation</a:t>
            </a:r>
          </a:p>
        </p:txBody>
      </p:sp>
      <p:sp>
        <p:nvSpPr>
          <p:cNvPr id="15" name="TextBox 14"/>
          <p:cNvSpPr txBox="1"/>
          <p:nvPr/>
        </p:nvSpPr>
        <p:spPr>
          <a:xfrm>
            <a:off x="8046720" y="4270248"/>
            <a:ext cx="3429000" cy="731520"/>
          </a:xfrm>
          <a:prstGeom prst="rect">
            <a:avLst/>
          </a:prstGeom>
          <a:noFill/>
        </p:spPr>
        <p:txBody>
          <a:bodyPr wrap="square" lIns="0" tIns="0" rIns="0" bIns="0" anchor="t">
            <a:spAutoFit/>
          </a:bodyPr>
          <a:lstStyle/>
          <a:p>
            <a:pPr algn="l"/>
            <a:r>
              <a:rPr sz="1000" b="0" i="0">
                <a:solidFill>
                  <a:srgbClr val="000000"/>
                </a:solidFill>
                <a:latin typeface="Arial"/>
              </a:rPr>
              <a:t>A group, regional or global executive is recorded, never copied, and gets no draft. Used only if the local office is silent after the follow-up, declines, or defers to head office.</a:t>
            </a:r>
          </a:p>
        </p:txBody>
      </p:sp>
      <p:sp>
        <p:nvSpPr>
          <p:cNvPr id="16" name="TextBox 15"/>
          <p:cNvSpPr txBox="1"/>
          <p:nvPr/>
        </p:nvSpPr>
        <p:spPr>
          <a:xfrm>
            <a:off x="6812280" y="5056632"/>
            <a:ext cx="1234440" cy="274320"/>
          </a:xfrm>
          <a:prstGeom prst="rect">
            <a:avLst/>
          </a:prstGeom>
          <a:noFill/>
        </p:spPr>
        <p:txBody>
          <a:bodyPr wrap="square" lIns="0" tIns="0" rIns="0" bIns="0" anchor="t">
            <a:spAutoFit/>
          </a:bodyPr>
          <a:lstStyle/>
          <a:p>
            <a:pPr algn="l"/>
            <a:r>
              <a:rPr sz="1100" b="1" i="0">
                <a:solidFill>
                  <a:srgbClr val="002368"/>
                </a:solidFill>
                <a:latin typeface="Arial"/>
              </a:rPr>
              <a:t>Never chosen</a:t>
            </a:r>
          </a:p>
        </p:txBody>
      </p:sp>
      <p:sp>
        <p:nvSpPr>
          <p:cNvPr id="17" name="TextBox 16"/>
          <p:cNvSpPr txBox="1"/>
          <p:nvPr/>
        </p:nvSpPr>
        <p:spPr>
          <a:xfrm>
            <a:off x="8046720" y="5056632"/>
            <a:ext cx="3429000" cy="731520"/>
          </a:xfrm>
          <a:prstGeom prst="rect">
            <a:avLst/>
          </a:prstGeom>
          <a:noFill/>
        </p:spPr>
        <p:txBody>
          <a:bodyPr wrap="square" lIns="0" tIns="0" rIns="0" bIns="0" anchor="t">
            <a:spAutoFit/>
          </a:bodyPr>
          <a:lstStyle/>
          <a:p>
            <a:pPr algn="l"/>
            <a:r>
              <a:rPr sz="1000" b="0" i="0">
                <a:solidFill>
                  <a:srgbClr val="000000"/>
                </a:solidFill>
                <a:latin typeface="Arial"/>
              </a:rPr>
              <a:t>Vice chairs, treasurers and secretaries.</a:t>
            </a:r>
          </a:p>
        </p:txBody>
      </p:sp>
      <p:pic>
        <p:nvPicPr>
          <p:cNvPr id="18" name="Picture 17" descr="image3.png"/>
          <p:cNvPicPr>
            <a:picLocks noChangeAspect="1"/>
          </p:cNvPicPr>
          <p:nvPr/>
        </p:nvPicPr>
        <p:blipFill>
          <a:blip r:embed="rId3"/>
          <a:stretch>
            <a:fillRect/>
          </a:stretch>
        </p:blipFill>
        <p:spPr>
          <a:xfrm>
            <a:off x="548640" y="6272784"/>
            <a:ext cx="1143000" cy="274320"/>
          </a:xfrm>
          <a:prstGeom prst="rect">
            <a:avLst/>
          </a:prstGeom>
        </p:spPr>
      </p:pic>
      <p:sp>
        <p:nvSpPr>
          <p:cNvPr id="1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Resend Segments 2026-10-06, 2026-10-10, 2026-10-12; Core Segments 2026-10-11 (recipient rule); research-playbook.md</a:t>
            </a:r>
          </a:p>
        </p:txBody>
      </p:sp>
      <p:sp>
        <p:nvSpPr>
          <p:cNvPr id="2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03</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THREE</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Drafting the first touch</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Ask for a meeting first; the offer follows. Reach the person who decides.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Why request-first, direct versus indirect</a:t>
            </a:r>
          </a:p>
          <a:p>
            <a:pPr algn="l" marL="155448" indent="-155448">
              <a:spcAft>
                <a:spcPts val="400"/>
              </a:spcAft>
              <a:buFont typeface="Arial"/>
              <a:buChar char="•"/>
            </a:pPr>
            <a:r>
              <a:rPr sz="1100" b="0" i="0">
                <a:solidFill>
                  <a:srgbClr val="FFFFFF"/>
                </a:solidFill>
                <a:latin typeface="Arial"/>
              </a:rPr>
              <a:t>The three first-touch cases, with counts</a:t>
            </a:r>
          </a:p>
          <a:p>
            <a:pPr algn="l" marL="155448" indent="-155448">
              <a:spcAft>
                <a:spcPts val="400"/>
              </a:spcAft>
              <a:buFont typeface="Arial"/>
              <a:buChar char="•"/>
            </a:pPr>
            <a:r>
              <a:rPr sz="1100" b="0" i="0">
                <a:solidFill>
                  <a:srgbClr val="FFFFFF"/>
                </a:solidFill>
                <a:latin typeface="Arial"/>
              </a:rPr>
              <a:t>Templates and redirect wording</a:t>
            </a:r>
          </a:p>
          <a:p>
            <a:pPr algn="l" marL="155448" indent="-155448">
              <a:spcAft>
                <a:spcPts val="400"/>
              </a:spcAft>
              <a:buFont typeface="Arial"/>
              <a:buChar char="•"/>
            </a:pPr>
            <a:r>
              <a:rPr sz="1100" b="0" i="0">
                <a:solidFill>
                  <a:srgbClr val="FFFFFF"/>
                </a:solidFill>
                <a:latin typeface="Arial"/>
              </a:rPr>
              <a:t>Offers and verified hooks by segment</a:t>
            </a:r>
          </a:p>
          <a:p>
            <a:pPr algn="l" marL="155448" indent="-155448">
              <a:spcAft>
                <a:spcPts val="400"/>
              </a:spcAft>
              <a:buFont typeface="Arial"/>
              <a:buChar char="•"/>
            </a:pPr>
            <a:r>
              <a:rPr sz="1100" b="0" i="0">
                <a:solidFill>
                  <a:srgbClr val="FFFFFF"/>
                </a:solidFill>
                <a:latin typeface="Arial"/>
              </a:rPr>
              <a:t>Calls, letters, the fallout thread and incentives</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PRINCIPLE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325880"/>
            <a:ext cx="11091672" cy="1417320"/>
          </a:xfrm>
          <a:prstGeom prst="roundRect">
            <a:avLst>
              <a:gd name="adj" fmla="val 4516"/>
            </a:avLst>
          </a:prstGeom>
          <a:solidFill>
            <a:srgbClr val="D9ECF9"/>
          </a:solidFill>
          <a:ln w="12700">
            <a:solidFill>
              <a:srgbClr val="D9ECF9"/>
            </a:solidFill>
          </a:ln>
        </p:spPr>
        <p:txBody>
          <a:bodyPr rtlCol="0" anchor="ctr"/>
          <a:lstStyle/>
          <a:p>
            <a:pPr algn="ctr"/>
          </a:p>
        </p:txBody>
      </p:sp>
      <p:pic>
        <p:nvPicPr>
          <p:cNvPr id="5" name="Picture 4" descr="image4.png"/>
          <p:cNvPicPr>
            <a:picLocks noChangeAspect="1"/>
          </p:cNvPicPr>
          <p:nvPr/>
        </p:nvPicPr>
        <p:blipFill>
          <a:blip r:embed="rId2"/>
          <a:stretch>
            <a:fillRect/>
          </a:stretch>
        </p:blipFill>
        <p:spPr>
          <a:xfrm>
            <a:off x="10561320" y="1444752"/>
            <a:ext cx="868680" cy="1131916"/>
          </a:xfrm>
          <a:prstGeom prst="rect">
            <a:avLst/>
          </a:prstGeom>
        </p:spPr>
      </p:pic>
      <p:sp>
        <p:nvSpPr>
          <p:cNvPr id="6" name="TextBox 5"/>
          <p:cNvSpPr txBox="1"/>
          <p:nvPr/>
        </p:nvSpPr>
        <p:spPr>
          <a:xfrm>
            <a:off x="914400" y="1508760"/>
            <a:ext cx="4389120" cy="1097280"/>
          </a:xfrm>
          <a:prstGeom prst="rect">
            <a:avLst/>
          </a:prstGeom>
          <a:noFill/>
        </p:spPr>
        <p:txBody>
          <a:bodyPr wrap="square" lIns="0" tIns="0" rIns="0" bIns="0" anchor="t">
            <a:spAutoFit/>
          </a:bodyPr>
          <a:lstStyle/>
          <a:p>
            <a:pPr algn="l"/>
            <a:r>
              <a:rPr sz="2600" b="0" i="0">
                <a:solidFill>
                  <a:srgbClr val="002368"/>
                </a:solidFill>
                <a:latin typeface="Georgia"/>
              </a:rPr>
              <a:t>Ask first. Offer second.</a:t>
            </a:r>
          </a:p>
        </p:txBody>
      </p:sp>
      <p:sp>
        <p:nvSpPr>
          <p:cNvPr id="7" name="TextBox 6"/>
          <p:cNvSpPr txBox="1"/>
          <p:nvPr/>
        </p:nvSpPr>
        <p:spPr>
          <a:xfrm>
            <a:off x="5394960" y="1481328"/>
            <a:ext cx="4937760" cy="1188720"/>
          </a:xfrm>
          <a:prstGeom prst="rect">
            <a:avLst/>
          </a:prstGeom>
          <a:noFill/>
        </p:spPr>
        <p:txBody>
          <a:bodyPr wrap="square" lIns="0" tIns="0" rIns="0" bIns="0" anchor="t">
            <a:spAutoFit/>
          </a:bodyPr>
          <a:lstStyle/>
          <a:p>
            <a:pPr algn="l"/>
            <a:r>
              <a:rPr sz="1200" b="1" i="0">
                <a:solidFill>
                  <a:srgbClr val="002368"/>
                </a:solidFill>
                <a:latin typeface="Arial"/>
              </a:rPr>
              <a:t>The first message asks for a short meeting, in person or by phone, and states no offer terms. </a:t>
            </a:r>
            <a:r>
              <a:rPr sz="1200" b="0" i="0">
                <a:solidFill>
                  <a:srgbClr val="000000"/>
                </a:solidFill>
                <a:latin typeface="Arial"/>
              </a:rPr>
              <a:t>The offer follows in the next message, once the conversation is open (decided 23 September 2026).</a:t>
            </a:r>
          </a:p>
        </p:txBody>
      </p:sp>
      <p:sp>
        <p:nvSpPr>
          <p:cNvPr id="8" name="TextBox 7"/>
          <p:cNvSpPr txBox="1"/>
          <p:nvPr/>
        </p:nvSpPr>
        <p:spPr>
          <a:xfrm>
            <a:off x="548640"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REQUEST-FIRST</a:t>
            </a:r>
          </a:p>
        </p:txBody>
      </p:sp>
      <p:sp>
        <p:nvSpPr>
          <p:cNvPr id="9" name="Hexagon 8"/>
          <p:cNvSpPr/>
          <p:nvPr/>
        </p:nvSpPr>
        <p:spPr>
          <a:xfrm>
            <a:off x="548640" y="3337560"/>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10" name="TextBox 9"/>
          <p:cNvSpPr txBox="1"/>
          <p:nvPr/>
        </p:nvSpPr>
        <p:spPr>
          <a:xfrm>
            <a:off x="1051560"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 first message that leads with discounts reads as a sales pitch and is easy to ignore.</a:t>
            </a:r>
          </a:p>
        </p:txBody>
      </p:sp>
      <p:sp>
        <p:nvSpPr>
          <p:cNvPr id="11" name="Hexagon 10"/>
          <p:cNvSpPr/>
          <p:nvPr/>
        </p:nvSpPr>
        <p:spPr>
          <a:xfrm>
            <a:off x="548640" y="4178808"/>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2" name="TextBox 11"/>
          <p:cNvSpPr txBox="1"/>
          <p:nvPr/>
        </p:nvSpPr>
        <p:spPr>
          <a:xfrm>
            <a:off x="1051560"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The meeting is a small, relevant ask the recipient can say yes to.</a:t>
            </a:r>
          </a:p>
        </p:txBody>
      </p:sp>
      <p:sp>
        <p:nvSpPr>
          <p:cNvPr id="13" name="Hexagon 12"/>
          <p:cNvSpPr/>
          <p:nvPr/>
        </p:nvSpPr>
        <p:spPr>
          <a:xfrm>
            <a:off x="548640" y="5020056"/>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1051560"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Terms need Finance's 2027 confirmation; keeping them out of the first touch avoids promising early.</a:t>
            </a:r>
          </a:p>
        </p:txBody>
      </p:sp>
      <p:sp>
        <p:nvSpPr>
          <p:cNvPr id="15" name="TextBox 14"/>
          <p:cNvSpPr txBox="1"/>
          <p:nvPr/>
        </p:nvSpPr>
        <p:spPr>
          <a:xfrm>
            <a:off x="6190488" y="3017520"/>
            <a:ext cx="5303520" cy="201168"/>
          </a:xfrm>
          <a:prstGeom prst="rect">
            <a:avLst/>
          </a:prstGeom>
          <a:noFill/>
        </p:spPr>
        <p:txBody>
          <a:bodyPr wrap="square" lIns="0" tIns="0" rIns="0" bIns="0" anchor="t">
            <a:spAutoFit/>
          </a:bodyPr>
          <a:lstStyle/>
          <a:p>
            <a:pPr algn="l"/>
            <a:r>
              <a:rPr sz="900" b="1" i="0" spc="200">
                <a:solidFill>
                  <a:srgbClr val="818283"/>
                </a:solidFill>
                <a:latin typeface="Arial"/>
              </a:rPr>
              <a:t>WHY DIRECT VERSUS INDIRECT</a:t>
            </a:r>
          </a:p>
        </p:txBody>
      </p:sp>
      <p:sp>
        <p:nvSpPr>
          <p:cNvPr id="16" name="Hexagon 15"/>
          <p:cNvSpPr/>
          <p:nvPr/>
        </p:nvSpPr>
        <p:spPr>
          <a:xfrm>
            <a:off x="6190488" y="3337560"/>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1</a:t>
            </a:r>
          </a:p>
        </p:txBody>
      </p:sp>
      <p:sp>
        <p:nvSpPr>
          <p:cNvPr id="17" name="TextBox 16"/>
          <p:cNvSpPr txBox="1"/>
          <p:nvPr/>
        </p:nvSpPr>
        <p:spPr>
          <a:xfrm>
            <a:off x="6693407" y="3319272"/>
            <a:ext cx="4846320" cy="777240"/>
          </a:xfrm>
          <a:prstGeom prst="rect">
            <a:avLst/>
          </a:prstGeom>
          <a:noFill/>
        </p:spPr>
        <p:txBody>
          <a:bodyPr wrap="square" lIns="0" tIns="0" rIns="0" bIns="0" anchor="t">
            <a:spAutoFit/>
          </a:bodyPr>
          <a:lstStyle/>
          <a:p>
            <a:pPr algn="l"/>
            <a:r>
              <a:rPr sz="1150" b="0" i="0">
                <a:solidFill>
                  <a:srgbClr val="000000"/>
                </a:solidFill>
                <a:latin typeface="Arial"/>
              </a:rPr>
              <a:t>An ambiguous request to a general inbox (info@, admin@) is likelier to be ignored, and may never reach the person who can decide.</a:t>
            </a:r>
          </a:p>
        </p:txBody>
      </p:sp>
      <p:sp>
        <p:nvSpPr>
          <p:cNvPr id="18" name="Hexagon 17"/>
          <p:cNvSpPr/>
          <p:nvPr/>
        </p:nvSpPr>
        <p:spPr>
          <a:xfrm>
            <a:off x="6190488" y="4178808"/>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2</a:t>
            </a:r>
          </a:p>
        </p:txBody>
      </p:sp>
      <p:sp>
        <p:nvSpPr>
          <p:cNvPr id="19" name="TextBox 18"/>
          <p:cNvSpPr txBox="1"/>
          <p:nvPr/>
        </p:nvSpPr>
        <p:spPr>
          <a:xfrm>
            <a:off x="6693407" y="4160520"/>
            <a:ext cx="4846320" cy="777240"/>
          </a:xfrm>
          <a:prstGeom prst="rect">
            <a:avLst/>
          </a:prstGeom>
          <a:noFill/>
        </p:spPr>
        <p:txBody>
          <a:bodyPr wrap="square" lIns="0" tIns="0" rIns="0" bIns="0" anchor="t">
            <a:spAutoFit/>
          </a:bodyPr>
          <a:lstStyle/>
          <a:p>
            <a:pPr algn="l"/>
            <a:r>
              <a:rPr sz="1150" b="0" i="0">
                <a:solidFill>
                  <a:srgbClr val="000000"/>
                </a:solidFill>
                <a:latin typeface="Arial"/>
              </a:rPr>
              <a:t>So the first job is to reach the decision-maker for staff benefits: HR, the welfare officer, the COO.</a:t>
            </a:r>
          </a:p>
        </p:txBody>
      </p:sp>
      <p:sp>
        <p:nvSpPr>
          <p:cNvPr id="20" name="Hexagon 19"/>
          <p:cNvSpPr/>
          <p:nvPr/>
        </p:nvSpPr>
        <p:spPr>
          <a:xfrm>
            <a:off x="6190488" y="5020056"/>
            <a:ext cx="347472" cy="30175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3</a:t>
            </a:r>
          </a:p>
        </p:txBody>
      </p:sp>
      <p:sp>
        <p:nvSpPr>
          <p:cNvPr id="21" name="TextBox 20"/>
          <p:cNvSpPr txBox="1"/>
          <p:nvPr/>
        </p:nvSpPr>
        <p:spPr>
          <a:xfrm>
            <a:off x="6693407" y="5001768"/>
            <a:ext cx="4846320" cy="777240"/>
          </a:xfrm>
          <a:prstGeom prst="rect">
            <a:avLst/>
          </a:prstGeom>
          <a:noFill/>
        </p:spPr>
        <p:txBody>
          <a:bodyPr wrap="square" lIns="0" tIns="0" rIns="0" bIns="0" anchor="t">
            <a:spAutoFit/>
          </a:bodyPr>
          <a:lstStyle/>
          <a:p>
            <a:pPr algn="l"/>
            <a:r>
              <a:rPr sz="1150" b="0" i="0">
                <a:solidFill>
                  <a:srgbClr val="000000"/>
                </a:solidFill>
                <a:latin typeface="Arial"/>
              </a:rPr>
              <a:t>How we reach them depends on what we know: their own address, a name behind a general inbox, or no name.</a:t>
            </a:r>
          </a:p>
        </p:txBody>
      </p:sp>
      <p:pic>
        <p:nvPicPr>
          <p:cNvPr id="22" name="Picture 21" descr="image3.png"/>
          <p:cNvPicPr>
            <a:picLocks noChangeAspect="1"/>
          </p:cNvPicPr>
          <p:nvPr/>
        </p:nvPicPr>
        <p:blipFill>
          <a:blip r:embed="rId3"/>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offer register (How messages use the offer); partnership-pipelines-draft.md §4 (approved 11 October 2026); first_touch.py docstring</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Three first-touch cases, set by who we can reach</a:t>
            </a:r>
          </a:p>
        </p:txBody>
      </p:sp>
      <p:sp>
        <p:nvSpPr>
          <p:cNvPr id="4" name="Rounded Rectangle 3"/>
          <p:cNvSpPr/>
          <p:nvPr/>
        </p:nvSpPr>
        <p:spPr>
          <a:xfrm>
            <a:off x="548640" y="1325880"/>
            <a:ext cx="3593592" cy="379476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822959" y="146304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6" name="TextBox 5"/>
          <p:cNvSpPr txBox="1"/>
          <p:nvPr/>
        </p:nvSpPr>
        <p:spPr>
          <a:xfrm>
            <a:off x="1645919" y="166420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7" name="TextBox 6"/>
          <p:cNvSpPr txBox="1"/>
          <p:nvPr/>
        </p:nvSpPr>
        <p:spPr>
          <a:xfrm>
            <a:off x="822959" y="228600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8" name="TextBox 7"/>
          <p:cNvSpPr txBox="1"/>
          <p:nvPr/>
        </p:nvSpPr>
        <p:spPr>
          <a:xfrm>
            <a:off x="822959" y="2880360"/>
            <a:ext cx="3108960" cy="91440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cxnSp>
        <p:nvCxnSpPr>
          <p:cNvPr id="9" name="Connector 8"/>
          <p:cNvCxnSpPr/>
          <p:nvPr/>
        </p:nvCxnSpPr>
        <p:spPr>
          <a:xfrm>
            <a:off x="822959" y="3931920"/>
            <a:ext cx="3044952" cy="0"/>
          </a:xfrm>
          <a:prstGeom prst="line">
            <a:avLst/>
          </a:prstGeom>
          <a:ln w="9525">
            <a:solidFill>
              <a:srgbClr val="8091B3"/>
            </a:solidFill>
          </a:ln>
        </p:spPr>
      </p:cxnSp>
      <p:sp>
        <p:nvSpPr>
          <p:cNvPr id="10" name="TextBox 9"/>
          <p:cNvSpPr txBox="1"/>
          <p:nvPr/>
        </p:nvSpPr>
        <p:spPr>
          <a:xfrm>
            <a:off x="822959" y="4023360"/>
            <a:ext cx="1463040" cy="640080"/>
          </a:xfrm>
          <a:prstGeom prst="rect">
            <a:avLst/>
          </a:prstGeom>
          <a:noFill/>
        </p:spPr>
        <p:txBody>
          <a:bodyPr wrap="square" lIns="0" tIns="0" rIns="0" bIns="0" anchor="t">
            <a:spAutoFit/>
          </a:bodyPr>
          <a:lstStyle/>
          <a:p>
            <a:pPr algn="l"/>
            <a:r>
              <a:rPr sz="3200" b="0" i="0">
                <a:solidFill>
                  <a:srgbClr val="FFC952"/>
                </a:solidFill>
                <a:latin typeface="Georgia"/>
              </a:rPr>
              <a:t>63</a:t>
            </a:r>
          </a:p>
        </p:txBody>
      </p:sp>
      <p:sp>
        <p:nvSpPr>
          <p:cNvPr id="11" name="TextBox 10"/>
          <p:cNvSpPr txBox="1"/>
          <p:nvPr/>
        </p:nvSpPr>
        <p:spPr>
          <a:xfrm>
            <a:off x="2057400" y="4114800"/>
            <a:ext cx="1920240" cy="822960"/>
          </a:xfrm>
          <a:prstGeom prst="rect">
            <a:avLst/>
          </a:prstGeom>
          <a:noFill/>
        </p:spPr>
        <p:txBody>
          <a:bodyPr wrap="square" lIns="0" tIns="0" rIns="0" bIns="0" anchor="t">
            <a:spAutoFit/>
          </a:bodyPr>
          <a:lstStyle/>
          <a:p>
            <a:pPr algn="l"/>
            <a:r>
              <a:rPr sz="950" b="0" i="0">
                <a:solidFill>
                  <a:srgbClr val="FFFFFF"/>
                </a:solidFill>
                <a:latin typeface="Arial"/>
              </a:rPr>
              <a:t>drafts: companies 40, introducers 4, welfare 19</a:t>
            </a:r>
          </a:p>
        </p:txBody>
      </p:sp>
      <p:sp>
        <p:nvSpPr>
          <p:cNvPr id="12" name="Rounded Rectangle 11"/>
          <p:cNvSpPr/>
          <p:nvPr/>
        </p:nvSpPr>
        <p:spPr>
          <a:xfrm>
            <a:off x="4297679" y="1325880"/>
            <a:ext cx="3593592" cy="3794760"/>
          </a:xfrm>
          <a:prstGeom prst="roundRect">
            <a:avLst>
              <a:gd name="adj" fmla="val 1781"/>
            </a:avLst>
          </a:prstGeom>
          <a:solidFill>
            <a:srgbClr val="80BFEC"/>
          </a:solidFill>
          <a:ln w="12700">
            <a:solidFill>
              <a:srgbClr val="80BFEC"/>
            </a:solidFill>
          </a:ln>
        </p:spPr>
        <p:txBody>
          <a:bodyPr rtlCol="0" anchor="ctr"/>
          <a:lstStyle/>
          <a:p>
            <a:pPr algn="ctr"/>
          </a:p>
        </p:txBody>
      </p:sp>
      <p:sp>
        <p:nvSpPr>
          <p:cNvPr id="13" name="TextBox 12"/>
          <p:cNvSpPr txBox="1"/>
          <p:nvPr/>
        </p:nvSpPr>
        <p:spPr>
          <a:xfrm>
            <a:off x="4571999"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The full letter to the inbox, explicitly addressed to them, with a routing line at the top.</a:t>
            </a:r>
          </a:p>
        </p:txBody>
      </p:sp>
      <p:cxnSp>
        <p:nvCxnSpPr>
          <p:cNvPr id="17" name="Connector 16"/>
          <p:cNvCxnSpPr/>
          <p:nvPr/>
        </p:nvCxnSpPr>
        <p:spPr>
          <a:xfrm>
            <a:off x="4571999" y="3931920"/>
            <a:ext cx="3044952" cy="0"/>
          </a:xfrm>
          <a:prstGeom prst="line">
            <a:avLst/>
          </a:prstGeom>
          <a:ln w="9525">
            <a:solidFill>
              <a:srgbClr val="80BFEC"/>
            </a:solidFill>
          </a:ln>
        </p:spPr>
      </p:cxnSp>
      <p:sp>
        <p:nvSpPr>
          <p:cNvPr id="18" name="TextBox 17"/>
          <p:cNvSpPr txBox="1"/>
          <p:nvPr/>
        </p:nvSpPr>
        <p:spPr>
          <a:xfrm>
            <a:off x="4571999"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408</a:t>
            </a:r>
          </a:p>
        </p:txBody>
      </p:sp>
      <p:sp>
        <p:nvSpPr>
          <p:cNvPr id="19" name="TextBox 18"/>
          <p:cNvSpPr txBox="1"/>
          <p:nvPr/>
        </p:nvSpPr>
        <p:spPr>
          <a:xfrm>
            <a:off x="580644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246, introducers 8, welfare 154</a:t>
            </a:r>
          </a:p>
        </p:txBody>
      </p:sp>
      <p:sp>
        <p:nvSpPr>
          <p:cNvPr id="20" name="Rounded Rectangle 19"/>
          <p:cNvSpPr/>
          <p:nvPr/>
        </p:nvSpPr>
        <p:spPr>
          <a:xfrm>
            <a:off x="8046719" y="1325880"/>
            <a:ext cx="3593592" cy="379476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8321040" y="146304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22" name="TextBox 21"/>
          <p:cNvSpPr txBox="1"/>
          <p:nvPr/>
        </p:nvSpPr>
        <p:spPr>
          <a:xfrm>
            <a:off x="9143999" y="166420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3" name="TextBox 22"/>
          <p:cNvSpPr txBox="1"/>
          <p:nvPr/>
        </p:nvSpPr>
        <p:spPr>
          <a:xfrm>
            <a:off x="8321040" y="228600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4" name="TextBox 23"/>
          <p:cNvSpPr txBox="1"/>
          <p:nvPr/>
        </p:nvSpPr>
        <p:spPr>
          <a:xfrm>
            <a:off x="8321040" y="2880360"/>
            <a:ext cx="3108960" cy="91440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cxnSp>
        <p:nvCxnSpPr>
          <p:cNvPr id="25" name="Connector 24"/>
          <p:cNvCxnSpPr/>
          <p:nvPr/>
        </p:nvCxnSpPr>
        <p:spPr>
          <a:xfrm>
            <a:off x="8321040" y="3931920"/>
            <a:ext cx="3044952" cy="0"/>
          </a:xfrm>
          <a:prstGeom prst="line">
            <a:avLst/>
          </a:prstGeom>
          <a:ln w="9525">
            <a:solidFill>
              <a:srgbClr val="80BFEC"/>
            </a:solidFill>
          </a:ln>
        </p:spPr>
      </p:cxnSp>
      <p:sp>
        <p:nvSpPr>
          <p:cNvPr id="26" name="TextBox 25"/>
          <p:cNvSpPr txBox="1"/>
          <p:nvPr/>
        </p:nvSpPr>
        <p:spPr>
          <a:xfrm>
            <a:off x="8321040" y="4023360"/>
            <a:ext cx="1463040" cy="640080"/>
          </a:xfrm>
          <a:prstGeom prst="rect">
            <a:avLst/>
          </a:prstGeom>
          <a:noFill/>
        </p:spPr>
        <p:txBody>
          <a:bodyPr wrap="square" lIns="0" tIns="0" rIns="0" bIns="0" anchor="t">
            <a:spAutoFit/>
          </a:bodyPr>
          <a:lstStyle/>
          <a:p>
            <a:pPr algn="l"/>
            <a:r>
              <a:rPr sz="3200" b="0" i="0">
                <a:solidFill>
                  <a:srgbClr val="002368"/>
                </a:solidFill>
                <a:latin typeface="Georgia"/>
              </a:rPr>
              <a:t>423</a:t>
            </a:r>
          </a:p>
        </p:txBody>
      </p:sp>
      <p:sp>
        <p:nvSpPr>
          <p:cNvPr id="27" name="TextBox 26"/>
          <p:cNvSpPr txBox="1"/>
          <p:nvPr/>
        </p:nvSpPr>
        <p:spPr>
          <a:xfrm>
            <a:off x="9555480" y="4114800"/>
            <a:ext cx="1920240" cy="822960"/>
          </a:xfrm>
          <a:prstGeom prst="rect">
            <a:avLst/>
          </a:prstGeom>
          <a:noFill/>
        </p:spPr>
        <p:txBody>
          <a:bodyPr wrap="square" lIns="0" tIns="0" rIns="0" bIns="0" anchor="t">
            <a:spAutoFit/>
          </a:bodyPr>
          <a:lstStyle/>
          <a:p>
            <a:pPr algn="l"/>
            <a:r>
              <a:rPr sz="950" b="0" i="0">
                <a:solidFill>
                  <a:srgbClr val="002368"/>
                </a:solidFill>
                <a:latin typeface="Arial"/>
              </a:rPr>
              <a:t>drafts: companies 380, introducers 4, welfare 39</a:t>
            </a:r>
          </a:p>
        </p:txBody>
      </p:sp>
      <p:sp>
        <p:nvSpPr>
          <p:cNvPr id="28" name="TextBox 27"/>
          <p:cNvSpPr txBox="1"/>
          <p:nvPr/>
        </p:nvSpPr>
        <p:spPr>
          <a:xfrm>
            <a:off x="548640" y="5285232"/>
            <a:ext cx="11064240" cy="329184"/>
          </a:xfrm>
          <a:prstGeom prst="rect">
            <a:avLst/>
          </a:prstGeom>
          <a:noFill/>
        </p:spPr>
        <p:txBody>
          <a:bodyPr wrap="square" lIns="0" tIns="0" rIns="0" bIns="0" anchor="t">
            <a:spAutoFit/>
          </a:bodyPr>
          <a:lstStyle/>
          <a:p>
            <a:pPr algn="l"/>
            <a:r>
              <a:rPr sz="1300" b="0" i="0">
                <a:solidFill>
                  <a:srgbClr val="002368"/>
                </a:solidFill>
                <a:latin typeface="Georgia"/>
              </a:rPr>
              <a:t>Plus 802 leads with no email (569 master, 233 welfare): case C by phone. Government: does not apply; letters go by hand, addressed by title.</a:t>
            </a:r>
          </a:p>
        </p:txBody>
      </p:sp>
      <p:sp>
        <p:nvSpPr>
          <p:cNvPr id="29" name="TextBox 28"/>
          <p:cNvSpPr txBox="1"/>
          <p:nvPr/>
        </p:nvSpPr>
        <p:spPr>
          <a:xfrm>
            <a:off x="548640" y="5715000"/>
            <a:ext cx="11064240" cy="365760"/>
          </a:xfrm>
          <a:prstGeom prst="rect">
            <a:avLst/>
          </a:prstGeom>
          <a:noFill/>
        </p:spPr>
        <p:txBody>
          <a:bodyPr wrap="square" lIns="0" tIns="0" rIns="0" bIns="0" anchor="t">
            <a:spAutoFit/>
          </a:bodyPr>
          <a:lstStyle/>
          <a:p>
            <a:pPr algn="l"/>
            <a:r>
              <a:rPr sz="950" b="0" i="0">
                <a:solidFill>
                  <a:srgbClr val="818283"/>
                </a:solidFill>
                <a:latin typeface="Arial"/>
              </a:rPr>
              <a:t>Counts are email drafts by their first line, before shared inboxes are collapsed. Only high and medium rows go first; low rows stay held at S0 until their check is done.</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master and welfare drafts (export_resend_contacts.company_rows and welfare_rows), case read from the body's first line (first_touch.py), 12 October 2026</a:t>
            </a:r>
          </a:p>
        </p:txBody>
      </p:sp>
      <p:sp>
        <p:nvSpPr>
          <p:cNvPr id="3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My name is &lt;Sender name&gt;, &lt;Sender role&gt; at Silverleaf Academy in Arusha.</a:t>
            </a:r>
          </a:p>
          <a:p>
            <a:pPr algn="l"/>
            <a:r>
              <a:rPr sz="1000" b="0" i="0">
                <a:solidFill>
                  <a:srgbClr val="000000"/>
                </a:solidFill>
                <a:latin typeface="Arial"/>
              </a:rPr>
              <a:t/>
            </a: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r>
              <a:rPr sz="1000" b="0" i="0">
                <a:solidFill>
                  <a:srgbClr val="000000"/>
                </a:solidFill>
                <a:latin typeface="Arial"/>
              </a:rPr>
              <a:t/>
            </a:r>
          </a:p>
          <a:p>
            <a:pPr algn="l"/>
            <a:r>
              <a:rPr sz="1000" b="0" i="0">
                <a:solidFill>
                  <a:srgbClr val="000000"/>
                </a:solidFill>
                <a:latin typeface="Arial"/>
              </a:rPr>
              <a:t>Would it be possible to arrange a short meeting, either in person or by phone, to discuss this further?</a:t>
            </a:r>
          </a:p>
          <a:p>
            <a:pPr algn="l"/>
            <a:r>
              <a:rPr sz="1000" b="0" i="0">
                <a:solidFill>
                  <a:srgbClr val="000000"/>
                </a:solidFill>
                <a:latin typeface="Arial"/>
              </a:rPr>
              <a:t/>
            </a: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r>
              <a:rPr sz="1000" b="0" i="0">
                <a:solidFill>
                  <a:srgbClr val="000000"/>
                </a:solidFill>
                <a:latin typeface="Arial"/>
              </a:rPr>
              <a:t/>
            </a:r>
          </a:p>
          <a:p>
            <a:pPr algn="l"/>
            <a:r>
              <a:rPr sz="1000" b="1" i="0">
                <a:solidFill>
                  <a:srgbClr val="002368"/>
                </a:solidFill>
                <a:latin typeface="Arial"/>
              </a:rPr>
              <a:t>For the attention of &lt;Full Name&gt;, &lt;Role&gt;. If this inbox does not reach them, we would be grateful if it could be forwarded.</a:t>
            </a:r>
          </a:p>
          <a:p>
            <a:pPr algn="l"/>
            <a:r>
              <a:rPr sz="1000" b="0" i="0">
                <a:solidFill>
                  <a:srgbClr val="000000"/>
                </a:solidFill>
                <a:latin typeface="Arial"/>
              </a:rPr>
              <a:t/>
            </a:r>
          </a:p>
          <a:p>
            <a:pPr algn="l"/>
            <a:r>
              <a:rPr sz="1000" b="0" i="0">
                <a:solidFill>
                  <a:srgbClr val="000000"/>
                </a:solidFill>
                <a:latin typeface="Arial"/>
              </a:rPr>
              <a:t>Dear &lt;Full Name&gt;,</a:t>
            </a:r>
          </a:p>
          <a:p>
            <a:pPr algn="l"/>
            <a:r>
              <a:rPr sz="1000" b="0" i="0">
                <a:solidFill>
                  <a:srgbClr val="000000"/>
                </a:solidFill>
                <a:latin typeface="Arial"/>
              </a:rPr>
              <a:t/>
            </a: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algn="l" marL="155448" indent="-155448">
              <a:spcAft>
                <a:spcPts val="200"/>
              </a:spcAft>
              <a:buFont typeface="Arial"/>
              <a:buChar char="•"/>
            </a:pPr>
            <a:r>
              <a:rPr sz="950" b="0" i="0">
                <a:solidFill>
                  <a:srgbClr val="000000"/>
                </a:solidFill>
                <a:latin typeface="Arial"/>
              </a:rPr>
              <a:t>The person's name, not 'he' or 'him'; no honorific (Mr, Dr) unless a source states it.</a:t>
            </a:r>
          </a:p>
          <a:p>
            <a:pPr algn="l" marL="155448" indent="-155448">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first_touch.py (attn, hr_lead); master drafts, 12 October 2026; partnership-pipelines-draft.md §4 and question 21</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r>
              <a:rPr sz="1050" b="0" i="0">
                <a:solidFill>
                  <a:srgbClr val="FFFFFF"/>
                </a:solidFill>
                <a:latin typeface="Arial"/>
              </a:rPr>
              <a:t/>
            </a:r>
          </a:p>
          <a:p>
            <a:pPr algn="l"/>
            <a:r>
              <a:rPr sz="1050" b="0" i="0">
                <a:solidFill>
                  <a:srgbClr val="FFFFFF"/>
                </a:solidFill>
                <a:latin typeface="Arial"/>
              </a:rPr>
              <a:t>Hello,</a:t>
            </a:r>
          </a:p>
          <a:p>
            <a:pPr algn="l"/>
            <a:r>
              <a:rPr sz="1050" b="0" i="0">
                <a:solidFill>
                  <a:srgbClr val="FFFFFF"/>
                </a:solidFill>
                <a:latin typeface="Arial"/>
              </a:rPr>
              <a:t/>
            </a:r>
          </a:p>
          <a:p>
            <a:pPr algn="l"/>
            <a:r>
              <a:rPr sz="1050" b="0" i="0">
                <a:solidFill>
                  <a:srgbClr val="FFFFFF"/>
                </a:solidFill>
                <a:latin typeface="Arial"/>
              </a:rPr>
              <a:t>I am writing from Silverleaf Academy in Arusha about a staff education benefit for the children of &lt;Organisation&gt;'s employees.</a:t>
            </a:r>
          </a:p>
          <a:p>
            <a:pPr algn="l"/>
            <a:r>
              <a:rPr sz="1050" b="0" i="0">
                <a:solidFill>
                  <a:srgbClr val="FFFFFF"/>
                </a:solidFill>
                <a:latin typeface="Arial"/>
              </a:rPr>
              <a:t/>
            </a:r>
          </a:p>
          <a:p>
            <a:pPr algn="l"/>
            <a:r>
              <a:rPr sz="1050" b="0" i="0">
                <a:solidFill>
                  <a:srgbClr val="FFFFFF"/>
                </a:solidFill>
                <a:latin typeface="Arial"/>
              </a:rPr>
              <a:t>Who looks after staff welfare and benefits (HR, the welfare officer or the COO)? We would like to send them a short note.</a:t>
            </a:r>
          </a:p>
          <a:p>
            <a:pPr algn="l"/>
            <a:r>
              <a:rPr sz="1050" b="0" i="0">
                <a:solidFill>
                  <a:srgbClr val="FFFFFF"/>
                </a:solidFill>
                <a:latin typeface="Arial"/>
              </a:rPr>
              <a:t/>
            </a: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firstRow="0" bandRow="0">
                <a:tableStyleId>{2D5ABB26-0587-4C30-8999-92F81FD0307C}</a:tableStyleId>
              </a:tblPr>
              <a:tblGrid>
                <a:gridCol w="1417320"/>
                <a:gridCol w="2148840"/>
                <a:gridCol w="3090672"/>
              </a:tblGrid>
              <a:tr h="566928">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tr>
              <a:tr h="566928">
                <a:tc>
                  <a:txBody>
                    <a:bodyPr wrap="square"/>
                    <a:lstStyle/>
                    <a:p>
                      <a:r>
                        <a:rPr sz="950" b="1" i="0">
                          <a:solidFill>
                            <a:srgbClr val="002368"/>
                          </a:solidFill>
                          <a:latin typeface="Arial"/>
                        </a:rPr>
                        <a:t>Employers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Public bodies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same as employers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heads human resources?</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the company's community giving?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sponsoring students' education at Silverleaf</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is the programme officer for your work in Tanzania?</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Homes and programmes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education of the children in &lt;Organisation&gt;'s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0">
                      <a:noFill/>
                    </a:lnT>
                    <a:lnB w="9525">
                      <a:solidFill>
                        <a:srgbClr val="ECECEC"/>
                      </a:solidFill>
                    </a:lnB>
                    <a:noFill/>
                  </a:tcPr>
                </a:tc>
              </a:tr>
              <a:tr h="566928">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an education benefit for &lt;Organisation&gt;'s members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0">
                      <a:noFill/>
                    </a:lnT>
                    <a:lnB w="9525">
                      <a:solidFill>
                        <a:srgbClr val="ECECEC"/>
                      </a:solidFill>
                    </a:lnB>
                    <a:noFill/>
                  </a:tcPr>
                </a:tc>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2"/>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first_touch.py SEGMENTS (six redirect wordings; sponsor and funder wording approved 12 October 2026); pipelines draft §4</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389120"/>
        </p:xfrm>
        <a:graphic>
          <a:graphicData uri="http://schemas.openxmlformats.org/drawingml/2006/table">
            <a:tbl>
              <a:tblPr firstRow="0" bandRow="0">
                <a:tableStyleId>{2D5ABB26-0587-4C30-8999-92F81FD0307C}</a:tableStyleId>
              </a:tblPr>
              <a:tblGrid>
                <a:gridCol w="1828800"/>
                <a:gridCol w="3246120"/>
                <a:gridCol w="4069080"/>
                <a:gridCol w="1947672"/>
              </a:tblGrid>
              <a:tr h="54864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Variant A sponsors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until it replies: follow-ups are blank, 'awaiting approved copy' (F20)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offer before a reply</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Savings groups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Family offer, plus the member-association group rate (OF07): 7% per student at 50, 12% at 100, 17% at 150</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must extend OF07; Kiswahili review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All primary-age children; Finance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The partner rate as a way to stretch sponsorship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Held without a verified link</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Introducers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Finance to confirm for 2027</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Government</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Register rule 5</a:t>
                      </a:r>
                    </a:p>
                  </a:txBody>
                  <a:tcPr marL="54864" marR="54864" marT="36576" marB="36576" anchor="ctr">
                    <a:lnL w="0">
                      <a:noFill/>
                    </a:lnL>
                    <a:lnR w="0">
                      <a:noFill/>
                    </a:lnR>
                    <a:lnT w="0">
                      <a:noFill/>
                    </a:lnT>
                    <a:lnB w="9525">
                      <a:solidFill>
                        <a:srgbClr val="ECECEC"/>
                      </a:solidFill>
                    </a:lnB>
                    <a:noFill/>
                  </a:tcPr>
                </a:tc>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data/reference/silverleaf-offer-register.json (version 2026-09-23-offer-v4) and offer-register.md; employer, introducer and welfare follow-up drafts, 12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868680"/>
          </a:xfrm>
          <a:prstGeom prst="rect">
            <a:avLst/>
          </a:prstGeom>
          <a:noFill/>
        </p:spPr>
        <p:txBody>
          <a:bodyPr wrap="square" lIns="0" tIns="0" rIns="0" bIns="0" anchor="t">
            <a:spAutoFit/>
          </a:bodyPr>
          <a:lstStyle/>
          <a:p>
            <a:pPr algn="l"/>
            <a:r>
              <a:rPr sz="1050" b="0" i="0">
                <a:solidFill>
                  <a:srgbClr val="000000"/>
                </a:solidFill>
                <a:latin typeface="Arial"/>
              </a:rPr>
              <a:t>Kept only when the exact claim has a source URL and a verification date; otherwise the hook is left blank and the message opens directly with the request. No flattery, no personal details, no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Example: 'Your website says the agency employs more than 100 local people, including guides, receptionists and cooks, so such a benefit could reach a wide team.' (workforce, verified 2 October)</a:t>
            </a:r>
          </a:p>
          <a:p>
            <a:pPr algn="l" marL="155448" indent="-155448">
              <a:spcAft>
                <a:spcPts val="300"/>
              </a:spcAft>
              <a:buFont typeface="Arial"/>
              <a:buChar char="•"/>
            </a:pPr>
            <a:r>
              <a:rPr sz="1000" b="0" i="0">
                <a:solidFill>
                  <a:srgbClr val="000000"/>
                </a:solidFill>
                <a:latin typeface="Arial"/>
              </a:rPr>
              <a:t>Hook types on file: workforce 33, staff welfare 20, community programme 20, education programme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4069080"/>
          </a:xfrm>
          <a:prstGeom prst="rect">
            <a:avLst/>
          </a:prstGeom>
          <a:noFill/>
        </p:spPr>
        <p:txBody>
          <a:bodyPr wrap="square" lIns="0" tIns="0" rIns="0" bIns="0" anchor="t">
            <a:spAutoFit/>
          </a:bodyPr>
          <a:lstStyle/>
          <a:p>
            <a:pPr algn="l"/>
            <a:r>
              <a:rPr sz="1100" b="1" i="0">
                <a:solidFill>
                  <a:srgbClr val="FFC952"/>
                </a:solidFill>
                <a:latin typeface="Arial"/>
              </a:rPr>
              <a:t>RE: Request for an introduction to give parents information on preparing children to start school</a:t>
            </a:r>
          </a:p>
          <a:p>
            <a:pPr algn="l"/>
            <a:r>
              <a:rPr sz="1100" b="0" i="0">
                <a:solidFill>
                  <a:srgbClr val="FFFFFF"/>
                </a:solidFill>
                <a:latin typeface="Arial"/>
              </a:rPr>
              <a:t/>
            </a:r>
          </a:p>
          <a:p>
            <a:pPr algn="l"/>
            <a:r>
              <a:rPr sz="1100" b="0" i="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r>
              <a:rPr sz="1100" b="0" i="0">
                <a:solidFill>
                  <a:srgbClr val="FFFFFF"/>
                </a:solidFill>
                <a:latin typeface="Arial"/>
              </a:rPr>
              <a:t/>
            </a:r>
          </a:p>
          <a:p>
            <a:pPr algn="l"/>
            <a:r>
              <a:rPr sz="1100" b="0" i="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r>
              <a:rPr sz="1100" b="0" i="0">
                <a:solidFill>
                  <a:srgbClr val="FFFFFF"/>
                </a:solidFill>
                <a:latin typeface="Arial"/>
              </a:rPr>
              <a:t/>
            </a:r>
          </a:p>
          <a:p>
            <a:pPr algn="l"/>
            <a:r>
              <a:rPr sz="1100" b="0" i="0">
                <a:solidFill>
                  <a:srgbClr val="80BFEC"/>
                </a:solidFill>
                <a:latin typeface="Arial"/>
              </a:rPr>
              <a:t>Formal Kiswahili on letterhead, to the office by title, by hand. No hook that is personal; no offer.</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hook-guidance.md; master outreach_plans.hook_status and hook_type; welfare outreach_plans.hook_source_url; Government Drafts - 2026-10-11</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BEYOND EMAIL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Calls and letters carry the leads email cannot reach</a:t>
            </a:r>
          </a:p>
        </p:txBody>
      </p:sp>
      <p:sp>
        <p:nvSpPr>
          <p:cNvPr id="4" name="Rounded Rectangle 3"/>
          <p:cNvSpPr/>
          <p:nvPr/>
        </p:nvSpPr>
        <p:spPr>
          <a:xfrm>
            <a:off x="548640"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5" name="TextBox 4"/>
          <p:cNvSpPr txBox="1"/>
          <p:nvPr/>
        </p:nvSpPr>
        <p:spPr>
          <a:xfrm>
            <a:off x="822959"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822959"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Front-desk call</a:t>
            </a:r>
          </a:p>
        </p:txBody>
      </p:sp>
      <p:sp>
        <p:nvSpPr>
          <p:cNvPr id="7" name="TextBox 6"/>
          <p:cNvSpPr txBox="1"/>
          <p:nvPr/>
        </p:nvSpPr>
        <p:spPr>
          <a:xfrm>
            <a:off x="822959"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General inbox, silent after the redirect request</a:t>
            </a:r>
          </a:p>
        </p:txBody>
      </p:sp>
      <p:sp>
        <p:nvSpPr>
          <p:cNvPr id="8" name="TextBox 7"/>
          <p:cNvSpPr txBox="1"/>
          <p:nvPr/>
        </p:nvSpPr>
        <p:spPr>
          <a:xfrm>
            <a:off x="822959"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After 2 working days, call the front desk and ask for the HR or welfare officer's name and email. Public bodies: the HR office or registry. Introducers: the secretariat. Homes: the home's office, then a letter left at the office.</a:t>
            </a:r>
          </a:p>
        </p:txBody>
      </p:sp>
      <p:sp>
        <p:nvSpPr>
          <p:cNvPr id="9" name="Rounded Rectangle 8"/>
          <p:cNvSpPr/>
          <p:nvPr/>
        </p:nvSpPr>
        <p:spPr>
          <a:xfrm>
            <a:off x="4297679" y="1325880"/>
            <a:ext cx="3593592" cy="3931920"/>
          </a:xfrm>
          <a:prstGeom prst="roundRect">
            <a:avLst>
              <a:gd name="adj" fmla="val 1781"/>
            </a:avLst>
          </a:prstGeom>
          <a:solidFill>
            <a:srgbClr val="002368"/>
          </a:solidFill>
          <a:ln w="12700">
            <a:solidFill>
              <a:srgbClr val="002368"/>
            </a:solidFill>
          </a:ln>
        </p:spPr>
        <p:txBody>
          <a:bodyPr rtlCol="0" anchor="ctr"/>
          <a:lstStyle/>
          <a:p>
            <a:pPr algn="ctr"/>
          </a:p>
        </p:txBody>
      </p:sp>
      <p:sp>
        <p:nvSpPr>
          <p:cNvPr id="10" name="TextBox 9"/>
          <p:cNvSpPr txBox="1"/>
          <p:nvPr/>
        </p:nvSpPr>
        <p:spPr>
          <a:xfrm>
            <a:off x="4571999" y="1481328"/>
            <a:ext cx="914400" cy="548640"/>
          </a:xfrm>
          <a:prstGeom prst="rect">
            <a:avLst/>
          </a:prstGeom>
          <a:noFill/>
        </p:spPr>
        <p:txBody>
          <a:bodyPr wrap="square" lIns="0" tIns="0" rIns="0" bIns="0" anchor="t">
            <a:spAutoFit/>
          </a:bodyPr>
          <a:lstStyle/>
          <a:p>
            <a:pPr algn="l"/>
            <a:r>
              <a:rPr sz="3000" b="0" i="0">
                <a:solidFill>
                  <a:srgbClr val="FFC952"/>
                </a:solidFill>
                <a:latin typeface="Georgia"/>
              </a:rPr>
              <a:t>02</a:t>
            </a:r>
          </a:p>
        </p:txBody>
      </p:sp>
      <p:sp>
        <p:nvSpPr>
          <p:cNvPr id="11" name="TextBox 10"/>
          <p:cNvSpPr txBox="1"/>
          <p:nvPr/>
        </p:nvSpPr>
        <p:spPr>
          <a:xfrm>
            <a:off x="4571999" y="2103120"/>
            <a:ext cx="3108960" cy="320040"/>
          </a:xfrm>
          <a:prstGeom prst="rect">
            <a:avLst/>
          </a:prstGeom>
          <a:noFill/>
        </p:spPr>
        <p:txBody>
          <a:bodyPr wrap="square" lIns="0" tIns="0" rIns="0" bIns="0" anchor="t">
            <a:spAutoFit/>
          </a:bodyPr>
          <a:lstStyle/>
          <a:p>
            <a:pPr algn="l"/>
            <a:r>
              <a:rPr sz="1600" b="1" i="0">
                <a:solidFill>
                  <a:srgbClr val="FFFFFF"/>
                </a:solidFill>
                <a:latin typeface="Arial"/>
              </a:rPr>
              <a:t>Call sheet</a:t>
            </a:r>
          </a:p>
        </p:txBody>
      </p:sp>
      <p:sp>
        <p:nvSpPr>
          <p:cNvPr id="12" name="TextBox 11"/>
          <p:cNvSpPr txBox="1"/>
          <p:nvPr/>
        </p:nvSpPr>
        <p:spPr>
          <a:xfrm>
            <a:off x="4571999" y="2468880"/>
            <a:ext cx="3108960" cy="502920"/>
          </a:xfrm>
          <a:prstGeom prst="rect">
            <a:avLst/>
          </a:prstGeom>
          <a:noFill/>
        </p:spPr>
        <p:txBody>
          <a:bodyPr wrap="square" lIns="0" tIns="0" rIns="0" bIns="0" anchor="t">
            <a:spAutoFit/>
          </a:bodyPr>
          <a:lstStyle/>
          <a:p>
            <a:pPr algn="l"/>
            <a:r>
              <a:rPr sz="1050" b="1" i="0">
                <a:solidFill>
                  <a:srgbClr val="80BFEC"/>
                </a:solidFill>
                <a:latin typeface="Arial"/>
              </a:rPr>
              <a:t>802 leads with no email: 569 master, 233 welfare</a:t>
            </a:r>
          </a:p>
        </p:txBody>
      </p:sp>
      <p:sp>
        <p:nvSpPr>
          <p:cNvPr id="13" name="TextBox 12"/>
          <p:cNvSpPr txBox="1"/>
          <p:nvPr/>
        </p:nvSpPr>
        <p:spPr>
          <a:xfrm>
            <a:off x="4571999" y="3017520"/>
            <a:ext cx="3108960" cy="2194560"/>
          </a:xfrm>
          <a:prstGeom prst="rect">
            <a:avLst/>
          </a:prstGeom>
          <a:noFill/>
        </p:spPr>
        <p:txBody>
          <a:bodyPr wrap="square" lIns="0" tIns="0" rIns="0" bIns="0" anchor="t">
            <a:spAutoFit/>
          </a:bodyPr>
          <a:lstStyle/>
          <a:p>
            <a:pPr algn="l"/>
            <a:r>
              <a:rPr sz="1050" b="0" i="0">
                <a:solidFill>
                  <a:srgbClr val="D9ECF9"/>
                </a:solidFill>
                <a:latin typeface="Arial"/>
              </a:rPr>
              <a:t>A front-desk call asking the redirect question, two attempts on different days within 5 working days; the first message then follows 'as discussed'. Start with the 50 hotels and 18 hospitals and clinics that publish a phone.</a:t>
            </a:r>
          </a:p>
        </p:txBody>
      </p:sp>
      <p:sp>
        <p:nvSpPr>
          <p:cNvPr id="14" name="Rounded Rectangle 13"/>
          <p:cNvSpPr/>
          <p:nvPr/>
        </p:nvSpPr>
        <p:spPr>
          <a:xfrm>
            <a:off x="8046719" y="1325880"/>
            <a:ext cx="3593592" cy="3931920"/>
          </a:xfrm>
          <a:prstGeom prst="roundRect">
            <a:avLst>
              <a:gd name="adj" fmla="val 1781"/>
            </a:avLst>
          </a:prstGeom>
          <a:solidFill>
            <a:srgbClr val="D9ECF9"/>
          </a:solidFill>
          <a:ln w="12700">
            <a:solidFill>
              <a:srgbClr val="D9ECF9"/>
            </a:solidFill>
          </a:ln>
        </p:spPr>
        <p:txBody>
          <a:bodyPr rtlCol="0" anchor="ctr"/>
          <a:lstStyle/>
          <a:p>
            <a:pPr algn="ctr"/>
          </a:p>
        </p:txBody>
      </p:sp>
      <p:sp>
        <p:nvSpPr>
          <p:cNvPr id="15" name="TextBox 14"/>
          <p:cNvSpPr txBox="1"/>
          <p:nvPr/>
        </p:nvSpPr>
        <p:spPr>
          <a:xfrm>
            <a:off x="8321040" y="1481328"/>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8321040" y="2103120"/>
            <a:ext cx="3108960" cy="320040"/>
          </a:xfrm>
          <a:prstGeom prst="rect">
            <a:avLst/>
          </a:prstGeom>
          <a:noFill/>
        </p:spPr>
        <p:txBody>
          <a:bodyPr wrap="square" lIns="0" tIns="0" rIns="0" bIns="0" anchor="t">
            <a:spAutoFit/>
          </a:bodyPr>
          <a:lstStyle/>
          <a:p>
            <a:pPr algn="l"/>
            <a:r>
              <a:rPr sz="1600" b="1" i="0">
                <a:solidFill>
                  <a:srgbClr val="002368"/>
                </a:solidFill>
                <a:latin typeface="Arial"/>
              </a:rPr>
              <a:t>Hand-delivered letter</a:t>
            </a:r>
          </a:p>
        </p:txBody>
      </p:sp>
      <p:sp>
        <p:nvSpPr>
          <p:cNvPr id="17" name="TextBox 16"/>
          <p:cNvSpPr txBox="1"/>
          <p:nvPr/>
        </p:nvSpPr>
        <p:spPr>
          <a:xfrm>
            <a:off x="8321040" y="2468880"/>
            <a:ext cx="3108960" cy="502920"/>
          </a:xfrm>
          <a:prstGeom prst="rect">
            <a:avLst/>
          </a:prstGeom>
          <a:noFill/>
        </p:spPr>
        <p:txBody>
          <a:bodyPr wrap="square" lIns="0" tIns="0" rIns="0" bIns="0" anchor="t">
            <a:spAutoFit/>
          </a:bodyPr>
          <a:lstStyle/>
          <a:p>
            <a:pPr algn="l"/>
            <a:r>
              <a:rPr sz="1050" b="1" i="0">
                <a:solidFill>
                  <a:srgbClr val="818283"/>
                </a:solidFill>
                <a:latin typeface="Arial"/>
              </a:rPr>
              <a:t>The nearest P1 and P2 leads</a:t>
            </a:r>
          </a:p>
        </p:txBody>
      </p:sp>
      <p:sp>
        <p:nvSpPr>
          <p:cNvPr id="18" name="TextBox 17"/>
          <p:cNvSpPr txBox="1"/>
          <p:nvPr/>
        </p:nvSpPr>
        <p:spPr>
          <a:xfrm>
            <a:off x="8321040" y="3017520"/>
            <a:ext cx="3108960" cy="2194560"/>
          </a:xfrm>
          <a:prstGeom prst="rect">
            <a:avLst/>
          </a:prstGeom>
          <a:noFill/>
        </p:spPr>
        <p:txBody>
          <a:bodyPr wrap="square" lIns="0" tIns="0" rIns="0" bIns="0" anchor="t">
            <a:spAutoFit/>
          </a:bodyPr>
          <a:lstStyle/>
          <a:p>
            <a:pPr algn="l"/>
            <a:r>
              <a:rPr sz="1050" b="0" i="0">
                <a:solidFill>
                  <a:srgbClr val="000000"/>
                </a:solidFill>
                <a:latin typeface="Arial"/>
              </a:rPr>
              <a:t>If the call gives no name or route, a letter is delivered by hand; then dormant (dormant_no_route) and re-tried once at the next intake window. Savings groups get a Kiswahili letter; government letters always go by hand.</a:t>
            </a:r>
          </a:p>
        </p:txBody>
      </p:sp>
      <p:sp>
        <p:nvSpPr>
          <p:cNvPr id="19" name="Rounded Rectangle 18"/>
          <p:cNvSpPr/>
          <p:nvPr/>
        </p:nvSpPr>
        <p:spPr>
          <a:xfrm>
            <a:off x="548640" y="5440680"/>
            <a:ext cx="11091672" cy="548640"/>
          </a:xfrm>
          <a:prstGeom prst="roundRect">
            <a:avLst>
              <a:gd name="adj" fmla="val 11666"/>
            </a:avLst>
          </a:prstGeom>
          <a:solidFill>
            <a:srgbClr val="FFF7E5"/>
          </a:solidFill>
          <a:ln w="12700">
            <a:solidFill>
              <a:srgbClr val="FFF7E5"/>
            </a:solidFill>
          </a:ln>
        </p:spPr>
        <p:txBody>
          <a:bodyPr rtlCol="0" anchor="ctr"/>
          <a:lstStyle/>
          <a:p>
            <a:pPr algn="ctr"/>
          </a:p>
        </p:txBody>
      </p:sp>
      <p:sp>
        <p:nvSpPr>
          <p:cNvPr id="20" name="Hexagon 19"/>
          <p:cNvSpPr/>
          <p:nvPr/>
        </p:nvSpPr>
        <p:spPr>
          <a:xfrm>
            <a:off x="777240" y="5641848"/>
            <a:ext cx="292608" cy="256032"/>
          </a:xfrm>
          <a:prstGeom prst="hexagon">
            <a:avLst>
              <a:gd name="adj" fmla="val 25000"/>
              <a:gd name="vf" fmla="val 115470"/>
            </a:avLst>
          </a:prstGeom>
          <a:solidFill>
            <a:srgbClr val="FFC952"/>
          </a:solidFill>
          <a:ln>
            <a:noFill/>
          </a:ln>
        </p:spPr>
        <p:txBody>
          <a:bodyPr rtlCol="0" anchor="ctr" wrap="square" lIns="0" tIns="0" rIns="0" bIns="0"/>
          <a:lstStyle/>
          <a:p>
            <a:pPr algn="ctr"/>
            <a:r>
              <a:rPr sz="1000" b="1" i="0">
                <a:solidFill>
                  <a:srgbClr val="002368"/>
                </a:solidFill>
                <a:latin typeface="Arial"/>
              </a:rPr>
              <a:t>!</a:t>
            </a:r>
          </a:p>
        </p:txBody>
      </p:sp>
      <p:sp>
        <p:nvSpPr>
          <p:cNvPr id="21" name="TextBox 20"/>
          <p:cNvSpPr txBox="1"/>
          <p:nvPr/>
        </p:nvSpPr>
        <p:spPr>
          <a:xfrm>
            <a:off x="1234440" y="5623560"/>
            <a:ext cx="10177272" cy="228600"/>
          </a:xfrm>
          <a:prstGeom prst="rect">
            <a:avLst/>
          </a:prstGeom>
          <a:noFill/>
        </p:spPr>
        <p:txBody>
          <a:bodyPr wrap="square" lIns="0" tIns="0" rIns="0" bIns="0" anchor="t">
            <a:spAutoFit/>
          </a:bodyPr>
          <a:lstStyle/>
          <a:p>
            <a:pPr algn="l">
              <a:spcAft>
                <a:spcPts val="300"/>
              </a:spcAft>
            </a:pPr>
            <a:r>
              <a:rPr sz="1050" b="1" i="0">
                <a:solidFill>
                  <a:srgbClr val="002368"/>
                </a:solidFill>
                <a:latin typeface="Arial"/>
              </a:rPr>
              <a:t>Funders abroad: email only. </a:t>
            </a:r>
            <a:r>
              <a:rPr sz="1050" b="0" i="0">
                <a:solidFill>
                  <a:srgbClr val="000000"/>
                </a:solidFill>
                <a:latin typeface="Arial"/>
              </a:rPr>
              <a:t>No call or letter; dormant until the funder's next budget cycle. Homes are never visited unannounced: visits follow the safeguarding protocol.</a:t>
            </a:r>
          </a:p>
        </p:txBody>
      </p:sp>
      <p:pic>
        <p:nvPicPr>
          <p:cNvPr id="22" name="Picture 21" descr="image3.png"/>
          <p:cNvPicPr>
            <a:picLocks noChangeAspect="1"/>
          </p:cNvPicPr>
          <p:nvPr/>
        </p:nvPicPr>
        <p:blipFill>
          <a:blip r:embed="rId2"/>
          <a:stretch>
            <a:fillRect/>
          </a:stretch>
        </p:blipFill>
        <p:spPr>
          <a:xfrm>
            <a:off x="548640" y="6272784"/>
            <a:ext cx="1143000" cy="274320"/>
          </a:xfrm>
          <a:prstGeom prst="rect">
            <a:avLst/>
          </a:prstGeom>
        </p:spPr>
      </p:pic>
      <p:sp>
        <p:nvSpPr>
          <p:cNvPr id="23"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§5 and §12; first_touch.py NEXT_TOUCH; open question 15</a:t>
            </a:r>
          </a:p>
        </p:txBody>
      </p:sp>
      <p:sp>
        <p:nvSpPr>
          <p:cNvPr id="2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NAMED-PERSON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named person gets three touches, then one escalation</a:t>
            </a:r>
          </a:p>
        </p:txBody>
      </p:sp>
      <p:sp>
        <p:nvSpPr>
          <p:cNvPr id="4" name="TextBox 3"/>
          <p:cNvSpPr txBox="1"/>
          <p:nvPr/>
        </p:nvSpPr>
        <p:spPr>
          <a:xfrm>
            <a:off x="548640"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DAY 0</a:t>
            </a:r>
          </a:p>
        </p:txBody>
      </p:sp>
      <p:sp>
        <p:nvSpPr>
          <p:cNvPr id="5" name="Rounded Rectangle 4"/>
          <p:cNvSpPr/>
          <p:nvPr/>
        </p:nvSpPr>
        <p:spPr>
          <a:xfrm>
            <a:off x="548640" y="1600200"/>
            <a:ext cx="2651760" cy="2148840"/>
          </a:xfrm>
          <a:prstGeom prst="roundRect">
            <a:avLst>
              <a:gd name="adj" fmla="val 2978"/>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731520" y="1737360"/>
            <a:ext cx="2286000" cy="320040"/>
          </a:xfrm>
          <a:prstGeom prst="rect">
            <a:avLst/>
          </a:prstGeom>
          <a:noFill/>
        </p:spPr>
        <p:txBody>
          <a:bodyPr wrap="square" lIns="0" tIns="0" rIns="0" bIns="0" anchor="t">
            <a:spAutoFit/>
          </a:bodyPr>
          <a:lstStyle/>
          <a:p>
            <a:pPr algn="l"/>
            <a:r>
              <a:rPr sz="1300" b="1" i="0">
                <a:solidFill>
                  <a:srgbClr val="FFFFFF"/>
                </a:solidFill>
                <a:latin typeface="Arial"/>
              </a:rPr>
              <a:t>First message</a:t>
            </a:r>
          </a:p>
        </p:txBody>
      </p:sp>
      <p:sp>
        <p:nvSpPr>
          <p:cNvPr id="7" name="TextBox 6"/>
          <p:cNvSpPr txBox="1"/>
          <p:nvPr/>
        </p:nvSpPr>
        <p:spPr>
          <a:xfrm>
            <a:off x="731520" y="2148840"/>
            <a:ext cx="2286000" cy="1554480"/>
          </a:xfrm>
          <a:prstGeom prst="rect">
            <a:avLst/>
          </a:prstGeom>
          <a:noFill/>
        </p:spPr>
        <p:txBody>
          <a:bodyPr wrap="square" lIns="0" tIns="0" rIns="0" bIns="0" anchor="t">
            <a:spAutoFit/>
          </a:bodyPr>
          <a:lstStyle/>
          <a:p>
            <a:pPr algn="l"/>
            <a:r>
              <a:rPr sz="1050" b="0" i="0">
                <a:solidFill>
                  <a:srgbClr val="FFFFFF"/>
                </a:solidFill>
                <a:latin typeface="Arial"/>
              </a:rPr>
              <a:t>The meeting request (case A) or the Attn letter (case B). No terms.</a:t>
            </a:r>
          </a:p>
        </p:txBody>
      </p:sp>
      <p:sp>
        <p:nvSpPr>
          <p:cNvPr id="8" name="Chevron 7"/>
          <p:cNvSpPr/>
          <p:nvPr/>
        </p:nvSpPr>
        <p:spPr>
          <a:xfrm>
            <a:off x="3227832" y="2560320"/>
            <a:ext cx="100584" cy="219456"/>
          </a:xfrm>
          <a:prstGeom prst="chevron">
            <a:avLst>
              <a:gd name="adj" fmla="val 55000"/>
            </a:avLst>
          </a:prstGeom>
          <a:solidFill>
            <a:srgbClr val="80BFEC"/>
          </a:solidFill>
          <a:ln>
            <a:noFill/>
          </a:ln>
        </p:spPr>
        <p:txBody>
          <a:bodyPr rtlCol="0" anchor="ctr"/>
          <a:lstStyle/>
          <a:p>
            <a:pPr algn="ctr"/>
          </a:p>
        </p:txBody>
      </p:sp>
      <p:sp>
        <p:nvSpPr>
          <p:cNvPr id="9" name="TextBox 8"/>
          <p:cNvSpPr txBox="1"/>
          <p:nvPr/>
        </p:nvSpPr>
        <p:spPr>
          <a:xfrm>
            <a:off x="3355848"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0" name="Rounded Rectangle 9"/>
          <p:cNvSpPr/>
          <p:nvPr/>
        </p:nvSpPr>
        <p:spPr>
          <a:xfrm>
            <a:off x="3355848" y="1600200"/>
            <a:ext cx="2651760" cy="2148840"/>
          </a:xfrm>
          <a:prstGeom prst="roundRect">
            <a:avLst>
              <a:gd name="adj" fmla="val 2978"/>
            </a:avLst>
          </a:prstGeom>
          <a:solidFill>
            <a:srgbClr val="80BFEC"/>
          </a:solidFill>
          <a:ln w="12700">
            <a:solidFill>
              <a:srgbClr val="80BFEC"/>
            </a:solidFill>
          </a:ln>
        </p:spPr>
        <p:txBody>
          <a:bodyPr rtlCol="0" anchor="ctr"/>
          <a:lstStyle/>
          <a:p>
            <a:pPr algn="ctr"/>
          </a:p>
        </p:txBody>
      </p:sp>
      <p:sp>
        <p:nvSpPr>
          <p:cNvPr id="11" name="TextBox 10"/>
          <p:cNvSpPr txBox="1"/>
          <p:nvPr/>
        </p:nvSpPr>
        <p:spPr>
          <a:xfrm>
            <a:off x="3538728"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1: the offer</a:t>
            </a:r>
          </a:p>
        </p:txBody>
      </p:sp>
      <p:sp>
        <p:nvSpPr>
          <p:cNvPr id="12" name="TextBox 11"/>
          <p:cNvSpPr txBox="1"/>
          <p:nvPr/>
        </p:nvSpPr>
        <p:spPr>
          <a:xfrm>
            <a:off x="3538728"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A few offer details from the register: OF04 and the family offer (welfare: OF03).</a:t>
            </a:r>
          </a:p>
        </p:txBody>
      </p:sp>
      <p:sp>
        <p:nvSpPr>
          <p:cNvPr id="13" name="Chevron 12"/>
          <p:cNvSpPr/>
          <p:nvPr/>
        </p:nvSpPr>
        <p:spPr>
          <a:xfrm>
            <a:off x="6035040" y="2560320"/>
            <a:ext cx="100584" cy="219456"/>
          </a:xfrm>
          <a:prstGeom prst="chevron">
            <a:avLst>
              <a:gd name="adj" fmla="val 55000"/>
            </a:avLst>
          </a:prstGeom>
          <a:solidFill>
            <a:srgbClr val="80BFEC"/>
          </a:solidFill>
          <a:ln>
            <a:noFill/>
          </a:ln>
        </p:spPr>
        <p:txBody>
          <a:bodyPr rtlCol="0" anchor="ctr"/>
          <a:lstStyle/>
          <a:p>
            <a:pPr algn="ctr"/>
          </a:p>
        </p:txBody>
      </p:sp>
      <p:sp>
        <p:nvSpPr>
          <p:cNvPr id="14" name="TextBox 13"/>
          <p:cNvSpPr txBox="1"/>
          <p:nvPr/>
        </p:nvSpPr>
        <p:spPr>
          <a:xfrm>
            <a:off x="6163055"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+4 WORKING DAYS</a:t>
            </a:r>
          </a:p>
        </p:txBody>
      </p:sp>
      <p:sp>
        <p:nvSpPr>
          <p:cNvPr id="15" name="Rounded Rectangle 14"/>
          <p:cNvSpPr/>
          <p:nvPr/>
        </p:nvSpPr>
        <p:spPr>
          <a:xfrm>
            <a:off x="6163055" y="1600200"/>
            <a:ext cx="2651760" cy="2148840"/>
          </a:xfrm>
          <a:prstGeom prst="roundRect">
            <a:avLst>
              <a:gd name="adj" fmla="val 2978"/>
            </a:avLst>
          </a:prstGeom>
          <a:solidFill>
            <a:srgbClr val="D9ECF9"/>
          </a:solidFill>
          <a:ln w="12700">
            <a:solidFill>
              <a:srgbClr val="D9ECF9"/>
            </a:solidFill>
          </a:ln>
        </p:spPr>
        <p:txBody>
          <a:bodyPr rtlCol="0" anchor="ctr"/>
          <a:lstStyle/>
          <a:p>
            <a:pPr algn="ctr"/>
          </a:p>
        </p:txBody>
      </p:sp>
      <p:sp>
        <p:nvSpPr>
          <p:cNvPr id="16" name="TextBox 15"/>
          <p:cNvSpPr txBox="1"/>
          <p:nvPr/>
        </p:nvSpPr>
        <p:spPr>
          <a:xfrm>
            <a:off x="6345936"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Follow-up 2: the close</a:t>
            </a:r>
          </a:p>
        </p:txBody>
      </p:sp>
      <p:sp>
        <p:nvSpPr>
          <p:cNvPr id="17" name="TextBox 16"/>
          <p:cNvSpPr txBox="1"/>
          <p:nvPr/>
        </p:nvSpPr>
        <p:spPr>
          <a:xfrm>
            <a:off x="6345936"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'If this sits with someone else at &lt;Organisation&gt;, such as HR or the welfare officer, who should I write to? Otherwise I will close this for now.'</a:t>
            </a:r>
          </a:p>
        </p:txBody>
      </p:sp>
      <p:sp>
        <p:nvSpPr>
          <p:cNvPr id="18" name="Chevron 17"/>
          <p:cNvSpPr/>
          <p:nvPr/>
        </p:nvSpPr>
        <p:spPr>
          <a:xfrm>
            <a:off x="8842248" y="2560320"/>
            <a:ext cx="100584" cy="219456"/>
          </a:xfrm>
          <a:prstGeom prst="chevron">
            <a:avLst>
              <a:gd name="adj" fmla="val 55000"/>
            </a:avLst>
          </a:prstGeom>
          <a:solidFill>
            <a:srgbClr val="80BFEC"/>
          </a:solidFill>
          <a:ln>
            <a:noFill/>
          </a:ln>
        </p:spPr>
        <p:txBody>
          <a:bodyPr rtlCol="0" anchor="ctr"/>
          <a:lstStyle/>
          <a:p>
            <a:pPr algn="ctr"/>
          </a:p>
        </p:txBody>
      </p:sp>
      <p:sp>
        <p:nvSpPr>
          <p:cNvPr id="19" name="TextBox 18"/>
          <p:cNvSpPr txBox="1"/>
          <p:nvPr/>
        </p:nvSpPr>
        <p:spPr>
          <a:xfrm>
            <a:off x="8970263" y="1325880"/>
            <a:ext cx="2560320" cy="228600"/>
          </a:xfrm>
          <a:prstGeom prst="rect">
            <a:avLst/>
          </a:prstGeom>
          <a:noFill/>
        </p:spPr>
        <p:txBody>
          <a:bodyPr wrap="square" lIns="0" tIns="0" rIns="0" bIns="0" anchor="t">
            <a:spAutoFit/>
          </a:bodyPr>
          <a:lstStyle/>
          <a:p>
            <a:pPr algn="l"/>
            <a:r>
              <a:rPr sz="900" b="1" i="0" spc="150">
                <a:solidFill>
                  <a:srgbClr val="818283"/>
                </a:solidFill>
                <a:latin typeface="Arial"/>
              </a:rPr>
              <a:t>+5 WORKING DAYS</a:t>
            </a:r>
          </a:p>
        </p:txBody>
      </p:sp>
      <p:sp>
        <p:nvSpPr>
          <p:cNvPr id="20" name="Rounded Rectangle 19"/>
          <p:cNvSpPr/>
          <p:nvPr/>
        </p:nvSpPr>
        <p:spPr>
          <a:xfrm>
            <a:off x="8970263" y="1600200"/>
            <a:ext cx="2651760" cy="2148840"/>
          </a:xfrm>
          <a:prstGeom prst="roundRect">
            <a:avLst>
              <a:gd name="adj" fmla="val 2978"/>
            </a:avLst>
          </a:prstGeom>
          <a:solidFill>
            <a:srgbClr val="FFC952"/>
          </a:solidFill>
          <a:ln w="12700">
            <a:solidFill>
              <a:srgbClr val="FFC952"/>
            </a:solidFill>
          </a:ln>
        </p:spPr>
        <p:txBody>
          <a:bodyPr rtlCol="0" anchor="ctr"/>
          <a:lstStyle/>
          <a:p>
            <a:pPr algn="ctr"/>
          </a:p>
        </p:txBody>
      </p:sp>
      <p:sp>
        <p:nvSpPr>
          <p:cNvPr id="21" name="TextBox 20"/>
          <p:cNvSpPr txBox="1"/>
          <p:nvPr/>
        </p:nvSpPr>
        <p:spPr>
          <a:xfrm>
            <a:off x="9153143" y="1737360"/>
            <a:ext cx="2286000" cy="320040"/>
          </a:xfrm>
          <a:prstGeom prst="rect">
            <a:avLst/>
          </a:prstGeom>
          <a:noFill/>
        </p:spPr>
        <p:txBody>
          <a:bodyPr wrap="square" lIns="0" tIns="0" rIns="0" bIns="0" anchor="t">
            <a:spAutoFit/>
          </a:bodyPr>
          <a:lstStyle/>
          <a:p>
            <a:pPr algn="l"/>
            <a:r>
              <a:rPr sz="1300" b="1" i="0">
                <a:solidFill>
                  <a:srgbClr val="002368"/>
                </a:solidFill>
                <a:latin typeface="Arial"/>
              </a:rPr>
              <a:t>Escalation</a:t>
            </a:r>
          </a:p>
        </p:txBody>
      </p:sp>
      <p:sp>
        <p:nvSpPr>
          <p:cNvPr id="22" name="TextBox 21"/>
          <p:cNvSpPr txBox="1"/>
          <p:nvPr/>
        </p:nvSpPr>
        <p:spPr>
          <a:xfrm>
            <a:off x="9153143" y="2148840"/>
            <a:ext cx="2286000" cy="1554480"/>
          </a:xfrm>
          <a:prstGeom prst="rect">
            <a:avLst/>
          </a:prstGeom>
          <a:noFill/>
        </p:spPr>
        <p:txBody>
          <a:bodyPr wrap="square" lIns="0" tIns="0" rIns="0" bIns="0" anchor="t">
            <a:spAutoFit/>
          </a:bodyPr>
          <a:lstStyle/>
          <a:p>
            <a:pPr algn="l"/>
            <a:r>
              <a:rPr sz="1050" b="0" i="0">
                <a:solidFill>
                  <a:srgbClr val="002368"/>
                </a:solidFill>
                <a:latin typeface="Arial"/>
              </a:rPr>
              <a:t>One message to the escalation contact, if one exists; then dormant (dormant_no_response).</a:t>
            </a:r>
          </a:p>
        </p:txBody>
      </p:sp>
      <p:sp>
        <p:nvSpPr>
          <p:cNvPr id="23" name="TextBox 22"/>
          <p:cNvSpPr txBox="1"/>
          <p:nvPr/>
        </p:nvSpPr>
        <p:spPr>
          <a:xfrm>
            <a:off x="548640" y="3840480"/>
            <a:ext cx="11064240" cy="457200"/>
          </a:xfrm>
          <a:prstGeom prst="rect">
            <a:avLst/>
          </a:prstGeom>
          <a:noFill/>
        </p:spPr>
        <p:txBody>
          <a:bodyPr wrap="square" lIns="0" tIns="0" rIns="0" bIns="0" anchor="t">
            <a:spAutoFit/>
          </a:bodyPr>
          <a:lstStyle/>
          <a:p>
            <a:pPr algn="l"/>
            <a:r>
              <a:rPr sz="1000" b="0" i="0">
                <a:solidFill>
                  <a:srgbClr val="818283"/>
                </a:solidFill>
                <a:latin typeface="Arial"/>
              </a:rPr>
              <a:t>In the drafts today: 247 of the 254 master case B plans carry follow-up 1 and the close (variant A sponsors stay blank); 154 welfare plans have the close. Within F01's limit of three messages per sequence.</a:t>
            </a:r>
          </a:p>
        </p:txBody>
      </p:sp>
      <p:sp>
        <p:nvSpPr>
          <p:cNvPr id="24" name="Rounded Rectangle 23"/>
          <p:cNvSpPr/>
          <p:nvPr/>
        </p:nvSpPr>
        <p:spPr>
          <a:xfrm>
            <a:off x="548640" y="4389120"/>
            <a:ext cx="11091672" cy="1554480"/>
          </a:xfrm>
          <a:prstGeom prst="roundRect">
            <a:avLst>
              <a:gd name="adj" fmla="val 4117"/>
            </a:avLst>
          </a:prstGeom>
          <a:solidFill>
            <a:srgbClr val="FFF7E5"/>
          </a:solidFill>
          <a:ln w="12700">
            <a:solidFill>
              <a:srgbClr val="FFF7E5"/>
            </a:solidFill>
          </a:ln>
        </p:spPr>
        <p:txBody>
          <a:bodyPr rtlCol="0" anchor="ctr"/>
          <a:lstStyle/>
          <a:p>
            <a:pPr algn="ctr"/>
          </a:p>
        </p:txBody>
      </p:sp>
      <p:pic>
        <p:nvPicPr>
          <p:cNvPr id="25" name="Picture 24" descr="image12.png"/>
          <p:cNvPicPr>
            <a:picLocks noChangeAspect="1"/>
          </p:cNvPicPr>
          <p:nvPr/>
        </p:nvPicPr>
        <p:blipFill>
          <a:blip r:embed="rId2"/>
          <a:stretch>
            <a:fillRect/>
          </a:stretch>
        </p:blipFill>
        <p:spPr>
          <a:xfrm>
            <a:off x="10607040" y="4526280"/>
            <a:ext cx="822960" cy="1072342"/>
          </a:xfrm>
          <a:prstGeom prst="rect">
            <a:avLst/>
          </a:prstGeom>
        </p:spPr>
      </p:pic>
      <p:sp>
        <p:nvSpPr>
          <p:cNvPr id="26" name="TextBox 25"/>
          <p:cNvSpPr txBox="1"/>
          <p:nvPr/>
        </p:nvSpPr>
        <p:spPr>
          <a:xfrm>
            <a:off x="822960" y="4526280"/>
            <a:ext cx="3017520" cy="1280160"/>
          </a:xfrm>
          <a:prstGeom prst="rect">
            <a:avLst/>
          </a:prstGeom>
          <a:noFill/>
        </p:spPr>
        <p:txBody>
          <a:bodyPr wrap="square" lIns="0" tIns="0" rIns="0" bIns="0" anchor="t">
            <a:spAutoFit/>
          </a:bodyPr>
          <a:lstStyle/>
          <a:p>
            <a:pPr algn="l"/>
            <a:r>
              <a:rPr sz="1800" b="0" i="0">
                <a:solidFill>
                  <a:srgbClr val="002368"/>
                </a:solidFill>
                <a:latin typeface="Georgia"/>
              </a:rPr>
              <a:t>Incentives are a last resort, never in the flow.</a:t>
            </a:r>
          </a:p>
        </p:txBody>
      </p:sp>
      <p:sp>
        <p:nvSpPr>
          <p:cNvPr id="27" name="TextBox 26"/>
          <p:cNvSpPr txBox="1"/>
          <p:nvPr/>
        </p:nvSpPr>
        <p:spPr>
          <a:xfrm>
            <a:off x="4023360" y="4526280"/>
            <a:ext cx="6309360" cy="132588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A promotional incentive (discounted first months, a waived fee beyond the register) never appears in any automated or standard flow, nor in a cold or early message (S1–S5): it makes Silverleaf look desperate.</a:t>
            </a:r>
          </a:p>
          <a:p>
            <a:pPr algn="l" marL="155448" indent="-155448">
              <a:spcAft>
                <a:spcPts val="300"/>
              </a:spcAft>
              <a:buFont typeface="Arial"/>
              <a:buChar char="•"/>
            </a:pPr>
            <a:r>
              <a:rPr sz="1000" b="0" i="0">
                <a:solidFill>
                  <a:srgbClr val="000000"/>
                </a:solidFill>
                <a:latin typeface="Arial"/>
              </a:rPr>
              <a:t>Only at the proposal stage (S6), for one engaged employer, with Finance's written approval each time, time-limited, entered in the register first. Never for public bodies or government.</a:t>
            </a:r>
          </a:p>
        </p:txBody>
      </p:sp>
      <p:pic>
        <p:nvPicPr>
          <p:cNvPr id="28" name="Picture 27" descr="image3.png"/>
          <p:cNvPicPr>
            <a:picLocks noChangeAspect="1"/>
          </p:cNvPicPr>
          <p:nvPr/>
        </p:nvPicPr>
        <p:blipFill>
          <a:blip r:embed="rId3"/>
          <a:stretch>
            <a:fillRect/>
          </a:stretch>
        </p:blipFill>
        <p:spPr>
          <a:xfrm>
            <a:off x="548640" y="6272784"/>
            <a:ext cx="1143000" cy="274320"/>
          </a:xfrm>
          <a:prstGeom prst="rect">
            <a:avLst/>
          </a:prstGeom>
        </p:spPr>
      </p:pic>
      <p:sp>
        <p:nvSpPr>
          <p:cNvPr id="2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first_touch.py (close, escalation_note); partnership-pipelines-draft.md §5–§6 (approved 11 October 2026); offer-register.md</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04</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SECTION FOUR</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Pipelines and tracking</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What happens after the offer, and how we will know. A draft awaiting your approval.</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algn="l" marL="155448" indent="-155448">
              <a:spcAft>
                <a:spcPts val="400"/>
              </a:spcAft>
              <a:buFont typeface="Arial"/>
              <a:buChar char="•"/>
            </a:pPr>
            <a:r>
              <a:rPr sz="1100" b="0" i="0">
                <a:solidFill>
                  <a:srgbClr val="FFFFFF"/>
                </a:solidFill>
                <a:latin typeface="Arial"/>
              </a:rPr>
              <a:t>The shared spine, S0 to S9</a:t>
            </a:r>
          </a:p>
          <a:p>
            <a:pPr algn="l" marL="155448" indent="-155448">
              <a:spcAft>
                <a:spcPts val="400"/>
              </a:spcAft>
              <a:buFont typeface="Arial"/>
              <a:buChar char="•"/>
            </a:pPr>
            <a:r>
              <a:rPr sz="1100" b="0" i="0">
                <a:solidFill>
                  <a:srgbClr val="FFFFFF"/>
                </a:solidFill>
                <a:latin typeface="Arial"/>
              </a:rPr>
              <a:t>One funnel per subsegment group</a:t>
            </a:r>
          </a:p>
          <a:p>
            <a:pPr algn="l" marL="155448" indent="-155448">
              <a:spcAft>
                <a:spcPts val="400"/>
              </a:spcAft>
              <a:buFont typeface="Arial"/>
              <a:buChar char="•"/>
            </a:pPr>
            <a:r>
              <a:rPr sz="1100" b="0" i="0">
                <a:solidFill>
                  <a:srgbClr val="FFFFFF"/>
                </a:solidFill>
                <a:latin typeface="Arial"/>
              </a:rPr>
              <a:t>Fallout and re-activation</a:t>
            </a:r>
          </a:p>
          <a:p>
            <a:pPr algn="l" marL="155448" indent="-155448">
              <a:spcAft>
                <a:spcPts val="400"/>
              </a:spcAft>
              <a:buFont typeface="Arial"/>
              <a:buChar char="•"/>
            </a:pPr>
            <a:r>
              <a:rPr sz="1100" b="0" i="0">
                <a:solidFill>
                  <a:srgbClr val="FFFFFF"/>
                </a:solidFill>
                <a:latin typeface="Arial"/>
              </a:rPr>
              <a:t>Opt-in only, tracking and reporting back</a:t>
            </a:r>
          </a:p>
          <a:p>
            <a:pPr algn="l" marL="155448" indent="-155448">
              <a:spcAft>
                <a:spcPts val="400"/>
              </a:spcAft>
              <a:buFont typeface="Arial"/>
              <a:buChar char="•"/>
            </a:pPr>
            <a:r>
              <a:rPr sz="1100" b="0" i="0">
                <a:solidFill>
                  <a:srgbClr val="FFFFFF"/>
                </a:solidFill>
                <a:latin typeface="Arial"/>
              </a:rPr>
              <a:t>Decisions awaiting you</a:t>
            </a:r>
          </a:p>
        </p:txBody>
      </p:sp>
      <p:sp>
        <p:nvSpPr>
          <p:cNvPr id="8" name="TextBox 7"/>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FFFFFF"/>
                </a:solidFill>
                <a:latin typeface="Georgia"/>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DRAFT FOR APPROVAL</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Hexagon 4"/>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rtlCol="0" anchor="ctr" wrap="square" tIns="27432" bIns="27432"/>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6" name="Chevron 5"/>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p>
        </p:txBody>
      </p:sp>
      <p:sp>
        <p:nvSpPr>
          <p:cNvPr id="7" name="Rounded Rectangle 6"/>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8" name="Chevron 7"/>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p>
        </p:txBody>
      </p:sp>
      <p:sp>
        <p:nvSpPr>
          <p:cNvPr id="9" name="Rounded Rectangle 8"/>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10" name="Chevron 9"/>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p>
        </p:txBody>
      </p:sp>
      <p:sp>
        <p:nvSpPr>
          <p:cNvPr id="11" name="Rounded Rectangle 10"/>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2" name="Chevron 11"/>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p>
        </p:txBody>
      </p:sp>
      <p:sp>
        <p:nvSpPr>
          <p:cNvPr id="13" name="Rounded Rectangle 12"/>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4" name="Chevron 13"/>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p>
        </p:txBody>
      </p:sp>
      <p:sp>
        <p:nvSpPr>
          <p:cNvPr id="15" name="Rounded Rectangle 14"/>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6" name="Chevron 15"/>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8" name="Chevron 17"/>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20" name="Chevron 19"/>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2" name="Chevron 21"/>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4" name="Connector 23"/>
          <p:cNvCxnSpPr/>
          <p:nvPr/>
        </p:nvCxnSpPr>
        <p:spPr>
          <a:xfrm flipV="1">
            <a:off x="6556248" y="1783080"/>
            <a:ext cx="0" cy="365760"/>
          </a:xfrm>
          <a:prstGeom prst="line">
            <a:avLst/>
          </a:prstGeom>
          <a:ln w="12700">
            <a:solidFill>
              <a:srgbClr val="002368"/>
            </a:solidFill>
          </a:ln>
        </p:spPr>
      </p:cxnSp>
      <p:cxnSp>
        <p:nvCxnSpPr>
          <p:cNvPr id="25" name="Connector 24"/>
          <p:cNvCxnSpPr/>
          <p:nvPr/>
        </p:nvCxnSpPr>
        <p:spPr>
          <a:xfrm>
            <a:off x="6556248" y="1783080"/>
            <a:ext cx="2212847" cy="0"/>
          </a:xfrm>
          <a:prstGeom prst="line">
            <a:avLst/>
          </a:prstGeom>
          <a:ln w="12700">
            <a:solidFill>
              <a:srgbClr val="002368"/>
            </a:solidFill>
          </a:ln>
        </p:spPr>
      </p:cxnSp>
      <p:cxnSp>
        <p:nvCxnSpPr>
          <p:cNvPr id="26" name="Connector 25"/>
          <p:cNvCxnSpPr/>
          <p:nvPr/>
        </p:nvCxnSpPr>
        <p:spPr>
          <a:xfrm>
            <a:off x="8769095" y="1783080"/>
            <a:ext cx="0" cy="365760"/>
          </a:xfrm>
          <a:prstGeom prst="line">
            <a:avLst/>
          </a:prstGeom>
          <a:ln w="12700">
            <a:solidFill>
              <a:srgbClr val="002368"/>
            </a:solidFill>
            <a:tailEnd type="triangle" w="med" len="med"/>
          </a:ln>
        </p:spPr>
      </p:cxnSp>
      <p:sp>
        <p:nvSpPr>
          <p:cNvPr id="27" name="TextBox 26"/>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8" name="Connector 27"/>
          <p:cNvCxnSpPr/>
          <p:nvPr/>
        </p:nvCxnSpPr>
        <p:spPr>
          <a:xfrm flipV="1">
            <a:off x="10981944" y="1783080"/>
            <a:ext cx="0" cy="365760"/>
          </a:xfrm>
          <a:prstGeom prst="line">
            <a:avLst/>
          </a:prstGeom>
          <a:ln w="12700">
            <a:solidFill>
              <a:srgbClr val="002368"/>
            </a:solidFill>
          </a:ln>
        </p:spPr>
      </p:cxnSp>
      <p:cxnSp>
        <p:nvCxnSpPr>
          <p:cNvPr id="29" name="Connector 28"/>
          <p:cNvCxnSpPr/>
          <p:nvPr/>
        </p:nvCxnSpPr>
        <p:spPr>
          <a:xfrm flipH="1">
            <a:off x="9875519" y="1783080"/>
            <a:ext cx="1106425" cy="0"/>
          </a:xfrm>
          <a:prstGeom prst="line">
            <a:avLst/>
          </a:prstGeom>
          <a:ln w="12700">
            <a:solidFill>
              <a:srgbClr val="002368"/>
            </a:solidFill>
          </a:ln>
        </p:spPr>
      </p:cxnSp>
      <p:cxnSp>
        <p:nvCxnSpPr>
          <p:cNvPr id="30" name="Connector 29"/>
          <p:cNvCxnSpPr/>
          <p:nvPr/>
        </p:nvCxnSpPr>
        <p:spPr>
          <a:xfrm>
            <a:off x="9875519" y="1783080"/>
            <a:ext cx="0" cy="365760"/>
          </a:xfrm>
          <a:prstGeom prst="line">
            <a:avLst/>
          </a:prstGeom>
          <a:ln w="12700">
            <a:solidFill>
              <a:srgbClr val="002368"/>
            </a:solidFill>
            <a:tailEnd type="triangle" w="med" len="med"/>
          </a:ln>
        </p:spPr>
      </p:cxnSp>
      <p:sp>
        <p:nvSpPr>
          <p:cNvPr id="31" name="TextBox 30"/>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2" name="Connector 31"/>
          <p:cNvCxnSpPr/>
          <p:nvPr/>
        </p:nvCxnSpPr>
        <p:spPr>
          <a:xfrm>
            <a:off x="3236976"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5449823"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6556248" y="3108960"/>
            <a:ext cx="0" cy="594360"/>
          </a:xfrm>
          <a:prstGeom prst="line">
            <a:avLst/>
          </a:prstGeom>
          <a:ln w="12700">
            <a:solidFill>
              <a:srgbClr val="818283"/>
            </a:solidFill>
            <a:prstDash val="dash"/>
            <a:tailEnd type="triangle" w="med" len="med"/>
          </a:ln>
        </p:spPr>
      </p:cxnSp>
      <p:cxnSp>
        <p:nvCxnSpPr>
          <p:cNvPr id="35" name="Connector 34"/>
          <p:cNvCxnSpPr/>
          <p:nvPr/>
        </p:nvCxnSpPr>
        <p:spPr>
          <a:xfrm>
            <a:off x="7662671" y="3108960"/>
            <a:ext cx="0" cy="594360"/>
          </a:xfrm>
          <a:prstGeom prst="line">
            <a:avLst/>
          </a:prstGeom>
          <a:ln w="12700">
            <a:solidFill>
              <a:srgbClr val="818283"/>
            </a:solidFill>
            <a:prstDash val="dash"/>
            <a:tailEnd type="triangle" w="med" len="med"/>
          </a:ln>
        </p:spPr>
      </p:cxnSp>
      <p:sp>
        <p:nvSpPr>
          <p:cNvPr id="36" name="Rounded Rectangle 35"/>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rtlCol="0" anchor="ctr" wrap="square" lIns="45720" rIns="45720" tIns="27432" bIns="27432"/>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7" name="Rounded Rectangle 36"/>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8" name="Rounded Rectangle 37"/>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rtlCol="0" anchor="ctr" wrap="square" lIns="45720" rIns="45720" tIns="27432" bIns="27432"/>
          <a:lstStyle/>
          <a:p>
            <a:pPr algn="ctr"/>
            <a:r>
              <a:rPr sz="850" b="1" i="0">
                <a:solidFill>
                  <a:srgbClr val="FFFFFF"/>
                </a:solidFill>
                <a:latin typeface="Arial"/>
              </a:rPr>
              <a:t>declined → SX</a:t>
            </a:r>
          </a:p>
        </p:txBody>
      </p:sp>
      <p:sp>
        <p:nvSpPr>
          <p:cNvPr id="39" name="Rounded Rectangle 38"/>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rtlCol="0" anchor="ctr" wrap="square" lIns="45720" rIns="45720" tIns="27432" bIns="27432"/>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40" name="Rounded Rectangle 39"/>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1" name="TextBox 40"/>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2" name="TextBox 41"/>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3" name="TextBox 42"/>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4" name="TextBox 43"/>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5" name="TextBox 44"/>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6" name="TextBox 45"/>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7" name="Hexagon 46"/>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48" name="TextBox 47"/>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9" name="Rounded Rectangle 48"/>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50" name="TextBox 49"/>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1" name="Rounded Rectangle 50"/>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52" name="TextBox 51"/>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3" name="Rounded Rectangle 52"/>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54" name="TextBox 53"/>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5" name="Rounded Rectangle 54"/>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56" name="TextBox 55"/>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7" name="Picture 56" descr="image3.png"/>
          <p:cNvPicPr>
            <a:picLocks noChangeAspect="1"/>
          </p:cNvPicPr>
          <p:nvPr/>
        </p:nvPicPr>
        <p:blipFill>
          <a:blip r:embed="rId2"/>
          <a:stretch>
            <a:fillRect/>
          </a:stretch>
        </p:blipFill>
        <p:spPr>
          <a:xfrm>
            <a:off x="548640" y="6272784"/>
            <a:ext cx="1143000" cy="274320"/>
          </a:xfrm>
          <a:prstGeom prst="rect">
            <a:avLst/>
          </a:prstGeom>
        </p:spPr>
      </p:pic>
      <p:sp>
        <p:nvSpPr>
          <p:cNvPr id="5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5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docs/strategy/partnership-pipelines-draft.md §1 (version 2026-10-11 draft 3), redrawn from its Mermaid diagram</a:t>
            </a:r>
          </a:p>
        </p:txBody>
      </p:sp>
      <p:sp>
        <p:nvSpPr>
          <p:cNvPr id="6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OVERVIEW</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37160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Employers · 1,118</a:t>
            </a:r>
          </a:p>
        </p:txBody>
      </p:sp>
      <p:cxnSp>
        <p:nvCxnSpPr>
          <p:cNvPr id="6" name="Connector 5"/>
          <p:cNvCxnSpPr/>
          <p:nvPr/>
        </p:nvCxnSpPr>
        <p:spPr>
          <a:xfrm>
            <a:off x="2468880" y="1600200"/>
            <a:ext cx="320040" cy="1097280"/>
          </a:xfrm>
          <a:prstGeom prst="line">
            <a:avLst/>
          </a:prstGeom>
          <a:ln w="12700">
            <a:solidFill>
              <a:srgbClr val="80BFEC"/>
            </a:solidFill>
          </a:ln>
        </p:spPr>
      </p:cxnSp>
      <p:sp>
        <p:nvSpPr>
          <p:cNvPr id="7" name="Rounded Rectangle 6"/>
          <p:cNvSpPr/>
          <p:nvPr/>
        </p:nvSpPr>
        <p:spPr>
          <a:xfrm>
            <a:off x="548640" y="192024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SACCOS · 117</a:t>
            </a:r>
          </a:p>
        </p:txBody>
      </p:sp>
      <p:cxnSp>
        <p:nvCxnSpPr>
          <p:cNvPr id="8" name="Connector 7"/>
          <p:cNvCxnSpPr/>
          <p:nvPr/>
        </p:nvCxnSpPr>
        <p:spPr>
          <a:xfrm>
            <a:off x="2468880" y="2148840"/>
            <a:ext cx="320040" cy="548640"/>
          </a:xfrm>
          <a:prstGeom prst="line">
            <a:avLst/>
          </a:prstGeom>
          <a:ln w="12700">
            <a:solidFill>
              <a:srgbClr val="80BFEC"/>
            </a:solidFill>
          </a:ln>
        </p:spPr>
      </p:cxnSp>
      <p:sp>
        <p:nvSpPr>
          <p:cNvPr id="9" name="Rounded Rectangle 8"/>
          <p:cNvSpPr/>
          <p:nvPr/>
        </p:nvSpPr>
        <p:spPr>
          <a:xfrm>
            <a:off x="548640" y="246888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Introducers, networks · 16, 7</a:t>
            </a:r>
          </a:p>
        </p:txBody>
      </p:sp>
      <p:cxnSp>
        <p:nvCxnSpPr>
          <p:cNvPr id="10" name="Connector 9"/>
          <p:cNvCxnSpPr/>
          <p:nvPr/>
        </p:nvCxnSpPr>
        <p:spPr>
          <a:xfrm>
            <a:off x="2468880" y="2697480"/>
            <a:ext cx="320040" cy="0"/>
          </a:xfrm>
          <a:prstGeom prst="line">
            <a:avLst/>
          </a:prstGeom>
          <a:ln w="12700">
            <a:solidFill>
              <a:srgbClr val="80BFEC"/>
            </a:solidFill>
          </a:ln>
        </p:spPr>
      </p:cxnSp>
      <p:sp>
        <p:nvSpPr>
          <p:cNvPr id="11" name="Rounded Rectangle 10"/>
          <p:cNvSpPr/>
          <p:nvPr/>
        </p:nvSpPr>
        <p:spPr>
          <a:xfrm>
            <a:off x="548640" y="301752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Welfare · 438</a:t>
            </a:r>
          </a:p>
        </p:txBody>
      </p:sp>
      <p:cxnSp>
        <p:nvCxnSpPr>
          <p:cNvPr id="12" name="Connector 11"/>
          <p:cNvCxnSpPr/>
          <p:nvPr/>
        </p:nvCxnSpPr>
        <p:spPr>
          <a:xfrm flipV="1">
            <a:off x="2468880" y="2697480"/>
            <a:ext cx="320040" cy="548640"/>
          </a:xfrm>
          <a:prstGeom prst="line">
            <a:avLst/>
          </a:prstGeom>
          <a:ln w="12700">
            <a:solidFill>
              <a:srgbClr val="80BFEC"/>
            </a:solidFill>
          </a:ln>
        </p:spPr>
      </p:cxnSp>
      <p:sp>
        <p:nvSpPr>
          <p:cNvPr id="13" name="Rounded Rectangle 12"/>
          <p:cNvSpPr/>
          <p:nvPr/>
        </p:nvSpPr>
        <p:spPr>
          <a:xfrm>
            <a:off x="548640" y="3566160"/>
            <a:ext cx="1920240" cy="457200"/>
          </a:xfrm>
          <a:prstGeom prst="roundRect">
            <a:avLst>
              <a:gd name="adj" fmla="val 14000"/>
            </a:avLst>
          </a:prstGeom>
          <a:solidFill>
            <a:srgbClr val="FFF7E5"/>
          </a:solidFill>
          <a:ln w="12700">
            <a:solidFill>
              <a:srgbClr val="FFC952"/>
            </a:solidFill>
          </a:ln>
        </p:spPr>
        <p:txBody>
          <a:bodyPr rtlCol="0" anchor="ctr" wrap="square" lIns="45720" rIns="45720" tIns="27432" bIns="27432"/>
          <a:lstStyle/>
          <a:p>
            <a:pPr algn="ctr"/>
            <a:r>
              <a:rPr sz="1000" b="1" i="0">
                <a:solidFill>
                  <a:srgbClr val="002368"/>
                </a:solidFill>
                <a:latin typeface="Arial"/>
              </a:rPr>
              <a:t>Government · 228</a:t>
            </a:r>
          </a:p>
        </p:txBody>
      </p:sp>
      <p:cxnSp>
        <p:nvCxnSpPr>
          <p:cNvPr id="14" name="Connector 13"/>
          <p:cNvCxnSpPr/>
          <p:nvPr/>
        </p:nvCxnSpPr>
        <p:spPr>
          <a:xfrm flipV="1">
            <a:off x="2468880" y="2697480"/>
            <a:ext cx="320040" cy="1097280"/>
          </a:xfrm>
          <a:prstGeom prst="line">
            <a:avLst/>
          </a:prstGeom>
          <a:ln w="12700">
            <a:solidFill>
              <a:srgbClr val="80BFEC"/>
            </a:solidFill>
          </a:ln>
        </p:spPr>
      </p:cxnSp>
      <p:sp>
        <p:nvSpPr>
          <p:cNvPr id="15" name="Rounded Rectangle 14"/>
          <p:cNvSpPr/>
          <p:nvPr/>
        </p:nvSpPr>
        <p:spPr>
          <a:xfrm>
            <a:off x="2834640" y="2377440"/>
            <a:ext cx="1298448" cy="685800"/>
          </a:xfrm>
          <a:prstGeom prst="roundRect">
            <a:avLst>
              <a:gd name="adj" fmla="val 9333"/>
            </a:avLst>
          </a:prstGeom>
          <a:solidFill>
            <a:srgbClr val="D9ECF9"/>
          </a:solidFill>
          <a:ln w="12700">
            <a:solidFill>
              <a:srgbClr val="D9ECF9"/>
            </a:solidFill>
          </a:ln>
        </p:spPr>
        <p:txBody>
          <a:bodyPr rtlCol="0" anchor="ctr" wrap="square" lIns="45720" rIns="45720" tIns="27432" bIns="27432"/>
          <a:lstStyle/>
          <a:p>
            <a:pPr algn="ctr"/>
            <a:r>
              <a:rPr sz="1000" b="1" i="0">
                <a:solidFill>
                  <a:srgbClr val="002368"/>
                </a:solidFill>
                <a:latin typeface="Arial"/>
              </a:rPr>
              <a:t>Spine S1–S6</a:t>
            </a:r>
          </a:p>
          <a:p>
            <a:pPr algn="ctr"/>
            <a:r>
              <a:rPr sz="850" b="0" i="0">
                <a:solidFill>
                  <a:srgbClr val="002368"/>
                </a:solidFill>
                <a:latin typeface="Arial"/>
              </a:rPr>
              <a:t>Ready to Proposal</a:t>
            </a:r>
          </a:p>
        </p:txBody>
      </p:sp>
      <p:sp>
        <p:nvSpPr>
          <p:cNvPr id="16" name="Chevron 15"/>
          <p:cNvSpPr/>
          <p:nvPr/>
        </p:nvSpPr>
        <p:spPr>
          <a:xfrm>
            <a:off x="4178808" y="2624328"/>
            <a:ext cx="91440" cy="201168"/>
          </a:xfrm>
          <a:prstGeom prst="chevron">
            <a:avLst>
              <a:gd name="adj" fmla="val 55000"/>
            </a:avLst>
          </a:prstGeom>
          <a:solidFill>
            <a:srgbClr val="80BFEC"/>
          </a:solidFill>
          <a:ln>
            <a:noFill/>
          </a:ln>
        </p:spPr>
        <p:txBody>
          <a:bodyPr rtlCol="0" anchor="ctr"/>
          <a:lstStyle/>
          <a:p>
            <a:pPr algn="ctr"/>
          </a:p>
        </p:txBody>
      </p:sp>
      <p:sp>
        <p:nvSpPr>
          <p:cNvPr id="17" name="Rounded Rectangle 16"/>
          <p:cNvSpPr/>
          <p:nvPr/>
        </p:nvSpPr>
        <p:spPr>
          <a:xfrm>
            <a:off x="4315968"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8" name="Chevron 17"/>
          <p:cNvSpPr/>
          <p:nvPr/>
        </p:nvSpPr>
        <p:spPr>
          <a:xfrm>
            <a:off x="5660136" y="2624328"/>
            <a:ext cx="91440" cy="201168"/>
          </a:xfrm>
          <a:prstGeom prst="chevron">
            <a:avLst>
              <a:gd name="adj" fmla="val 55000"/>
            </a:avLst>
          </a:prstGeom>
          <a:solidFill>
            <a:srgbClr val="80BFEC"/>
          </a:solidFill>
          <a:ln>
            <a:noFill/>
          </a:ln>
        </p:spPr>
        <p:txBody>
          <a:bodyPr rtlCol="0" anchor="ctr"/>
          <a:lstStyle/>
          <a:p>
            <a:pPr algn="ctr"/>
          </a:p>
        </p:txBody>
      </p:sp>
      <p:sp>
        <p:nvSpPr>
          <p:cNvPr id="19" name="Rounded Rectangle 18"/>
          <p:cNvSpPr/>
          <p:nvPr/>
        </p:nvSpPr>
        <p:spPr>
          <a:xfrm>
            <a:off x="5797296"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S8 Results</a:t>
            </a:r>
          </a:p>
          <a:p>
            <a:pPr algn="ctr"/>
            <a:r>
              <a:rPr sz="850" b="0" i="0">
                <a:solidFill>
                  <a:srgbClr val="002368"/>
                </a:solidFill>
                <a:latin typeface="Arial"/>
              </a:rPr>
              <a:t>sign-ups, referrals, placements</a:t>
            </a:r>
          </a:p>
        </p:txBody>
      </p:sp>
      <p:sp>
        <p:nvSpPr>
          <p:cNvPr id="20" name="Chevron 19"/>
          <p:cNvSpPr/>
          <p:nvPr/>
        </p:nvSpPr>
        <p:spPr>
          <a:xfrm>
            <a:off x="7141464" y="2624328"/>
            <a:ext cx="91440" cy="201168"/>
          </a:xfrm>
          <a:prstGeom prst="chevron">
            <a:avLst>
              <a:gd name="adj" fmla="val 55000"/>
            </a:avLst>
          </a:prstGeom>
          <a:solidFill>
            <a:srgbClr val="80BFEC"/>
          </a:solidFill>
          <a:ln>
            <a:noFill/>
          </a:ln>
        </p:spPr>
        <p:txBody>
          <a:bodyPr rtlCol="0" anchor="ctr"/>
          <a:lstStyle/>
          <a:p>
            <a:pPr algn="ctr"/>
          </a:p>
        </p:txBody>
      </p:sp>
      <p:sp>
        <p:nvSpPr>
          <p:cNvPr id="21" name="Rounded Rectangle 20"/>
          <p:cNvSpPr/>
          <p:nvPr/>
        </p:nvSpPr>
        <p:spPr>
          <a:xfrm>
            <a:off x="7278624"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Opt-in and Inquiry</a:t>
            </a:r>
          </a:p>
          <a:p>
            <a:pPr algn="ctr"/>
            <a:r>
              <a:rPr sz="850" b="0" i="0">
                <a:solidFill>
                  <a:srgbClr val="002368"/>
                </a:solidFill>
                <a:latin typeface="Arial"/>
              </a:rPr>
              <a:t>self-made, with a partner code</a:t>
            </a:r>
          </a:p>
        </p:txBody>
      </p:sp>
      <p:sp>
        <p:nvSpPr>
          <p:cNvPr id="22" name="Chevron 21"/>
          <p:cNvSpPr/>
          <p:nvPr/>
        </p:nvSpPr>
        <p:spPr>
          <a:xfrm>
            <a:off x="8622792" y="2624328"/>
            <a:ext cx="91440" cy="201168"/>
          </a:xfrm>
          <a:prstGeom prst="chevron">
            <a:avLst>
              <a:gd name="adj" fmla="val 55000"/>
            </a:avLst>
          </a:prstGeom>
          <a:solidFill>
            <a:srgbClr val="80BFEC"/>
          </a:solidFill>
          <a:ln>
            <a:noFill/>
          </a:ln>
        </p:spPr>
        <p:txBody>
          <a:bodyPr rtlCol="0" anchor="ctr"/>
          <a:lstStyle/>
          <a:p>
            <a:pPr algn="ctr"/>
          </a:p>
        </p:txBody>
      </p:sp>
      <p:sp>
        <p:nvSpPr>
          <p:cNvPr id="23" name="Rounded Rectangle 22"/>
          <p:cNvSpPr/>
          <p:nvPr/>
        </p:nvSpPr>
        <p:spPr>
          <a:xfrm>
            <a:off x="8759952" y="2377440"/>
            <a:ext cx="1298448" cy="685800"/>
          </a:xfrm>
          <a:prstGeom prst="roundRect">
            <a:avLst>
              <a:gd name="adj" fmla="val 9333"/>
            </a:avLst>
          </a:prstGeom>
          <a:solidFill>
            <a:srgbClr val="80BFEC"/>
          </a:solidFill>
          <a:ln w="12700">
            <a:solidFill>
              <a:srgbClr val="80BFEC"/>
            </a:solidFill>
          </a:ln>
        </p:spPr>
        <p:txBody>
          <a:bodyPr rtlCol="0" anchor="ctr" wrap="square" lIns="45720" rIns="45720" tIns="27432" bIns="27432"/>
          <a:lstStyle/>
          <a:p>
            <a:pPr algn="ctr"/>
            <a:r>
              <a:rPr sz="1000" b="1" i="0">
                <a:solidFill>
                  <a:srgbClr val="002368"/>
                </a:solidFill>
                <a:latin typeface="Arial"/>
              </a:rPr>
              <a:t>Tour and Application</a:t>
            </a:r>
          </a:p>
          <a:p>
            <a:pPr algn="ctr"/>
            <a:r>
              <a:rPr sz="850" b="0" i="0">
                <a:solidFill>
                  <a:srgbClr val="002368"/>
                </a:solidFill>
                <a:latin typeface="Arial"/>
              </a:rPr>
              <a:t>admissions</a:t>
            </a:r>
          </a:p>
        </p:txBody>
      </p:sp>
      <p:sp>
        <p:nvSpPr>
          <p:cNvPr id="24" name="Chevron 23"/>
          <p:cNvSpPr/>
          <p:nvPr/>
        </p:nvSpPr>
        <p:spPr>
          <a:xfrm>
            <a:off x="10104120" y="2624328"/>
            <a:ext cx="91440" cy="201168"/>
          </a:xfrm>
          <a:prstGeom prst="chevron">
            <a:avLst>
              <a:gd name="adj" fmla="val 55000"/>
            </a:avLst>
          </a:prstGeom>
          <a:solidFill>
            <a:srgbClr val="80BFEC"/>
          </a:solidFill>
          <a:ln>
            <a:noFill/>
          </a:ln>
        </p:spPr>
        <p:txBody>
          <a:bodyPr rtlCol="0" anchor="ctr"/>
          <a:lstStyle/>
          <a:p>
            <a:pPr algn="ctr"/>
          </a:p>
        </p:txBody>
      </p:sp>
      <p:sp>
        <p:nvSpPr>
          <p:cNvPr id="25" name="Rounded Rectangle 24"/>
          <p:cNvSpPr/>
          <p:nvPr/>
        </p:nvSpPr>
        <p:spPr>
          <a:xfrm>
            <a:off x="10241280" y="2377440"/>
            <a:ext cx="1298448" cy="685800"/>
          </a:xfrm>
          <a:prstGeom prst="roundRect">
            <a:avLst>
              <a:gd name="adj" fmla="val 9333"/>
            </a:avLst>
          </a:prstGeom>
          <a:solidFill>
            <a:srgbClr val="002368"/>
          </a:solidFill>
          <a:ln w="31750">
            <a:solidFill>
              <a:srgbClr val="FFC952"/>
            </a:solidFill>
          </a:ln>
        </p:spPr>
        <p:txBody>
          <a:bodyPr rtlCol="0" anchor="ctr" wrap="square" lIns="45720" rIns="45720" tIns="27432" bIns="27432"/>
          <a:lstStyle/>
          <a:p>
            <a:pPr algn="ctr"/>
            <a:r>
              <a:rPr sz="1000" b="1" i="0">
                <a:solidFill>
                  <a:srgbClr val="FFFFFF"/>
                </a:solidFill>
                <a:latin typeface="Arial"/>
              </a:rPr>
              <a:t>Enrolment</a:t>
            </a:r>
          </a:p>
        </p:txBody>
      </p:sp>
      <p:cxnSp>
        <p:nvCxnSpPr>
          <p:cNvPr id="26" name="Connector 25"/>
          <p:cNvCxnSpPr/>
          <p:nvPr/>
        </p:nvCxnSpPr>
        <p:spPr>
          <a:xfrm>
            <a:off x="6446520" y="3063240"/>
            <a:ext cx="0" cy="365760"/>
          </a:xfrm>
          <a:prstGeom prst="line">
            <a:avLst/>
          </a:prstGeom>
          <a:ln w="12700">
            <a:solidFill>
              <a:srgbClr val="818283"/>
            </a:solidFill>
            <a:prstDash val="dash"/>
          </a:ln>
        </p:spPr>
      </p:cxnSp>
      <p:cxnSp>
        <p:nvCxnSpPr>
          <p:cNvPr id="27" name="Connector 26"/>
          <p:cNvCxnSpPr/>
          <p:nvPr/>
        </p:nvCxnSpPr>
        <p:spPr>
          <a:xfrm flipH="1">
            <a:off x="3483864" y="3429000"/>
            <a:ext cx="2962656" cy="0"/>
          </a:xfrm>
          <a:prstGeom prst="line">
            <a:avLst/>
          </a:prstGeom>
          <a:ln w="12700">
            <a:solidFill>
              <a:srgbClr val="818283"/>
            </a:solidFill>
            <a:prstDash val="dash"/>
          </a:ln>
        </p:spPr>
      </p:cxnSp>
      <p:cxnSp>
        <p:nvCxnSpPr>
          <p:cNvPr id="28" name="Connector 27"/>
          <p:cNvCxnSpPr/>
          <p:nvPr/>
        </p:nvCxnSpPr>
        <p:spPr>
          <a:xfrm flipV="1">
            <a:off x="3483864" y="3063240"/>
            <a:ext cx="0" cy="365760"/>
          </a:xfrm>
          <a:prstGeom prst="line">
            <a:avLst/>
          </a:prstGeom>
          <a:ln w="12700">
            <a:solidFill>
              <a:srgbClr val="818283"/>
            </a:solidFill>
            <a:prstDash val="dash"/>
            <a:tailEnd type="triangle" w="med" len="med"/>
          </a:ln>
        </p:spPr>
      </p:cxnSp>
      <p:sp>
        <p:nvSpPr>
          <p:cNvPr id="29" name="TextBox 28"/>
          <p:cNvSpPr txBox="1"/>
          <p:nvPr/>
        </p:nvSpPr>
        <p:spPr>
          <a:xfrm>
            <a:off x="3657600" y="3456432"/>
            <a:ext cx="2377440" cy="219456"/>
          </a:xfrm>
          <a:prstGeom prst="rect">
            <a:avLst/>
          </a:prstGeom>
          <a:noFill/>
        </p:spPr>
        <p:txBody>
          <a:bodyPr wrap="square" lIns="0" tIns="0" rIns="0" bIns="0" anchor="t">
            <a:spAutoFit/>
          </a:bodyPr>
          <a:lstStyle/>
          <a:p>
            <a:pPr algn="l"/>
            <a:r>
              <a:rPr sz="900" b="0" i="0">
                <a:solidFill>
                  <a:srgbClr val="818283"/>
                </a:solidFill>
                <a:latin typeface="Arial"/>
              </a:rPr>
              <a:t>referred employers and homes re-enter</a:t>
            </a:r>
          </a:p>
        </p:txBody>
      </p:sp>
      <p:cxnSp>
        <p:nvCxnSpPr>
          <p:cNvPr id="30" name="Connector 29"/>
          <p:cNvCxnSpPr/>
          <p:nvPr/>
        </p:nvCxnSpPr>
        <p:spPr>
          <a:xfrm>
            <a:off x="6620256" y="3063240"/>
            <a:ext cx="0" cy="640080"/>
          </a:xfrm>
          <a:prstGeom prst="line">
            <a:avLst/>
          </a:prstGeom>
          <a:ln w="12700">
            <a:solidFill>
              <a:srgbClr val="818283"/>
            </a:solidFill>
            <a:prstDash val="dash"/>
          </a:ln>
        </p:spPr>
      </p:cxnSp>
      <p:cxnSp>
        <p:nvCxnSpPr>
          <p:cNvPr id="31" name="Connector 30"/>
          <p:cNvCxnSpPr/>
          <p:nvPr/>
        </p:nvCxnSpPr>
        <p:spPr>
          <a:xfrm>
            <a:off x="6620256" y="3703320"/>
            <a:ext cx="4270248" cy="0"/>
          </a:xfrm>
          <a:prstGeom prst="line">
            <a:avLst/>
          </a:prstGeom>
          <a:ln w="12700">
            <a:solidFill>
              <a:srgbClr val="818283"/>
            </a:solidFill>
            <a:prstDash val="dash"/>
          </a:ln>
        </p:spPr>
      </p:cxnSp>
      <p:cxnSp>
        <p:nvCxnSpPr>
          <p:cNvPr id="32" name="Connector 31"/>
          <p:cNvCxnSpPr/>
          <p:nvPr/>
        </p:nvCxnSpPr>
        <p:spPr>
          <a:xfrm flipV="1">
            <a:off x="10890504" y="3063240"/>
            <a:ext cx="0" cy="640080"/>
          </a:xfrm>
          <a:prstGeom prst="line">
            <a:avLst/>
          </a:prstGeom>
          <a:ln w="12700">
            <a:solidFill>
              <a:srgbClr val="818283"/>
            </a:solidFill>
            <a:prstDash val="dash"/>
            <a:tailEnd type="triangle" w="med" len="med"/>
          </a:ln>
        </p:spPr>
      </p:cxnSp>
      <p:sp>
        <p:nvSpPr>
          <p:cNvPr id="33" name="TextBox 32"/>
          <p:cNvSpPr txBox="1"/>
          <p:nvPr/>
        </p:nvSpPr>
        <p:spPr>
          <a:xfrm>
            <a:off x="7589520" y="3730752"/>
            <a:ext cx="3657600" cy="219456"/>
          </a:xfrm>
          <a:prstGeom prst="rect">
            <a:avLst/>
          </a:prstGeom>
          <a:noFill/>
        </p:spPr>
        <p:txBody>
          <a:bodyPr wrap="square" lIns="0" tIns="0" rIns="0" bIns="0" anchor="t">
            <a:spAutoFit/>
          </a:bodyPr>
          <a:lstStyle/>
          <a:p>
            <a:pPr algn="l"/>
            <a:r>
              <a:rPr sz="900" b="0" i="0">
                <a:solidFill>
                  <a:srgbClr val="818283"/>
                </a:solidFill>
                <a:latin typeface="Arial"/>
              </a:rPr>
              <a:t>placements and sponsored students go straight to enrolment</a:t>
            </a:r>
          </a:p>
        </p:txBody>
      </p:sp>
      <p:sp>
        <p:nvSpPr>
          <p:cNvPr id="34" name="TextBox 33"/>
          <p:cNvSpPr txBox="1"/>
          <p:nvPr/>
        </p:nvSpPr>
        <p:spPr>
          <a:xfrm>
            <a:off x="548640" y="4206240"/>
            <a:ext cx="7315200" cy="201168"/>
          </a:xfrm>
          <a:prstGeom prst="rect">
            <a:avLst/>
          </a:prstGeom>
          <a:noFill/>
        </p:spPr>
        <p:txBody>
          <a:bodyPr wrap="square" lIns="0" tIns="0" rIns="0" bIns="0" anchor="t">
            <a:spAutoFit/>
          </a:bodyPr>
          <a:lstStyle/>
          <a:p>
            <a:pPr algn="l"/>
            <a:r>
              <a:rPr sz="900" b="1" i="0" spc="200">
                <a:solidFill>
                  <a:srgbClr val="818283"/>
                </a:solidFill>
                <a:latin typeface="Arial"/>
              </a:rPr>
              <a:t>THE PARENT FUNNEL HAND-OFF: ADMISSIONS OWNS EACH FAMILY FROM THE OPT-IN</a:t>
            </a:r>
          </a:p>
        </p:txBody>
      </p:sp>
      <p:sp>
        <p:nvSpPr>
          <p:cNvPr id="35" name="Hexagon 34"/>
          <p:cNvSpPr/>
          <p:nvPr/>
        </p:nvSpPr>
        <p:spPr>
          <a:xfrm>
            <a:off x="5486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cxnSp>
        <p:nvCxnSpPr>
          <p:cNvPr id="36" name="Connector 35"/>
          <p:cNvCxnSpPr/>
          <p:nvPr/>
        </p:nvCxnSpPr>
        <p:spPr>
          <a:xfrm>
            <a:off x="1005840" y="4727448"/>
            <a:ext cx="1143000" cy="0"/>
          </a:xfrm>
          <a:prstGeom prst="line">
            <a:avLst/>
          </a:prstGeom>
          <a:ln w="15875">
            <a:solidFill>
              <a:srgbClr val="80BFEC"/>
            </a:solidFill>
          </a:ln>
        </p:spPr>
      </p:cxnSp>
      <p:sp>
        <p:nvSpPr>
          <p:cNvPr id="37" name="TextBox 36"/>
          <p:cNvSpPr txBox="1"/>
          <p:nvPr/>
        </p:nvSpPr>
        <p:spPr>
          <a:xfrm>
            <a:off x="548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Partner circulates</a:t>
            </a:r>
          </a:p>
        </p:txBody>
      </p:sp>
      <p:sp>
        <p:nvSpPr>
          <p:cNvPr id="38" name="TextBox 37"/>
          <p:cNvSpPr txBox="1"/>
          <p:nvPr/>
        </p:nvSpPr>
        <p:spPr>
          <a:xfrm>
            <a:off x="548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QR, pamphlet, form</a:t>
            </a:r>
          </a:p>
        </p:txBody>
      </p:sp>
      <p:sp>
        <p:nvSpPr>
          <p:cNvPr id="39" name="Hexagon 38"/>
          <p:cNvSpPr/>
          <p:nvPr/>
        </p:nvSpPr>
        <p:spPr>
          <a:xfrm>
            <a:off x="2148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cxnSp>
        <p:nvCxnSpPr>
          <p:cNvPr id="40" name="Connector 39"/>
          <p:cNvCxnSpPr/>
          <p:nvPr/>
        </p:nvCxnSpPr>
        <p:spPr>
          <a:xfrm>
            <a:off x="2606040" y="4727448"/>
            <a:ext cx="1142999" cy="0"/>
          </a:xfrm>
          <a:prstGeom prst="line">
            <a:avLst/>
          </a:prstGeom>
          <a:ln w="15875">
            <a:solidFill>
              <a:srgbClr val="80BFEC"/>
            </a:solidFill>
          </a:ln>
        </p:spPr>
      </p:cxnSp>
      <p:sp>
        <p:nvSpPr>
          <p:cNvPr id="41" name="TextBox 40"/>
          <p:cNvSpPr txBox="1"/>
          <p:nvPr/>
        </p:nvSpPr>
        <p:spPr>
          <a:xfrm>
            <a:off x="2148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Opt-in</a:t>
            </a:r>
          </a:p>
        </p:txBody>
      </p:sp>
      <p:sp>
        <p:nvSpPr>
          <p:cNvPr id="42" name="TextBox 41"/>
          <p:cNvSpPr txBox="1"/>
          <p:nvPr/>
        </p:nvSpPr>
        <p:spPr>
          <a:xfrm>
            <a:off x="2148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partner code EMP, SAC, INT, WEL, EVT</a:t>
            </a:r>
          </a:p>
        </p:txBody>
      </p:sp>
      <p:sp>
        <p:nvSpPr>
          <p:cNvPr id="43" name="Hexagon 42"/>
          <p:cNvSpPr/>
          <p:nvPr/>
        </p:nvSpPr>
        <p:spPr>
          <a:xfrm>
            <a:off x="3749039"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cxnSp>
        <p:nvCxnSpPr>
          <p:cNvPr id="44" name="Connector 43"/>
          <p:cNvCxnSpPr/>
          <p:nvPr/>
        </p:nvCxnSpPr>
        <p:spPr>
          <a:xfrm>
            <a:off x="4206240" y="4727448"/>
            <a:ext cx="1143000" cy="0"/>
          </a:xfrm>
          <a:prstGeom prst="line">
            <a:avLst/>
          </a:prstGeom>
          <a:ln w="15875">
            <a:solidFill>
              <a:srgbClr val="80BFEC"/>
            </a:solidFill>
          </a:ln>
        </p:spPr>
      </p:cxnSp>
      <p:sp>
        <p:nvSpPr>
          <p:cNvPr id="45" name="TextBox 44"/>
          <p:cNvSpPr txBox="1"/>
          <p:nvPr/>
        </p:nvSpPr>
        <p:spPr>
          <a:xfrm>
            <a:off x="3749039"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Inquiry</a:t>
            </a:r>
          </a:p>
        </p:txBody>
      </p:sp>
      <p:sp>
        <p:nvSpPr>
          <p:cNvPr id="46" name="TextBox 45"/>
          <p:cNvSpPr txBox="1"/>
          <p:nvPr/>
        </p:nvSpPr>
        <p:spPr>
          <a:xfrm>
            <a:off x="3749039"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same working period; reminder at 2 days (F06)</a:t>
            </a:r>
          </a:p>
        </p:txBody>
      </p:sp>
      <p:sp>
        <p:nvSpPr>
          <p:cNvPr id="47" name="Hexagon 46"/>
          <p:cNvSpPr/>
          <p:nvPr/>
        </p:nvSpPr>
        <p:spPr>
          <a:xfrm>
            <a:off x="53492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04</a:t>
            </a:r>
          </a:p>
        </p:txBody>
      </p:sp>
      <p:cxnSp>
        <p:nvCxnSpPr>
          <p:cNvPr id="48" name="Connector 47"/>
          <p:cNvCxnSpPr/>
          <p:nvPr/>
        </p:nvCxnSpPr>
        <p:spPr>
          <a:xfrm>
            <a:off x="5806440" y="4727448"/>
            <a:ext cx="1143000" cy="0"/>
          </a:xfrm>
          <a:prstGeom prst="line">
            <a:avLst/>
          </a:prstGeom>
          <a:ln w="15875">
            <a:solidFill>
              <a:srgbClr val="80BFEC"/>
            </a:solidFill>
          </a:ln>
        </p:spPr>
      </p:cxnSp>
      <p:sp>
        <p:nvSpPr>
          <p:cNvPr id="49" name="TextBox 48"/>
          <p:cNvSpPr txBox="1"/>
          <p:nvPr/>
        </p:nvSpPr>
        <p:spPr>
          <a:xfrm>
            <a:off x="53492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Qualified</a:t>
            </a:r>
          </a:p>
        </p:txBody>
      </p:sp>
      <p:sp>
        <p:nvSpPr>
          <p:cNvPr id="50" name="TextBox 49"/>
          <p:cNvSpPr txBox="1"/>
          <p:nvPr/>
        </p:nvSpPr>
        <p:spPr>
          <a:xfrm>
            <a:off x="53492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campus fit (F04 step 4)</a:t>
            </a:r>
          </a:p>
        </p:txBody>
      </p:sp>
      <p:sp>
        <p:nvSpPr>
          <p:cNvPr id="51" name="Hexagon 50"/>
          <p:cNvSpPr/>
          <p:nvPr/>
        </p:nvSpPr>
        <p:spPr>
          <a:xfrm>
            <a:off x="69494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cxnSp>
        <p:nvCxnSpPr>
          <p:cNvPr id="52" name="Connector 51"/>
          <p:cNvCxnSpPr/>
          <p:nvPr/>
        </p:nvCxnSpPr>
        <p:spPr>
          <a:xfrm>
            <a:off x="7406640" y="4727448"/>
            <a:ext cx="1143000" cy="0"/>
          </a:xfrm>
          <a:prstGeom prst="line">
            <a:avLst/>
          </a:prstGeom>
          <a:ln w="15875">
            <a:solidFill>
              <a:srgbClr val="80BFEC"/>
            </a:solidFill>
          </a:ln>
        </p:spPr>
      </p:cxnSp>
      <p:sp>
        <p:nvSpPr>
          <p:cNvPr id="53" name="TextBox 52"/>
          <p:cNvSpPr txBox="1"/>
          <p:nvPr/>
        </p:nvSpPr>
        <p:spPr>
          <a:xfrm>
            <a:off x="69494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Tour, Application</a:t>
            </a:r>
          </a:p>
        </p:txBody>
      </p:sp>
      <p:sp>
        <p:nvSpPr>
          <p:cNvPr id="54" name="TextBox 53"/>
          <p:cNvSpPr txBox="1"/>
          <p:nvPr/>
        </p:nvSpPr>
        <p:spPr>
          <a:xfrm>
            <a:off x="69494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recorded as they happen</a:t>
            </a:r>
          </a:p>
        </p:txBody>
      </p:sp>
      <p:sp>
        <p:nvSpPr>
          <p:cNvPr id="55" name="Hexagon 54"/>
          <p:cNvSpPr/>
          <p:nvPr/>
        </p:nvSpPr>
        <p:spPr>
          <a:xfrm>
            <a:off x="8549640" y="4526280"/>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06</a:t>
            </a:r>
          </a:p>
        </p:txBody>
      </p:sp>
      <p:cxnSp>
        <p:nvCxnSpPr>
          <p:cNvPr id="56" name="Connector 55"/>
          <p:cNvCxnSpPr/>
          <p:nvPr/>
        </p:nvCxnSpPr>
        <p:spPr>
          <a:xfrm>
            <a:off x="9006840" y="4727448"/>
            <a:ext cx="1143000" cy="0"/>
          </a:xfrm>
          <a:prstGeom prst="line">
            <a:avLst/>
          </a:prstGeom>
          <a:ln w="15875">
            <a:solidFill>
              <a:srgbClr val="80BFEC"/>
            </a:solidFill>
          </a:ln>
        </p:spPr>
      </p:cxnSp>
      <p:sp>
        <p:nvSpPr>
          <p:cNvPr id="57" name="TextBox 56"/>
          <p:cNvSpPr txBox="1"/>
          <p:nvPr/>
        </p:nvSpPr>
        <p:spPr>
          <a:xfrm>
            <a:off x="85496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Enrolment</a:t>
            </a:r>
          </a:p>
        </p:txBody>
      </p:sp>
      <p:sp>
        <p:nvSpPr>
          <p:cNvPr id="58" name="TextBox 57"/>
          <p:cNvSpPr txBox="1"/>
          <p:nvPr/>
        </p:nvSpPr>
        <p:spPr>
          <a:xfrm>
            <a:off x="85496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
            </a:r>
          </a:p>
        </p:txBody>
      </p:sp>
      <p:sp>
        <p:nvSpPr>
          <p:cNvPr id="59" name="Hexagon 58"/>
          <p:cNvSpPr/>
          <p:nvPr/>
        </p:nvSpPr>
        <p:spPr>
          <a:xfrm>
            <a:off x="10149840" y="452628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07</a:t>
            </a:r>
          </a:p>
        </p:txBody>
      </p:sp>
      <p:sp>
        <p:nvSpPr>
          <p:cNvPr id="60" name="TextBox 59"/>
          <p:cNvSpPr txBox="1"/>
          <p:nvPr/>
        </p:nvSpPr>
        <p:spPr>
          <a:xfrm>
            <a:off x="10149840" y="5074920"/>
            <a:ext cx="1463040" cy="274320"/>
          </a:xfrm>
          <a:prstGeom prst="rect">
            <a:avLst/>
          </a:prstGeom>
          <a:noFill/>
        </p:spPr>
        <p:txBody>
          <a:bodyPr wrap="square" lIns="0" tIns="0" rIns="0" bIns="0" anchor="t">
            <a:spAutoFit/>
          </a:bodyPr>
          <a:lstStyle/>
          <a:p>
            <a:pPr algn="l"/>
            <a:r>
              <a:rPr sz="1100" b="1" i="0">
                <a:solidFill>
                  <a:srgbClr val="002368"/>
                </a:solidFill>
                <a:latin typeface="Arial"/>
              </a:rPr>
              <a:t>Totals to partner</a:t>
            </a:r>
          </a:p>
        </p:txBody>
      </p:sp>
      <p:sp>
        <p:nvSpPr>
          <p:cNvPr id="61" name="TextBox 60"/>
          <p:cNvSpPr txBox="1"/>
          <p:nvPr/>
        </p:nvSpPr>
        <p:spPr>
          <a:xfrm>
            <a:off x="10149840" y="5349240"/>
            <a:ext cx="1463040" cy="548640"/>
          </a:xfrm>
          <a:prstGeom prst="rect">
            <a:avLst/>
          </a:prstGeom>
          <a:noFill/>
        </p:spPr>
        <p:txBody>
          <a:bodyPr wrap="square" lIns="0" tIns="0" rIns="0" bIns="0" anchor="t">
            <a:spAutoFit/>
          </a:bodyPr>
          <a:lstStyle/>
          <a:p>
            <a:pPr algn="l"/>
            <a:r>
              <a:rPr sz="900" b="0" i="0">
                <a:solidFill>
                  <a:srgbClr val="000000"/>
                </a:solidFill>
                <a:latin typeface="Arial"/>
              </a:rPr>
              <a:t>each term; small counts hidden</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4"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§2–§3; counts from the three databases, 12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the office?</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2" name="Rounded Rectangle 31"/>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9" name="Rounded Rectangle 38"/>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after fallout → Dormant · next window or TATO</a:t>
            </a:r>
          </a:p>
        </p:txBody>
      </p:sp>
      <p:sp>
        <p:nvSpPr>
          <p:cNvPr id="40" name="Rounded Rectangle 39"/>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41" name="TextBox 40"/>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7" name="Rounded Rectangle 46"/>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8" name="Chevron 47"/>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2" name="Chevron 51"/>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p>
        </p:txBody>
      </p:sp>
      <p:sp>
        <p:nvSpPr>
          <p:cNvPr id="53" name="Hexagon 52"/>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Staff at one site?</a:t>
            </a:r>
          </a:p>
        </p:txBody>
      </p:sp>
      <p:sp>
        <p:nvSpPr>
          <p:cNvPr id="54" name="Chevron 53"/>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6" name="Rounded Rectangle 55"/>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7" name="Rounded Rectangle 56"/>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8" name="Chevron 57"/>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60" name="Chevron 59"/>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2" name="Chevron 61"/>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3" name="Rounded Rectangle 62"/>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4" name="Rounded Rectangle 63"/>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HAT, APHFTA, CTI, TAHA</a:t>
            </a:r>
          </a:p>
        </p:txBody>
      </p:sp>
      <p:sp>
        <p:nvSpPr>
          <p:cNvPr id="65" name="Rounded Rectangle 64"/>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6" name="TextBox 65"/>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7" name="TextBox 66"/>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(VM12 is not approved). Secure sites need the employer's clearance.</a:t>
            </a:r>
          </a:p>
        </p:txBody>
      </p:sp>
      <p:pic>
        <p:nvPicPr>
          <p:cNvPr id="68" name="Picture 67" descr="image3.png"/>
          <p:cNvPicPr>
            <a:picLocks noChangeAspect="1"/>
          </p:cNvPicPr>
          <p:nvPr/>
        </p:nvPicPr>
        <p:blipFill>
          <a:blip r:embed="rId2"/>
          <a:stretch>
            <a:fillRect/>
          </a:stretch>
        </p:blipFill>
        <p:spPr>
          <a:xfrm>
            <a:off x="548640" y="6272784"/>
            <a:ext cx="1143000" cy="274320"/>
          </a:xfrm>
          <a:prstGeom prst="rect">
            <a:avLst/>
          </a:prstGeom>
        </p:spPr>
      </p:pic>
      <p:sp>
        <p:nvSpPr>
          <p:cNvPr id="69"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0"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§7–§10, redrawn from its Mermaid funnels; counts from the databases, 12 October 2026</a:t>
            </a:r>
          </a:p>
        </p:txBody>
      </p:sp>
      <p:sp>
        <p:nvSpPr>
          <p:cNvPr id="7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Session or agreement first?</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1" name="Rounded Rectangle 30"/>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S5, S6 → Dormant · TBA or chamber</a:t>
            </a:r>
          </a:p>
        </p:txBody>
      </p:sp>
      <p:sp>
        <p:nvSpPr>
          <p:cNvPr id="39" name="Rounded Rectangle 38"/>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at S3 or S6 → SX</a:t>
            </a:r>
          </a:p>
        </p:txBody>
      </p:sp>
      <p:sp>
        <p:nvSpPr>
          <p:cNvPr id="40" name="TextBox 39"/>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6" name="Hexagon 45"/>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7" name="Chevron 46"/>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p>
        </p:txBody>
      </p:sp>
      <p:sp>
        <p:nvSpPr>
          <p:cNvPr id="48" name="Rounded Rectangle 47"/>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9" name="Chevron 48"/>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p>
        </p:txBody>
      </p:sp>
      <p:sp>
        <p:nvSpPr>
          <p:cNvPr id="50" name="Rounded Rectangle 49"/>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1" name="Chevron 50"/>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p>
        </p:txBody>
      </p:sp>
      <p:sp>
        <p:nvSpPr>
          <p:cNvPr id="52" name="Rounded Rectangle 51"/>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3" name="Chevron 52"/>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p>
        </p:txBody>
      </p:sp>
      <p:sp>
        <p:nvSpPr>
          <p:cNvPr id="54" name="Hexagon 53"/>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5" name="Chevron 54"/>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7" name="Rounded Rectangle 56"/>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8" name="Chevron 57"/>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60" name="Chevron 59"/>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2" name="Rounded Rectangle 61"/>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Check fails or HR refuses → SX compliance_blocked</a:t>
            </a:r>
          </a:p>
        </p:txBody>
      </p:sp>
      <p:sp>
        <p:nvSpPr>
          <p:cNvPr id="63" name="Rounded Rectangle 62"/>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64" name="TextBox 63"/>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§7–§10, redrawn from its Mermaid funnels; counts from the databases, 12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SPONSORSHIP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2" name="Rounded Rectangle 21"/>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3" name="Chevron 22"/>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5" name="Chevron 24"/>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7" name="Chevron 26"/>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9" name="Chevron 28"/>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1" name="Chevron 30"/>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3" name="Chevron 32"/>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5" name="Chevron 34"/>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7" name="Rounded Rectangle 36"/>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at S2 or S6 → Dormant</a:t>
            </a:r>
          </a:p>
        </p:txBody>
      </p:sp>
      <p:sp>
        <p:nvSpPr>
          <p:cNvPr id="38" name="Rounded Rectangle 37"/>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Rounded Rectangle 38"/>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rtlCol="0" anchor="ctr" wrap="square" lIns="45720" rIns="45720" tIns="27432" bIns="27432"/>
          <a:lstStyle/>
          <a:p>
            <a:pPr algn="ctr"/>
            <a:r>
              <a:rPr sz="900" b="1" i="0">
                <a:solidFill>
                  <a:srgbClr val="002368"/>
                </a:solidFill>
                <a:latin typeface="Arial"/>
              </a:rPr>
              <a:t>One month later, optional: staff benefit via E1</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are blank, 'Sponsorship follow-up awaiting approved copy', until F20 supplies approved copy. The staff benefit is never bundled into the ask.</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5" name="Hexagon 44"/>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6" name="Chevron 45"/>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8" name="Chevron 47"/>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50" name="Chevron 49"/>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2" name="Chevron 51"/>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4" name="Rounded Rectangle 53"/>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Asks for a rate: </a:t>
            </a:r>
            <a:r>
              <a:rPr sz="900" b="0" i="0">
                <a:solidFill>
                  <a:srgbClr val="002368"/>
                </a:solidFill>
                <a:latin typeface="Arial"/>
              </a:rPr>
              <a:t>S6 group rate, only if Finance extends OF07</a:t>
            </a:r>
          </a:p>
        </p:txBody>
      </p:sp>
      <p:sp>
        <p:nvSpPr>
          <p:cNvPr id="55" name="Chevron 54"/>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p>
        </p:txBody>
      </p:sp>
      <p:sp>
        <p:nvSpPr>
          <p:cNvPr id="56" name="Rounded Rectangle 55"/>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7" name="Chevron 56"/>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p>
        </p:txBody>
      </p:sp>
      <p:sp>
        <p:nvSpPr>
          <p:cNvPr id="58" name="Rounded Rectangle 57"/>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9" name="Chevron 58"/>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p>
        </p:txBody>
      </p:sp>
      <p:sp>
        <p:nvSpPr>
          <p:cNvPr id="60" name="Rounded Rectangle 59"/>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1" name="Rounded Rectangle 60"/>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members' meeting</a:t>
            </a:r>
          </a:p>
        </p:txBody>
      </p:sp>
      <p:sp>
        <p:nvSpPr>
          <p:cNvPr id="62" name="Rounded Rectangle 61"/>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Rate not approved → SX</a:t>
            </a:r>
          </a:p>
        </p:txBody>
      </p:sp>
      <p:sp>
        <p:nvSpPr>
          <p:cNvPr id="63" name="TextBox 62"/>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Gates before S1: a native-speaker Kiswahili review, and Finance's approval of the member rate. Sign-ups count toward the 50 / 100 / 150 thresholds as totals. No loan, payroll or subsidy claim (VM06).</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7"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§7–§10, redrawn from its Mermaid funnels; counts from the databases, 12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INTRODUCERS AND WELFARE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2" name="Rounded Rectangle 21"/>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3" name="Chevron 22"/>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5" name="Chevron 24"/>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7" name="Chevron 26"/>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9" name="Chevron 28"/>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p>
        </p:txBody>
      </p:sp>
      <p:sp>
        <p:nvSpPr>
          <p:cNvPr id="30" name="Hexagon 29"/>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1" name="Chevron 30"/>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3" name="Chevron 32"/>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5" name="Chevron 34"/>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7" name="Rounded Rectangle 36"/>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or no referrals after two circulations → Dormant</a:t>
            </a:r>
          </a:p>
        </p:txBody>
      </p:sp>
      <p:sp>
        <p:nvSpPr>
          <p:cNvPr id="38" name="Rounded Rectangle 37"/>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39" name="TextBox 38"/>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5" name="Rounded Rectangle 44"/>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6" name="Chevron 45"/>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8" name="Chevron 47"/>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50" name="Chevron 49"/>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p>
        </p:txBody>
      </p:sp>
      <p:sp>
        <p:nvSpPr>
          <p:cNvPr id="51" name="Hexagon 50"/>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2" name="Chevron 51"/>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4" name="Chevron 53"/>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6" name="Chevron 55"/>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8" name="Chevron 57"/>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60" name="Rounded Rectangle 59"/>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Need not supported, or a safeguarding concern → SX</a:t>
            </a:r>
          </a:p>
        </p:txBody>
      </p:sp>
      <p:sp>
        <p:nvSpPr>
          <p:cNvPr id="61" name="Rounded Rectangle 60"/>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 next window or budget date</a:t>
            </a:r>
          </a:p>
        </p:txBody>
      </p:sp>
      <p:sp>
        <p:nvSpPr>
          <p:cNvPr id="62" name="TextBox 61"/>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3" name="Picture 62" descr="image3.png"/>
          <p:cNvPicPr>
            <a:picLocks noChangeAspect="1"/>
          </p:cNvPicPr>
          <p:nvPr/>
        </p:nvPicPr>
        <p:blipFill>
          <a:blip r:embed="rId2"/>
          <a:stretch>
            <a:fillRect/>
          </a:stretch>
        </p:blipFill>
        <p:spPr>
          <a:xfrm>
            <a:off x="548640" y="6272784"/>
            <a:ext cx="1143000" cy="274320"/>
          </a:xfrm>
          <a:prstGeom prst="rect">
            <a:avLst/>
          </a:prstGeom>
        </p:spPr>
      </p:pic>
      <p:sp>
        <p:nvSpPr>
          <p:cNvPr id="6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§7–§10, redrawn from its Mermaid funnels; counts from the databases, 12 October 2026</a:t>
            </a:r>
          </a:p>
        </p:txBody>
      </p:sp>
      <p:sp>
        <p:nvSpPr>
          <p:cNvPr id="6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WELFARE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and sponsorship programmes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2" name="Rounded Rectangle 21"/>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3" name="Chevron 22"/>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5" name="Chevron 24"/>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7" name="Chevron 26"/>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p>
        </p:txBody>
      </p:sp>
      <p:sp>
        <p:nvSpPr>
          <p:cNvPr id="28" name="Hexagon 27"/>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Who chooses the school?</a:t>
            </a:r>
          </a:p>
        </p:txBody>
      </p:sp>
      <p:sp>
        <p:nvSpPr>
          <p:cNvPr id="29" name="Chevron 28"/>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1" name="Rounded Rectangle 30"/>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rtlCol="0" anchor="ctr" wrap="square" lIns="45720" rIns="45720" tIns="27432" bIns="27432"/>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2" name="Rounded Rectangle 31"/>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rtlCol="0" anchor="ctr" wrap="square" lIns="45720" rIns="45720" tIns="27432" bIns="27432"/>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3" name="Chevron 32"/>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5" name="Chevron 34"/>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7" name="Chevron 36"/>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p>
        </p:txBody>
      </p:sp>
      <p:sp>
        <p:nvSpPr>
          <p:cNvPr id="38" name="Rounded Rectangle 37"/>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9" name="Rounded Rectangle 38"/>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a:t>
            </a:r>
          </a:p>
        </p:txBody>
      </p:sp>
      <p:sp>
        <p:nvSpPr>
          <p:cNvPr id="40" name="Rounded Rectangle 39"/>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not relevant, safeguarding stop → SX</a:t>
            </a:r>
          </a:p>
        </p:txBody>
      </p:sp>
      <p:sp>
        <p:nvSpPr>
          <p:cNvPr id="41" name="TextBox 40"/>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2" name="TextBox 41"/>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3" name="Connector 42"/>
          <p:cNvCxnSpPr/>
          <p:nvPr/>
        </p:nvCxnSpPr>
        <p:spPr>
          <a:xfrm>
            <a:off x="548640" y="3730752"/>
            <a:ext cx="11091672" cy="0"/>
          </a:xfrm>
          <a:prstGeom prst="line">
            <a:avLst/>
          </a:prstGeom>
          <a:ln w="9525">
            <a:solidFill>
              <a:srgbClr val="ECECEC"/>
            </a:solidFill>
          </a:ln>
        </p:spPr>
      </p:cxnSp>
      <p:sp>
        <p:nvSpPr>
          <p:cNvPr id="44" name="TextBox 43"/>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5" name="TextBox 44"/>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6" name="TextBox 45"/>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7" name="Hexagon 46"/>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8" name="Chevron 47"/>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50" name="Chevron 49"/>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2" name="Chevron 51"/>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4" name="Chevron 53"/>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6" name="Chevron 55"/>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8" name="Chevron 57"/>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p>
        </p:txBody>
      </p:sp>
      <p:sp>
        <p:nvSpPr>
          <p:cNvPr id="59" name="Rounded Rectangle 58"/>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60" name="Chevron 59"/>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p>
        </p:txBody>
      </p:sp>
      <p:sp>
        <p:nvSpPr>
          <p:cNvPr id="61" name="Rounded Rectangle 60"/>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2" name="Rounded Rectangle 61"/>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Dormant until the next budget cycle</a:t>
            </a:r>
          </a:p>
        </p:txBody>
      </p:sp>
      <p:sp>
        <p:nvSpPr>
          <p:cNvPr id="63" name="Rounded Rectangle 62"/>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 SX</a:t>
            </a:r>
          </a:p>
        </p:txBody>
      </p:sp>
      <p:sp>
        <p:nvSpPr>
          <p:cNvPr id="64" name="TextBox 63"/>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5" name="TextBox 64"/>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6" name="Picture 65" descr="image3.png"/>
          <p:cNvPicPr>
            <a:picLocks noChangeAspect="1"/>
          </p:cNvPicPr>
          <p:nvPr/>
        </p:nvPicPr>
        <p:blipFill>
          <a:blip r:embed="rId2"/>
          <a:stretch>
            <a:fillRect/>
          </a:stretch>
        </p:blipFill>
        <p:spPr>
          <a:xfrm>
            <a:off x="548640" y="6272784"/>
            <a:ext cx="1143000" cy="274320"/>
          </a:xfrm>
          <a:prstGeom prst="rect">
            <a:avLst/>
          </a:prstGeom>
        </p:spPr>
      </p:pic>
      <p:sp>
        <p:nvSpPr>
          <p:cNvPr id="6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6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§7–§10, redrawn from its Mermaid funnels; counts from the databases, 12 October 2026</a:t>
            </a:r>
          </a:p>
        </p:txBody>
      </p:sp>
      <p:sp>
        <p:nvSpPr>
          <p:cNvPr id="6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p>
        </p:txBody>
      </p:sp>
      <p:sp>
        <p:nvSpPr>
          <p:cNvPr id="6" name="TextBox 5"/>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7" name="Rounded Rectangle 6"/>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p>
        </p:txBody>
      </p:sp>
      <p:sp>
        <p:nvSpPr>
          <p:cNvPr id="8" name="TextBox 7"/>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9" name="Hexagon 8"/>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p>
        </p:txBody>
      </p:sp>
      <p:sp>
        <p:nvSpPr>
          <p:cNvPr id="10" name="TextBox 9"/>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1" name="Rounded Rectangle 10"/>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p>
        </p:txBody>
      </p:sp>
      <p:sp>
        <p:nvSpPr>
          <p:cNvPr id="12" name="TextBox 11"/>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3" name="Rounded Rectangle 12"/>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p>
        </p:txBody>
      </p:sp>
      <p:sp>
        <p:nvSpPr>
          <p:cNvPr id="14" name="TextBox 13"/>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5" name="Rounded Rectangle 14"/>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p>
        </p:txBody>
      </p:sp>
      <p:sp>
        <p:nvSpPr>
          <p:cNvPr id="16" name="TextBox 15"/>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7" name="Rounded Rectangle 16"/>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p>
        </p:txBody>
      </p:sp>
      <p:sp>
        <p:nvSpPr>
          <p:cNvPr id="18" name="TextBox 17"/>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9" name="TextBox 18"/>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20" name="TextBox 19"/>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1" name="TextBox 20"/>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2" name="Hexagon 21"/>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3" name="Chevron 22"/>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p>
        </p:txBody>
      </p:sp>
      <p:sp>
        <p:nvSpPr>
          <p:cNvPr id="24" name="Rounded Rectangle 23"/>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5" name="Chevron 24"/>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p>
        </p:txBody>
      </p:sp>
      <p:sp>
        <p:nvSpPr>
          <p:cNvPr id="26" name="Rounded Rectangle 25"/>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7" name="Chevron 26"/>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p>
        </p:txBody>
      </p:sp>
      <p:sp>
        <p:nvSpPr>
          <p:cNvPr id="28" name="Rounded Rectangle 27"/>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9" name="Chevron 28"/>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p>
        </p:txBody>
      </p:sp>
      <p:sp>
        <p:nvSpPr>
          <p:cNvPr id="30" name="Rounded Rectangle 29"/>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1" name="Chevron 30"/>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p>
        </p:txBody>
      </p:sp>
      <p:sp>
        <p:nvSpPr>
          <p:cNvPr id="32" name="Rounded Rectangle 31"/>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3" name="Chevron 32"/>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p>
        </p:txBody>
      </p:sp>
      <p:sp>
        <p:nvSpPr>
          <p:cNvPr id="34" name="Rounded Rectangle 33"/>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5" name="Chevron 34"/>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p>
        </p:txBody>
      </p:sp>
      <p:sp>
        <p:nvSpPr>
          <p:cNvPr id="36" name="Rounded Rectangle 35"/>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7" name="Rounded Rectangle 36"/>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once next quarter</a:t>
            </a:r>
          </a:p>
        </p:txBody>
      </p:sp>
      <p:sp>
        <p:nvSpPr>
          <p:cNvPr id="38" name="Rounded Rectangle 37"/>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Declined or payment asked → SX</a:t>
            </a:r>
          </a:p>
        </p:txBody>
      </p:sp>
      <p:cxnSp>
        <p:nvCxnSpPr>
          <p:cNvPr id="39" name="Connector 38"/>
          <p:cNvCxnSpPr/>
          <p:nvPr/>
        </p:nvCxnSpPr>
        <p:spPr>
          <a:xfrm>
            <a:off x="548640" y="3017520"/>
            <a:ext cx="11091672" cy="0"/>
          </a:xfrm>
          <a:prstGeom prst="line">
            <a:avLst/>
          </a:prstGeom>
          <a:ln w="9525">
            <a:solidFill>
              <a:srgbClr val="ECECEC"/>
            </a:solidFill>
          </a:ln>
        </p:spPr>
      </p:cxnSp>
      <p:sp>
        <p:nvSpPr>
          <p:cNvPr id="40" name="TextBox 39"/>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1" name="TextBox 40"/>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2" name="TextBox 41"/>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3" name="Hexagon 42"/>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4" name="Chevron 43"/>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p>
        </p:txBody>
      </p:sp>
      <p:sp>
        <p:nvSpPr>
          <p:cNvPr id="45" name="Rounded Rectangle 44"/>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6" name="Chevron 45"/>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p>
        </p:txBody>
      </p:sp>
      <p:sp>
        <p:nvSpPr>
          <p:cNvPr id="47" name="Rounded Rectangle 46"/>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8" name="Chevron 47"/>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p>
        </p:txBody>
      </p:sp>
      <p:sp>
        <p:nvSpPr>
          <p:cNvPr id="49" name="Rounded Rectangle 48"/>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50" name="Chevron 49"/>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p>
        </p:txBody>
      </p:sp>
      <p:sp>
        <p:nvSpPr>
          <p:cNvPr id="51" name="Rounded Rectangle 50"/>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2" name="Chevron 51"/>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p>
        </p:txBody>
      </p:sp>
      <p:sp>
        <p:nvSpPr>
          <p:cNvPr id="53" name="Rounded Rectangle 52"/>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4" name="Chevron 53"/>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p>
        </p:txBody>
      </p:sp>
      <p:sp>
        <p:nvSpPr>
          <p:cNvPr id="55" name="Rounded Rectangle 54"/>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rtlCol="0" anchor="ctr" wrap="square" lIns="45720" rIns="45720" tIns="27432" bIns="27432"/>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6" name="Chevron 55"/>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p>
        </p:txBody>
      </p:sp>
      <p:sp>
        <p:nvSpPr>
          <p:cNvPr id="57" name="Rounded Rectangle 56"/>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8" name="Rounded Rectangle 57"/>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rtlCol="0" anchor="ctr" wrap="square" lIns="45720" rIns="45720" tIns="27432" bIns="27432"/>
          <a:lstStyle/>
          <a:p>
            <a:pPr algn="ctr"/>
            <a:r>
              <a:rPr sz="900" b="1" i="0">
                <a:solidFill>
                  <a:srgbClr val="4D4E50"/>
                </a:solidFill>
                <a:latin typeface="Arial"/>
              </a:rPr>
              <a:t>Silent → re-deliver before next meeting</a:t>
            </a:r>
          </a:p>
        </p:txBody>
      </p:sp>
      <p:sp>
        <p:nvSpPr>
          <p:cNvPr id="59" name="Rounded Rectangle 58"/>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rtlCol="0" anchor="ctr" wrap="square" lIns="45720" rIns="45720" tIns="27432" bIns="27432"/>
          <a:lstStyle/>
          <a:p>
            <a:pPr algn="ctr"/>
            <a:r>
              <a:rPr sz="900" b="1" i="0">
                <a:solidFill>
                  <a:srgbClr val="FFFFFF"/>
                </a:solidFill>
                <a:latin typeface="Arial"/>
              </a:rPr>
              <a:t>Payment or lists → stop, SX</a:t>
            </a:r>
          </a:p>
        </p:txBody>
      </p:sp>
      <p:cxnSp>
        <p:nvCxnSpPr>
          <p:cNvPr id="60" name="Connector 59"/>
          <p:cNvCxnSpPr/>
          <p:nvPr/>
        </p:nvCxnSpPr>
        <p:spPr>
          <a:xfrm>
            <a:off x="548640" y="4599432"/>
            <a:ext cx="11091672" cy="0"/>
          </a:xfrm>
          <a:prstGeom prst="line">
            <a:avLst/>
          </a:prstGeom>
          <a:ln w="9525">
            <a:solidFill>
              <a:srgbClr val="ECECEC"/>
            </a:solidFill>
          </a:ln>
        </p:spPr>
      </p:cxnSp>
      <p:sp>
        <p:nvSpPr>
          <p:cNvPr id="61" name="TextBox 60"/>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2" name="TextBox 61"/>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3" name="TextBox 62"/>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4" name="Hexagon 63"/>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rtlCol="0" anchor="ctr" wrap="square" tIns="27432" bIns="27432"/>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5" name="Chevron 64"/>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p>
        </p:txBody>
      </p:sp>
      <p:sp>
        <p:nvSpPr>
          <p:cNvPr id="66" name="Rounded Rectangle 65"/>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rtlCol="0" anchor="ctr" wrap="square" lIns="45720" rIns="45720" tIns="27432" bIns="27432"/>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7" name="Chevron 66"/>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p>
        </p:txBody>
      </p:sp>
      <p:sp>
        <p:nvSpPr>
          <p:cNvPr id="68" name="Rounded Rectangle 67"/>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rtlCol="0" anchor="ctr" wrap="square" lIns="45720" rIns="45720" tIns="27432" bIns="27432"/>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9" name="Chevron 68"/>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p>
        </p:txBody>
      </p:sp>
      <p:sp>
        <p:nvSpPr>
          <p:cNvPr id="70" name="Rounded Rectangle 69"/>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rtlCol="0" anchor="ctr" wrap="square" lIns="45720" rIns="45720" tIns="27432" bIns="27432"/>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1" name="TextBox 70"/>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v1 target.</a:t>
            </a:r>
          </a:p>
        </p:txBody>
      </p:sp>
      <p:sp>
        <p:nvSpPr>
          <p:cNvPr id="72" name="TextBox 71"/>
          <p:cNvSpPr txBox="1"/>
          <p:nvPr/>
        </p:nvSpPr>
        <p:spPr>
          <a:xfrm>
            <a:off x="7223760" y="4736592"/>
            <a:ext cx="4416552" cy="1280160"/>
          </a:xfrm>
          <a:prstGeom prst="rect">
            <a:avLst/>
          </a:prstGeom>
          <a:noFill/>
        </p:spPr>
        <p:txBody>
          <a:bodyPr wrap="square" lIns="0" tIns="0" rIns="0" bIns="0" anchor="t">
            <a:spAutoFit/>
          </a:bodyPr>
          <a:lstStyle/>
          <a:p>
            <a:pPr algn="l" marL="155448" indent="-155448">
              <a:spcAft>
                <a:spcPts val="200"/>
              </a:spcAft>
              <a:buFont typeface="Arial"/>
              <a:buChar char="•"/>
            </a:pPr>
            <a:r>
              <a:rPr sz="950" b="0" i="0">
                <a:solidFill>
                  <a:srgbClr val="000000"/>
                </a:solidFill>
                <a:latin typeface="Arial"/>
              </a:rPr>
              <a:t>Silverleaf asks nothing for itself, offers nothing to officials and never takes lists of residents.</a:t>
            </a:r>
          </a:p>
          <a:p>
            <a:pPr algn="l" marL="155448" indent="-155448">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algn="l" marL="155448" indent="-155448">
              <a:spcAft>
                <a:spcPts val="200"/>
              </a:spcAft>
              <a:buFont typeface="Arial"/>
              <a:buChar char="•"/>
            </a:pPr>
            <a:r>
              <a:rPr sz="950" b="0" i="0">
                <a:solidFill>
                  <a:srgbClr val="000000"/>
                </a:solidFill>
                <a:latin typeface="Arial"/>
              </a:rPr>
              <a:t>Pause during an election campaign period, and never press.</a:t>
            </a:r>
          </a:p>
        </p:txBody>
      </p:sp>
      <p:pic>
        <p:nvPicPr>
          <p:cNvPr id="73" name="Picture 72" descr="image3.png"/>
          <p:cNvPicPr>
            <a:picLocks noChangeAspect="1"/>
          </p:cNvPicPr>
          <p:nvPr/>
        </p:nvPicPr>
        <p:blipFill>
          <a:blip r:embed="rId2"/>
          <a:stretch>
            <a:fillRect/>
          </a:stretch>
        </p:blipFill>
        <p:spPr>
          <a:xfrm>
            <a:off x="548640" y="6272784"/>
            <a:ext cx="1143000" cy="274320"/>
          </a:xfrm>
          <a:prstGeom prst="rect">
            <a:avLst/>
          </a:prstGeom>
        </p:spPr>
      </p:pic>
      <p:sp>
        <p:nvSpPr>
          <p:cNvPr id="74"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75"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§10 (F15, F16 in the government plan); government run, 12 October 2026</a:t>
            </a:r>
          </a:p>
        </p:txBody>
      </p:sp>
      <p:sp>
        <p:nvSpPr>
          <p:cNvPr id="7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114800"/>
        </p:xfrm>
        <a:graphic>
          <a:graphicData uri="http://schemas.openxmlformats.org/drawingml/2006/table">
            <a:tbl>
              <a:tblPr firstRow="0" bandRow="0">
                <a:tableStyleId>{2D5ABB26-0587-4C30-8999-92F81FD0307C}</a:tableStyleId>
              </a:tblPr>
              <a:tblGrid>
                <a:gridCol w="1600200"/>
                <a:gridCol w="1737360"/>
                <a:gridCol w="1965960"/>
                <a:gridCol w="1828800"/>
                <a:gridCol w="1993392"/>
                <a:gridCol w="1965960"/>
              </a:tblGrid>
              <a:tr h="457200">
                <a:tc>
                  <a:txBody>
                    <a:bodyPr wrap="square"/>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tr>
              <a:tr h="457200">
                <a:tc>
                  <a:txBody>
                    <a:bodyPr wrap="square"/>
                    <a:lstStyle/>
                    <a:p>
                      <a:r>
                        <a:rPr sz="950" b="1" i="0">
                          <a:solidFill>
                            <a:srgbClr val="002368"/>
                          </a:solidFill>
                          <a:latin typeface="Arial"/>
                        </a:rPr>
                        <a:t>Employers (B)</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Call or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session: site visit, webinar or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Benefit proposal, only for a signed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partner or benefit partner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Staff sign-ups enter the parent funnel</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Sponsors (A)</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Sponsored students enrolled</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SACCOS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Members' meeting or AGM slot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Group rate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Committee circulates, or slot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 sign-ups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Introducers, networks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Secretariat meeting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Circulation agreed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Member-benefit MOU (optional)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 circulation done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employers or homes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homes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conversation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Safeguarding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proposal</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Placement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Children enrolled via admissions</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Welfare funders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often video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tied to the home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Sponsorship agreement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Students enrolled via the home</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Councils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Courtesy visit</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Introduction recorded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Ward and village funnels open</a:t>
                      </a:r>
                    </a:p>
                  </a:txBody>
                  <a:tcPr marL="54864" marR="54864" marT="36576" marB="36576" anchor="ctr">
                    <a:lnL w="0">
                      <a:noFill/>
                    </a:lnL>
                    <a:lnR w="0">
                      <a:noFill/>
                    </a:lnR>
                    <a:lnT w="0">
                      <a:noFill/>
                    </a:lnT>
                    <a:lnB w="9525">
                      <a:solidFill>
                        <a:srgbClr val="ECECEC"/>
                      </a:solidFill>
                    </a:lnB>
                    <a:noFill/>
                  </a:tcPr>
                </a:tc>
              </a:tr>
              <a:tr h="457200">
                <a:tc>
                  <a:txBody>
                    <a:bodyPr wrap="square"/>
                    <a:lstStyle/>
                    <a:p>
                      <a:r>
                        <a:rPr sz="950" b="1" i="0">
                          <a:solidFill>
                            <a:srgbClr val="002368"/>
                          </a:solidFill>
                          <a:latin typeface="Arial"/>
                        </a:rPr>
                        <a:t>Wards, villages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 the WEO or VEO</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Slot agreed in writing</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818283"/>
                          </a:solidFill>
                          <a:latin typeface="Arial"/>
                        </a:rPr>
                        <a:t>skipped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Community meeting held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Parent opt-ins</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7" name="Picture 6" descr="image3.png"/>
          <p:cNvPicPr>
            <a:picLocks noChangeAspect="1"/>
          </p:cNvPicPr>
          <p:nvPr/>
        </p:nvPicPr>
        <p:blipFill>
          <a:blip r:embed="rId2"/>
          <a:stretch>
            <a:fillRect/>
          </a:stretch>
        </p:blipFill>
        <p:spPr>
          <a:xfrm>
            <a:off x="548640" y="6272784"/>
            <a:ext cx="1143000" cy="274320"/>
          </a:xfrm>
          <a:prstGeom prst="rect">
            <a:avLst/>
          </a:prstGeom>
        </p:spPr>
      </p:pic>
      <p:sp>
        <p:nvSpPr>
          <p:cNvPr id="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 'Mapping each segment onto the spine'</a:t>
            </a:r>
          </a:p>
        </p:txBody>
      </p:sp>
      <p:sp>
        <p:nvSpPr>
          <p:cNvPr id="1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7406640" cy="4279392"/>
        </p:xfrm>
        <a:graphic>
          <a:graphicData uri="http://schemas.openxmlformats.org/drawingml/2006/table">
            <a:tbl>
              <a:tblPr firstRow="0" bandRow="0">
                <a:tableStyleId>{2D5ABB26-0587-4C30-8999-92F81FD0307C}</a:tableStyleId>
              </a:tblPr>
              <a:tblGrid>
                <a:gridCol w="640080"/>
                <a:gridCol w="1965960"/>
                <a:gridCol w="3063240"/>
                <a:gridCol w="1737360"/>
              </a:tblGrid>
              <a:tr h="475488">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general inbox</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dormant_no_route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 reply, named person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dormant_no_response</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"Send details"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One-page outline plus two meeting slots; one check-in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dormant_details_no_reply</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"Not now"</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Record their date; one message on that date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dormant_deferred_expired</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Referred to a colleague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Meeting, no session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dormant_after_meeting</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Session, no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Share the sign-up count; ask for one circulation</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dormant_after_session</a:t>
                      </a:r>
                    </a:p>
                  </a:txBody>
                  <a:tcPr marL="54864" marR="54864" marT="36576" marB="36576" anchor="ctr">
                    <a:lnL w="0">
                      <a:noFill/>
                    </a:lnL>
                    <a:lnR w="0">
                      <a:noFill/>
                    </a:lnR>
                    <a:lnT w="0">
                      <a:noFill/>
                    </a:lnT>
                    <a:lnB w="9525">
                      <a:solidFill>
                        <a:srgbClr val="ECECEC"/>
                      </a:solidFill>
                    </a:lnB>
                    <a:noFill/>
                  </a:tcPr>
                </a:tc>
              </a:tr>
              <a:tr h="475488">
                <a:tc>
                  <a:txBody>
                    <a:bodyPr wrap="square"/>
                    <a:lstStyle/>
                    <a:p>
                      <a:r>
                        <a:rPr sz="950" b="1" i="0">
                          <a:solidFill>
                            <a:srgbClr val="002368"/>
                          </a:solidFill>
                          <a:latin typeface="Arial"/>
                        </a:rPr>
                        <a:t>S8</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Few sign-ups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dormant_quiet_partner</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Rounded Rectangle 5"/>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p>
        </p:txBody>
      </p:sp>
      <p:sp>
        <p:nvSpPr>
          <p:cNvPr id="7" name="TextBox 6"/>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8" name="TextBox 7"/>
          <p:cNvSpPr txBox="1"/>
          <p:nvPr/>
        </p:nvSpPr>
        <p:spPr>
          <a:xfrm>
            <a:off x="8412480" y="1755648"/>
            <a:ext cx="3063240" cy="1737360"/>
          </a:xfrm>
          <a:prstGeom prst="rect">
            <a:avLst/>
          </a:prstGeom>
          <a:noFill/>
        </p:spPr>
        <p:txBody>
          <a:bodyPr wrap="square" lIns="0" tIns="0" rIns="0" bIns="0" anchor="t">
            <a:spAutoFit/>
          </a:bodyPr>
          <a:lstStyle/>
          <a:p>
            <a:pPr algn="l" marL="155448" indent="-155448">
              <a:spcAft>
                <a:spcPts val="300"/>
              </a:spcAft>
              <a:buFont typeface="Arial"/>
              <a:buChar char="•"/>
            </a:pPr>
            <a:r>
              <a:rPr sz="1000" b="0" i="0">
                <a:solidFill>
                  <a:srgbClr val="000000"/>
                </a:solidFill>
                <a:latin typeface="Arial"/>
              </a:rPr>
              <a:t>Dormant leads are re-tried once at the next intake window, or sooner through a warm route.</a:t>
            </a:r>
          </a:p>
          <a:p>
            <a:pPr algn="l" marL="155448" indent="-155448">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9" name="Rounded Rectangle 8"/>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p>
        </p:txBody>
      </p:sp>
      <p:sp>
        <p:nvSpPr>
          <p:cNvPr id="10" name="TextBox 9"/>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1" name="TextBox 10"/>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2" name="Picture 11" descr="image3.png"/>
          <p:cNvPicPr>
            <a:picLocks noChangeAspect="1"/>
          </p:cNvPicPr>
          <p:nvPr/>
        </p:nvPicPr>
        <p:blipFill>
          <a:blip r:embed="rId2"/>
          <a:stretch>
            <a:fillRect/>
          </a:stretch>
        </p:blipFill>
        <p:spPr>
          <a:xfrm>
            <a:off x="548640" y="6272784"/>
            <a:ext cx="1143000" cy="274320"/>
          </a:xfrm>
          <a:prstGeom prst="rect">
            <a:avLst/>
          </a:prstGeom>
        </p:spPr>
      </p:pic>
      <p:sp>
        <p:nvSpPr>
          <p:cNvPr id="13"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14"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 (side states and reason codes) and §5 (approved 11 October 2026)</a:t>
            </a:r>
          </a:p>
        </p:txBody>
      </p:sp>
      <p:sp>
        <p:nvSpPr>
          <p:cNvPr id="1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DATA PROTECTION</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Opt-in only: no partner ever hands over a list</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sp>
        <p:nvSpPr>
          <p:cNvPr id="5" name="Rounded Rectangle 4"/>
          <p:cNvSpPr/>
          <p:nvPr/>
        </p:nvSpPr>
        <p:spPr>
          <a:xfrm>
            <a:off x="548640" y="1325880"/>
            <a:ext cx="3931920" cy="4617720"/>
          </a:xfrm>
          <a:prstGeom prst="roundRect">
            <a:avLst>
              <a:gd name="adj" fmla="val 1627"/>
            </a:avLst>
          </a:prstGeom>
          <a:solidFill>
            <a:srgbClr val="002368"/>
          </a:solidFill>
          <a:ln w="12700">
            <a:solidFill>
              <a:srgbClr val="002368"/>
            </a:solidFill>
          </a:ln>
        </p:spPr>
        <p:txBody>
          <a:bodyPr rtlCol="0" anchor="ctr"/>
          <a:lstStyle/>
          <a:p>
            <a:pPr algn="ctr"/>
          </a:p>
        </p:txBody>
      </p:sp>
      <p:sp>
        <p:nvSpPr>
          <p:cNvPr id="6" name="TextBox 5"/>
          <p:cNvSpPr txBox="1"/>
          <p:nvPr/>
        </p:nvSpPr>
        <p:spPr>
          <a:xfrm>
            <a:off x="822960" y="1508760"/>
            <a:ext cx="3474720" cy="274320"/>
          </a:xfrm>
          <a:prstGeom prst="rect">
            <a:avLst/>
          </a:prstGeom>
          <a:noFill/>
        </p:spPr>
        <p:txBody>
          <a:bodyPr wrap="square" lIns="0" tIns="0" rIns="0" bIns="0" anchor="t">
            <a:spAutoFit/>
          </a:bodyPr>
          <a:lstStyle/>
          <a:p>
            <a:pPr algn="l"/>
            <a:r>
              <a:rPr sz="900" b="1" i="0" spc="200">
                <a:solidFill>
                  <a:srgbClr val="80BFEC"/>
                </a:solidFill>
                <a:latin typeface="Arial"/>
              </a:rPr>
              <a:t>THE RULE</a:t>
            </a:r>
          </a:p>
        </p:txBody>
      </p:sp>
      <p:sp>
        <p:nvSpPr>
          <p:cNvPr id="7" name="TextBox 6"/>
          <p:cNvSpPr txBox="1"/>
          <p:nvPr/>
        </p:nvSpPr>
        <p:spPr>
          <a:xfrm>
            <a:off x="822960" y="1810512"/>
            <a:ext cx="3474720" cy="1371600"/>
          </a:xfrm>
          <a:prstGeom prst="rect">
            <a:avLst/>
          </a:prstGeom>
          <a:noFill/>
        </p:spPr>
        <p:txBody>
          <a:bodyPr wrap="square" lIns="0" tIns="0" rIns="0" bIns="0" anchor="t">
            <a:spAutoFit/>
          </a:bodyPr>
          <a:lstStyle/>
          <a:p>
            <a:pPr algn="l"/>
            <a:r>
              <a:rPr sz="2000" b="0" i="0">
                <a:solidFill>
                  <a:srgbClr val="FFFFFF"/>
                </a:solidFill>
                <a:latin typeface="Georgia"/>
              </a:rPr>
              <a:t>Staff, members and parents sign up themselves.</a:t>
            </a:r>
          </a:p>
        </p:txBody>
      </p:sp>
      <p:sp>
        <p:nvSpPr>
          <p:cNvPr id="8" name="TextBox 7"/>
          <p:cNvSpPr txBox="1"/>
          <p:nvPr/>
        </p:nvSpPr>
        <p:spPr>
          <a:xfrm>
            <a:off x="822960" y="2743200"/>
            <a:ext cx="3429000" cy="2743200"/>
          </a:xfrm>
          <a:prstGeom prst="rect">
            <a:avLst/>
          </a:prstGeom>
          <a:noFill/>
        </p:spPr>
        <p:txBody>
          <a:bodyPr wrap="square" lIns="0" tIns="0" rIns="0" bIns="0" anchor="t">
            <a:spAutoFit/>
          </a:bodyPr>
          <a:lstStyle/>
          <a:p>
            <a:pPr algn="l" marL="155448" indent="-155448">
              <a:spcAft>
                <a:spcPts val="400"/>
              </a:spcAft>
              <a:buFont typeface="Arial"/>
              <a:buChar char="•"/>
            </a:pPr>
            <a:r>
              <a:rPr sz="1050" b="0" i="0">
                <a:solidFill>
                  <a:srgbClr val="D9ECF9"/>
                </a:solidFill>
                <a:latin typeface="Arial"/>
              </a:rPr>
              <a:t>Under Tanzania's Personal Data Protection Act 2022, no partner hands over a list of people.</a:t>
            </a:r>
          </a:p>
          <a:p>
            <a:pPr algn="l" marL="155448" indent="-155448">
              <a:spcAft>
                <a:spcPts val="400"/>
              </a:spcAft>
              <a:buFont typeface="Arial"/>
              <a:buChar char="•"/>
            </a:pPr>
            <a:r>
              <a:rPr sz="1050" b="0" i="0">
                <a:solidFill>
                  <a:srgbClr val="D9ECF9"/>
                </a:solidFill>
                <a:latin typeface="Arial"/>
              </a:rPr>
              <a:t>Parent data never enters the repository or the three lead databases.</a:t>
            </a:r>
          </a:p>
          <a:p>
            <a:pPr algn="l" marL="155448" indent="-155448">
              <a:spcAft>
                <a:spcPts val="400"/>
              </a:spcAft>
              <a:buFont typeface="Arial"/>
              <a:buChar char="•"/>
            </a:pPr>
            <a:r>
              <a:rPr sz="1050" b="0" i="0">
                <a:solidFill>
                  <a:srgbClr val="D9ECF9"/>
                </a:solidFill>
                <a:latin typeface="Arial"/>
              </a:rPr>
              <a:t>Until the consented store is live, run inbound-only: material carries the admissions number, the application link and the partner code.</a:t>
            </a:r>
          </a:p>
        </p:txBody>
      </p:sp>
      <p:sp>
        <p:nvSpPr>
          <p:cNvPr id="9" name="TextBox 8"/>
          <p:cNvSpPr txBox="1"/>
          <p:nvPr/>
        </p:nvSpPr>
        <p:spPr>
          <a:xfrm>
            <a:off x="4754880" y="1371600"/>
            <a:ext cx="64008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 FOR THE DATA PROTECTION OFFICER'S REVIEW</a:t>
            </a:r>
          </a:p>
        </p:txBody>
      </p:sp>
      <p:sp>
        <p:nvSpPr>
          <p:cNvPr id="10" name="Rounded Rectangle 9"/>
          <p:cNvSpPr/>
          <p:nvPr/>
        </p:nvSpPr>
        <p:spPr>
          <a:xfrm>
            <a:off x="4754880"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Name</a:t>
            </a:r>
          </a:p>
        </p:txBody>
      </p:sp>
      <p:sp>
        <p:nvSpPr>
          <p:cNvPr id="11" name="Rounded Rectangle 10"/>
          <p:cNvSpPr/>
          <p:nvPr/>
        </p:nvSpPr>
        <p:spPr>
          <a:xfrm>
            <a:off x="7068312"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Phone; WhatsApp preferred?</a:t>
            </a:r>
          </a:p>
        </p:txBody>
      </p:sp>
      <p:sp>
        <p:nvSpPr>
          <p:cNvPr id="12" name="Rounded Rectangle 11"/>
          <p:cNvSpPr/>
          <p:nvPr/>
        </p:nvSpPr>
        <p:spPr>
          <a:xfrm>
            <a:off x="9381744" y="169164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Email (optional)</a:t>
            </a:r>
          </a:p>
        </p:txBody>
      </p:sp>
      <p:sp>
        <p:nvSpPr>
          <p:cNvPr id="13" name="Rounded Rectangle 12"/>
          <p:cNvSpPr/>
          <p:nvPr/>
        </p:nvSpPr>
        <p:spPr>
          <a:xfrm>
            <a:off x="4754880"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Area of residence</a:t>
            </a:r>
          </a:p>
        </p:txBody>
      </p:sp>
      <p:sp>
        <p:nvSpPr>
          <p:cNvPr id="14" name="Rounded Rectangle 13"/>
          <p:cNvSpPr/>
          <p:nvPr/>
        </p:nvSpPr>
        <p:spPr>
          <a:xfrm>
            <a:off x="7068312"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Level: daycare, pre-primary or primary</a:t>
            </a:r>
          </a:p>
        </p:txBody>
      </p:sp>
      <p:sp>
        <p:nvSpPr>
          <p:cNvPr id="15" name="Rounded Rectangle 14"/>
          <p:cNvSpPr/>
          <p:nvPr/>
        </p:nvSpPr>
        <p:spPr>
          <a:xfrm>
            <a:off x="9381744" y="210312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campus, or not sure</a:t>
            </a:r>
          </a:p>
        </p:txBody>
      </p:sp>
      <p:sp>
        <p:nvSpPr>
          <p:cNvPr id="16" name="Rounded Rectangle 15"/>
          <p:cNvSpPr/>
          <p:nvPr/>
        </p:nvSpPr>
        <p:spPr>
          <a:xfrm>
            <a:off x="4754880"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Preferred language</a:t>
            </a:r>
          </a:p>
        </p:txBody>
      </p:sp>
      <p:sp>
        <p:nvSpPr>
          <p:cNvPr id="17" name="Rounded Rectangle 16"/>
          <p:cNvSpPr/>
          <p:nvPr/>
        </p:nvSpPr>
        <p:spPr>
          <a:xfrm>
            <a:off x="7068312"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Consent statement and date</a:t>
            </a:r>
          </a:p>
        </p:txBody>
      </p:sp>
      <p:sp>
        <p:nvSpPr>
          <p:cNvPr id="18" name="Rounded Rectangle 17"/>
          <p:cNvSpPr/>
          <p:nvPr/>
        </p:nvSpPr>
        <p:spPr>
          <a:xfrm>
            <a:off x="9381744" y="2514600"/>
            <a:ext cx="2212848" cy="310896"/>
          </a:xfrm>
          <a:prstGeom prst="roundRect">
            <a:avLst>
              <a:gd name="adj" fmla="val 50000"/>
            </a:avLst>
          </a:prstGeom>
          <a:solidFill>
            <a:srgbClr val="D9ECF9"/>
          </a:solidFill>
          <a:ln w="12700">
            <a:solidFill>
              <a:srgbClr val="D9ECF9"/>
            </a:solidFill>
          </a:ln>
        </p:spPr>
        <p:txBody>
          <a:bodyPr rtlCol="0" anchor="ctr" wrap="square" lIns="0" tIns="0" rIns="0" bIns="0"/>
          <a:lstStyle/>
          <a:p>
            <a:pPr algn="ctr"/>
            <a:r>
              <a:rPr sz="950" b="0" i="0">
                <a:solidFill>
                  <a:srgbClr val="002368"/>
                </a:solidFill>
                <a:latin typeface="Arial"/>
              </a:rPr>
              <a:t>Partner code, from the QR link or paper form</a:t>
            </a:r>
          </a:p>
        </p:txBody>
      </p:sp>
      <p:sp>
        <p:nvSpPr>
          <p:cNvPr id="19" name="TextBox 18"/>
          <p:cNvSpPr txBox="1"/>
          <p:nvPr/>
        </p:nvSpPr>
        <p:spPr>
          <a:xfrm>
            <a:off x="4754880" y="3017520"/>
            <a:ext cx="6858000" cy="457200"/>
          </a:xfrm>
          <a:prstGeom prst="rect">
            <a:avLst/>
          </a:prstGeom>
          <a:noFill/>
        </p:spPr>
        <p:txBody>
          <a:bodyPr wrap="square" lIns="0" tIns="0" rIns="0" bIns="0" anchor="t">
            <a:spAutoFit/>
          </a:bodyPr>
          <a:lstStyle/>
          <a:p>
            <a:pPr algn="l"/>
            <a:r>
              <a:rPr sz="1000" b="0" i="0">
                <a:solidFill>
                  <a:srgbClr val="000000"/>
                </a:solidFill>
                <a:latin typeface="Arial"/>
              </a:rPr>
              <a:t>It asks for the level of interest, never a child's name or age, so it holds no children's data. Codes: EMP employer, SAC savings group, INT introducer, WEL welfare, EVT community event.</a:t>
            </a:r>
          </a:p>
        </p:txBody>
      </p:sp>
      <p:sp>
        <p:nvSpPr>
          <p:cNvPr id="20" name="Rounded Rectangle 19"/>
          <p:cNvSpPr/>
          <p:nvPr/>
        </p:nvSpPr>
        <p:spPr>
          <a:xfrm>
            <a:off x="4754880" y="3657600"/>
            <a:ext cx="6885432" cy="2286000"/>
          </a:xfrm>
          <a:prstGeom prst="roundRect">
            <a:avLst>
              <a:gd name="adj" fmla="val 2800"/>
            </a:avLst>
          </a:prstGeom>
          <a:solidFill>
            <a:srgbClr val="D9ECF9"/>
          </a:solidFill>
          <a:ln w="12700">
            <a:solidFill>
              <a:srgbClr val="D9ECF9"/>
            </a:solidFill>
          </a:ln>
        </p:spPr>
        <p:txBody>
          <a:bodyPr rtlCol="0" anchor="ctr"/>
          <a:lstStyle/>
          <a:p>
            <a:pPr algn="ctr"/>
          </a:p>
        </p:txBody>
      </p:sp>
      <p:sp>
        <p:nvSpPr>
          <p:cNvPr id="21" name="TextBox 20"/>
          <p:cNvSpPr txBox="1"/>
          <p:nvPr/>
        </p:nvSpPr>
        <p:spPr>
          <a:xfrm>
            <a:off x="4983480" y="3794760"/>
            <a:ext cx="6400800" cy="274320"/>
          </a:xfrm>
          <a:prstGeom prst="rect">
            <a:avLst/>
          </a:prstGeom>
          <a:noFill/>
        </p:spPr>
        <p:txBody>
          <a:bodyPr wrap="square" lIns="0" tIns="0" rIns="0" bIns="0" anchor="t">
            <a:spAutoFit/>
          </a:bodyPr>
          <a:lstStyle/>
          <a:p>
            <a:pPr algn="l"/>
            <a:r>
              <a:rPr sz="1300" b="1" i="0">
                <a:solidFill>
                  <a:srgbClr val="002368"/>
                </a:solidFill>
                <a:latin typeface="Arial"/>
              </a:rPr>
              <a:t>Reporting back to partners</a:t>
            </a:r>
          </a:p>
        </p:txBody>
      </p:sp>
      <p:sp>
        <p:nvSpPr>
          <p:cNvPr id="22" name="TextBox 21"/>
          <p:cNvSpPr txBox="1"/>
          <p:nvPr/>
        </p:nvSpPr>
        <p:spPr>
          <a:xfrm>
            <a:off x="4983480" y="4114800"/>
            <a:ext cx="3017520" cy="566928"/>
          </a:xfrm>
          <a:prstGeom prst="rect">
            <a:avLst/>
          </a:prstGeom>
          <a:noFill/>
        </p:spPr>
        <p:txBody>
          <a:bodyPr wrap="square" lIns="0" tIns="0" rIns="0" bIns="0" anchor="t">
            <a:spAutoFit/>
          </a:bodyPr>
          <a:lstStyle/>
          <a:p>
            <a:pPr algn="l"/>
            <a:r>
              <a:rPr sz="2600" b="0" i="0">
                <a:solidFill>
                  <a:srgbClr val="002368"/>
                </a:solidFill>
                <a:latin typeface="Georgia"/>
              </a:rPr>
              <a:t>Totals</a:t>
            </a:r>
          </a:p>
        </p:txBody>
      </p:sp>
      <p:sp>
        <p:nvSpPr>
          <p:cNvPr id="23" name="TextBox 22"/>
          <p:cNvSpPr txBox="1"/>
          <p:nvPr/>
        </p:nvSpPr>
        <p:spPr>
          <a:xfrm>
            <a:off x="4983480" y="4681728"/>
            <a:ext cx="3017520" cy="457200"/>
          </a:xfrm>
          <a:prstGeom prst="rect">
            <a:avLst/>
          </a:prstGeom>
          <a:noFill/>
        </p:spPr>
        <p:txBody>
          <a:bodyPr wrap="square" lIns="0" tIns="0" rIns="0" bIns="0" anchor="t">
            <a:spAutoFit/>
          </a:bodyPr>
          <a:lstStyle/>
          <a:p>
            <a:pPr algn="l"/>
            <a:r>
              <a:rPr sz="1000" b="0" i="0">
                <a:solidFill>
                  <a:srgbClr val="000000"/>
                </a:solidFill>
                <a:latin typeface="Arial"/>
              </a:rPr>
              <a:t>per partner code each term: sign-ups, enquiries, tours, applications, enrolments</a:t>
            </a:r>
          </a:p>
        </p:txBody>
      </p:sp>
      <p:sp>
        <p:nvSpPr>
          <p:cNvPr id="24" name="TextBox 23"/>
          <p:cNvSpPr txBox="1"/>
          <p:nvPr/>
        </p:nvSpPr>
        <p:spPr>
          <a:xfrm>
            <a:off x="8229600" y="4114800"/>
            <a:ext cx="3200400" cy="566928"/>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25" name="TextBox 24"/>
          <p:cNvSpPr txBox="1"/>
          <p:nvPr/>
        </p:nvSpPr>
        <p:spPr>
          <a:xfrm>
            <a:off x="8229600" y="4681728"/>
            <a:ext cx="3200400" cy="457200"/>
          </a:xfrm>
          <a:prstGeom prst="rect">
            <a:avLst/>
          </a:prstGeom>
          <a:noFill/>
        </p:spPr>
        <p:txBody>
          <a:bodyPr wrap="square" lIns="0" tIns="0" rIns="0" bIns="0" anchor="t">
            <a:spAutoFit/>
          </a:bodyPr>
          <a:lstStyle/>
          <a:p>
            <a:pPr algn="l"/>
            <a:r>
              <a:rPr sz="1000" b="0" i="0">
                <a:solidFill>
                  <a:srgbClr val="000000"/>
                </a:solidFill>
                <a:latin typeface="Arial"/>
              </a:rPr>
              <a:t>any count of 1 or 2 is shown as 'fewer than 3'; a code is not personal data</a:t>
            </a:r>
          </a:p>
        </p:txBody>
      </p:sp>
      <p:sp>
        <p:nvSpPr>
          <p:cNvPr id="26" name="TextBox 25"/>
          <p:cNvSpPr txBox="1"/>
          <p:nvPr/>
        </p:nvSpPr>
        <p:spPr>
          <a:xfrm>
            <a:off x="4983480" y="5257800"/>
            <a:ext cx="6400800" cy="64008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 [My employer] will not see my details; Silverleaf will share only total numbers. I can withdraw at any time.'</a:t>
            </a:r>
          </a:p>
        </p:txBody>
      </p:sp>
      <p:pic>
        <p:nvPicPr>
          <p:cNvPr id="27" name="Picture 26" descr="image3.png"/>
          <p:cNvPicPr>
            <a:picLocks noChangeAspect="1"/>
          </p:cNvPicPr>
          <p:nvPr/>
        </p:nvPicPr>
        <p:blipFill>
          <a:blip r:embed="rId2"/>
          <a:stretch>
            <a:fillRect/>
          </a:stretch>
        </p:blipFill>
        <p:spPr>
          <a:xfrm>
            <a:off x="548640" y="6272784"/>
            <a:ext cx="1143000" cy="274320"/>
          </a:xfrm>
          <a:prstGeom prst="rect">
            <a:avLst/>
          </a:prstGeom>
        </p:spPr>
      </p:pic>
      <p:sp>
        <p:nvSpPr>
          <p:cNvPr id="28"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29"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§3 and question 13; Personal Data Protection Act 2022</a:t>
            </a:r>
          </a:p>
        </p:txBody>
      </p:sp>
      <p:sp>
        <p:nvSpPr>
          <p:cNvPr id="3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will be recorded, and the metrics to watch</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5943600" cy="3840480"/>
        </p:xfrm>
        <a:graphic>
          <a:graphicData uri="http://schemas.openxmlformats.org/drawingml/2006/table">
            <a:tbl>
              <a:tblPr firstRow="0" bandRow="0">
                <a:tableStyleId>{2D5ABB26-0587-4C30-8999-92F81FD0307C}</a:tableStyleId>
              </a:tblPr>
              <a:tblGrid>
                <a:gridCol w="960120"/>
                <a:gridCol w="4983480"/>
              </a:tblGrid>
              <a:tr h="548640">
                <a:tc>
                  <a:txBody>
                    <a:bodyPr wrap="square"/>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tr>
              <a:tr h="548640">
                <a:tc>
                  <a:txBody>
                    <a:bodyPr wrap="square"/>
                    <a:lstStyle/>
                    <a:p>
                      <a:r>
                        <a:rPr sz="950" b="1" i="0">
                          <a:solidFill>
                            <a:srgbClr val="002368"/>
                          </a:solidFill>
                          <a:latin typeface="Arial"/>
                        </a:rPr>
                        <a:t>Every stage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S2</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S3–S5</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S6–S7</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proposal date, offer IDs, Finance confirmation; incentive register ID, approval and expiry; win type, approver, renewal date</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S8–S9</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0">
                      <a:noFill/>
                    </a:lnT>
                    <a:lnB w="9525">
                      <a:solidFill>
                        <a:srgbClr val="ECECEC"/>
                      </a:solidFill>
                    </a:lnB>
                    <a:noFill/>
                  </a:tcPr>
                </a:tc>
              </a:tr>
              <a:tr h="548640">
                <a:tc>
                  <a:txBody>
                    <a:bodyPr wrap="square"/>
                    <a:lstStyle/>
                    <a:p>
                      <a:r>
                        <a:rPr sz="950" b="1" i="0">
                          <a:solidFill>
                            <a:srgbClr val="002368"/>
                          </a:solidFill>
                          <a:latin typeface="Arial"/>
                        </a:rPr>
                        <a:t>Dormant, SX</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0">
                      <a:noFill/>
                    </a:lnT>
                    <a:lnB w="9525">
                      <a:solidFill>
                        <a:srgbClr val="ECECEC"/>
                      </a:solidFill>
                    </a:lnB>
                    <a:noFill/>
                  </a:tcPr>
                </a:tc>
              </a:tr>
            </a:tbl>
          </a:graphicData>
        </a:graphic>
      </p:graphicFrame>
      <p:sp>
        <p:nvSpPr>
          <p:cNvPr id="6" name="TextBox 5"/>
          <p:cNvSpPr txBox="1"/>
          <p:nvPr/>
        </p:nvSpPr>
        <p:spPr>
          <a:xfrm>
            <a:off x="68122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METRICS</a:t>
            </a:r>
          </a:p>
        </p:txBody>
      </p:sp>
      <p:sp>
        <p:nvSpPr>
          <p:cNvPr id="7" name="Hexagon 6"/>
          <p:cNvSpPr/>
          <p:nvPr/>
        </p:nvSpPr>
        <p:spPr>
          <a:xfrm>
            <a:off x="6812280" y="16276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1</a:t>
            </a:r>
          </a:p>
        </p:txBody>
      </p:sp>
      <p:sp>
        <p:nvSpPr>
          <p:cNvPr id="8" name="TextBox 7"/>
          <p:cNvSpPr txBox="1"/>
          <p:nvPr/>
        </p:nvSpPr>
        <p:spPr>
          <a:xfrm>
            <a:off x="7296912" y="1609344"/>
            <a:ext cx="4297680" cy="237744"/>
          </a:xfrm>
          <a:prstGeom prst="rect">
            <a:avLst/>
          </a:prstGeom>
          <a:noFill/>
        </p:spPr>
        <p:txBody>
          <a:bodyPr wrap="square" lIns="0" tIns="0" rIns="0" bIns="0" anchor="t">
            <a:spAutoFit/>
          </a:bodyPr>
          <a:lstStyle/>
          <a:p>
            <a:pPr algn="l"/>
            <a:r>
              <a:rPr sz="1100" b="1" i="0">
                <a:solidFill>
                  <a:srgbClr val="002368"/>
                </a:solidFill>
                <a:latin typeface="Arial"/>
              </a:rPr>
              <a:t>First touch</a:t>
            </a:r>
          </a:p>
        </p:txBody>
      </p:sp>
      <p:sp>
        <p:nvSpPr>
          <p:cNvPr id="9" name="TextBox 8"/>
          <p:cNvSpPr txBox="1"/>
          <p:nvPr/>
        </p:nvSpPr>
        <p:spPr>
          <a:xfrm>
            <a:off x="7296912" y="1847088"/>
            <a:ext cx="4297680" cy="457200"/>
          </a:xfrm>
          <a:prstGeom prst="rect">
            <a:avLst/>
          </a:prstGeom>
          <a:noFill/>
        </p:spPr>
        <p:txBody>
          <a:bodyPr wrap="square" lIns="0" tIns="0" rIns="0" bIns="0" anchor="t">
            <a:spAutoFit/>
          </a:bodyPr>
          <a:lstStyle/>
          <a:p>
            <a:pPr algn="l"/>
            <a:r>
              <a:rPr sz="950" b="0" i="0">
                <a:solidFill>
                  <a:srgbClr val="000000"/>
                </a:solidFill>
                <a:latin typeface="Arial"/>
              </a:rPr>
              <a:t>redirect → name obtained; Attn → reply; days to a name; front-desk call success</a:t>
            </a:r>
          </a:p>
        </p:txBody>
      </p:sp>
      <p:sp>
        <p:nvSpPr>
          <p:cNvPr id="10" name="Hexagon 9"/>
          <p:cNvSpPr/>
          <p:nvPr/>
        </p:nvSpPr>
        <p:spPr>
          <a:xfrm>
            <a:off x="6812280" y="23134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2</a:t>
            </a:r>
          </a:p>
        </p:txBody>
      </p:sp>
      <p:sp>
        <p:nvSpPr>
          <p:cNvPr id="11" name="TextBox 10"/>
          <p:cNvSpPr txBox="1"/>
          <p:nvPr/>
        </p:nvSpPr>
        <p:spPr>
          <a:xfrm>
            <a:off x="7296912" y="2295144"/>
            <a:ext cx="4297680" cy="237744"/>
          </a:xfrm>
          <a:prstGeom prst="rect">
            <a:avLst/>
          </a:prstGeom>
          <a:noFill/>
        </p:spPr>
        <p:txBody>
          <a:bodyPr wrap="square" lIns="0" tIns="0" rIns="0" bIns="0" anchor="t">
            <a:spAutoFit/>
          </a:bodyPr>
          <a:lstStyle/>
          <a:p>
            <a:pPr algn="l"/>
            <a:r>
              <a:rPr sz="1100" b="1" i="0">
                <a:solidFill>
                  <a:srgbClr val="002368"/>
                </a:solidFill>
                <a:latin typeface="Arial"/>
              </a:rPr>
              <a:t>Spine</a:t>
            </a:r>
          </a:p>
        </p:txBody>
      </p:sp>
      <p:sp>
        <p:nvSpPr>
          <p:cNvPr id="12" name="TextBox 11"/>
          <p:cNvSpPr txBox="1"/>
          <p:nvPr/>
        </p:nvSpPr>
        <p:spPr>
          <a:xfrm>
            <a:off x="7296912" y="2532888"/>
            <a:ext cx="4297680" cy="457200"/>
          </a:xfrm>
          <a:prstGeom prst="rect">
            <a:avLst/>
          </a:prstGeom>
          <a:noFill/>
        </p:spPr>
        <p:txBody>
          <a:bodyPr wrap="square" lIns="0" tIns="0" rIns="0" bIns="0" anchor="t">
            <a:spAutoFit/>
          </a:bodyPr>
          <a:lstStyle/>
          <a:p>
            <a:pPr algn="l"/>
            <a:r>
              <a:rPr sz="950" b="0" i="0">
                <a:solidFill>
                  <a:srgbClr val="000000"/>
                </a:solidFill>
                <a:latin typeface="Arial"/>
              </a:rPr>
              <a:t>reply rate by band, case and subsegment; S3 → S4 → S5 → S7 conversion; meetings per week</a:t>
            </a:r>
          </a:p>
        </p:txBody>
      </p:sp>
      <p:sp>
        <p:nvSpPr>
          <p:cNvPr id="13" name="Hexagon 12"/>
          <p:cNvSpPr/>
          <p:nvPr/>
        </p:nvSpPr>
        <p:spPr>
          <a:xfrm>
            <a:off x="6812280" y="29992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3</a:t>
            </a:r>
          </a:p>
        </p:txBody>
      </p:sp>
      <p:sp>
        <p:nvSpPr>
          <p:cNvPr id="14" name="TextBox 13"/>
          <p:cNvSpPr txBox="1"/>
          <p:nvPr/>
        </p:nvSpPr>
        <p:spPr>
          <a:xfrm>
            <a:off x="7296912" y="2980944"/>
            <a:ext cx="4297680" cy="237744"/>
          </a:xfrm>
          <a:prstGeom prst="rect">
            <a:avLst/>
          </a:prstGeom>
          <a:noFill/>
        </p:spPr>
        <p:txBody>
          <a:bodyPr wrap="square" lIns="0" tIns="0" rIns="0" bIns="0" anchor="t">
            <a:spAutoFit/>
          </a:bodyPr>
          <a:lstStyle/>
          <a:p>
            <a:pPr algn="l"/>
            <a:r>
              <a:rPr sz="1100" b="1" i="0">
                <a:solidFill>
                  <a:srgbClr val="002368"/>
                </a:solidFill>
                <a:latin typeface="Arial"/>
              </a:rPr>
              <a:t>Fallout</a:t>
            </a:r>
          </a:p>
        </p:txBody>
      </p:sp>
      <p:sp>
        <p:nvSpPr>
          <p:cNvPr id="15" name="TextBox 14"/>
          <p:cNvSpPr txBox="1"/>
          <p:nvPr/>
        </p:nvSpPr>
        <p:spPr>
          <a:xfrm>
            <a:off x="7296912" y="3218688"/>
            <a:ext cx="4297680" cy="457200"/>
          </a:xfrm>
          <a:prstGeom prst="rect">
            <a:avLst/>
          </a:prstGeom>
          <a:noFill/>
        </p:spPr>
        <p:txBody>
          <a:bodyPr wrap="square" lIns="0" tIns="0" rIns="0" bIns="0" anchor="t">
            <a:spAutoFit/>
          </a:bodyPr>
          <a:lstStyle/>
          <a:p>
            <a:pPr algn="l"/>
            <a:r>
              <a:rPr sz="950" b="0" i="0">
                <a:solidFill>
                  <a:srgbClr val="000000"/>
                </a:solidFill>
                <a:latin typeface="Arial"/>
              </a:rPr>
              <a:t>share of dormant leads reopened at each window; warm-route conversion</a:t>
            </a:r>
          </a:p>
        </p:txBody>
      </p:sp>
      <p:sp>
        <p:nvSpPr>
          <p:cNvPr id="16" name="Hexagon 15"/>
          <p:cNvSpPr/>
          <p:nvPr/>
        </p:nvSpPr>
        <p:spPr>
          <a:xfrm>
            <a:off x="6812280" y="36850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4</a:t>
            </a:r>
          </a:p>
        </p:txBody>
      </p:sp>
      <p:sp>
        <p:nvSpPr>
          <p:cNvPr id="17" name="TextBox 16"/>
          <p:cNvSpPr txBox="1"/>
          <p:nvPr/>
        </p:nvSpPr>
        <p:spPr>
          <a:xfrm>
            <a:off x="7296912" y="3666744"/>
            <a:ext cx="4297680" cy="237744"/>
          </a:xfrm>
          <a:prstGeom prst="rect">
            <a:avLst/>
          </a:prstGeom>
          <a:noFill/>
        </p:spPr>
        <p:txBody>
          <a:bodyPr wrap="square" lIns="0" tIns="0" rIns="0" bIns="0" anchor="t">
            <a:spAutoFit/>
          </a:bodyPr>
          <a:lstStyle/>
          <a:p>
            <a:pPr algn="l"/>
            <a:r>
              <a:rPr sz="1100" b="1" i="0">
                <a:solidFill>
                  <a:srgbClr val="002368"/>
                </a:solidFill>
                <a:latin typeface="Arial"/>
              </a:rPr>
              <a:t>Partners</a:t>
            </a:r>
          </a:p>
        </p:txBody>
      </p:sp>
      <p:sp>
        <p:nvSpPr>
          <p:cNvPr id="18" name="TextBox 17"/>
          <p:cNvSpPr txBox="1"/>
          <p:nvPr/>
        </p:nvSpPr>
        <p:spPr>
          <a:xfrm>
            <a:off x="7296912" y="3904488"/>
            <a:ext cx="4297680" cy="457200"/>
          </a:xfrm>
          <a:prstGeom prst="rect">
            <a:avLst/>
          </a:prstGeom>
          <a:noFill/>
        </p:spPr>
        <p:txBody>
          <a:bodyPr wrap="square" lIns="0" tIns="0" rIns="0" bIns="0" anchor="t">
            <a:spAutoFit/>
          </a:bodyPr>
          <a:lstStyle/>
          <a:p>
            <a:pPr algn="l"/>
            <a:r>
              <a:rPr sz="950" b="0" i="0">
                <a:solidFill>
                  <a:srgbClr val="000000"/>
                </a:solidFill>
                <a:latin typeface="Arial"/>
              </a:rPr>
              <a:t>sign-ups per 100 attendees and per circulation; referrals per circulation; places agreed → enrolled</a:t>
            </a:r>
          </a:p>
        </p:txBody>
      </p:sp>
      <p:sp>
        <p:nvSpPr>
          <p:cNvPr id="19" name="Hexagon 18"/>
          <p:cNvSpPr/>
          <p:nvPr/>
        </p:nvSpPr>
        <p:spPr>
          <a:xfrm>
            <a:off x="6812280" y="43708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5</a:t>
            </a:r>
          </a:p>
        </p:txBody>
      </p:sp>
      <p:sp>
        <p:nvSpPr>
          <p:cNvPr id="20" name="TextBox 19"/>
          <p:cNvSpPr txBox="1"/>
          <p:nvPr/>
        </p:nvSpPr>
        <p:spPr>
          <a:xfrm>
            <a:off x="7296912" y="4352544"/>
            <a:ext cx="4297680" cy="237744"/>
          </a:xfrm>
          <a:prstGeom prst="rect">
            <a:avLst/>
          </a:prstGeom>
          <a:noFill/>
        </p:spPr>
        <p:txBody>
          <a:bodyPr wrap="square" lIns="0" tIns="0" rIns="0" bIns="0" anchor="t">
            <a:spAutoFit/>
          </a:bodyPr>
          <a:lstStyle/>
          <a:p>
            <a:pPr algn="l"/>
            <a:r>
              <a:rPr sz="1100" b="1" i="0">
                <a:solidFill>
                  <a:srgbClr val="002368"/>
                </a:solidFill>
                <a:latin typeface="Arial"/>
              </a:rPr>
              <a:t>Parent funnel</a:t>
            </a:r>
          </a:p>
        </p:txBody>
      </p:sp>
      <p:sp>
        <p:nvSpPr>
          <p:cNvPr id="21" name="TextBox 20"/>
          <p:cNvSpPr txBox="1"/>
          <p:nvPr/>
        </p:nvSpPr>
        <p:spPr>
          <a:xfrm>
            <a:off x="7296912" y="4590288"/>
            <a:ext cx="4297680" cy="457200"/>
          </a:xfrm>
          <a:prstGeom prst="rect">
            <a:avLst/>
          </a:prstGeom>
          <a:noFill/>
        </p:spPr>
        <p:txBody>
          <a:bodyPr wrap="square" lIns="0" tIns="0" rIns="0" bIns="0" anchor="t">
            <a:spAutoFit/>
          </a:bodyPr>
          <a:lstStyle/>
          <a:p>
            <a:pPr algn="l"/>
            <a:r>
              <a:rPr sz="950" b="0" i="0">
                <a:solidFill>
                  <a:srgbClr val="000000"/>
                </a:solidFill>
                <a:latin typeface="Arial"/>
              </a:rPr>
              <a:t>opt-in → inquiry → tour → application → enrolment, by partner code</a:t>
            </a:r>
          </a:p>
        </p:txBody>
      </p:sp>
      <p:sp>
        <p:nvSpPr>
          <p:cNvPr id="22" name="Hexagon 21"/>
          <p:cNvSpPr/>
          <p:nvPr/>
        </p:nvSpPr>
        <p:spPr>
          <a:xfrm>
            <a:off x="6812280" y="5056632"/>
            <a:ext cx="347472" cy="301752"/>
          </a:xfrm>
          <a:prstGeom prst="hexagon">
            <a:avLst>
              <a:gd name="adj" fmla="val 25000"/>
              <a:gd name="vf" fmla="val 115470"/>
            </a:avLst>
          </a:prstGeom>
          <a:solidFill>
            <a:srgbClr val="002368"/>
          </a:solidFill>
          <a:ln>
            <a:noFill/>
          </a:ln>
        </p:spPr>
        <p:txBody>
          <a:bodyPr rtlCol="0" anchor="ctr" wrap="square" lIns="0" tIns="0" rIns="0" bIns="0"/>
          <a:lstStyle/>
          <a:p>
            <a:pPr algn="ctr"/>
            <a:r>
              <a:rPr sz="1000" b="1" i="0">
                <a:solidFill>
                  <a:srgbClr val="FFFFFF"/>
                </a:solidFill>
                <a:latin typeface="Arial"/>
              </a:rPr>
              <a:t>6</a:t>
            </a:r>
          </a:p>
        </p:txBody>
      </p:sp>
      <p:sp>
        <p:nvSpPr>
          <p:cNvPr id="23" name="TextBox 22"/>
          <p:cNvSpPr txBox="1"/>
          <p:nvPr/>
        </p:nvSpPr>
        <p:spPr>
          <a:xfrm>
            <a:off x="7296912" y="5038344"/>
            <a:ext cx="4297680" cy="237744"/>
          </a:xfrm>
          <a:prstGeom prst="rect">
            <a:avLst/>
          </a:prstGeom>
          <a:noFill/>
        </p:spPr>
        <p:txBody>
          <a:bodyPr wrap="square" lIns="0" tIns="0" rIns="0" bIns="0" anchor="t">
            <a:spAutoFit/>
          </a:bodyPr>
          <a:lstStyle/>
          <a:p>
            <a:pPr algn="l"/>
            <a:r>
              <a:rPr sz="1100" b="1" i="0">
                <a:solidFill>
                  <a:srgbClr val="002368"/>
                </a:solidFill>
                <a:latin typeface="Arial"/>
              </a:rPr>
              <a:t>Incentives</a:t>
            </a:r>
          </a:p>
        </p:txBody>
      </p:sp>
      <p:sp>
        <p:nvSpPr>
          <p:cNvPr id="24" name="TextBox 23"/>
          <p:cNvSpPr txBox="1"/>
          <p:nvPr/>
        </p:nvSpPr>
        <p:spPr>
          <a:xfrm>
            <a:off x="7296912" y="5276088"/>
            <a:ext cx="4297680" cy="457200"/>
          </a:xfrm>
          <a:prstGeom prst="rect">
            <a:avLst/>
          </a:prstGeom>
          <a:noFill/>
        </p:spPr>
        <p:txBody>
          <a:bodyPr wrap="square" lIns="0" tIns="0" rIns="0" bIns="0" anchor="t">
            <a:spAutoFit/>
          </a:bodyPr>
          <a:lstStyle/>
          <a:p>
            <a:pPr algn="l"/>
            <a:r>
              <a:rPr sz="950" b="0" i="0">
                <a:solidFill>
                  <a:srgbClr val="000000"/>
                </a:solidFill>
                <a:latin typeface="Arial"/>
              </a:rPr>
              <a:t>should stay rare: each one listed with its approval and expiry</a:t>
            </a:r>
          </a:p>
        </p:txBody>
      </p:sp>
      <p:sp>
        <p:nvSpPr>
          <p:cNvPr id="25" name="TextBox 24"/>
          <p:cNvSpPr txBox="1"/>
          <p:nvPr/>
        </p:nvSpPr>
        <p:spPr>
          <a:xfrm>
            <a:off x="548640" y="5532120"/>
            <a:ext cx="11064240" cy="411480"/>
          </a:xfrm>
          <a:prstGeom prst="rect">
            <a:avLst/>
          </a:prstGeom>
          <a:noFill/>
        </p:spPr>
        <p:txBody>
          <a:bodyPr wrap="square" lIns="0" tIns="0" rIns="0" bIns="0" anchor="t">
            <a:spAutoFit/>
          </a:bodyPr>
          <a:lstStyle/>
          <a:p>
            <a:pPr algn="l"/>
            <a:r>
              <a:rPr sz="950" b="0" i="0">
                <a:solidFill>
                  <a:srgbClr val="818283"/>
                </a:solidFill>
                <a:latin typeface="Arial"/>
              </a:rPr>
              <a:t>To build after approval: a shared vocabulary file, account_pipeline (one row per deal), pipeline_events, partner_results (monthly totals); pipeline state for the runs in a committed file the pipeline loads.</a:t>
            </a:r>
          </a:p>
        </p:txBody>
      </p:sp>
      <p:pic>
        <p:nvPicPr>
          <p:cNvPr id="26" name="Picture 25" descr="image3.png"/>
          <p:cNvPicPr>
            <a:picLocks noChangeAspect="1"/>
          </p:cNvPicPr>
          <p:nvPr/>
        </p:nvPicPr>
        <p:blipFill>
          <a:blip r:embed="rId2"/>
          <a:stretch>
            <a:fillRect/>
          </a:stretch>
        </p:blipFill>
        <p:spPr>
          <a:xfrm>
            <a:off x="548640" y="6272784"/>
            <a:ext cx="1143000" cy="274320"/>
          </a:xfrm>
          <a:prstGeom prst="rect">
            <a:avLst/>
          </a:prstGeom>
        </p:spPr>
      </p:pic>
      <p:sp>
        <p:nvSpPr>
          <p:cNvPr id="2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2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§11, §13 and §17</a:t>
            </a:r>
          </a:p>
        </p:txBody>
      </p:sp>
      <p:sp>
        <p:nvSpPr>
          <p:cNvPr id="2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(1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owns each stage?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Coord S1–S7 and government letters; Adm from opt-in; campus head hosts; Finance confirms terms; CEO signs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Site visit or webinar?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for variant A sponsors?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Community meeting format?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Welfare-sponsored enrolment?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Introducer acknowledgement?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thank-you letter and termly totals; no reward until the 2027 referral scheme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Where do sign-ups live?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 restricted store outside the repository, owned by admissions; inbound-only until the DPO approves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is a partnership closed?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or agreement first?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Notice for staff sessions?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OF04 without a staff list?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§16 (draft 3, 11 October 2026); recommendations abridged, full wording in the draft</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DECISIONS AWAITING YOU</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Open questions, with recommendations (2 of 2)</a:t>
            </a:r>
          </a:p>
        </p:txBody>
      </p:sp>
      <p:sp>
        <p:nvSpPr>
          <p:cNvPr id="4" name="Rounded Rectangle 3"/>
          <p:cNvSpPr/>
          <p:nvPr/>
        </p:nvSpPr>
        <p:spPr>
          <a:xfrm>
            <a:off x="9262872" y="329184"/>
            <a:ext cx="2377440" cy="246888"/>
          </a:xfrm>
          <a:prstGeom prst="roundRect">
            <a:avLst>
              <a:gd name="adj" fmla="val 50000"/>
            </a:avLst>
          </a:prstGeom>
          <a:solidFill>
            <a:srgbClr val="FFC952"/>
          </a:solidFill>
          <a:ln w="12700">
            <a:solidFill>
              <a:srgbClr val="FFC952"/>
            </a:solidFill>
          </a:ln>
        </p:spPr>
        <p:txBody>
          <a:bodyPr rtlCol="0" anchor="ctr" wrap="square" lIns="0" tIns="0" rIns="0" bIns="0"/>
          <a:lstStyle/>
          <a:p>
            <a:pPr algn="ctr"/>
            <a:r>
              <a:rPr sz="900" b="1" i="0">
                <a:solidFill>
                  <a:srgbClr val="002368"/>
                </a:solidFill>
                <a:latin typeface="Arial"/>
              </a:rPr>
              <a:t>DRAFT · AWAITING YOUR APPROVAL</a:t>
            </a:r>
          </a:p>
        </p:txBody>
      </p:sp>
      <p:graphicFrame>
        <p:nvGraphicFramePr>
          <p:cNvPr id="5" name="Table 4"/>
          <p:cNvGraphicFramePr>
            <a:graphicFrameLocks noGrp="1"/>
          </p:cNvGraphicFramePr>
          <p:nvPr/>
        </p:nvGraphicFramePr>
        <p:xfrm>
          <a:off x="548640" y="1298448"/>
          <a:ext cx="11091672" cy="4718304"/>
        </p:xfrm>
        <a:graphic>
          <a:graphicData uri="http://schemas.openxmlformats.org/drawingml/2006/table">
            <a:tbl>
              <a:tblPr firstRow="0" bandRow="0">
                <a:tableStyleId>{2D5ABB26-0587-4C30-8999-92F81FD0307C}</a:tableStyleId>
              </a:tblPr>
              <a:tblGrid>
                <a:gridCol w="411480"/>
                <a:gridCol w="3017520"/>
                <a:gridCol w="7662672"/>
              </a:tblGrid>
              <a:tr h="393192">
                <a:tc>
                  <a:txBody>
                    <a:bodyPr wrap="square"/>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RECOMMENDED ANSWER</a:t>
                      </a:r>
                    </a:p>
                  </a:txBody>
                  <a:tcPr marL="54864" marR="54864" marT="36576" marB="36576" anchor="ctr">
                    <a:lnL w="0">
                      <a:noFill/>
                    </a:lnL>
                    <a:lnR w="0">
                      <a:noFill/>
                    </a:lnR>
                    <a:lnT w="0">
                      <a:noFill/>
                    </a:lnT>
                    <a:lnB w="12700">
                      <a:solidFill>
                        <a:srgbClr val="80BFEC"/>
                      </a:solidFill>
                    </a:lnB>
                    <a:noFill/>
                  </a:tcPr>
                </a:tc>
              </a:tr>
              <a:tr h="393192">
                <a:tc>
                  <a:txBody>
                    <a:bodyPr wrap="square"/>
                    <a:lstStyle/>
                    <a:p>
                      <a:r>
                        <a:rPr sz="1000" b="1" i="0">
                          <a:solidFill>
                            <a:srgbClr val="002368"/>
                          </a:solidFill>
                          <a:latin typeface="Arial"/>
                        </a:rPr>
                        <a:t>12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Public-body compliance check?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13</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Smallest number in a report?</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Show 'fewer than 3' for counts of 1 or 2</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14</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Escalate after silence?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15</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Working the no-email rows?</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16</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SACCOS with its employer?</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One deal; the committee joins at the session</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17</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Sessions per week?</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18</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Renewal cadence?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19</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What may the government booklet say?</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20</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When may an incentive be used?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21</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'Large enough' for 'or your HR lead'?</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0">
                      <a:noFill/>
                    </a:lnT>
                    <a:lnB w="9525">
                      <a:solidFill>
                        <a:srgbClr val="ECECEC"/>
                      </a:solidFill>
                    </a:lnB>
                    <a:noFill/>
                  </a:tcPr>
                </a:tc>
              </a:tr>
              <a:tr h="393192">
                <a:tc>
                  <a:txBody>
                    <a:bodyPr wrap="square"/>
                    <a:lstStyle/>
                    <a:p>
                      <a:r>
                        <a:rPr sz="1000" b="1" i="0">
                          <a:solidFill>
                            <a:srgbClr val="002368"/>
                          </a:solidFill>
                          <a:latin typeface="Arial"/>
                        </a:rPr>
                        <a:t>22</a:t>
                      </a:r>
                    </a:p>
                  </a:txBody>
                  <a:tcPr marL="0"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Who records a front-desk name?</a:t>
                      </a:r>
                    </a:p>
                  </a:txBody>
                  <a:tcPr marL="54864" marR="54864" marT="36576" marB="36576" anchor="ctr">
                    <a:lnL w="0">
                      <a:noFill/>
                    </a:lnL>
                    <a:lnR w="0">
                      <a:noFill/>
                    </a:lnR>
                    <a:lnT w="0">
                      <a:noFill/>
                    </a:lnT>
                    <a:lnB w="9525">
                      <a:solidFill>
                        <a:srgbClr val="ECECEC"/>
                      </a:solidFill>
                    </a:lnB>
                    <a:noFill/>
                  </a:tcPr>
                </a:tc>
                <a:tc>
                  <a:txBody>
                    <a:bodyPr wrap="square"/>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0">
                      <a:noFill/>
                    </a:lnT>
                    <a:lnB w="9525">
                      <a:solidFill>
                        <a:srgbClr val="ECECEC"/>
                      </a:solidFill>
                    </a:lnB>
                    <a:noFill/>
                  </a:tcPr>
                </a:tc>
              </a:tr>
            </a:tbl>
          </a:graphicData>
        </a:graphic>
      </p:graphicFrame>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8871508" y="6309360"/>
            <a:ext cx="187269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review page →</a:t>
            </a:r>
          </a:p>
        </p:txBody>
      </p:sp>
      <p:sp>
        <p:nvSpPr>
          <p:cNvPr id="8" name="Footer source"/>
          <p:cNvSpPr txBox="1"/>
          <p:nvPr/>
        </p:nvSpPr>
        <p:spPr>
          <a:xfrm>
            <a:off x="1965960" y="6309360"/>
            <a:ext cx="6585508"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§16 (draft 3, 11 October 2026); recommendations abridged, full wording in the draft</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things to move the work from draft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300" b="1" i="0">
                <a:solidFill>
                  <a:srgbClr val="002368"/>
                </a:solidFill>
                <a:latin typeface="Arial"/>
              </a:rPr>
              <a:t>Sign off the pipeline draft</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050" b="0" i="0">
                <a:solidFill>
                  <a:srgbClr val="000000"/>
                </a:solidFill>
                <a:latin typeface="Arial"/>
              </a:rPr>
              <a:t>Approve the spine, the 13 funnels and the boundaries, and answer the 22 questions (the recommendations are ready). Nothing is built until then.</a:t>
            </a:r>
          </a:p>
        </p:txBody>
      </p:sp>
      <p:cxnSp>
        <p:nvCxnSpPr>
          <p:cNvPr id="7" name="Connector 6"/>
          <p:cNvCxnSpPr/>
          <p:nvPr/>
        </p:nvCxnSpPr>
        <p:spPr>
          <a:xfrm>
            <a:off x="1188720" y="2157984"/>
            <a:ext cx="10451592" cy="0"/>
          </a:xfrm>
          <a:prstGeom prst="line">
            <a:avLst/>
          </a:prstGeom>
          <a:ln w="9525">
            <a:solidFill>
              <a:srgbClr val="ECECEC"/>
            </a:solidFill>
          </a:ln>
        </p:spPr>
      </p:cxnSp>
      <p:sp>
        <p:nvSpPr>
          <p:cNvPr id="8" name="Hexagon 7"/>
          <p:cNvSpPr/>
          <p:nvPr/>
        </p:nvSpPr>
        <p:spPr>
          <a:xfrm>
            <a:off x="548640" y="2313432"/>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02</a:t>
            </a:r>
          </a:p>
        </p:txBody>
      </p:sp>
      <p:sp>
        <p:nvSpPr>
          <p:cNvPr id="9" name="TextBox 8"/>
          <p:cNvSpPr txBox="1"/>
          <p:nvPr/>
        </p:nvSpPr>
        <p:spPr>
          <a:xfrm>
            <a:off x="1188720" y="2176272"/>
            <a:ext cx="3291840" cy="685800"/>
          </a:xfrm>
          <a:prstGeom prst="rect">
            <a:avLst/>
          </a:prstGeom>
          <a:noFill/>
        </p:spPr>
        <p:txBody>
          <a:bodyPr wrap="square" lIns="0" tIns="0" rIns="0" bIns="0" anchor="ctr">
            <a:spAutoFit/>
          </a:bodyPr>
          <a:lstStyle/>
          <a:p>
            <a:pPr algn="l"/>
            <a:r>
              <a:rPr sz="1300" b="1" i="0">
                <a:solidFill>
                  <a:srgbClr val="002368"/>
                </a:solidFill>
                <a:latin typeface="Arial"/>
              </a:rPr>
              <a:t>Build the tracking</a:t>
            </a:r>
          </a:p>
        </p:txBody>
      </p:sp>
      <p:sp>
        <p:nvSpPr>
          <p:cNvPr id="10" name="TextBox 9"/>
          <p:cNvSpPr txBox="1"/>
          <p:nvPr/>
        </p:nvSpPr>
        <p:spPr>
          <a:xfrm>
            <a:off x="4572000" y="2176272"/>
            <a:ext cx="7068312" cy="685800"/>
          </a:xfrm>
          <a:prstGeom prst="rect">
            <a:avLst/>
          </a:prstGeom>
          <a:noFill/>
        </p:spPr>
        <p:txBody>
          <a:bodyPr wrap="square" lIns="0" tIns="0" rIns="0" bIns="0" anchor="ctr">
            <a:spAutoFit/>
          </a:bodyPr>
          <a:lstStyle/>
          <a:p>
            <a:pPr algn="l"/>
            <a:r>
              <a:rPr sz="1050" b="0" i="0">
                <a:solidFill>
                  <a:srgbClr val="000000"/>
                </a:solidFill>
                <a:latin typeface="Arial"/>
              </a:rPr>
              <a:t>The shared vocabulary, account_pipeline, pipeline_events and partner_results in all three databases; a Pipeline sheet in the workbooks; map filters by stage.</a:t>
            </a:r>
          </a:p>
        </p:txBody>
      </p:sp>
      <p:cxnSp>
        <p:nvCxnSpPr>
          <p:cNvPr id="11" name="Connector 10"/>
          <p:cNvCxnSpPr/>
          <p:nvPr/>
        </p:nvCxnSpPr>
        <p:spPr>
          <a:xfrm>
            <a:off x="1188720" y="3054096"/>
            <a:ext cx="10451592" cy="0"/>
          </a:xfrm>
          <a:prstGeom prst="line">
            <a:avLst/>
          </a:prstGeom>
          <a:ln w="9525">
            <a:solidFill>
              <a:srgbClr val="ECECEC"/>
            </a:solidFill>
          </a:ln>
        </p:spPr>
      </p:cxnSp>
      <p:sp>
        <p:nvSpPr>
          <p:cNvPr id="12" name="Hexagon 11"/>
          <p:cNvSpPr/>
          <p:nvPr/>
        </p:nvSpPr>
        <p:spPr>
          <a:xfrm>
            <a:off x="548640" y="3209544"/>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03</a:t>
            </a:r>
          </a:p>
        </p:txBody>
      </p:sp>
      <p:sp>
        <p:nvSpPr>
          <p:cNvPr id="13" name="TextBox 12"/>
          <p:cNvSpPr txBox="1"/>
          <p:nvPr/>
        </p:nvSpPr>
        <p:spPr>
          <a:xfrm>
            <a:off x="1188720" y="3072384"/>
            <a:ext cx="3291840" cy="685800"/>
          </a:xfrm>
          <a:prstGeom prst="rect">
            <a:avLst/>
          </a:prstGeom>
          <a:noFill/>
        </p:spPr>
        <p:txBody>
          <a:bodyPr wrap="square" lIns="0" tIns="0" rIns="0" bIns="0" anchor="ctr">
            <a:spAutoFit/>
          </a:bodyPr>
          <a:lstStyle/>
          <a:p>
            <a:pPr algn="l"/>
            <a:r>
              <a:rPr sz="1300" b="1" i="0">
                <a:solidFill>
                  <a:srgbClr val="002368"/>
                </a:solidFill>
                <a:latin typeface="Arial"/>
              </a:rPr>
              <a:t>Fix the Google Maps listings</a:t>
            </a:r>
          </a:p>
        </p:txBody>
      </p:sp>
      <p:sp>
        <p:nvSpPr>
          <p:cNvPr id="14" name="TextBox 13"/>
          <p:cNvSpPr txBox="1"/>
          <p:nvPr/>
        </p:nvSpPr>
        <p:spPr>
          <a:xfrm>
            <a:off x="4572000" y="3072384"/>
            <a:ext cx="7068312" cy="685800"/>
          </a:xfrm>
          <a:prstGeom prst="rect">
            <a:avLst/>
          </a:prstGeom>
          <a:noFill/>
        </p:spPr>
        <p:txBody>
          <a:bodyPr wrap="square" lIns="0" tIns="0" rIns="0" bIns="0" anchor="ctr">
            <a:spAutoFit/>
          </a:bodyPr>
          <a:lstStyle/>
          <a:p>
            <a:pPr algn="l"/>
            <a:r>
              <a:rPr sz="1050" b="0" i="0">
                <a:solidFill>
                  <a:srgbClr val="000000"/>
                </a:solidFill>
                <a:latin typeface="Arial"/>
              </a:rPr>
              <a:t>Move the Kijenge pin, correct or remove the two stray listings, and add Arusha City (Sakina) and Boma Ng'ombe from the website pins.</a:t>
            </a:r>
          </a:p>
        </p:txBody>
      </p:sp>
      <p:cxnSp>
        <p:nvCxnSpPr>
          <p:cNvPr id="15" name="Connector 14"/>
          <p:cNvCxnSpPr/>
          <p:nvPr/>
        </p:nvCxnSpPr>
        <p:spPr>
          <a:xfrm>
            <a:off x="1188720" y="3950208"/>
            <a:ext cx="10451592" cy="0"/>
          </a:xfrm>
          <a:prstGeom prst="line">
            <a:avLst/>
          </a:prstGeom>
          <a:ln w="9525">
            <a:solidFill>
              <a:srgbClr val="ECECEC"/>
            </a:solidFill>
          </a:ln>
        </p:spPr>
      </p:cxnSp>
      <p:sp>
        <p:nvSpPr>
          <p:cNvPr id="16" name="Hexagon 15"/>
          <p:cNvSpPr/>
          <p:nvPr/>
        </p:nvSpPr>
        <p:spPr>
          <a:xfrm>
            <a:off x="548640" y="4105655"/>
            <a:ext cx="457200" cy="402336"/>
          </a:xfrm>
          <a:prstGeom prst="hexagon">
            <a:avLst>
              <a:gd name="adj" fmla="val 25000"/>
              <a:gd name="vf" fmla="val 115470"/>
            </a:avLst>
          </a:prstGeom>
          <a:solidFill>
            <a:srgbClr val="FFC952"/>
          </a:solidFill>
          <a:ln>
            <a:noFill/>
          </a:ln>
        </p:spPr>
        <p:txBody>
          <a:bodyPr rtlCol="0" anchor="ctr" wrap="square" lIns="0" tIns="0" rIns="0" bIns="0"/>
          <a:lstStyle/>
          <a:p>
            <a:pPr algn="ctr"/>
            <a:r>
              <a:rPr sz="1100" b="1" i="0">
                <a:solidFill>
                  <a:srgbClr val="002368"/>
                </a:solidFill>
                <a:latin typeface="Arial"/>
              </a:rPr>
              <a:t>04</a:t>
            </a:r>
          </a:p>
        </p:txBody>
      </p:sp>
      <p:sp>
        <p:nvSpPr>
          <p:cNvPr id="17" name="TextBox 16"/>
          <p:cNvSpPr txBox="1"/>
          <p:nvPr/>
        </p:nvSpPr>
        <p:spPr>
          <a:xfrm>
            <a:off x="1188720" y="3968496"/>
            <a:ext cx="3291840" cy="685800"/>
          </a:xfrm>
          <a:prstGeom prst="rect">
            <a:avLst/>
          </a:prstGeom>
          <a:noFill/>
        </p:spPr>
        <p:txBody>
          <a:bodyPr wrap="square" lIns="0" tIns="0" rIns="0" bIns="0" anchor="ctr">
            <a:spAutoFit/>
          </a:bodyPr>
          <a:lstStyle/>
          <a:p>
            <a:pPr algn="l"/>
            <a:r>
              <a:rPr sz="1300" b="1" i="0">
                <a:solidFill>
                  <a:srgbClr val="002368"/>
                </a:solidFill>
                <a:latin typeface="Arial"/>
              </a:rPr>
              <a:t>Apply the high-direct research lessons</a:t>
            </a:r>
          </a:p>
        </p:txBody>
      </p:sp>
      <p:sp>
        <p:nvSpPr>
          <p:cNvPr id="18" name="TextBox 17"/>
          <p:cNvSpPr txBox="1"/>
          <p:nvPr/>
        </p:nvSpPr>
        <p:spPr>
          <a:xfrm>
            <a:off x="4572000" y="3968496"/>
            <a:ext cx="7068312" cy="685800"/>
          </a:xfrm>
          <a:prstGeom prst="rect">
            <a:avLst/>
          </a:prstGeom>
          <a:noFill/>
        </p:spPr>
        <p:txBody>
          <a:bodyPr wrap="square" lIns="0" tIns="0" rIns="0" bIns="0" anchor="ctr">
            <a:spAutoFit/>
          </a:bodyPr>
          <a:lstStyle/>
          <a:p>
            <a:pPr algn="l"/>
            <a:r>
              <a:rPr sz="1050" b="0" i="0">
                <a:solidFill>
                  <a:srgbClr val="000000"/>
                </a:solidFill>
                <a:latin typeface="Arial"/>
              </a:rPr>
              <a:t>Deep-crawl own sites before any search; directories pay for decision-makers; vacancy notices only for banks and larger employers; skip repeated name searches and @domain queries for small operators; try annual reports for P1 employers.</a:t>
            </a:r>
          </a:p>
        </p:txBody>
      </p:sp>
      <p:cxnSp>
        <p:nvCxnSpPr>
          <p:cNvPr id="19" name="Connector 18"/>
          <p:cNvCxnSpPr/>
          <p:nvPr/>
        </p:nvCxnSpPr>
        <p:spPr>
          <a:xfrm>
            <a:off x="1188720" y="4846320"/>
            <a:ext cx="10451592" cy="0"/>
          </a:xfrm>
          <a:prstGeom prst="line">
            <a:avLst/>
          </a:prstGeom>
          <a:ln w="9525">
            <a:solidFill>
              <a:srgbClr val="ECECEC"/>
            </a:solidFill>
          </a:ln>
        </p:spPr>
      </p:cxnSp>
      <p:sp>
        <p:nvSpPr>
          <p:cNvPr id="20" name="Hexagon 19"/>
          <p:cNvSpPr/>
          <p:nvPr/>
        </p:nvSpPr>
        <p:spPr>
          <a:xfrm>
            <a:off x="548640" y="5001768"/>
            <a:ext cx="457200" cy="402336"/>
          </a:xfrm>
          <a:prstGeom prst="hexagon">
            <a:avLst>
              <a:gd name="adj" fmla="val 25000"/>
              <a:gd name="vf" fmla="val 115470"/>
            </a:avLst>
          </a:prstGeom>
          <a:solidFill>
            <a:srgbClr val="002368"/>
          </a:solidFill>
          <a:ln>
            <a:noFill/>
          </a:ln>
        </p:spPr>
        <p:txBody>
          <a:bodyPr rtlCol="0" anchor="ctr" wrap="square" lIns="0" tIns="0" rIns="0" bIns="0"/>
          <a:lstStyle/>
          <a:p>
            <a:pPr algn="ctr"/>
            <a:r>
              <a:rPr sz="1100" b="1" i="0">
                <a:solidFill>
                  <a:srgbClr val="FFFFFF"/>
                </a:solidFill>
                <a:latin typeface="Arial"/>
              </a:rPr>
              <a:t>05</a:t>
            </a:r>
          </a:p>
        </p:txBody>
      </p:sp>
      <p:sp>
        <p:nvSpPr>
          <p:cNvPr id="21" name="TextBox 20"/>
          <p:cNvSpPr txBox="1"/>
          <p:nvPr/>
        </p:nvSpPr>
        <p:spPr>
          <a:xfrm>
            <a:off x="1188720" y="4864608"/>
            <a:ext cx="3291840" cy="685800"/>
          </a:xfrm>
          <a:prstGeom prst="rect">
            <a:avLst/>
          </a:prstGeom>
          <a:noFill/>
        </p:spPr>
        <p:txBody>
          <a:bodyPr wrap="square" lIns="0" tIns="0" rIns="0" bIns="0" anchor="ctr">
            <a:spAutoFit/>
          </a:bodyPr>
          <a:lstStyle/>
          <a:p>
            <a:pPr algn="l"/>
            <a:r>
              <a:rPr sz="1300" b="1" i="0">
                <a:solidFill>
                  <a:srgbClr val="002368"/>
                </a:solidFill>
                <a:latin typeface="Arial"/>
              </a:rPr>
              <a:t>Approve sponsorship follow-up copy</a:t>
            </a:r>
          </a:p>
        </p:txBody>
      </p:sp>
      <p:sp>
        <p:nvSpPr>
          <p:cNvPr id="22" name="TextBox 21"/>
          <p:cNvSpPr txBox="1"/>
          <p:nvPr/>
        </p:nvSpPr>
        <p:spPr>
          <a:xfrm>
            <a:off x="4572000" y="4864608"/>
            <a:ext cx="7068312" cy="685800"/>
          </a:xfrm>
          <a:prstGeom prst="rect">
            <a:avLst/>
          </a:prstGeom>
          <a:noFill/>
        </p:spPr>
        <p:txBody>
          <a:bodyPr wrap="square" lIns="0" tIns="0" rIns="0" bIns="0" anchor="ctr">
            <a:spAutoFit/>
          </a:bodyPr>
          <a:lstStyle/>
          <a:p>
            <a:pPr algn="l"/>
            <a:r>
              <a:rPr sz="1050" b="0" i="0">
                <a:solidFill>
                  <a:srgbClr val="000000"/>
                </a:solidFill>
                <a:latin typeface="Arial"/>
              </a:rPr>
              <a:t>The 14 variant A rows carry blank follow-ups 'awaiting approved copy'; F20 supplies it for sponsors and funders.</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review page →</a:t>
            </a:r>
          </a:p>
        </p:txBody>
      </p:sp>
      <p:sp>
        <p:nvSpPr>
          <p:cNvPr id="25"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Source: partnership-pipelines-draft.md §16–§17; Catchment Criteria §7; research-playbook.md; Employer drafts (variant A)</a:t>
            </a:r>
          </a:p>
        </p:txBody>
      </p:sp>
      <p:sp>
        <p:nvSpPr>
          <p:cNvPr id="2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Sources and the dates the data was taken</a:t>
            </a:r>
          </a:p>
        </p:txBody>
      </p:sp>
      <p:graphicFrame>
        <p:nvGraphicFramePr>
          <p:cNvPr id="4" name="Table 3"/>
          <p:cNvGraphicFramePr>
            <a:graphicFrameLocks noGrp="1"/>
          </p:cNvGraphicFramePr>
          <p:nvPr/>
        </p:nvGraphicFramePr>
        <p:xfrm>
          <a:off x="548640" y="1298448"/>
          <a:ext cx="11091672" cy="4279392"/>
        </p:xfrm>
        <a:graphic>
          <a:graphicData uri="http://schemas.openxmlformats.org/drawingml/2006/table">
            <a:tbl>
              <a:tblPr firstRow="0" bandRow="0">
                <a:tableStyleId>{2D5ABB26-0587-4C30-8999-92F81FD0307C}</a:tableStyleId>
              </a:tblPr>
              <a:tblGrid>
                <a:gridCol w="4937760"/>
                <a:gridCol w="4206240"/>
                <a:gridCol w="1947672"/>
              </a:tblGrid>
              <a:tr h="356616">
                <a:tc>
                  <a:txBody>
                    <a:bodyPr wrap="square"/>
                    <a:lstStyle/>
                    <a:p>
                      <a:r>
                        <a:rPr sz="900" b="1" i="0" spc="100">
                          <a:solidFill>
                            <a:srgbClr val="818283"/>
                          </a:solidFill>
                          <a:latin typeface="Arial"/>
                        </a:rPr>
                        <a:t>SOURCE</a:t>
                      </a:r>
                    </a:p>
                  </a:txBody>
                  <a:tcPr marL="0"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WHAT IT GAVE THIS DECK</a:t>
                      </a:r>
                    </a:p>
                  </a:txBody>
                  <a:tcPr marL="54864" marR="54864" marT="36576" marB="36576" anchor="ctr">
                    <a:lnL w="0">
                      <a:noFill/>
                    </a:lnL>
                    <a:lnR w="0">
                      <a:noFill/>
                    </a:lnR>
                    <a:lnT w="0">
                      <a:noFill/>
                    </a:lnT>
                    <a:lnB w="12700">
                      <a:solidFill>
                        <a:srgbClr val="80BFEC"/>
                      </a:solidFill>
                    </a:lnB>
                    <a:noFill/>
                  </a:tcPr>
                </a:tc>
                <a:tc>
                  <a:txBody>
                    <a:bodyPr wrap="square"/>
                    <a:lstStyle/>
                    <a:p>
                      <a:r>
                        <a:rPr sz="900" b="1" i="0" spc="100">
                          <a:solidFill>
                            <a:srgbClr val="818283"/>
                          </a:solidFill>
                          <a:latin typeface="Arial"/>
                        </a:rPr>
                        <a:t>TAKEN</a:t>
                      </a:r>
                    </a:p>
                  </a:txBody>
                  <a:tcPr marL="54864" marR="54864" marT="36576" marB="36576" anchor="ctr">
                    <a:lnL w="0">
                      <a:noFill/>
                    </a:lnL>
                    <a:lnR w="0">
                      <a:noFill/>
                    </a:lnR>
                    <a:lnT w="0">
                      <a:noFill/>
                    </a:lnT>
                    <a:lnB w="12700">
                      <a:solidFill>
                        <a:srgbClr val="80BFEC"/>
                      </a:solidFill>
                    </a:lnB>
                    <a:noFill/>
                  </a:tcPr>
                </a:tc>
              </a:tr>
              <a:tr h="356616">
                <a:tc>
                  <a:txBody>
                    <a:bodyPr wrap="square"/>
                    <a:lstStyle/>
                    <a:p>
                      <a:r>
                        <a:rPr sz="950" b="1" i="0">
                          <a:solidFill>
                            <a:srgbClr val="002368"/>
                          </a:solidFill>
                          <a:latin typeface="Arial"/>
                        </a:rPr>
                        <a:t>outputs/master/Silverleaf Master Database.sqlite (read-only copy)</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companies, SACCOS, introducers, drafts, tiers, hooks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outputs/runs/arusha-welfare-2026-09/lead-database.sqlite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welfare kinds, priority, drafts,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outputs/runs/arusha-government-2026-09/lead-database.sqlite</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offices, waves, delivery confidence</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outputs/maps/Silverleaf Lead Map.html (rebuilt and matched)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points, distance bands, static map</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built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Catchment Criteria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catchment rules, corrections, gaps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Core Segments - 2026-10-11.md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segment definitions (counts superseded)</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outputs/messages/Silverleaf Resend Segments - 2026-10-06/-10/-12.md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confidence counts and growth</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6, 10, 12 Oct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outputs/messages/ Employer (10-02), Welfare (10-10), Government (10-11) Drafts</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draft wording and the letter</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2–11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docs/strategy/partnership-pipelines-draft.md (draft 3)</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spine, funnels, fallout, tracking, questions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scripts/messaging/first_touch.py · offer register v4</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templates, redirect wording, offer terms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12 Oct · 23 Sept</a:t>
                      </a:r>
                    </a:p>
                  </a:txBody>
                  <a:tcPr marL="54864" marR="54864" marT="36576" marB="36576" anchor="ctr">
                    <a:lnL w="0">
                      <a:noFill/>
                    </a:lnL>
                    <a:lnR w="0">
                      <a:noFill/>
                    </a:lnR>
                    <a:lnT w="0">
                      <a:noFill/>
                    </a:lnT>
                    <a:lnB w="9525">
                      <a:solidFill>
                        <a:srgbClr val="ECECEC"/>
                      </a:solidFill>
                    </a:lnB>
                    <a:noFill/>
                  </a:tcPr>
                </a:tc>
              </a:tr>
              <a:tr h="356616">
                <a:tc>
                  <a:txBody>
                    <a:bodyPr wrap="square"/>
                    <a:lstStyle/>
                    <a:p>
                      <a:r>
                        <a:rPr sz="950" b="1" i="0">
                          <a:solidFill>
                            <a:srgbClr val="002368"/>
                          </a:solidFill>
                          <a:latin typeface="Arial"/>
                        </a:rPr>
                        <a:t>outputs/reports/campus-gap-census-2026-10-11.md · research-playbook.md</a:t>
                      </a:r>
                    </a:p>
                  </a:txBody>
                  <a:tcPr marL="0"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capture sources, crawl and search lessons</a:t>
                      </a:r>
                    </a:p>
                  </a:txBody>
                  <a:tcPr marL="54864" marR="54864" marT="36576" marB="36576" anchor="ctr">
                    <a:lnL w="0">
                      <a:noFill/>
                    </a:lnL>
                    <a:lnR w="0">
                      <a:noFill/>
                    </a:lnR>
                    <a:lnT w="0">
                      <a:noFill/>
                    </a:lnT>
                    <a:lnB w="9525">
                      <a:solidFill>
                        <a:srgbClr val="ECECEC"/>
                      </a:solidFill>
                    </a:lnB>
                    <a:noFill/>
                  </a:tcPr>
                </a:tc>
                <a:tc>
                  <a:txBody>
                    <a:bodyPr wrap="square"/>
                    <a:lstStyle/>
                    <a:p>
                      <a:r>
                        <a:rPr sz="950" b="0" i="0">
                          <a:solidFill>
                            <a:srgbClr val="000000"/>
                          </a:solidFill>
                          <a:latin typeface="Arial"/>
                        </a:rPr>
                        <a:t>11 Oct 2026</a:t>
                      </a:r>
                    </a:p>
                  </a:txBody>
                  <a:tcPr marL="54864" marR="54864" marT="36576" marB="36576" anchor="ctr">
                    <a:lnL w="0">
                      <a:noFill/>
                    </a:lnL>
                    <a:lnR w="0">
                      <a:noFill/>
                    </a:lnR>
                    <a:lnT w="0">
                      <a:noFill/>
                    </a:lnT>
                    <a:lnB w="9525">
                      <a:solidFill>
                        <a:srgbClr val="ECECEC"/>
                      </a:solidFill>
                    </a:lnB>
                    <a:noFill/>
                  </a:tcPr>
                </a:tc>
              </a:tr>
            </a:tbl>
          </a:graphicData>
        </a:graphic>
      </p:graphicFrame>
      <p:sp>
        <p:nvSpPr>
          <p:cNvPr id="5" name="TextBox 4"/>
          <p:cNvSpPr txBox="1"/>
          <p:nvPr/>
        </p:nvSpPr>
        <p:spPr>
          <a:xfrm>
            <a:off x="548640" y="5669280"/>
            <a:ext cx="11064240" cy="411480"/>
          </a:xfrm>
          <a:prstGeom prst="rect">
            <a:avLst/>
          </a:prstGeom>
          <a:noFill/>
        </p:spPr>
        <p:txBody>
          <a:bodyPr wrap="square" lIns="0" tIns="0" rIns="0" bIns="0" anchor="t">
            <a:spAutoFit/>
          </a:bodyPr>
          <a:lstStyle/>
          <a:p>
            <a:pPr algn="l"/>
            <a:r>
              <a:rPr sz="950" b="0" i="0">
                <a:solidFill>
                  <a:srgbClr val="818283"/>
                </a:solidFill>
                <a:latin typeface="Arial"/>
              </a:rPr>
              <a:t>Every query is listed in Silverleaf_Lead_Generation_Strategy_2026-10-12_sources.md beside this deck. Relative links: </a:t>
            </a:r>
            <a:r>
              <a:rPr sz="950" b="1" i="0" u="sng">
                <a:solidFill>
                  <a:srgbClr val="002368"/>
                </a:solidFill>
                <a:latin typeface="Arial"/>
                <a:hlinkClick r:id="rId2">
                  <a:extLst>
                    <a:ext uri="{A12FA001-AC4F-418D-AE19-62706E023703}">
                      <ahyp:hlinkClr xmlns:ahyp="http://schemas.microsoft.com/office/drawing/2018/hyperlinkcolor" val="tx"/>
                    </a:ext>
                  </a:extLst>
                </a:hlinkClick>
              </a:rPr>
              <a:t>lead map</a:t>
            </a:r>
            <a:r>
              <a:rPr sz="950" b="0" i="0">
                <a:solidFill>
                  <a:srgbClr val="818283"/>
                </a:solidFill>
                <a:latin typeface="Arial"/>
              </a:rPr>
              <a:t>  ·  </a:t>
            </a:r>
            <a:r>
              <a:rPr sz="950" b="1" i="0" u="sng">
                <a:solidFill>
                  <a:srgbClr val="002368"/>
                </a:solidFill>
                <a:latin typeface="Arial"/>
                <a:hlinkClick r:id="rId3">
                  <a:extLst>
                    <a:ext uri="{A12FA001-AC4F-418D-AE19-62706E023703}">
                      <ahyp:hlinkClr xmlns:ahyp="http://schemas.microsoft.com/office/drawing/2018/hyperlinkcolor" val="tx"/>
                    </a:ext>
                  </a:extLst>
                </a:hlinkClick>
              </a:rPr>
              <a:t>pipeline review page</a:t>
            </a:r>
            <a:r>
              <a:rPr sz="950" b="0" i="0">
                <a:solidFill>
                  <a:srgbClr val="818283"/>
                </a:solidFill>
                <a:latin typeface="Arial"/>
              </a:rPr>
              <a:t>.</a:t>
            </a:r>
          </a:p>
        </p:txBody>
      </p:sp>
      <p:pic>
        <p:nvPicPr>
          <p:cNvPr id="6" name="Picture 5" descr="image3.png"/>
          <p:cNvPicPr>
            <a:picLocks noChangeAspect="1"/>
          </p:cNvPicPr>
          <p:nvPr/>
        </p:nvPicPr>
        <p:blipFill>
          <a:blip r:embed="rId4"/>
          <a:stretch>
            <a:fillRect/>
          </a:stretch>
        </p:blipFill>
        <p:spPr>
          <a:xfrm>
            <a:off x="548640" y="6272784"/>
            <a:ext cx="1143000" cy="274320"/>
          </a:xfrm>
          <a:prstGeom prst="rect">
            <a:avLst/>
          </a:prstGeom>
        </p:spPr>
      </p:pic>
      <p:sp>
        <p:nvSpPr>
          <p:cNvPr id="7" name="Footer links"/>
          <p:cNvSpPr txBox="1"/>
          <p:nvPr/>
        </p:nvSpPr>
        <p:spPr>
          <a:xfrm>
            <a:off x="7915046" y="6309360"/>
            <a:ext cx="2829153"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6">
                  <a:extLst>
                    <a:ext uri="{A12FA001-AC4F-418D-AE19-62706E023703}">
                      <ahyp:hlinkClr xmlns:ahyp="http://schemas.microsoft.com/office/drawing/2018/hyperlinkcolor" val="tx"/>
                    </a:ext>
                  </a:extLst>
                </a:hlinkClick>
              </a:rPr>
              <a:t>Pipeline review page →</a:t>
            </a:r>
          </a:p>
        </p:txBody>
      </p:sp>
      <p:sp>
        <p:nvSpPr>
          <p:cNvPr id="8" name="Footer source"/>
          <p:cNvSpPr txBox="1"/>
          <p:nvPr/>
        </p:nvSpPr>
        <p:spPr>
          <a:xfrm>
            <a:off x="1965960" y="6309360"/>
            <a:ext cx="5629046" cy="201168"/>
          </a:xfrm>
          <a:prstGeom prst="rect">
            <a:avLst/>
          </a:prstGeom>
          <a:noFill/>
        </p:spPr>
        <p:txBody>
          <a:bodyPr wrap="square" lIns="0" tIns="0" rIns="0" bIns="0" anchor="ctr">
            <a:spAutoFit/>
          </a:bodyPr>
          <a:lstStyle/>
          <a:p>
            <a:pPr algn="l"/>
            <a:r>
              <a:rPr sz="800" b="0" i="0">
                <a:solidFill>
                  <a:srgbClr val="818283"/>
                </a:solidFill>
                <a:latin typeface="Arial"/>
              </a:rPr>
              <a:t>Absolute links in the footer point to the main checkout, C:/Work/silverleaf-agentic-marketing</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blipFill rotWithShape="1">
          <a:blip r:embed="rId2"/>
          <a:stretch>
            <a:fillRect/>
          </a:stretch>
        </a:blipFill>
        <a:effectLst/>
      </p:bgPr>
    </p:bg>
    <p:spTree>
      <p:nvGrpSpPr>
        <p:cNvPr id="1" name=""/>
        <p:cNvGrpSpPr/>
        <p:nvPr/>
      </p:nvGrpSpPr>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Lists, segments, drafts and the pipeline design are ready for review. Sending and automations stay disabled; a person sends, after your sign-off.</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review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12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2026-09-10T00:30:39.2670000Z</dcterms:created>
  <dcterms:modified xsi:type="dcterms:W3CDTF">2026-09-10T00:30:39.2670000Z</dcterms:modified>
</coreProperties>
</file>